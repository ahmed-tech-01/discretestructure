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6" r:id="rId2"/>
    <p:sldId id="353" r:id="rId3"/>
    <p:sldId id="257" r:id="rId4"/>
    <p:sldId id="266" r:id="rId5"/>
    <p:sldId id="267" r:id="rId6"/>
    <p:sldId id="268" r:id="rId7"/>
    <p:sldId id="269" r:id="rId8"/>
    <p:sldId id="355" r:id="rId9"/>
    <p:sldId id="260" r:id="rId10"/>
    <p:sldId id="261" r:id="rId11"/>
    <p:sldId id="262" r:id="rId12"/>
    <p:sldId id="272" r:id="rId13"/>
    <p:sldId id="275" r:id="rId14"/>
    <p:sldId id="274" r:id="rId15"/>
    <p:sldId id="264" r:id="rId16"/>
    <p:sldId id="265" r:id="rId17"/>
    <p:sldId id="354" r:id="rId18"/>
    <p:sldId id="356" r:id="rId19"/>
    <p:sldId id="357" r:id="rId20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150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0D5DA-0780-4232-91F3-E5E27C620EE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1BF39-9263-4BC9-9CF7-C20FCC69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9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0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4610101" cy="346075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235" y="963513"/>
            <a:ext cx="3631630" cy="1707303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3025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9235" y="2741433"/>
            <a:ext cx="3631630" cy="230717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756" b="0">
                <a:solidFill>
                  <a:schemeClr val="accent1">
                    <a:lumMod val="75000"/>
                  </a:schemeClr>
                </a:solidFill>
              </a:defRPr>
            </a:lvl1pPr>
            <a:lvl2pPr marL="172867" indent="0" algn="ctr">
              <a:buNone/>
              <a:defRPr sz="756"/>
            </a:lvl2pPr>
            <a:lvl3pPr marL="345735" indent="0" algn="ctr">
              <a:buNone/>
              <a:defRPr sz="681"/>
            </a:lvl3pPr>
            <a:lvl4pPr marL="518602" indent="0" algn="ctr">
              <a:buNone/>
              <a:defRPr sz="605"/>
            </a:lvl4pPr>
            <a:lvl5pPr marL="691469" indent="0" algn="ctr">
              <a:buNone/>
              <a:defRPr sz="605"/>
            </a:lvl5pPr>
            <a:lvl6pPr marL="864337" indent="0" algn="ctr">
              <a:buNone/>
              <a:defRPr sz="605"/>
            </a:lvl6pPr>
            <a:lvl7pPr marL="1037204" indent="0" algn="ctr">
              <a:buNone/>
              <a:defRPr sz="605"/>
            </a:lvl7pPr>
            <a:lvl8pPr marL="1210071" indent="0" algn="ctr">
              <a:buNone/>
              <a:defRPr sz="605"/>
            </a:lvl8pPr>
            <a:lvl9pPr marL="1382939" indent="0" algn="ctr">
              <a:buNone/>
              <a:defRPr sz="605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489823" y="2671598"/>
            <a:ext cx="363045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91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4610101" cy="346075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23" y="1282553"/>
            <a:ext cx="3630454" cy="13843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269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823" y="2740914"/>
            <a:ext cx="3630454" cy="23071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756" b="0">
                <a:solidFill>
                  <a:schemeClr val="tx1"/>
                </a:solidFill>
              </a:defRPr>
            </a:lvl1pPr>
            <a:lvl2pPr marL="172867" indent="0">
              <a:buNone/>
              <a:defRPr sz="756"/>
            </a:lvl2pPr>
            <a:lvl3pPr marL="345735" indent="0">
              <a:buNone/>
              <a:defRPr sz="681"/>
            </a:lvl3pPr>
            <a:lvl4pPr marL="518602" indent="0">
              <a:buNone/>
              <a:defRPr sz="605"/>
            </a:lvl4pPr>
            <a:lvl5pPr marL="691469" indent="0">
              <a:buNone/>
              <a:defRPr sz="605"/>
            </a:lvl5pPr>
            <a:lvl6pPr marL="864337" indent="0">
              <a:buNone/>
              <a:defRPr sz="605"/>
            </a:lvl6pPr>
            <a:lvl7pPr marL="1037204" indent="0">
              <a:buNone/>
              <a:defRPr sz="605"/>
            </a:lvl7pPr>
            <a:lvl8pPr marL="1210071" indent="0">
              <a:buNone/>
              <a:defRPr sz="605"/>
            </a:lvl8pPr>
            <a:lvl9pPr marL="1382939" indent="0">
              <a:buNone/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489823" y="2671598"/>
            <a:ext cx="36304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460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314" y="76603"/>
            <a:ext cx="43494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305" y="529525"/>
            <a:ext cx="4200525" cy="1325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6905" y="3351784"/>
            <a:ext cx="106235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39539" y="3351784"/>
            <a:ext cx="21399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slide" Target="slide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Spring 2026 – Week 4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	</a:t>
            </a:r>
          </a:p>
        </p:txBody>
      </p:sp>
    </p:spTree>
    <p:extLst>
      <p:ext uri="{BB962C8B-B14F-4D97-AF65-F5344CB8AC3E}">
        <p14:creationId xmlns:p14="http://schemas.microsoft.com/office/powerpoint/2010/main" val="23301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spc="-10" dirty="0"/>
              <a:t>Logical</a:t>
            </a:r>
            <a:r>
              <a:rPr spc="-95" dirty="0"/>
              <a:t> </a:t>
            </a:r>
            <a:r>
              <a:rPr spc="-10" dirty="0"/>
              <a:t>Equivalence</a:t>
            </a:r>
            <a:r>
              <a:rPr dirty="0"/>
              <a:t>	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xfrm>
            <a:off x="-361950" y="434975"/>
            <a:ext cx="5261890" cy="984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41680" marR="688975" indent="-171450">
              <a:lnSpc>
                <a:spcPct val="102899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1100" spc="-80" dirty="0">
                <a:latin typeface="Arial MT"/>
                <a:cs typeface="Arial MT"/>
              </a:rPr>
              <a:t>Two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propositions</a:t>
            </a:r>
            <a:r>
              <a:rPr lang="en-US" sz="1100" spc="-40" dirty="0">
                <a:latin typeface="Arial MT"/>
                <a:cs typeface="Arial MT"/>
              </a:rPr>
              <a:t> </a:t>
            </a:r>
            <a:r>
              <a:rPr lang="en-US"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lang="en-US" sz="110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and</a:t>
            </a:r>
            <a:r>
              <a:rPr lang="en-US" sz="1100" spc="-30" dirty="0">
                <a:latin typeface="Arial MT"/>
                <a:cs typeface="Arial MT"/>
              </a:rPr>
              <a:t> </a:t>
            </a:r>
            <a:r>
              <a:rPr lang="en-US"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q</a:t>
            </a:r>
            <a:r>
              <a:rPr lang="en-US" sz="1100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are</a:t>
            </a:r>
            <a:r>
              <a:rPr lang="en-US" sz="1100" spc="-35" dirty="0">
                <a:latin typeface="Arial MT"/>
                <a:cs typeface="Arial MT"/>
              </a:rPr>
              <a:t> </a:t>
            </a:r>
            <a:r>
              <a:rPr lang="en-US" sz="1100" spc="-10" dirty="0">
                <a:solidFill>
                  <a:srgbClr val="0000FF"/>
                </a:solidFill>
                <a:latin typeface="Arial MT"/>
                <a:cs typeface="Arial MT"/>
              </a:rPr>
              <a:t>logically</a:t>
            </a:r>
            <a:r>
              <a:rPr lang="en-US" sz="11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100" spc="-10" dirty="0">
                <a:solidFill>
                  <a:srgbClr val="0000FF"/>
                </a:solidFill>
                <a:latin typeface="Arial MT"/>
                <a:cs typeface="Arial MT"/>
              </a:rPr>
              <a:t>equivalent</a:t>
            </a:r>
            <a:r>
              <a:rPr lang="en-US" sz="11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if</a:t>
            </a:r>
            <a:r>
              <a:rPr lang="en-US" sz="1100" spc="-3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their</a:t>
            </a:r>
            <a:r>
              <a:rPr lang="en-US" sz="1100" spc="-30" dirty="0">
                <a:latin typeface="Arial MT"/>
                <a:cs typeface="Arial MT"/>
              </a:rPr>
              <a:t> </a:t>
            </a:r>
            <a:r>
              <a:rPr lang="en-US" sz="1100" spc="-10" dirty="0">
                <a:latin typeface="Arial MT"/>
                <a:cs typeface="Arial MT"/>
              </a:rPr>
              <a:t>truth </a:t>
            </a:r>
            <a:r>
              <a:rPr lang="en-US" sz="1100" dirty="0">
                <a:latin typeface="Arial MT"/>
                <a:cs typeface="Arial MT"/>
              </a:rPr>
              <a:t>tables</a:t>
            </a:r>
            <a:r>
              <a:rPr lang="en-US" sz="1100" spc="-5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are</a:t>
            </a:r>
            <a:r>
              <a:rPr lang="en-US" sz="1100" spc="-5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the</a:t>
            </a:r>
            <a:r>
              <a:rPr lang="en-US" sz="1100" spc="-50" dirty="0">
                <a:latin typeface="Arial MT"/>
                <a:cs typeface="Arial MT"/>
              </a:rPr>
              <a:t> </a:t>
            </a:r>
            <a:r>
              <a:rPr lang="en-US" sz="1100" spc="-10" dirty="0">
                <a:latin typeface="Arial MT"/>
                <a:cs typeface="Arial MT"/>
              </a:rPr>
              <a:t>same.</a:t>
            </a:r>
            <a:endParaRPr lang="en-US" sz="1100" dirty="0">
              <a:latin typeface="Arial MT"/>
              <a:cs typeface="Arial MT"/>
            </a:endParaRPr>
          </a:p>
          <a:p>
            <a:pPr marL="741680" marR="536575" indent="-171450">
              <a:lnSpc>
                <a:spcPct val="125600"/>
              </a:lnSpc>
              <a:buFont typeface="Arial" panose="020B0604020202020204" pitchFamily="34" charset="0"/>
              <a:buChar char="•"/>
            </a:pPr>
            <a:endParaRPr lang="en-US" sz="1100" spc="-20" dirty="0">
              <a:latin typeface="Arial MT"/>
              <a:cs typeface="Arial MT"/>
            </a:endParaRPr>
          </a:p>
          <a:p>
            <a:pPr marL="741680" marR="536575" indent="-171450">
              <a:lnSpc>
                <a:spcPct val="125600"/>
              </a:lnSpc>
              <a:buFont typeface="Arial" panose="020B0604020202020204" pitchFamily="34" charset="0"/>
              <a:buChar char="•"/>
            </a:pPr>
            <a:r>
              <a:rPr lang="en-US" sz="1100" spc="-20" dirty="0">
                <a:latin typeface="Arial MT"/>
                <a:cs typeface="Arial MT"/>
              </a:rPr>
              <a:t>Namely,</a:t>
            </a:r>
            <a:r>
              <a:rPr lang="en-US" sz="1100" spc="-50" dirty="0">
                <a:latin typeface="Arial MT"/>
                <a:cs typeface="Arial MT"/>
              </a:rPr>
              <a:t> </a:t>
            </a:r>
            <a:r>
              <a:rPr lang="en-US"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lang="en-US" sz="1100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and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q</a:t>
            </a:r>
            <a:r>
              <a:rPr lang="en-US" sz="1100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are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spc="-10" dirty="0">
                <a:solidFill>
                  <a:srgbClr val="0000FF"/>
                </a:solidFill>
                <a:latin typeface="Arial MT"/>
                <a:cs typeface="Arial MT"/>
              </a:rPr>
              <a:t>logically</a:t>
            </a:r>
            <a:r>
              <a:rPr lang="en-US" sz="11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100" spc="-10" dirty="0">
                <a:solidFill>
                  <a:srgbClr val="0000FF"/>
                </a:solidFill>
                <a:latin typeface="Arial MT"/>
                <a:cs typeface="Arial MT"/>
              </a:rPr>
              <a:t>equivalent</a:t>
            </a:r>
            <a:r>
              <a:rPr lang="en-US" sz="11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if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lang="en-US" sz="1100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spc="-330" dirty="0">
                <a:solidFill>
                  <a:srgbClr val="0000FF"/>
                </a:solidFill>
                <a:latin typeface="Lucida Sans Unicode"/>
                <a:cs typeface="Lucida Sans Unicode"/>
              </a:rPr>
              <a:t>↔</a:t>
            </a:r>
            <a:r>
              <a:rPr lang="en-US" sz="1100" spc="-6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lang="en-US"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q</a:t>
            </a:r>
            <a:r>
              <a:rPr lang="en-US" sz="1100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Arial MT"/>
                <a:cs typeface="Arial MT"/>
              </a:rPr>
              <a:t>is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spc="-10" dirty="0">
                <a:latin typeface="Arial MT"/>
                <a:cs typeface="Arial MT"/>
              </a:rPr>
              <a:t>tautology. </a:t>
            </a:r>
            <a:r>
              <a:rPr lang="en-US" sz="1100" dirty="0">
                <a:latin typeface="Arial MT"/>
                <a:cs typeface="Arial MT"/>
              </a:rPr>
              <a:t>If</a:t>
            </a:r>
            <a:r>
              <a:rPr lang="en-US" sz="1100" spc="-30" dirty="0">
                <a:latin typeface="Arial MT"/>
                <a:cs typeface="Arial MT"/>
              </a:rPr>
              <a:t> </a:t>
            </a:r>
            <a:r>
              <a:rPr lang="en-US"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lang="en-US" sz="1100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and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q</a:t>
            </a:r>
            <a:r>
              <a:rPr lang="en-US" sz="1100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are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spc="-10" dirty="0">
                <a:latin typeface="Arial MT"/>
                <a:cs typeface="Arial MT"/>
              </a:rPr>
              <a:t>logically</a:t>
            </a:r>
            <a:r>
              <a:rPr lang="en-US" sz="1100" spc="-30" dirty="0">
                <a:latin typeface="Arial MT"/>
                <a:cs typeface="Arial MT"/>
              </a:rPr>
              <a:t> </a:t>
            </a:r>
            <a:r>
              <a:rPr lang="en-US" sz="1100" spc="-10" dirty="0">
                <a:latin typeface="Arial MT"/>
                <a:cs typeface="Arial MT"/>
              </a:rPr>
              <a:t>equivalent,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we</a:t>
            </a:r>
            <a:r>
              <a:rPr lang="en-US" sz="1100" spc="-3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write</a:t>
            </a:r>
            <a:r>
              <a:rPr lang="en-US" sz="1100" spc="-30" dirty="0">
                <a:latin typeface="Arial MT"/>
                <a:cs typeface="Arial MT"/>
              </a:rPr>
              <a:t> </a:t>
            </a:r>
            <a:r>
              <a:rPr lang="en-US"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lang="en-US" sz="1100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dirty="0">
                <a:solidFill>
                  <a:srgbClr val="00FF00"/>
                </a:solidFill>
                <a:latin typeface="Lucida Sans Unicode"/>
                <a:cs typeface="Lucida Sans Unicode"/>
              </a:rPr>
              <a:t>≡</a:t>
            </a:r>
            <a:r>
              <a:rPr lang="en-US" sz="1100" spc="-85" dirty="0">
                <a:solidFill>
                  <a:srgbClr val="00FF00"/>
                </a:solidFill>
                <a:latin typeface="Lucida Sans Unicode"/>
                <a:cs typeface="Lucida Sans Unicode"/>
              </a:rPr>
              <a:t> </a:t>
            </a:r>
            <a:r>
              <a:rPr lang="en-US" sz="1100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q</a:t>
            </a:r>
            <a:r>
              <a:rPr lang="en-US" sz="1100" spc="-25" dirty="0">
                <a:latin typeface="Arial MT"/>
                <a:cs typeface="Arial MT"/>
              </a:rPr>
              <a:t>.</a:t>
            </a:r>
            <a:endParaRPr lang="en-US" sz="1100" dirty="0">
              <a:latin typeface="Arial MT"/>
              <a:cs typeface="Arial MT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177601"/>
              </p:ext>
            </p:extLst>
          </p:nvPr>
        </p:nvGraphicFramePr>
        <p:xfrm>
          <a:off x="1847850" y="1473325"/>
          <a:ext cx="1143000" cy="89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R="3810" algn="ctr">
                        <a:lnSpc>
                          <a:spcPts val="1190"/>
                        </a:lnSpc>
                      </a:pPr>
                      <a:r>
                        <a:rPr sz="1100" i="1" spc="-50" dirty="0">
                          <a:latin typeface="Arial"/>
                          <a:cs typeface="Arial"/>
                        </a:rPr>
                        <a:t>P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ts val="1190"/>
                        </a:lnSpc>
                      </a:pPr>
                      <a:r>
                        <a:rPr sz="1100" i="1" spc="-50" dirty="0">
                          <a:latin typeface="Arial"/>
                          <a:cs typeface="Arial"/>
                        </a:rPr>
                        <a:t>Q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90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100" i="1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Yu Gothic UI Semilight"/>
                          <a:cs typeface="Yu Gothic UI Semilight"/>
                        </a:rPr>
                        <a:t>↔</a:t>
                      </a:r>
                      <a:r>
                        <a:rPr sz="1100" spc="-25" dirty="0"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Q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50" dirty="0">
                          <a:latin typeface="Tahoma"/>
                          <a:cs typeface="Tahoma"/>
                        </a:rPr>
                        <a:t>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310"/>
                        </a:lnSpc>
                      </a:pPr>
                      <a:r>
                        <a:rPr sz="1100" spc="50" dirty="0">
                          <a:latin typeface="Tahoma"/>
                          <a:cs typeface="Tahoma"/>
                        </a:rPr>
                        <a:t>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310"/>
                        </a:lnSpc>
                      </a:pPr>
                      <a:r>
                        <a:rPr sz="1100" spc="50" dirty="0">
                          <a:latin typeface="Tahoma"/>
                          <a:cs typeface="Tahoma"/>
                        </a:rPr>
                        <a:t>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50" dirty="0">
                          <a:latin typeface="Tahoma"/>
                          <a:cs typeface="Tahoma"/>
                        </a:rPr>
                        <a:t>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F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F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F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175"/>
                        </a:lnSpc>
                      </a:pPr>
                      <a:r>
                        <a:rPr sz="1100" spc="50" dirty="0">
                          <a:latin typeface="Tahoma"/>
                          <a:cs typeface="Tahoma"/>
                        </a:rPr>
                        <a:t>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F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F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F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175"/>
                        </a:lnSpc>
                      </a:pPr>
                      <a:r>
                        <a:rPr sz="1100" spc="50" dirty="0">
                          <a:latin typeface="Tahoma"/>
                          <a:cs typeface="Tahoma"/>
                        </a:rPr>
                        <a:t>T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961375" y="3351784"/>
            <a:ext cx="6851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Logical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Equivalence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D67CD1-1589-1F3C-754E-D506D23F34F5}"/>
              </a:ext>
            </a:extLst>
          </p:cNvPr>
          <p:cNvSpPr txBox="1"/>
          <p:nvPr/>
        </p:nvSpPr>
        <p:spPr>
          <a:xfrm>
            <a:off x="-514350" y="2371850"/>
            <a:ext cx="520065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0230" algn="ctr">
              <a:lnSpc>
                <a:spcPct val="100000"/>
              </a:lnSpc>
              <a:spcBef>
                <a:spcPts val="345"/>
              </a:spcBef>
            </a:pPr>
            <a:r>
              <a:rPr lang="en-US" sz="2000" dirty="0">
                <a:solidFill>
                  <a:srgbClr val="C00000"/>
                </a:solidFill>
                <a:latin typeface="Arial MT"/>
                <a:cs typeface="Arial MT"/>
              </a:rPr>
              <a:t>**</a:t>
            </a:r>
            <a:r>
              <a:rPr lang="en-US" sz="1200" dirty="0">
                <a:solidFill>
                  <a:srgbClr val="7030A0"/>
                </a:solidFill>
                <a:latin typeface="Arial MT"/>
                <a:cs typeface="Arial MT"/>
              </a:rPr>
              <a:t>A tautology is a statement in logic that is always true, no matter whether its variables are true or false.</a:t>
            </a:r>
          </a:p>
          <a:p>
            <a:pPr marL="570230" algn="l">
              <a:lnSpc>
                <a:spcPct val="100000"/>
              </a:lnSpc>
              <a:spcBef>
                <a:spcPts val="345"/>
              </a:spcBef>
            </a:pPr>
            <a:r>
              <a:rPr lang="en-US" sz="1200" b="1" dirty="0">
                <a:solidFill>
                  <a:srgbClr val="0070C0"/>
                </a:solidFill>
                <a:latin typeface="Arial MT"/>
                <a:cs typeface="Arial MT"/>
              </a:rPr>
              <a:t>Example: </a:t>
            </a:r>
            <a:r>
              <a:rPr lang="en-US" sz="1600" b="1" dirty="0">
                <a:solidFill>
                  <a:srgbClr val="0070C0"/>
                </a:solidFill>
                <a:latin typeface="Arial MT"/>
                <a:cs typeface="Arial MT"/>
              </a:rPr>
              <a:t>𝑝 ∨ ¬𝑝 </a:t>
            </a:r>
          </a:p>
          <a:p>
            <a:pPr marL="570230" algn="l">
              <a:lnSpc>
                <a:spcPct val="100000"/>
              </a:lnSpc>
              <a:spcBef>
                <a:spcPts val="345"/>
              </a:spcBef>
            </a:pPr>
            <a:r>
              <a:rPr lang="en-US" sz="1200" dirty="0">
                <a:solidFill>
                  <a:srgbClr val="00B050"/>
                </a:solidFill>
                <a:latin typeface="Arial MT"/>
                <a:cs typeface="Arial MT"/>
              </a:rPr>
              <a:t>(This is always true, because either 𝑝 is true or it isn’t)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9C70FC14-8765-C3DD-1674-FE39C903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05" y="387162"/>
            <a:ext cx="4229690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32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36E07-66D8-728C-5160-86F4D30723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799"/>
          <a:stretch/>
        </p:blipFill>
        <p:spPr>
          <a:xfrm>
            <a:off x="218784" y="501478"/>
            <a:ext cx="4172532" cy="13812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47F01E-41D5-4FA6-D3DD-67F87B005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18" y="1958975"/>
            <a:ext cx="4359464" cy="127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59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56C203-4F35-A24E-43B1-251DDD7EF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1" y="358583"/>
            <a:ext cx="4239217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6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1F2941-F9E6-25E5-4FD1-5F2D4C597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1" y="596742"/>
            <a:ext cx="423921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37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82E433-AD14-8A01-706B-B00671E14043}"/>
              </a:ext>
            </a:extLst>
          </p:cNvPr>
          <p:cNvSpPr txBox="1">
            <a:spLocks/>
          </p:cNvSpPr>
          <p:nvPr/>
        </p:nvSpPr>
        <p:spPr>
          <a:xfrm>
            <a:off x="151193" y="216864"/>
            <a:ext cx="434947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3335">
              <a:spcBef>
                <a:spcPts val="135"/>
              </a:spcBef>
              <a:tabLst>
                <a:tab pos="4336415" algn="l"/>
              </a:tabLst>
            </a:pPr>
            <a:r>
              <a:rPr lang="en-US" sz="2400" b="1" spc="-10" dirty="0">
                <a:solidFill>
                  <a:srgbClr val="0070C0"/>
                </a:solidFill>
              </a:rPr>
              <a:t>Proving Logical Equivalence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5F83F-F410-4165-1898-2842B1FCFA5E}"/>
              </a:ext>
            </a:extLst>
          </p:cNvPr>
          <p:cNvSpPr txBox="1"/>
          <p:nvPr/>
        </p:nvSpPr>
        <p:spPr>
          <a:xfrm>
            <a:off x="107747" y="663575"/>
            <a:ext cx="44958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● By using equivalence laws, we can prove two propositions are </a:t>
            </a:r>
            <a:r>
              <a:rPr lang="en-US" sz="1600" dirty="0">
                <a:solidFill>
                  <a:srgbClr val="0070C0"/>
                </a:solidFill>
                <a:latin typeface="+mn-lt"/>
              </a:rPr>
              <a:t>logically equivalent without having to construct large truth tables </a:t>
            </a:r>
          </a:p>
          <a:p>
            <a:endParaRPr lang="en-US" sz="1600" b="1" dirty="0">
              <a:solidFill>
                <a:srgbClr val="C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C00000"/>
                </a:solidFill>
              </a:rPr>
              <a:t>In General: </a:t>
            </a:r>
          </a:p>
          <a:p>
            <a:pPr lvl="1"/>
            <a:r>
              <a:rPr lang="en-US" sz="1200" dirty="0">
                <a:solidFill>
                  <a:srgbClr val="7030A0"/>
                </a:solidFill>
              </a:rPr>
              <a:t>● Each line should list the law that led to it </a:t>
            </a:r>
          </a:p>
          <a:p>
            <a:pPr lvl="3"/>
            <a:r>
              <a:rPr lang="en-US" sz="1200" dirty="0">
                <a:solidFill>
                  <a:srgbClr val="7030A0"/>
                </a:solidFill>
              </a:rPr>
              <a:t>    ○ Exactly one law applied per line </a:t>
            </a:r>
          </a:p>
          <a:p>
            <a:pPr lvl="3"/>
            <a:endParaRPr lang="en-US" sz="1200" dirty="0"/>
          </a:p>
          <a:p>
            <a:pPr lvl="1"/>
            <a:r>
              <a:rPr lang="en-US" sz="1200" dirty="0">
                <a:solidFill>
                  <a:srgbClr val="7030A0"/>
                </a:solidFill>
              </a:rPr>
              <a:t>● Start with LHS and go until you reach the RHS</a:t>
            </a:r>
            <a:endParaRPr lang="en-US" sz="1200" dirty="0">
              <a:solidFill>
                <a:srgbClr val="7030A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1011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spc="-10" dirty="0"/>
              <a:t>Logical</a:t>
            </a:r>
            <a:r>
              <a:rPr spc="-55" dirty="0"/>
              <a:t> </a:t>
            </a:r>
            <a:r>
              <a:rPr spc="-40" dirty="0"/>
              <a:t>Equivalence</a:t>
            </a:r>
            <a:r>
              <a:rPr spc="-55" dirty="0"/>
              <a:t> </a:t>
            </a:r>
            <a:r>
              <a:rPr spc="-45" dirty="0"/>
              <a:t>using</a:t>
            </a:r>
            <a:r>
              <a:rPr spc="-55" dirty="0"/>
              <a:t> </a:t>
            </a:r>
            <a:r>
              <a:rPr spc="-20" dirty="0"/>
              <a:t>Laws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134617" y="631507"/>
            <a:ext cx="2339340" cy="14604"/>
          </a:xfrm>
          <a:custGeom>
            <a:avLst/>
            <a:gdLst/>
            <a:ahLst/>
            <a:cxnLst/>
            <a:rect l="l" t="t" r="r" b="b"/>
            <a:pathLst>
              <a:path w="2339340" h="14604">
                <a:moveTo>
                  <a:pt x="2338755" y="0"/>
                </a:moveTo>
                <a:lnTo>
                  <a:pt x="0" y="0"/>
                </a:lnTo>
                <a:lnTo>
                  <a:pt x="0" y="14274"/>
                </a:lnTo>
                <a:lnTo>
                  <a:pt x="2338755" y="14274"/>
                </a:lnTo>
                <a:lnTo>
                  <a:pt x="23387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7838" y="667625"/>
            <a:ext cx="70421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Equivalence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2028" y="667625"/>
            <a:ext cx="3619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Name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34617" y="902893"/>
            <a:ext cx="2339340" cy="43180"/>
            <a:chOff x="1134617" y="902893"/>
            <a:chExt cx="2339340" cy="43180"/>
          </a:xfrm>
        </p:grpSpPr>
        <p:sp>
          <p:nvSpPr>
            <p:cNvPr id="7" name="object 7"/>
            <p:cNvSpPr/>
            <p:nvPr/>
          </p:nvSpPr>
          <p:spPr>
            <a:xfrm>
              <a:off x="1134617" y="907351"/>
              <a:ext cx="2339340" cy="0"/>
            </a:xfrm>
            <a:custGeom>
              <a:avLst/>
              <a:gdLst/>
              <a:ahLst/>
              <a:cxnLst/>
              <a:rect l="l" t="t" r="r" b="b"/>
              <a:pathLst>
                <a:path w="2339340">
                  <a:moveTo>
                    <a:pt x="0" y="0"/>
                  </a:moveTo>
                  <a:lnTo>
                    <a:pt x="2338755" y="0"/>
                  </a:lnTo>
                </a:path>
              </a:pathLst>
            </a:custGeom>
            <a:ln w="8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34617" y="941565"/>
              <a:ext cx="2339340" cy="0"/>
            </a:xfrm>
            <a:custGeom>
              <a:avLst/>
              <a:gdLst/>
              <a:ahLst/>
              <a:cxnLst/>
              <a:rect l="l" t="t" r="r" b="b"/>
              <a:pathLst>
                <a:path w="2339340">
                  <a:moveTo>
                    <a:pt x="0" y="0"/>
                  </a:moveTo>
                  <a:lnTo>
                    <a:pt x="2338755" y="0"/>
                  </a:lnTo>
                </a:path>
              </a:pathLst>
            </a:custGeom>
            <a:ln w="8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97838" y="967865"/>
            <a:ext cx="625475" cy="34426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60" dirty="0">
                <a:latin typeface="Arial"/>
                <a:cs typeface="Arial"/>
              </a:rPr>
              <a:t>T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60" dirty="0">
                <a:latin typeface="Arial"/>
                <a:cs typeface="Arial"/>
              </a:rPr>
              <a:t>p 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2202" y="1053908"/>
            <a:ext cx="82676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Idenitity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Laws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34617" y="1425384"/>
            <a:ext cx="2339340" cy="0"/>
          </a:xfrm>
          <a:custGeom>
            <a:avLst/>
            <a:gdLst/>
            <a:ahLst/>
            <a:cxnLst/>
            <a:rect l="l" t="t" r="r" b="b"/>
            <a:pathLst>
              <a:path w="2339340">
                <a:moveTo>
                  <a:pt x="0" y="0"/>
                </a:moveTo>
                <a:lnTo>
                  <a:pt x="2338755" y="0"/>
                </a:lnTo>
              </a:path>
            </a:pathLst>
          </a:custGeom>
          <a:ln w="8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97838" y="1451685"/>
            <a:ext cx="648335" cy="34426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60" dirty="0">
                <a:latin typeface="Arial"/>
                <a:cs typeface="Arial"/>
              </a:rPr>
              <a:t>T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10" dirty="0">
                <a:latin typeface="Arial"/>
                <a:cs typeface="Arial"/>
              </a:rPr>
              <a:t>T </a:t>
            </a: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8379" y="1537727"/>
            <a:ext cx="10325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Domination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Laws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34617" y="1909203"/>
            <a:ext cx="2339340" cy="0"/>
          </a:xfrm>
          <a:custGeom>
            <a:avLst/>
            <a:gdLst/>
            <a:ahLst/>
            <a:cxnLst/>
            <a:rect l="l" t="t" r="r" b="b"/>
            <a:pathLst>
              <a:path w="2339340">
                <a:moveTo>
                  <a:pt x="0" y="0"/>
                </a:moveTo>
                <a:lnTo>
                  <a:pt x="2338755" y="0"/>
                </a:lnTo>
              </a:path>
            </a:pathLst>
          </a:custGeom>
          <a:ln w="8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97838" y="1935504"/>
            <a:ext cx="589915" cy="34426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65" dirty="0">
                <a:latin typeface="Arial"/>
                <a:cs typeface="Arial"/>
              </a:rPr>
              <a:t>p </a:t>
            </a: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65" dirty="0">
                <a:latin typeface="Arial"/>
                <a:cs typeface="Arial"/>
              </a:rPr>
              <a:t>p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78379" y="2021546"/>
            <a:ext cx="101726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Idempotent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Laws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34617" y="2388552"/>
            <a:ext cx="2339340" cy="14604"/>
          </a:xfrm>
          <a:custGeom>
            <a:avLst/>
            <a:gdLst/>
            <a:ahLst/>
            <a:cxnLst/>
            <a:rect l="l" t="t" r="r" b="b"/>
            <a:pathLst>
              <a:path w="2339340" h="14605">
                <a:moveTo>
                  <a:pt x="2338755" y="0"/>
                </a:moveTo>
                <a:lnTo>
                  <a:pt x="0" y="0"/>
                </a:lnTo>
                <a:lnTo>
                  <a:pt x="0" y="14274"/>
                </a:lnTo>
                <a:lnTo>
                  <a:pt x="2338755" y="14274"/>
                </a:lnTo>
                <a:lnTo>
                  <a:pt x="23387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961375" y="3351784"/>
            <a:ext cx="6851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Logical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Equivalence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spc="-10" dirty="0"/>
              <a:t>Logical</a:t>
            </a:r>
            <a:r>
              <a:rPr spc="-55" dirty="0"/>
              <a:t> </a:t>
            </a:r>
            <a:r>
              <a:rPr spc="-40" dirty="0"/>
              <a:t>Equivalence</a:t>
            </a:r>
            <a:r>
              <a:rPr spc="-55" dirty="0"/>
              <a:t> </a:t>
            </a:r>
            <a:r>
              <a:rPr spc="-45" dirty="0"/>
              <a:t>using</a:t>
            </a:r>
            <a:r>
              <a:rPr spc="-55" dirty="0"/>
              <a:t> </a:t>
            </a:r>
            <a:r>
              <a:rPr spc="-20" dirty="0"/>
              <a:t>Laws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731875" y="631507"/>
            <a:ext cx="3144520" cy="14604"/>
          </a:xfrm>
          <a:custGeom>
            <a:avLst/>
            <a:gdLst/>
            <a:ahLst/>
            <a:cxnLst/>
            <a:rect l="l" t="t" r="r" b="b"/>
            <a:pathLst>
              <a:path w="3144520" h="14604">
                <a:moveTo>
                  <a:pt x="3144253" y="0"/>
                </a:moveTo>
                <a:lnTo>
                  <a:pt x="0" y="0"/>
                </a:lnTo>
                <a:lnTo>
                  <a:pt x="0" y="14274"/>
                </a:lnTo>
                <a:lnTo>
                  <a:pt x="3144253" y="14274"/>
                </a:lnTo>
                <a:lnTo>
                  <a:pt x="31442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5083" y="667625"/>
            <a:ext cx="704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Equivalence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6488" y="667625"/>
            <a:ext cx="361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Name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31875" y="902893"/>
            <a:ext cx="3144520" cy="43180"/>
            <a:chOff x="731875" y="902893"/>
            <a:chExt cx="3144520" cy="43180"/>
          </a:xfrm>
        </p:grpSpPr>
        <p:sp>
          <p:nvSpPr>
            <p:cNvPr id="7" name="object 7"/>
            <p:cNvSpPr/>
            <p:nvPr/>
          </p:nvSpPr>
          <p:spPr>
            <a:xfrm>
              <a:off x="731875" y="907351"/>
              <a:ext cx="3144520" cy="0"/>
            </a:xfrm>
            <a:custGeom>
              <a:avLst/>
              <a:gdLst/>
              <a:ahLst/>
              <a:cxnLst/>
              <a:rect l="l" t="t" r="r" b="b"/>
              <a:pathLst>
                <a:path w="3144520">
                  <a:moveTo>
                    <a:pt x="0" y="0"/>
                  </a:moveTo>
                  <a:lnTo>
                    <a:pt x="3144253" y="0"/>
                  </a:lnTo>
                </a:path>
              </a:pathLst>
            </a:custGeom>
            <a:ln w="8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1875" y="941565"/>
              <a:ext cx="3144520" cy="0"/>
            </a:xfrm>
            <a:custGeom>
              <a:avLst/>
              <a:gdLst/>
              <a:ahLst/>
              <a:cxnLst/>
              <a:rect l="l" t="t" r="r" b="b"/>
              <a:pathLst>
                <a:path w="3144520">
                  <a:moveTo>
                    <a:pt x="0" y="0"/>
                  </a:moveTo>
                  <a:lnTo>
                    <a:pt x="3144253" y="0"/>
                  </a:lnTo>
                </a:path>
              </a:pathLst>
            </a:custGeom>
            <a:ln w="8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5083" y="967865"/>
            <a:ext cx="651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Yu Gothic UI Semilight"/>
                <a:cs typeface="Yu Gothic UI Semilight"/>
              </a:rPr>
              <a:t>¬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spc="-10" dirty="0">
                <a:latin typeface="Yu Gothic UI Semilight"/>
                <a:cs typeface="Yu Gothic UI Semilight"/>
              </a:rPr>
              <a:t>¬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82875" y="967865"/>
            <a:ext cx="13309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Double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Negation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Laws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1875" y="1253312"/>
            <a:ext cx="3144520" cy="0"/>
          </a:xfrm>
          <a:custGeom>
            <a:avLst/>
            <a:gdLst/>
            <a:ahLst/>
            <a:cxnLst/>
            <a:rect l="l" t="t" r="r" b="b"/>
            <a:pathLst>
              <a:path w="3144520">
                <a:moveTo>
                  <a:pt x="0" y="0"/>
                </a:moveTo>
                <a:lnTo>
                  <a:pt x="3144253" y="0"/>
                </a:lnTo>
              </a:path>
            </a:pathLst>
          </a:custGeom>
          <a:ln w="8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95083" y="1279612"/>
            <a:ext cx="70485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10" dirty="0">
                <a:latin typeface="Arial"/>
                <a:cs typeface="Arial"/>
              </a:rPr>
              <a:t>T </a:t>
            </a: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F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82875" y="1365655"/>
            <a:ext cx="8775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Negation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Laws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1875" y="1737131"/>
            <a:ext cx="3144520" cy="0"/>
          </a:xfrm>
          <a:custGeom>
            <a:avLst/>
            <a:gdLst/>
            <a:ahLst/>
            <a:cxnLst/>
            <a:rect l="l" t="t" r="r" b="b"/>
            <a:pathLst>
              <a:path w="3144520">
                <a:moveTo>
                  <a:pt x="0" y="0"/>
                </a:moveTo>
                <a:lnTo>
                  <a:pt x="3144253" y="0"/>
                </a:lnTo>
              </a:path>
            </a:pathLst>
          </a:custGeom>
          <a:ln w="8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95083" y="1763431"/>
            <a:ext cx="120586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Yu Gothic UI Semilight"/>
                <a:cs typeface="Yu Gothic UI Semilight"/>
              </a:rPr>
              <a:t>¬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spc="-20" dirty="0">
                <a:latin typeface="Yu Gothic UI Semilight"/>
                <a:cs typeface="Yu Gothic UI Semilight"/>
              </a:rPr>
              <a:t>¬</a:t>
            </a:r>
            <a:r>
              <a:rPr sz="1100" i="1" spc="-20" dirty="0">
                <a:latin typeface="Arial"/>
                <a:cs typeface="Arial"/>
              </a:rPr>
              <a:t>p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25" dirty="0">
                <a:latin typeface="Yu Gothic UI Semilight"/>
                <a:cs typeface="Yu Gothic UI Semilight"/>
              </a:rPr>
              <a:t>¬</a:t>
            </a:r>
            <a:r>
              <a:rPr sz="1100" i="1" spc="-25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Yu Gothic UI Semilight"/>
                <a:cs typeface="Yu Gothic UI Semilight"/>
              </a:rPr>
              <a:t>¬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spc="-20" dirty="0">
                <a:latin typeface="Yu Gothic UI Semilight"/>
                <a:cs typeface="Yu Gothic UI Semilight"/>
              </a:rPr>
              <a:t>¬</a:t>
            </a:r>
            <a:r>
              <a:rPr sz="1100" i="1" spc="-20" dirty="0">
                <a:latin typeface="Arial"/>
                <a:cs typeface="Arial"/>
              </a:rPr>
              <a:t>p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25" dirty="0">
                <a:latin typeface="Yu Gothic UI Semilight"/>
                <a:cs typeface="Yu Gothic UI Semilight"/>
              </a:rPr>
              <a:t>¬</a:t>
            </a:r>
            <a:r>
              <a:rPr sz="1100" i="1" spc="-25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82875" y="1849461"/>
            <a:ext cx="1098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Morgan’s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Laws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31875" y="2220950"/>
            <a:ext cx="3144520" cy="0"/>
          </a:xfrm>
          <a:custGeom>
            <a:avLst/>
            <a:gdLst/>
            <a:ahLst/>
            <a:cxnLst/>
            <a:rect l="l" t="t" r="r" b="b"/>
            <a:pathLst>
              <a:path w="3144520">
                <a:moveTo>
                  <a:pt x="0" y="0"/>
                </a:moveTo>
                <a:lnTo>
                  <a:pt x="3144253" y="0"/>
                </a:lnTo>
              </a:path>
            </a:pathLst>
          </a:custGeom>
          <a:ln w="8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5083" y="2247251"/>
            <a:ext cx="975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→</a:t>
            </a:r>
            <a:r>
              <a:rPr sz="1100" spc="-25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spc="-20" dirty="0">
                <a:latin typeface="Yu Gothic UI Semilight"/>
                <a:cs typeface="Yu Gothic UI Semilight"/>
              </a:rPr>
              <a:t>¬</a:t>
            </a:r>
            <a:r>
              <a:rPr sz="1100" i="1" spc="-20" dirty="0">
                <a:latin typeface="Arial"/>
                <a:cs typeface="Arial"/>
              </a:rPr>
              <a:t>p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82875" y="2247251"/>
            <a:ext cx="942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Implication </a:t>
            </a:r>
            <a:r>
              <a:rPr sz="1100" spc="-25" dirty="0">
                <a:latin typeface="Tahoma"/>
                <a:cs typeface="Tahoma"/>
              </a:rPr>
              <a:t>Law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3503" y="3056329"/>
            <a:ext cx="3144520" cy="14604"/>
          </a:xfrm>
          <a:custGeom>
            <a:avLst/>
            <a:gdLst/>
            <a:ahLst/>
            <a:cxnLst/>
            <a:rect l="l" t="t" r="r" b="b"/>
            <a:pathLst>
              <a:path w="3144520" h="14605">
                <a:moveTo>
                  <a:pt x="3144253" y="0"/>
                </a:moveTo>
                <a:lnTo>
                  <a:pt x="0" y="0"/>
                </a:lnTo>
                <a:lnTo>
                  <a:pt x="0" y="14274"/>
                </a:lnTo>
                <a:lnTo>
                  <a:pt x="3144253" y="14274"/>
                </a:lnTo>
                <a:lnTo>
                  <a:pt x="31442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961375" y="3351784"/>
            <a:ext cx="6851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Logical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Equivalence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3" name="object 15">
            <a:extLst>
              <a:ext uri="{FF2B5EF4-FFF2-40B4-BE49-F238E27FC236}">
                <a16:creationId xmlns:a16="http://schemas.microsoft.com/office/drawing/2014/main" id="{220D5B9E-256E-587C-A5F9-24EDDC218FE4}"/>
              </a:ext>
            </a:extLst>
          </p:cNvPr>
          <p:cNvSpPr txBox="1"/>
          <p:nvPr/>
        </p:nvSpPr>
        <p:spPr>
          <a:xfrm>
            <a:off x="804461" y="2623360"/>
            <a:ext cx="1389673" cy="36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100" i="1" spc="-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spc="-3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∨</a:t>
            </a:r>
            <a:r>
              <a:rPr lang="en-US" sz="1100" spc="-3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 </a:t>
            </a:r>
            <a:r>
              <a:rPr lang="en-US" sz="1100" spc="-3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∧</a:t>
            </a:r>
            <a:r>
              <a:rPr lang="en-US" sz="11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</a:t>
            </a:r>
            <a:r>
              <a:rPr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spc="-25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≡</a:t>
            </a:r>
            <a:r>
              <a:rPr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i="1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100" i="1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i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sz="1100" i="1" spc="-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spc="-3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∧  </a:t>
            </a:r>
            <a:r>
              <a:rPr lang="en-US" sz="11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(p </a:t>
            </a:r>
            <a:r>
              <a:rPr lang="en-US" sz="1100" spc="-3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∨</a:t>
            </a:r>
            <a:r>
              <a:rPr lang="en-US" sz="11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</a:t>
            </a: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spc="-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spc="-25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≡</a:t>
            </a: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i="1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sz="1100" i="1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object 19">
            <a:extLst>
              <a:ext uri="{FF2B5EF4-FFF2-40B4-BE49-F238E27FC236}">
                <a16:creationId xmlns:a16="http://schemas.microsoft.com/office/drawing/2014/main" id="{3266EEC9-5DC6-B98B-170E-C698D4E601E6}"/>
              </a:ext>
            </a:extLst>
          </p:cNvPr>
          <p:cNvSpPr txBox="1"/>
          <p:nvPr/>
        </p:nvSpPr>
        <p:spPr>
          <a:xfrm>
            <a:off x="2462459" y="2698777"/>
            <a:ext cx="1214191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30" dirty="0">
                <a:latin typeface="Tahoma"/>
                <a:cs typeface="Tahoma"/>
              </a:rPr>
              <a:t>Absorption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Law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5" name="object 17">
            <a:extLst>
              <a:ext uri="{FF2B5EF4-FFF2-40B4-BE49-F238E27FC236}">
                <a16:creationId xmlns:a16="http://schemas.microsoft.com/office/drawing/2014/main" id="{E5AD7D77-F4BF-12A8-6267-1C0E9DE7C828}"/>
              </a:ext>
            </a:extLst>
          </p:cNvPr>
          <p:cNvSpPr/>
          <p:nvPr/>
        </p:nvSpPr>
        <p:spPr>
          <a:xfrm>
            <a:off x="782764" y="2573126"/>
            <a:ext cx="3144520" cy="0"/>
          </a:xfrm>
          <a:custGeom>
            <a:avLst/>
            <a:gdLst/>
            <a:ahLst/>
            <a:cxnLst/>
            <a:rect l="l" t="t" r="r" b="b"/>
            <a:pathLst>
              <a:path w="3144520">
                <a:moveTo>
                  <a:pt x="0" y="0"/>
                </a:moveTo>
                <a:lnTo>
                  <a:pt x="3144253" y="0"/>
                </a:lnTo>
              </a:path>
            </a:pathLst>
          </a:custGeom>
          <a:ln w="8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spc="-10" dirty="0"/>
              <a:t>Logical</a:t>
            </a:r>
            <a:r>
              <a:rPr spc="-55" dirty="0"/>
              <a:t> </a:t>
            </a:r>
            <a:r>
              <a:rPr spc="-40" dirty="0"/>
              <a:t>Equivalence</a:t>
            </a:r>
            <a:r>
              <a:rPr spc="-55" dirty="0"/>
              <a:t> </a:t>
            </a:r>
            <a:r>
              <a:rPr spc="-45" dirty="0"/>
              <a:t>using</a:t>
            </a:r>
            <a:r>
              <a:rPr spc="-55" dirty="0"/>
              <a:t> </a:t>
            </a:r>
            <a:r>
              <a:rPr spc="-20" dirty="0"/>
              <a:t>Laws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530021" y="631507"/>
            <a:ext cx="3548379" cy="14604"/>
          </a:xfrm>
          <a:custGeom>
            <a:avLst/>
            <a:gdLst/>
            <a:ahLst/>
            <a:cxnLst/>
            <a:rect l="l" t="t" r="r" b="b"/>
            <a:pathLst>
              <a:path w="3548379" h="14604">
                <a:moveTo>
                  <a:pt x="3547960" y="0"/>
                </a:moveTo>
                <a:lnTo>
                  <a:pt x="0" y="0"/>
                </a:lnTo>
                <a:lnTo>
                  <a:pt x="0" y="14274"/>
                </a:lnTo>
                <a:lnTo>
                  <a:pt x="3547960" y="14274"/>
                </a:lnTo>
                <a:lnTo>
                  <a:pt x="3547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3229" y="667625"/>
            <a:ext cx="704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Equivalence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6476" y="667625"/>
            <a:ext cx="361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Name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0021" y="902893"/>
            <a:ext cx="3548379" cy="43180"/>
            <a:chOff x="530021" y="902893"/>
            <a:chExt cx="3548379" cy="43180"/>
          </a:xfrm>
        </p:grpSpPr>
        <p:sp>
          <p:nvSpPr>
            <p:cNvPr id="7" name="object 7"/>
            <p:cNvSpPr/>
            <p:nvPr/>
          </p:nvSpPr>
          <p:spPr>
            <a:xfrm>
              <a:off x="530021" y="907351"/>
              <a:ext cx="3548379" cy="0"/>
            </a:xfrm>
            <a:custGeom>
              <a:avLst/>
              <a:gdLst/>
              <a:ahLst/>
              <a:cxnLst/>
              <a:rect l="l" t="t" r="r" b="b"/>
              <a:pathLst>
                <a:path w="3548379">
                  <a:moveTo>
                    <a:pt x="0" y="0"/>
                  </a:moveTo>
                  <a:lnTo>
                    <a:pt x="3547960" y="0"/>
                  </a:lnTo>
                </a:path>
              </a:pathLst>
            </a:custGeom>
            <a:ln w="8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0021" y="941565"/>
              <a:ext cx="3548379" cy="0"/>
            </a:xfrm>
            <a:custGeom>
              <a:avLst/>
              <a:gdLst/>
              <a:ahLst/>
              <a:cxnLst/>
              <a:rect l="l" t="t" r="r" b="b"/>
              <a:pathLst>
                <a:path w="3548379">
                  <a:moveTo>
                    <a:pt x="0" y="0"/>
                  </a:moveTo>
                  <a:lnTo>
                    <a:pt x="3547960" y="0"/>
                  </a:lnTo>
                </a:path>
              </a:pathLst>
            </a:custGeom>
            <a:ln w="8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3229" y="967865"/>
            <a:ext cx="8216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60" dirty="0">
                <a:latin typeface="Arial"/>
                <a:cs typeface="Arial"/>
              </a:rPr>
              <a:t>q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p </a:t>
            </a: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60" dirty="0">
                <a:latin typeface="Arial"/>
                <a:cs typeface="Arial"/>
              </a:rPr>
              <a:t>q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82925" y="1053908"/>
            <a:ext cx="11322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Commutative </a:t>
            </a:r>
            <a:r>
              <a:rPr sz="1100" spc="-35" dirty="0">
                <a:latin typeface="Tahoma"/>
                <a:cs typeface="Tahoma"/>
              </a:rPr>
              <a:t>Laws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0021" y="1425384"/>
            <a:ext cx="3548379" cy="0"/>
          </a:xfrm>
          <a:custGeom>
            <a:avLst/>
            <a:gdLst/>
            <a:ahLst/>
            <a:cxnLst/>
            <a:rect l="l" t="t" r="r" b="b"/>
            <a:pathLst>
              <a:path w="3548379">
                <a:moveTo>
                  <a:pt x="0" y="0"/>
                </a:moveTo>
                <a:lnTo>
                  <a:pt x="3547960" y="0"/>
                </a:lnTo>
              </a:path>
            </a:pathLst>
          </a:custGeom>
          <a:ln w="8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3229" y="1451685"/>
            <a:ext cx="147510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82925" y="1537727"/>
            <a:ext cx="9988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Associative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Laws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0021" y="1909203"/>
            <a:ext cx="3548379" cy="0"/>
          </a:xfrm>
          <a:custGeom>
            <a:avLst/>
            <a:gdLst/>
            <a:ahLst/>
            <a:cxnLst/>
            <a:rect l="l" t="t" r="r" b="b"/>
            <a:pathLst>
              <a:path w="3548379">
                <a:moveTo>
                  <a:pt x="0" y="0"/>
                </a:moveTo>
                <a:lnTo>
                  <a:pt x="3547960" y="0"/>
                </a:lnTo>
              </a:path>
            </a:pathLst>
          </a:custGeom>
          <a:ln w="8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3229" y="1935504"/>
            <a:ext cx="181356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60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82925" y="2021546"/>
            <a:ext cx="1025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Distributive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Laws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0021" y="2388552"/>
            <a:ext cx="3548379" cy="14604"/>
          </a:xfrm>
          <a:custGeom>
            <a:avLst/>
            <a:gdLst/>
            <a:ahLst/>
            <a:cxnLst/>
            <a:rect l="l" t="t" r="r" b="b"/>
            <a:pathLst>
              <a:path w="3548379" h="14605">
                <a:moveTo>
                  <a:pt x="3547960" y="0"/>
                </a:moveTo>
                <a:lnTo>
                  <a:pt x="0" y="0"/>
                </a:lnTo>
                <a:lnTo>
                  <a:pt x="0" y="14274"/>
                </a:lnTo>
                <a:lnTo>
                  <a:pt x="3547960" y="14274"/>
                </a:lnTo>
                <a:lnTo>
                  <a:pt x="3547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961375" y="3351784"/>
            <a:ext cx="6851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Logical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Equivalence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672B5A-D40C-213F-5D27-A69E19686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6229" y="65087"/>
            <a:ext cx="2437642" cy="333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3553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5B358D88-6984-99CA-1EE7-38B6BC2FB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8" y="282575"/>
            <a:ext cx="2209802" cy="2666998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F1432E27-62F7-D05F-3EC1-6C81C164A2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1252" y="941387"/>
            <a:ext cx="2133600" cy="157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4075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AA13D67D-00AC-DDB6-C317-F31B359859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14" y="76603"/>
            <a:ext cx="43494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spc="-10" dirty="0"/>
              <a:t>Logical</a:t>
            </a:r>
            <a:r>
              <a:rPr spc="-55" dirty="0"/>
              <a:t> </a:t>
            </a:r>
            <a:r>
              <a:rPr spc="-40" dirty="0"/>
              <a:t>Equivalence</a:t>
            </a:r>
            <a:r>
              <a:rPr spc="-55" dirty="0"/>
              <a:t> </a:t>
            </a:r>
            <a:r>
              <a:rPr spc="-45" dirty="0"/>
              <a:t>using</a:t>
            </a:r>
            <a:r>
              <a:rPr spc="-55" dirty="0"/>
              <a:t> </a:t>
            </a:r>
            <a:r>
              <a:rPr spc="-20" dirty="0"/>
              <a:t>Laws</a:t>
            </a:r>
            <a:r>
              <a:rPr dirty="0"/>
              <a:t>	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459C574-96E8-F3FF-F32A-6953779C7FE8}"/>
              </a:ext>
            </a:extLst>
          </p:cNvPr>
          <p:cNvSpPr txBox="1"/>
          <p:nvPr/>
        </p:nvSpPr>
        <p:spPr>
          <a:xfrm>
            <a:off x="-895350" y="434909"/>
            <a:ext cx="3034665" cy="700192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40"/>
              </a:spcBef>
              <a:tabLst>
                <a:tab pos="286385" algn="l"/>
              </a:tabLst>
            </a:pPr>
            <a:r>
              <a:rPr spc="-15" dirty="0">
                <a:latin typeface="Cambria Math"/>
                <a:cs typeface="Cambria Math"/>
              </a:rPr>
              <a:t>Example:</a:t>
            </a:r>
            <a:endParaRPr dirty="0">
              <a:latin typeface="Cambria Math"/>
              <a:cs typeface="Cambria Math"/>
            </a:endParaRPr>
          </a:p>
          <a:p>
            <a:pPr marL="279400" algn="ctr">
              <a:lnSpc>
                <a:spcPct val="100000"/>
              </a:lnSpc>
              <a:spcBef>
                <a:spcPts val="480"/>
              </a:spcBef>
              <a:tabLst>
                <a:tab pos="553085" algn="l"/>
              </a:tabLst>
            </a:pPr>
            <a:r>
              <a:rPr spc="-5" dirty="0">
                <a:solidFill>
                  <a:srgbClr val="1F497D"/>
                </a:solidFill>
                <a:latin typeface="Cambria Math"/>
                <a:cs typeface="Cambria Math"/>
              </a:rPr>
              <a:t>Sho</a:t>
            </a:r>
            <a:r>
              <a:rPr dirty="0">
                <a:solidFill>
                  <a:srgbClr val="1F497D"/>
                </a:solidFill>
                <a:latin typeface="Cambria Math"/>
                <a:cs typeface="Cambria Math"/>
              </a:rPr>
              <a:t>w</a:t>
            </a:r>
            <a:r>
              <a:rPr spc="-5" dirty="0">
                <a:solidFill>
                  <a:srgbClr val="1F497D"/>
                </a:solidFill>
                <a:latin typeface="Cambria Math"/>
                <a:cs typeface="Cambria Math"/>
              </a:rPr>
              <a:t> </a:t>
            </a:r>
            <a:r>
              <a:rPr spc="-15" dirty="0">
                <a:solidFill>
                  <a:srgbClr val="1F497D"/>
                </a:solidFill>
                <a:latin typeface="Cambria Math"/>
                <a:cs typeface="Cambria Math"/>
              </a:rPr>
              <a:t>that</a:t>
            </a:r>
            <a:endParaRPr dirty="0">
              <a:latin typeface="Cambria Math"/>
              <a:cs typeface="Cambria Math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554F6CD4-AAA8-E9AF-30B6-58D24F36006E}"/>
              </a:ext>
            </a:extLst>
          </p:cNvPr>
          <p:cNvSpPr txBox="1"/>
          <p:nvPr/>
        </p:nvSpPr>
        <p:spPr>
          <a:xfrm>
            <a:off x="2609850" y="556737"/>
            <a:ext cx="30346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1F497D"/>
                </a:solidFill>
                <a:latin typeface="Cambria Math"/>
                <a:cs typeface="Cambria Math"/>
              </a:rPr>
              <a:t>is</a:t>
            </a:r>
            <a:r>
              <a:rPr sz="1400" spc="-45" dirty="0">
                <a:solidFill>
                  <a:srgbClr val="1F497D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1F497D"/>
                </a:solidFill>
                <a:latin typeface="Cambria Math"/>
                <a:cs typeface="Cambria Math"/>
              </a:rPr>
              <a:t>logically</a:t>
            </a:r>
            <a:r>
              <a:rPr sz="1400" spc="-45" dirty="0">
                <a:solidFill>
                  <a:srgbClr val="1F497D"/>
                </a:solidFill>
                <a:latin typeface="Cambria Math"/>
                <a:cs typeface="Cambria Math"/>
              </a:rPr>
              <a:t> </a:t>
            </a:r>
            <a:r>
              <a:rPr sz="1400" spc="-10" dirty="0">
                <a:solidFill>
                  <a:srgbClr val="1F497D"/>
                </a:solidFill>
                <a:latin typeface="Cambria Math"/>
                <a:cs typeface="Cambria Math"/>
              </a:rPr>
              <a:t>equivalent</a:t>
            </a:r>
            <a:r>
              <a:rPr sz="1400" spc="-50" dirty="0">
                <a:solidFill>
                  <a:srgbClr val="1F497D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1F497D"/>
                </a:solidFill>
                <a:latin typeface="Cambria Math"/>
                <a:cs typeface="Cambria Math"/>
              </a:rPr>
              <a:t>to</a:t>
            </a:r>
            <a:endParaRPr sz="1400" dirty="0">
              <a:latin typeface="Cambria Math"/>
              <a:cs typeface="Cambria Math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82D3C8F5-1545-2D50-1552-3759C9BEB112}"/>
              </a:ext>
            </a:extLst>
          </p:cNvPr>
          <p:cNvSpPr txBox="1"/>
          <p:nvPr/>
        </p:nvSpPr>
        <p:spPr>
          <a:xfrm>
            <a:off x="32452" y="1273781"/>
            <a:ext cx="289306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b="1" spc="-50" dirty="0">
                <a:solidFill>
                  <a:srgbClr val="0070C0"/>
                </a:solidFill>
                <a:latin typeface="Cambria Math"/>
                <a:cs typeface="Cambria Math"/>
              </a:rPr>
              <a:t>Solution:</a:t>
            </a:r>
            <a:endParaRPr b="1" dirty="0">
              <a:solidFill>
                <a:srgbClr val="0070C0"/>
              </a:solidFill>
              <a:latin typeface="Cambria Math"/>
              <a:cs typeface="Cambria Math"/>
            </a:endParaRPr>
          </a:p>
        </p:txBody>
      </p:sp>
      <p:pic>
        <p:nvPicPr>
          <p:cNvPr id="15" name="object 6">
            <a:extLst>
              <a:ext uri="{FF2B5EF4-FFF2-40B4-BE49-F238E27FC236}">
                <a16:creationId xmlns:a16="http://schemas.microsoft.com/office/drawing/2014/main" id="{FEDBFB4E-906A-FDBB-EE99-078E162376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72" y="1668589"/>
            <a:ext cx="4438398" cy="1455071"/>
          </a:xfrm>
          <a:prstGeom prst="rect">
            <a:avLst/>
          </a:prstGeom>
        </p:spPr>
      </p:pic>
      <p:pic>
        <p:nvPicPr>
          <p:cNvPr id="16" name="object 7">
            <a:extLst>
              <a:ext uri="{FF2B5EF4-FFF2-40B4-BE49-F238E27FC236}">
                <a16:creationId xmlns:a16="http://schemas.microsoft.com/office/drawing/2014/main" id="{8C11B3EE-9C1B-F371-6966-6432A3AE4DB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6351" y="556737"/>
            <a:ext cx="1295400" cy="218024"/>
          </a:xfrm>
          <a:prstGeom prst="rect">
            <a:avLst/>
          </a:prstGeom>
        </p:spPr>
      </p:pic>
      <p:pic>
        <p:nvPicPr>
          <p:cNvPr id="17" name="object 8">
            <a:extLst>
              <a:ext uri="{FF2B5EF4-FFF2-40B4-BE49-F238E27FC236}">
                <a16:creationId xmlns:a16="http://schemas.microsoft.com/office/drawing/2014/main" id="{2BE5DE9F-DCDD-CE5F-2F09-9313C077B19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8983" y="895432"/>
            <a:ext cx="814388" cy="22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4478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3">
            <a:extLst>
              <a:ext uri="{FF2B5EF4-FFF2-40B4-BE49-F238E27FC236}">
                <a16:creationId xmlns:a16="http://schemas.microsoft.com/office/drawing/2014/main" id="{39FF91FB-8CE4-2106-EB8D-A23FCE4BDC57}"/>
              </a:ext>
            </a:extLst>
          </p:cNvPr>
          <p:cNvGrpSpPr/>
          <p:nvPr/>
        </p:nvGrpSpPr>
        <p:grpSpPr>
          <a:xfrm>
            <a:off x="61239" y="481812"/>
            <a:ext cx="4472940" cy="303530"/>
            <a:chOff x="93204" y="606259"/>
            <a:chExt cx="4472940" cy="303530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E948345E-DB17-8FB3-840D-3436974D1685}"/>
                </a:ext>
              </a:extLst>
            </p:cNvPr>
            <p:cNvSpPr/>
            <p:nvPr/>
          </p:nvSpPr>
          <p:spPr>
            <a:xfrm>
              <a:off x="93204" y="606259"/>
              <a:ext cx="4422140" cy="82550"/>
            </a:xfrm>
            <a:custGeom>
              <a:avLst/>
              <a:gdLst/>
              <a:ahLst/>
              <a:cxnLst/>
              <a:rect l="l" t="t" r="r" b="b"/>
              <a:pathLst>
                <a:path w="4422140" h="82550">
                  <a:moveTo>
                    <a:pt x="437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21658" y="82384"/>
                  </a:lnTo>
                  <a:lnTo>
                    <a:pt x="4421658" y="50800"/>
                  </a:lnTo>
                  <a:lnTo>
                    <a:pt x="4417649" y="31075"/>
                  </a:lnTo>
                  <a:lnTo>
                    <a:pt x="4406735" y="14922"/>
                  </a:lnTo>
                  <a:lnTo>
                    <a:pt x="4390582" y="4008"/>
                  </a:lnTo>
                  <a:lnTo>
                    <a:pt x="43708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5">
              <a:extLst>
                <a:ext uri="{FF2B5EF4-FFF2-40B4-BE49-F238E27FC236}">
                  <a16:creationId xmlns:a16="http://schemas.microsoft.com/office/drawing/2014/main" id="{49ADEA40-4F33-1E61-00F7-74F95DF9E6A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05" y="808164"/>
              <a:ext cx="101600" cy="101600"/>
            </a:xfrm>
            <a:prstGeom prst="rect">
              <a:avLst/>
            </a:prstGeom>
          </p:spPr>
        </p:pic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62D39404-379B-BAE3-A496-6491EB2E79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805" y="795464"/>
              <a:ext cx="4370857" cy="114301"/>
            </a:xfrm>
            <a:prstGeom prst="rect">
              <a:avLst/>
            </a:prstGeom>
          </p:spPr>
        </p:pic>
        <p:pic>
          <p:nvPicPr>
            <p:cNvPr id="18" name="object 7">
              <a:extLst>
                <a:ext uri="{FF2B5EF4-FFF2-40B4-BE49-F238E27FC236}">
                  <a16:creationId xmlns:a16="http://schemas.microsoft.com/office/drawing/2014/main" id="{005F36D0-AF8E-7AC1-536B-1C3375066EE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4863" y="656818"/>
              <a:ext cx="50800" cy="151345"/>
            </a:xfrm>
            <a:prstGeom prst="rect">
              <a:avLst/>
            </a:prstGeom>
          </p:spPr>
        </p:pic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61EB7C5B-818E-F8C9-736A-15BC72B14FED}"/>
                </a:ext>
              </a:extLst>
            </p:cNvPr>
            <p:cNvSpPr/>
            <p:nvPr/>
          </p:nvSpPr>
          <p:spPr>
            <a:xfrm>
              <a:off x="93204" y="650685"/>
              <a:ext cx="4422140" cy="208279"/>
            </a:xfrm>
            <a:custGeom>
              <a:avLst/>
              <a:gdLst/>
              <a:ahLst/>
              <a:cxnLst/>
              <a:rect l="l" t="t" r="r" b="b"/>
              <a:pathLst>
                <a:path w="4422140" h="208280">
                  <a:moveTo>
                    <a:pt x="4421658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4370857" y="208279"/>
                  </a:lnTo>
                  <a:lnTo>
                    <a:pt x="4390582" y="204270"/>
                  </a:lnTo>
                  <a:lnTo>
                    <a:pt x="4406735" y="193356"/>
                  </a:lnTo>
                  <a:lnTo>
                    <a:pt x="4417649" y="177203"/>
                  </a:lnTo>
                  <a:lnTo>
                    <a:pt x="4421658" y="157478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213459A7-26AB-BE81-F6E7-7AD1524B0F80}"/>
                </a:ext>
              </a:extLst>
            </p:cNvPr>
            <p:cNvSpPr/>
            <p:nvPr/>
          </p:nvSpPr>
          <p:spPr>
            <a:xfrm>
              <a:off x="4514863" y="694923"/>
              <a:ext cx="0" cy="132715"/>
            </a:xfrm>
            <a:custGeom>
              <a:avLst/>
              <a:gdLst/>
              <a:ahLst/>
              <a:cxnLst/>
              <a:rect l="l" t="t" r="r" b="b"/>
              <a:pathLst>
                <a:path h="132715">
                  <a:moveTo>
                    <a:pt x="0" y="1322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0">
              <a:extLst>
                <a:ext uri="{FF2B5EF4-FFF2-40B4-BE49-F238E27FC236}">
                  <a16:creationId xmlns:a16="http://schemas.microsoft.com/office/drawing/2014/main" id="{6E0A910B-0A11-9080-C587-87D85AE8641D}"/>
                </a:ext>
              </a:extLst>
            </p:cNvPr>
            <p:cNvSpPr/>
            <p:nvPr/>
          </p:nvSpPr>
          <p:spPr>
            <a:xfrm>
              <a:off x="4514863" y="6822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8F7569BA-BAF0-8924-10D1-74B227E5BE21}"/>
                </a:ext>
              </a:extLst>
            </p:cNvPr>
            <p:cNvSpPr/>
            <p:nvPr/>
          </p:nvSpPr>
          <p:spPr>
            <a:xfrm>
              <a:off x="4514863" y="6695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2">
              <a:extLst>
                <a:ext uri="{FF2B5EF4-FFF2-40B4-BE49-F238E27FC236}">
                  <a16:creationId xmlns:a16="http://schemas.microsoft.com/office/drawing/2014/main" id="{A73EA2DE-F9E5-3D73-6CD4-5C780FE8967C}"/>
                </a:ext>
              </a:extLst>
            </p:cNvPr>
            <p:cNvSpPr/>
            <p:nvPr/>
          </p:nvSpPr>
          <p:spPr>
            <a:xfrm>
              <a:off x="4514863" y="6568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spc="-10" dirty="0"/>
              <a:t>Logical</a:t>
            </a:r>
            <a:r>
              <a:rPr spc="-65" dirty="0"/>
              <a:t> </a:t>
            </a:r>
            <a:r>
              <a:rPr spc="-40" dirty="0"/>
              <a:t>Equivalence</a:t>
            </a:r>
            <a:r>
              <a:rPr spc="-65" dirty="0"/>
              <a:t> </a:t>
            </a:r>
            <a:r>
              <a:rPr spc="-20" dirty="0"/>
              <a:t>Using</a:t>
            </a:r>
            <a:r>
              <a:rPr spc="-65" dirty="0"/>
              <a:t> </a:t>
            </a:r>
            <a:r>
              <a:rPr spc="-20" dirty="0"/>
              <a:t>Laws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314" y="505623"/>
            <a:ext cx="244776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5" dirty="0">
                <a:latin typeface="Tahoma"/>
                <a:cs typeface="Tahoma"/>
              </a:rPr>
              <a:t>Is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→</a:t>
            </a:r>
            <a:r>
              <a:rPr sz="1100" spc="-2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25" dirty="0">
                <a:latin typeface="Arial"/>
                <a:cs typeface="Arial"/>
              </a:rPr>
              <a:t>q</a:t>
            </a:r>
            <a:r>
              <a:rPr sz="1100" spc="-25" dirty="0">
                <a:latin typeface="Tahoma"/>
                <a:cs typeface="Tahoma"/>
              </a:rPr>
              <a:t>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501" y="847176"/>
            <a:ext cx="1542415" cy="167322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→</a:t>
            </a:r>
            <a:r>
              <a:rPr sz="1100" spc="-25" dirty="0">
                <a:latin typeface="Yu Gothic UI Semilight"/>
                <a:cs typeface="Yu Gothic UI Semilight"/>
              </a:rPr>
              <a:t> 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20" dirty="0">
                <a:latin typeface="Yu Gothic UI Semilight"/>
                <a:cs typeface="Yu Gothic UI Semilight"/>
              </a:rPr>
              <a:t>¬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spc="-2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¬</a:t>
            </a:r>
            <a:r>
              <a:rPr sz="1100" i="1" spc="-20" dirty="0">
                <a:latin typeface="Arial"/>
                <a:cs typeface="Arial"/>
              </a:rPr>
              <a:t>q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375" dirty="0">
                <a:solidFill>
                  <a:srgbClr val="0070C0"/>
                </a:solidFill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 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spc="-1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¬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spc="-10" dirty="0">
                <a:latin typeface="Yu Gothic UI Semilight"/>
                <a:cs typeface="Yu Gothic UI Semilight"/>
              </a:rPr>
              <a:t>¬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solidFill>
                  <a:srgbClr val="0070C0"/>
                </a:solidFill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 </a:t>
            </a:r>
            <a:r>
              <a:rPr sz="1100" spc="-25" dirty="0">
                <a:solidFill>
                  <a:srgbClr val="0070C0"/>
                </a:solidFill>
                <a:latin typeface="Yu Gothic UI Semilight"/>
                <a:cs typeface="Yu Gothic UI Semilight"/>
              </a:rPr>
              <a:t>¬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25" dirty="0">
                <a:latin typeface="Yu Gothic UI Semilight"/>
                <a:cs typeface="Yu Gothic UI Semilight"/>
              </a:rPr>
              <a:t>¬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60" dirty="0">
                <a:latin typeface="Arial"/>
                <a:cs typeface="Arial"/>
              </a:rPr>
              <a:t>q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25" dirty="0">
                <a:latin typeface="Yu Gothic UI Semilight"/>
                <a:cs typeface="Yu Gothic UI Semilight"/>
              </a:rPr>
              <a:t>¬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60" dirty="0">
                <a:latin typeface="Arial"/>
                <a:cs typeface="Arial"/>
              </a:rPr>
              <a:t>q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10" dirty="0">
                <a:latin typeface="Arial"/>
                <a:cs typeface="Arial"/>
              </a:rPr>
              <a:t>T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5719" y="860625"/>
            <a:ext cx="1277620" cy="167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6854">
              <a:lnSpc>
                <a:spcPct val="140400"/>
              </a:lnSpc>
              <a:spcBef>
                <a:spcPts val="100"/>
              </a:spcBef>
            </a:pPr>
            <a:r>
              <a:rPr sz="1100" spc="-10" dirty="0">
                <a:latin typeface="Tahoma"/>
                <a:cs typeface="Tahoma"/>
              </a:rPr>
              <a:t>Original </a:t>
            </a:r>
            <a:r>
              <a:rPr sz="1100" spc="-30" dirty="0">
                <a:latin typeface="Tahoma"/>
                <a:cs typeface="Tahoma"/>
              </a:rPr>
              <a:t>Implication </a:t>
            </a:r>
            <a:r>
              <a:rPr sz="1100" spc="-25" dirty="0">
                <a:latin typeface="Tahoma"/>
                <a:cs typeface="Tahoma"/>
              </a:rPr>
              <a:t>Law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Morgan’s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Law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0400"/>
              </a:lnSpc>
            </a:pPr>
            <a:r>
              <a:rPr sz="1100" spc="-25" dirty="0">
                <a:latin typeface="Tahoma"/>
                <a:cs typeface="Tahoma"/>
              </a:rPr>
              <a:t>Double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Negation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Law </a:t>
            </a:r>
            <a:r>
              <a:rPr sz="1100" spc="-20" dirty="0">
                <a:latin typeface="Tahoma"/>
                <a:cs typeface="Tahoma"/>
              </a:rPr>
              <a:t>Distributive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Law Negation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Law Domination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Law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61375" y="3351784"/>
            <a:ext cx="6851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Logical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Equivalence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3">
            <a:extLst>
              <a:ext uri="{FF2B5EF4-FFF2-40B4-BE49-F238E27FC236}">
                <a16:creationId xmlns:a16="http://schemas.microsoft.com/office/drawing/2014/main" id="{B2072E91-3EE5-D24B-F6A3-3644C530C46F}"/>
              </a:ext>
            </a:extLst>
          </p:cNvPr>
          <p:cNvGrpSpPr/>
          <p:nvPr/>
        </p:nvGrpSpPr>
        <p:grpSpPr>
          <a:xfrm>
            <a:off x="86716" y="481812"/>
            <a:ext cx="4472940" cy="303530"/>
            <a:chOff x="93204" y="606259"/>
            <a:chExt cx="4472940" cy="303530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D3D46C33-A79E-D9A9-9778-4F32F3B68EAE}"/>
                </a:ext>
              </a:extLst>
            </p:cNvPr>
            <p:cNvSpPr/>
            <p:nvPr/>
          </p:nvSpPr>
          <p:spPr>
            <a:xfrm>
              <a:off x="93204" y="606259"/>
              <a:ext cx="4422140" cy="82550"/>
            </a:xfrm>
            <a:custGeom>
              <a:avLst/>
              <a:gdLst/>
              <a:ahLst/>
              <a:cxnLst/>
              <a:rect l="l" t="t" r="r" b="b"/>
              <a:pathLst>
                <a:path w="4422140" h="82550">
                  <a:moveTo>
                    <a:pt x="437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21658" y="82384"/>
                  </a:lnTo>
                  <a:lnTo>
                    <a:pt x="4421658" y="50800"/>
                  </a:lnTo>
                  <a:lnTo>
                    <a:pt x="4417649" y="31075"/>
                  </a:lnTo>
                  <a:lnTo>
                    <a:pt x="4406735" y="14922"/>
                  </a:lnTo>
                  <a:lnTo>
                    <a:pt x="4390582" y="4008"/>
                  </a:lnTo>
                  <a:lnTo>
                    <a:pt x="43708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5">
              <a:extLst>
                <a:ext uri="{FF2B5EF4-FFF2-40B4-BE49-F238E27FC236}">
                  <a16:creationId xmlns:a16="http://schemas.microsoft.com/office/drawing/2014/main" id="{FB742807-0515-7EC4-57C7-C607AA81CA2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05" y="808164"/>
              <a:ext cx="101600" cy="101600"/>
            </a:xfrm>
            <a:prstGeom prst="rect">
              <a:avLst/>
            </a:prstGeom>
          </p:spPr>
        </p:pic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A58BBEF5-F1BF-CDA0-FDEE-4093B315466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805" y="795464"/>
              <a:ext cx="4370857" cy="114301"/>
            </a:xfrm>
            <a:prstGeom prst="rect">
              <a:avLst/>
            </a:prstGeom>
          </p:spPr>
        </p:pic>
        <p:pic>
          <p:nvPicPr>
            <p:cNvPr id="18" name="object 7">
              <a:extLst>
                <a:ext uri="{FF2B5EF4-FFF2-40B4-BE49-F238E27FC236}">
                  <a16:creationId xmlns:a16="http://schemas.microsoft.com/office/drawing/2014/main" id="{D177E63B-6601-86C4-49AF-1007B83748E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4863" y="656818"/>
              <a:ext cx="50800" cy="151345"/>
            </a:xfrm>
            <a:prstGeom prst="rect">
              <a:avLst/>
            </a:prstGeom>
          </p:spPr>
        </p:pic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AB976058-980A-58B8-FFCC-8C2D561826B7}"/>
                </a:ext>
              </a:extLst>
            </p:cNvPr>
            <p:cNvSpPr/>
            <p:nvPr/>
          </p:nvSpPr>
          <p:spPr>
            <a:xfrm>
              <a:off x="93204" y="650685"/>
              <a:ext cx="4422140" cy="208279"/>
            </a:xfrm>
            <a:custGeom>
              <a:avLst/>
              <a:gdLst/>
              <a:ahLst/>
              <a:cxnLst/>
              <a:rect l="l" t="t" r="r" b="b"/>
              <a:pathLst>
                <a:path w="4422140" h="208280">
                  <a:moveTo>
                    <a:pt x="4421658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4370857" y="208279"/>
                  </a:lnTo>
                  <a:lnTo>
                    <a:pt x="4390582" y="204270"/>
                  </a:lnTo>
                  <a:lnTo>
                    <a:pt x="4406735" y="193356"/>
                  </a:lnTo>
                  <a:lnTo>
                    <a:pt x="4417649" y="177203"/>
                  </a:lnTo>
                  <a:lnTo>
                    <a:pt x="4421658" y="157478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25B99499-F49E-0434-4FE2-EAB543D637A2}"/>
                </a:ext>
              </a:extLst>
            </p:cNvPr>
            <p:cNvSpPr/>
            <p:nvPr/>
          </p:nvSpPr>
          <p:spPr>
            <a:xfrm>
              <a:off x="4514863" y="694923"/>
              <a:ext cx="0" cy="132715"/>
            </a:xfrm>
            <a:custGeom>
              <a:avLst/>
              <a:gdLst/>
              <a:ahLst/>
              <a:cxnLst/>
              <a:rect l="l" t="t" r="r" b="b"/>
              <a:pathLst>
                <a:path h="132715">
                  <a:moveTo>
                    <a:pt x="0" y="1322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0">
              <a:extLst>
                <a:ext uri="{FF2B5EF4-FFF2-40B4-BE49-F238E27FC236}">
                  <a16:creationId xmlns:a16="http://schemas.microsoft.com/office/drawing/2014/main" id="{4E868791-FB00-3842-9DC3-552D62F92477}"/>
                </a:ext>
              </a:extLst>
            </p:cNvPr>
            <p:cNvSpPr/>
            <p:nvPr/>
          </p:nvSpPr>
          <p:spPr>
            <a:xfrm>
              <a:off x="4514863" y="6822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304B3F05-6F85-33D2-EAF5-F6F79EBDA211}"/>
                </a:ext>
              </a:extLst>
            </p:cNvPr>
            <p:cNvSpPr/>
            <p:nvPr/>
          </p:nvSpPr>
          <p:spPr>
            <a:xfrm>
              <a:off x="4514863" y="6695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2">
              <a:extLst>
                <a:ext uri="{FF2B5EF4-FFF2-40B4-BE49-F238E27FC236}">
                  <a16:creationId xmlns:a16="http://schemas.microsoft.com/office/drawing/2014/main" id="{E8E2DB83-BDB1-A29E-E390-45A75D0A89C7}"/>
                </a:ext>
              </a:extLst>
            </p:cNvPr>
            <p:cNvSpPr/>
            <p:nvPr/>
          </p:nvSpPr>
          <p:spPr>
            <a:xfrm>
              <a:off x="4514863" y="6568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spc="-10" dirty="0"/>
              <a:t>Logical</a:t>
            </a:r>
            <a:r>
              <a:rPr spc="-65" dirty="0"/>
              <a:t> </a:t>
            </a:r>
            <a:r>
              <a:rPr spc="-40" dirty="0"/>
              <a:t>Equivalence</a:t>
            </a:r>
            <a:r>
              <a:rPr spc="-65" dirty="0"/>
              <a:t> </a:t>
            </a:r>
            <a:r>
              <a:rPr spc="-20" dirty="0"/>
              <a:t>Using</a:t>
            </a:r>
            <a:r>
              <a:rPr spc="-65" dirty="0"/>
              <a:t> </a:t>
            </a:r>
            <a:r>
              <a:rPr spc="-20" dirty="0"/>
              <a:t>Laws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6905" y="505623"/>
            <a:ext cx="312983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5" dirty="0">
                <a:latin typeface="Tahoma"/>
                <a:cs typeface="Tahoma"/>
              </a:rPr>
              <a:t>Is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→</a:t>
            </a:r>
            <a:r>
              <a:rPr sz="1100" spc="-15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R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→</a:t>
            </a:r>
            <a:r>
              <a:rPr sz="1100" spc="-15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→</a:t>
            </a:r>
            <a:r>
              <a:rPr sz="1100" spc="-20" dirty="0">
                <a:latin typeface="Yu Gothic UI Semilight"/>
                <a:cs typeface="Yu Gothic UI Semilight"/>
              </a:rPr>
              <a:t> </a:t>
            </a:r>
            <a:r>
              <a:rPr sz="1100" i="1" spc="-25" dirty="0">
                <a:latin typeface="Arial"/>
                <a:cs typeface="Arial"/>
              </a:rPr>
              <a:t>R</a:t>
            </a:r>
            <a:r>
              <a:rPr sz="1100" spc="-25" dirty="0">
                <a:latin typeface="Tahoma"/>
                <a:cs typeface="Tahoma"/>
              </a:rPr>
              <a:t>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288" y="847176"/>
            <a:ext cx="1448435" cy="190817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→</a:t>
            </a:r>
            <a:r>
              <a:rPr sz="1100" spc="-25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R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→</a:t>
            </a:r>
            <a:r>
              <a:rPr sz="1100" spc="-20" dirty="0">
                <a:latin typeface="Yu Gothic UI Semilight"/>
                <a:cs typeface="Yu Gothic UI Semilight"/>
              </a:rPr>
              <a:t> </a:t>
            </a:r>
            <a:r>
              <a:rPr sz="1100" i="1" spc="-25" dirty="0">
                <a:latin typeface="Arial"/>
                <a:cs typeface="Arial"/>
              </a:rPr>
              <a:t>R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75" dirty="0">
                <a:solidFill>
                  <a:srgbClr val="0070C0"/>
                </a:solidFill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R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→</a:t>
            </a:r>
            <a:r>
              <a:rPr sz="1100" spc="-20" dirty="0">
                <a:latin typeface="Yu Gothic UI Semilight"/>
                <a:cs typeface="Yu Gothic UI Semilight"/>
              </a:rPr>
              <a:t> </a:t>
            </a:r>
            <a:r>
              <a:rPr sz="1100" i="1" spc="-25" dirty="0">
                <a:latin typeface="Arial"/>
                <a:cs typeface="Arial"/>
              </a:rPr>
              <a:t>R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R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375" dirty="0">
                <a:solidFill>
                  <a:srgbClr val="0070C0"/>
                </a:solidFill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25" dirty="0">
                <a:latin typeface="Arial"/>
                <a:cs typeface="Arial"/>
              </a:rPr>
              <a:t>R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¬</a:t>
            </a:r>
            <a:r>
              <a:rPr sz="1100" i="1" dirty="0">
                <a:solidFill>
                  <a:srgbClr val="0070C0"/>
                </a:solidFill>
                <a:latin typeface="Arial"/>
                <a:cs typeface="Arial"/>
              </a:rPr>
              <a:t>Q</a:t>
            </a:r>
            <a:r>
              <a:rPr sz="1100" dirty="0">
                <a:solidFill>
                  <a:srgbClr val="0070C0"/>
                </a:solidFill>
                <a:latin typeface="Tahoma"/>
                <a:cs typeface="Tahoma"/>
              </a:rPr>
              <a:t>)</a:t>
            </a:r>
            <a:r>
              <a:rPr sz="1100" spc="-105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100" spc="-375" dirty="0">
                <a:solidFill>
                  <a:srgbClr val="0070C0"/>
                </a:solidFill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 </a:t>
            </a:r>
            <a:r>
              <a:rPr sz="1100" spc="-10" dirty="0">
                <a:solidFill>
                  <a:srgbClr val="0070C0"/>
                </a:solidFill>
                <a:latin typeface="Tahoma"/>
                <a:cs typeface="Tahoma"/>
              </a:rPr>
              <a:t>(</a:t>
            </a:r>
            <a:r>
              <a:rPr sz="1100" i="1" spc="-10" dirty="0">
                <a:solidFill>
                  <a:srgbClr val="0070C0"/>
                </a:solidFill>
                <a:latin typeface="Arial"/>
                <a:cs typeface="Arial"/>
              </a:rPr>
              <a:t>R</a:t>
            </a:r>
            <a:r>
              <a:rPr sz="1100" i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100" spc="-375" dirty="0">
                <a:solidFill>
                  <a:srgbClr val="0070C0"/>
                </a:solidFill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 </a:t>
            </a:r>
            <a:r>
              <a:rPr sz="1100" i="1" spc="-25" dirty="0">
                <a:solidFill>
                  <a:srgbClr val="0070C0"/>
                </a:solidFill>
                <a:latin typeface="Arial"/>
                <a:cs typeface="Arial"/>
              </a:rPr>
              <a:t>R</a:t>
            </a:r>
            <a:r>
              <a:rPr sz="1100" spc="-25" dirty="0">
                <a:solidFill>
                  <a:srgbClr val="0070C0"/>
                </a:solidFill>
                <a:latin typeface="Tahoma"/>
                <a:cs typeface="Tahoma"/>
              </a:rPr>
              <a:t>)</a:t>
            </a:r>
            <a:endParaRPr sz="1100" dirty="0">
              <a:solidFill>
                <a:srgbClr val="0070C0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solidFill>
                  <a:srgbClr val="0070C0"/>
                </a:solidFill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solidFill>
                  <a:srgbClr val="0070C0"/>
                </a:solidFill>
                <a:latin typeface="Arial"/>
                <a:cs typeface="Arial"/>
              </a:rPr>
              <a:t>R</a:t>
            </a:r>
            <a:endParaRPr sz="1100" dirty="0">
              <a:solidFill>
                <a:srgbClr val="0070C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¬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375" dirty="0">
                <a:solidFill>
                  <a:srgbClr val="0070C0"/>
                </a:solidFill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R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70C0"/>
                </a:solidFill>
                <a:latin typeface="Yu Gothic UI Semilight"/>
                <a:cs typeface="Yu Gothic UI Semilight"/>
              </a:rPr>
              <a:t>→</a:t>
            </a:r>
            <a:r>
              <a:rPr sz="1100" spc="-1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R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RHS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7294" y="951354"/>
            <a:ext cx="998855" cy="167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400"/>
              </a:lnSpc>
              <a:spcBef>
                <a:spcPts val="100"/>
              </a:spcBef>
            </a:pPr>
            <a:r>
              <a:rPr sz="1100" spc="-10" dirty="0">
                <a:latin typeface="Tahoma"/>
                <a:cs typeface="Tahoma"/>
              </a:rPr>
              <a:t>Original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LHS </a:t>
            </a:r>
            <a:r>
              <a:rPr sz="1100" spc="-30" dirty="0">
                <a:latin typeface="Tahoma"/>
                <a:cs typeface="Tahoma"/>
              </a:rPr>
              <a:t>Implication </a:t>
            </a:r>
            <a:r>
              <a:rPr sz="1100" spc="-25" dirty="0">
                <a:latin typeface="Tahoma"/>
                <a:cs typeface="Tahoma"/>
              </a:rPr>
              <a:t>Law </a:t>
            </a:r>
            <a:r>
              <a:rPr sz="1100" spc="-30" dirty="0">
                <a:latin typeface="Tahoma"/>
                <a:cs typeface="Tahoma"/>
              </a:rPr>
              <a:t>Implication </a:t>
            </a:r>
            <a:r>
              <a:rPr sz="1100" spc="-25" dirty="0">
                <a:latin typeface="Tahoma"/>
                <a:cs typeface="Tahoma"/>
              </a:rPr>
              <a:t>Law Associative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Law </a:t>
            </a:r>
            <a:r>
              <a:rPr sz="1100" spc="-45" dirty="0">
                <a:latin typeface="Tahoma"/>
                <a:cs typeface="Tahoma"/>
              </a:rPr>
              <a:t>Idempotent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Law DeMorgan’s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Law </a:t>
            </a:r>
            <a:r>
              <a:rPr sz="1100" spc="-30" dirty="0">
                <a:latin typeface="Tahoma"/>
                <a:cs typeface="Tahoma"/>
              </a:rPr>
              <a:t>Implication </a:t>
            </a:r>
            <a:r>
              <a:rPr sz="1100" spc="-25" dirty="0">
                <a:latin typeface="Tahoma"/>
                <a:cs typeface="Tahoma"/>
              </a:rPr>
              <a:t>Law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61375" y="3351784"/>
            <a:ext cx="6851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Logical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Equivalence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spc="-10" dirty="0"/>
              <a:t>Logical</a:t>
            </a:r>
            <a:r>
              <a:rPr spc="-65" dirty="0"/>
              <a:t> </a:t>
            </a:r>
            <a:r>
              <a:rPr spc="-40" dirty="0"/>
              <a:t>Equivalence</a:t>
            </a:r>
            <a:r>
              <a:rPr spc="-65" dirty="0"/>
              <a:t> </a:t>
            </a:r>
            <a:r>
              <a:rPr spc="-20" dirty="0"/>
              <a:t>Using</a:t>
            </a:r>
            <a:r>
              <a:rPr spc="-65" dirty="0"/>
              <a:t> </a:t>
            </a:r>
            <a:r>
              <a:rPr spc="-20" dirty="0"/>
              <a:t>Laws</a:t>
            </a:r>
            <a:r>
              <a:rPr dirty="0"/>
              <a:t>	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61375" y="3351784"/>
            <a:ext cx="6851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Logical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Equivalence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34D64F-960C-8B65-629E-BBCDD7BBCFE4}"/>
              </a:ext>
            </a:extLst>
          </p:cNvPr>
          <p:cNvSpPr txBox="1"/>
          <p:nvPr/>
        </p:nvSpPr>
        <p:spPr>
          <a:xfrm>
            <a:off x="132905" y="544955"/>
            <a:ext cx="4719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Use the logical laws to show the following are equivalent.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2EB88-6A17-AAA6-E0BF-8725A79C8D32}"/>
              </a:ext>
            </a:extLst>
          </p:cNvPr>
          <p:cNvSpPr txBox="1"/>
          <p:nvPr/>
        </p:nvSpPr>
        <p:spPr>
          <a:xfrm>
            <a:off x="86766" y="861165"/>
            <a:ext cx="2424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¬(𝑝→¬𝑞) ≡ 𝑝∧𝑞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6F522-6EFF-FFA9-F7F1-1E686276493E}"/>
              </a:ext>
            </a:extLst>
          </p:cNvPr>
          <p:cNvSpPr txBox="1"/>
          <p:nvPr/>
        </p:nvSpPr>
        <p:spPr>
          <a:xfrm>
            <a:off x="86766" y="1269708"/>
            <a:ext cx="2424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2. (¬𝑝→(𝑞∧¬𝑞)) ≡ 𝑝</a:t>
            </a:r>
          </a:p>
        </p:txBody>
      </p:sp>
    </p:spTree>
    <p:extLst>
      <p:ext uri="{BB962C8B-B14F-4D97-AF65-F5344CB8AC3E}">
        <p14:creationId xmlns:p14="http://schemas.microsoft.com/office/powerpoint/2010/main" val="717670226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314" y="76603"/>
            <a:ext cx="43494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lang="en-US" b="1" spc="-10" dirty="0"/>
              <a:t>SOLUTION:</a:t>
            </a:r>
            <a:endParaRPr b="1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61375" y="3351784"/>
            <a:ext cx="6851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Logical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Equivalence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FF054-41D6-CF62-630E-18AAF55A3B10}"/>
              </a:ext>
            </a:extLst>
          </p:cNvPr>
          <p:cNvSpPr txBox="1"/>
          <p:nvPr/>
        </p:nvSpPr>
        <p:spPr>
          <a:xfrm>
            <a:off x="130314" y="511175"/>
            <a:ext cx="434947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dirty="0"/>
              <a:t>¬(𝑝→¬𝑞) ≡ 𝑝∧𝑞</a:t>
            </a:r>
          </a:p>
          <a:p>
            <a:r>
              <a:rPr lang="en-US" sz="1600" dirty="0">
                <a:solidFill>
                  <a:srgbClr val="0070C0"/>
                </a:solidFill>
              </a:rPr>
              <a:t>Start with the left-hand side:</a:t>
            </a:r>
            <a:endParaRPr lang="en-US" sz="1600" dirty="0">
              <a:solidFill>
                <a:srgbClr val="002060"/>
              </a:solidFill>
            </a:endParaRPr>
          </a:p>
          <a:p>
            <a:r>
              <a:rPr lang="en-US" sz="1600" dirty="0">
                <a:solidFill>
                  <a:srgbClr val="00B050"/>
                </a:solidFill>
              </a:rPr>
              <a:t>Use implication law: 𝑝→𝑟 ≡ ¬𝑝∨𝑟</a:t>
            </a:r>
          </a:p>
          <a:p>
            <a:pPr algn="ctr"/>
            <a:r>
              <a:rPr lang="en-US" sz="2000" dirty="0">
                <a:solidFill>
                  <a:srgbClr val="0070C0"/>
                </a:solidFill>
              </a:rPr>
              <a:t>¬(¬𝑝∨¬𝑞)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B050"/>
                </a:solidFill>
              </a:rPr>
              <a:t>Apply De Morgan’s Law: </a:t>
            </a:r>
          </a:p>
          <a:p>
            <a:pPr algn="ctr"/>
            <a:r>
              <a:rPr lang="en-US" sz="2000" dirty="0">
                <a:solidFill>
                  <a:srgbClr val="0070C0"/>
                </a:solidFill>
              </a:rPr>
              <a:t>𝑝∧𝑞</a:t>
            </a:r>
          </a:p>
        </p:txBody>
      </p:sp>
    </p:spTree>
    <p:extLst>
      <p:ext uri="{BB962C8B-B14F-4D97-AF65-F5344CB8AC3E}">
        <p14:creationId xmlns:p14="http://schemas.microsoft.com/office/powerpoint/2010/main" val="1309905258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314" y="76603"/>
            <a:ext cx="43494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  <a:tabLst>
                <a:tab pos="4336415" algn="l"/>
              </a:tabLst>
            </a:pPr>
            <a:r>
              <a:rPr lang="en-US" b="1" spc="-10" dirty="0"/>
              <a:t>SOLUTION:</a:t>
            </a:r>
            <a:endParaRPr b="1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61375" y="3351784"/>
            <a:ext cx="6851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Logical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Equivalence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FF054-41D6-CF62-630E-18AAF55A3B10}"/>
              </a:ext>
            </a:extLst>
          </p:cNvPr>
          <p:cNvSpPr txBox="1"/>
          <p:nvPr/>
        </p:nvSpPr>
        <p:spPr>
          <a:xfrm>
            <a:off x="124370" y="457029"/>
            <a:ext cx="4955579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2. (¬𝑝→(𝑞∧¬𝑞)) ≡ 𝑝</a:t>
            </a:r>
          </a:p>
          <a:p>
            <a:r>
              <a:rPr lang="en-US" sz="1600" dirty="0">
                <a:solidFill>
                  <a:srgbClr val="0070C0"/>
                </a:solidFill>
              </a:rPr>
              <a:t>Start with the left-hand side</a:t>
            </a:r>
          </a:p>
          <a:p>
            <a:r>
              <a:rPr lang="en-US" sz="1600" dirty="0">
                <a:solidFill>
                  <a:srgbClr val="00B050"/>
                </a:solidFill>
              </a:rPr>
              <a:t>Use implication law: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¬(¬𝑝)∨(𝑞∧¬𝑞)</a:t>
            </a:r>
          </a:p>
          <a:p>
            <a:r>
              <a:rPr lang="en-US" sz="1600" dirty="0">
                <a:solidFill>
                  <a:srgbClr val="00B050"/>
                </a:solidFill>
              </a:rPr>
              <a:t>Apply double negation: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𝑝∨(𝑞∧¬𝑞) </a:t>
            </a:r>
          </a:p>
          <a:p>
            <a:r>
              <a:rPr lang="en-US" sz="1600" dirty="0">
                <a:solidFill>
                  <a:srgbClr val="00B050"/>
                </a:solidFill>
              </a:rPr>
              <a:t>Apply negation law 𝑞∧¬𝑞 ≡ 𝐹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𝑝∨𝐹</a:t>
            </a:r>
          </a:p>
          <a:p>
            <a:r>
              <a:rPr lang="en-US" sz="1600" dirty="0">
                <a:solidFill>
                  <a:srgbClr val="00B050"/>
                </a:solidFill>
              </a:rPr>
              <a:t>Apply identity law: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𝑝</a:t>
            </a:r>
          </a:p>
        </p:txBody>
      </p:sp>
    </p:spTree>
    <p:extLst>
      <p:ext uri="{BB962C8B-B14F-4D97-AF65-F5344CB8AC3E}">
        <p14:creationId xmlns:p14="http://schemas.microsoft.com/office/powerpoint/2010/main" val="3438100724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851</Words>
  <Application>Microsoft Office PowerPoint</Application>
  <PresentationFormat>Custom</PresentationFormat>
  <Paragraphs>137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Yu Gothic UI Semilight</vt:lpstr>
      <vt:lpstr>Aptos</vt:lpstr>
      <vt:lpstr>Arial</vt:lpstr>
      <vt:lpstr>Arial MT</vt:lpstr>
      <vt:lpstr>Calibri</vt:lpstr>
      <vt:lpstr>Cambria Math</vt:lpstr>
      <vt:lpstr>Lucida Sans Unicode</vt:lpstr>
      <vt:lpstr>Open Sans</vt:lpstr>
      <vt:lpstr>Tahoma</vt:lpstr>
      <vt:lpstr>Times New Roman</vt:lpstr>
      <vt:lpstr>Office Theme</vt:lpstr>
      <vt:lpstr>Discrete Structures</vt:lpstr>
      <vt:lpstr>Logical Equivalence </vt:lpstr>
      <vt:lpstr>Logical Equivalence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Logical Equivalence using Laws </vt:lpstr>
      <vt:lpstr>Logical Equivalence using Laws </vt:lpstr>
      <vt:lpstr>Logical Equivalence using Laws </vt:lpstr>
      <vt:lpstr>PowerPoint Presentation</vt:lpstr>
      <vt:lpstr>PowerPoint Presentation</vt:lpstr>
      <vt:lpstr>Logical Equivalence using Laws </vt:lpstr>
      <vt:lpstr>Logical Equivalence Using Laws </vt:lpstr>
      <vt:lpstr>Logical Equivalence Using Laws </vt:lpstr>
      <vt:lpstr>Logical Equivalence Using Laws </vt:lpstr>
      <vt:lpstr>SOLUTION:</vt:lpstr>
      <vt:lpstr>SOLUTION: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Equivalence</dc:title>
  <dc:creator>Imdad ullah Khan</dc:creator>
  <cp:lastModifiedBy>Dua Agha</cp:lastModifiedBy>
  <cp:revision>2</cp:revision>
  <dcterms:created xsi:type="dcterms:W3CDTF">2026-02-03T10:20:50Z</dcterms:created>
  <dcterms:modified xsi:type="dcterms:W3CDTF">2026-02-03T18:58:01Z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2026-02-03T00:00:00Z</vt:filetime>
  </property>
  <property fmtid="{D5CDD505-2E9C-101B-9397-08002B2CF9AE}" pid="5" name="PTEX.Fullbanner">
    <vt:lpwstr>This is MiKTeX-pdfTeX 2.9.7029 (1.40.20)</vt:lpwstr>
  </property>
  <property fmtid="{D5CDD505-2E9C-101B-9397-08002B2CF9AE}" pid="6" name="Producer">
    <vt:lpwstr>pdfTeX-1.40.20</vt:lpwstr>
  </property>
</Properties>
</file>