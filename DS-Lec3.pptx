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2"/>
  </p:notesMasterIdLst>
  <p:handoutMasterIdLst>
    <p:handoutMasterId r:id="rId43"/>
  </p:handoutMasterIdLst>
  <p:sldIdLst>
    <p:sldId id="363" r:id="rId2"/>
    <p:sldId id="396" r:id="rId3"/>
    <p:sldId id="511" r:id="rId4"/>
    <p:sldId id="504" r:id="rId5"/>
    <p:sldId id="368" r:id="rId6"/>
    <p:sldId id="375" r:id="rId7"/>
    <p:sldId id="377" r:id="rId8"/>
    <p:sldId id="505" r:id="rId9"/>
    <p:sldId id="510" r:id="rId10"/>
    <p:sldId id="379" r:id="rId11"/>
    <p:sldId id="507" r:id="rId12"/>
    <p:sldId id="381" r:id="rId13"/>
    <p:sldId id="509" r:id="rId14"/>
    <p:sldId id="512" r:id="rId15"/>
    <p:sldId id="513" r:id="rId16"/>
    <p:sldId id="405" r:id="rId17"/>
    <p:sldId id="514" r:id="rId18"/>
    <p:sldId id="408" r:id="rId19"/>
    <p:sldId id="515" r:id="rId20"/>
    <p:sldId id="410" r:id="rId21"/>
    <p:sldId id="412" r:id="rId22"/>
    <p:sldId id="516" r:id="rId23"/>
    <p:sldId id="457" r:id="rId24"/>
    <p:sldId id="414" r:id="rId25"/>
    <p:sldId id="519" r:id="rId26"/>
    <p:sldId id="520" r:id="rId27"/>
    <p:sldId id="415" r:id="rId28"/>
    <p:sldId id="518" r:id="rId29"/>
    <p:sldId id="416" r:id="rId30"/>
    <p:sldId id="521" r:id="rId31"/>
    <p:sldId id="522" r:id="rId32"/>
    <p:sldId id="528" r:id="rId33"/>
    <p:sldId id="529" r:id="rId34"/>
    <p:sldId id="530" r:id="rId35"/>
    <p:sldId id="531" r:id="rId36"/>
    <p:sldId id="523" r:id="rId37"/>
    <p:sldId id="524" r:id="rId38"/>
    <p:sldId id="525" r:id="rId39"/>
    <p:sldId id="526" r:id="rId40"/>
    <p:sldId id="527" r:id="rId41"/>
  </p:sldIdLst>
  <p:sldSz cx="9144000" cy="6858000" type="screen4x3"/>
  <p:notesSz cx="7010400" cy="9296400"/>
  <p:embeddedFontLst>
    <p:embeddedFont>
      <p:font typeface="Wingdings 2" panose="05020102010507070707" pitchFamily="18" charset="2"/>
      <p:regular r:id="rId44"/>
    </p:embeddedFont>
    <p:embeddedFont>
      <p:font typeface="Cambria Math" panose="02040503050406030204" pitchFamily="18" charset="0"/>
      <p:regular r:id="rId45"/>
    </p:embeddedFont>
    <p:embeddedFont>
      <p:font typeface="Calibri" panose="020F0502020204030204" pitchFamily="34" charset="0"/>
      <p:regular r:id="rId46"/>
      <p:bold r:id="rId47"/>
      <p:italic r:id="rId48"/>
      <p:boldItalic r:id="rId49"/>
    </p:embeddedFont>
    <p:embeddedFont>
      <p:font typeface="Noto Serif" panose="020B0604020202020204" charset="0"/>
      <p:regular r:id="rId50"/>
      <p:bold r:id="rId51"/>
      <p:italic r:id="rId52"/>
      <p:boldItalic r:id="rId53"/>
    </p:embeddedFont>
    <p:embeddedFont>
      <p:font typeface="Constantia" panose="02030602050306030303" pitchFamily="18" charset="0"/>
      <p:regular r:id="rId54"/>
      <p:bold r:id="rId55"/>
      <p:italic r:id="rId56"/>
      <p:boldItalic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3" autoAdjust="0"/>
    <p:restoredTop sz="88126" autoAdjust="0"/>
  </p:normalViewPr>
  <p:slideViewPr>
    <p:cSldViewPr>
      <p:cViewPr varScale="1">
        <p:scale>
          <a:sx n="60" d="100"/>
          <a:sy n="60" d="100"/>
        </p:scale>
        <p:origin x="139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C0FEF7AE-0C30-4EA7-B74D-470A9C33048D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E3901582-F5A8-41ED-8946-57B4D8BFA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26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10106763-8029-41BC-9E70-E644A94F0E80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2" tIns="46586" rIns="93172" bIns="4658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A56D6F1B-26ED-417A-B5D8-8AED7AD37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9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D6F1B-26ED-417A-B5D8-8AED7AD3792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37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D6F1B-26ED-417A-B5D8-8AED7AD3792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17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D15220D-0BB5-4C71-B862-812B075D02FE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13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8.xml"/><Relationship Id="rId7" Type="http://schemas.openxmlformats.org/officeDocument/2006/relationships/image" Target="../media/image15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4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Relationship Id="rId9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tags" Target="../tags/tag12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21.png"/><Relationship Id="rId5" Type="http://schemas.openxmlformats.org/officeDocument/2006/relationships/tags" Target="../tags/tag14.xml"/><Relationship Id="rId10" Type="http://schemas.openxmlformats.org/officeDocument/2006/relationships/image" Target="../media/image20.png"/><Relationship Id="rId4" Type="http://schemas.openxmlformats.org/officeDocument/2006/relationships/tags" Target="../tags/tag13.xml"/><Relationship Id="rId9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4.png"/><Relationship Id="rId3" Type="http://schemas.openxmlformats.org/officeDocument/2006/relationships/tags" Target="../tags/tag18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3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32.png"/><Relationship Id="rId5" Type="http://schemas.openxmlformats.org/officeDocument/2006/relationships/tags" Target="../tags/tag20.xml"/><Relationship Id="rId10" Type="http://schemas.openxmlformats.org/officeDocument/2006/relationships/image" Target="../media/image31.png"/><Relationship Id="rId4" Type="http://schemas.openxmlformats.org/officeDocument/2006/relationships/tags" Target="../tags/tag19.xml"/><Relationship Id="rId9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1143000"/>
          </a:xfrm>
        </p:spPr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860943"/>
            <a:ext cx="8229600" cy="4389120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are an important part of discrete mathematics. A function assigns 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exactly one element of a set to each element of the other set.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are sometimes called 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mappings or transformations.</a:t>
            </a: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function , written 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f: A→B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a </a:t>
            </a:r>
            <a:r>
              <a:rPr lang="en-US" alt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relation where each element of a </a:t>
            </a:r>
            <a:r>
              <a:rPr lang="en-US" alt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 A, called the domain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associated with a unique element of </a:t>
            </a:r>
            <a:r>
              <a:rPr lang="en-US" alt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set B, called the codomain </a:t>
            </a:r>
            <a:r>
              <a:rPr lang="en-US" alt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function.</a:t>
            </a: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element a ∈ A, we associate a unique element b ∈ B. The set of all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such A→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with (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associations is called function 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from A 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B, denoted 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 used to indicate the mapping 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:a→b, or 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(a)=b. </a:t>
            </a:r>
          </a:p>
          <a:p>
            <a:endParaRPr lang="en-US" altLang="en-US" sz="2200" dirty="0">
              <a:latin typeface="Noto Serif"/>
            </a:endParaRPr>
          </a:p>
          <a:p>
            <a:pPr algn="just"/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function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dirty="0">
                <a:latin typeface="Times New Roman" panose="02020603050405020304" pitchFamily="18" charset="0"/>
                <a:ea typeface="Cambria Math" pitchFamily="18" charset="0"/>
                <a:cs typeface="Times New Roman" panose="02020603050405020304" pitchFamily="18" charset="0"/>
              </a:rPr>
              <a:t>: </a:t>
            </a:r>
            <a:r>
              <a:rPr lang="en-US" sz="2200" b="1" i="1" dirty="0">
                <a:latin typeface="Times New Roman" panose="02020603050405020304" pitchFamily="18" charset="0"/>
                <a:ea typeface="Cambria Math" pitchFamily="18" charset="0"/>
                <a:cs typeface="Times New Roman" panose="02020603050405020304" pitchFamily="18" charset="0"/>
              </a:rPr>
              <a:t>A</a:t>
            </a:r>
            <a:r>
              <a:rPr lang="en-US" sz="2200" b="1" dirty="0">
                <a:latin typeface="Times New Roman" panose="02020603050405020304" pitchFamily="18" charset="0"/>
                <a:ea typeface="Cambria Math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ea typeface="Cambria Math" pitchFamily="18" charset="0"/>
                <a:cs typeface="Times New Roman" panose="02020603050405020304" pitchFamily="18" charset="0"/>
                <a:sym typeface="Wingdings" pitchFamily="2" charset="2"/>
              </a:rPr>
              <a:t>→ </a:t>
            </a:r>
            <a:r>
              <a:rPr lang="en-US" sz="2200" b="1" i="1" dirty="0">
                <a:latin typeface="Times New Roman" panose="02020603050405020304" pitchFamily="18" charset="0"/>
                <a:ea typeface="Cambria Math" pitchFamily="18" charset="0"/>
                <a:cs typeface="Times New Roman" panose="02020603050405020304" pitchFamily="18" charset="0"/>
                <a:sym typeface="Wingdings" pitchFamily="2" charset="2"/>
              </a:rPr>
              <a:t>B</a:t>
            </a:r>
            <a:r>
              <a:rPr lang="en-US" sz="2200" b="1" dirty="0">
                <a:latin typeface="Times New Roman" panose="02020603050405020304" pitchFamily="18" charset="0"/>
                <a:ea typeface="Cambria Math" pitchFamily="18" charset="0"/>
                <a:cs typeface="Times New Roman" panose="02020603050405020304" pitchFamily="18" charset="0"/>
                <a:sym typeface="Wingdings" pitchFamily="2" charset="2"/>
              </a:rPr>
              <a:t>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say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</a:p>
          <a:p>
            <a:pPr>
              <a:buNone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called the </a:t>
            </a:r>
            <a:r>
              <a:rPr lang="en-US" sz="2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called the </a:t>
            </a:r>
            <a:r>
              <a:rPr lang="en-US" sz="22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codomain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solidFill>
                  <a:srgbClr val="7030A0"/>
                </a:solidFill>
                <a:latin typeface="Times New Roman" panose="02020603050405020304" pitchFamily="18" charset="0"/>
                <a:ea typeface="Cambria Math" pitchFamily="18" charset="0"/>
                <a:cs typeface="Times New Roman" panose="02020603050405020304" pitchFamily="18" charset="0"/>
              </a:rPr>
              <a:t>a</a:t>
            </a:r>
            <a:r>
              <a:rPr 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2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200" b="1" i="1" dirty="0">
                <a:solidFill>
                  <a:srgbClr val="7030A0"/>
                </a:solidFill>
                <a:latin typeface="Times New Roman" panose="02020603050405020304" pitchFamily="18" charset="0"/>
                <a:ea typeface="Cambria Math" pitchFamily="18" charset="0"/>
                <a:cs typeface="Times New Roman" panose="02020603050405020304" pitchFamily="18" charset="0"/>
              </a:rPr>
              <a:t>b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is called the </a:t>
            </a:r>
            <a:r>
              <a:rPr lang="en-US" sz="2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200" b="1" i="1" dirty="0">
                <a:solidFill>
                  <a:srgbClr val="00B050"/>
                </a:solidFill>
                <a:latin typeface="Times New Roman" panose="02020603050405020304" pitchFamily="18" charset="0"/>
                <a:ea typeface="Cambria Math" pitchFamily="18" charset="0"/>
                <a:cs typeface="Times New Roman" panose="02020603050405020304" pitchFamily="18" charset="0"/>
              </a:rPr>
              <a:t>a 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</a:t>
            </a:r>
            <a:r>
              <a:rPr lang="en-US" sz="2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2200" b="1" i="1" dirty="0">
                <a:solidFill>
                  <a:srgbClr val="00B050"/>
                </a:solidFill>
                <a:latin typeface="Times New Roman" panose="02020603050405020304" pitchFamily="18" charset="0"/>
                <a:ea typeface="Cambria Math" pitchFamily="18" charset="0"/>
                <a:cs typeface="Times New Roman" panose="02020603050405020304" pitchFamily="18" charset="0"/>
              </a:rPr>
              <a:t>a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called the </a:t>
            </a:r>
            <a:r>
              <a:rPr lang="en-US" sz="2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preimage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200" b="1" i="1" dirty="0">
                <a:solidFill>
                  <a:srgbClr val="00B050"/>
                </a:solidFill>
                <a:latin typeface="Times New Roman" panose="02020603050405020304" pitchFamily="18" charset="0"/>
                <a:ea typeface="Cambria Math" pitchFamily="18" charset="0"/>
                <a:cs typeface="Times New Roman" panose="02020603050405020304" pitchFamily="18" charset="0"/>
              </a:rPr>
              <a:t>b.</a:t>
            </a:r>
          </a:p>
          <a:p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range of </a:t>
            </a:r>
            <a:r>
              <a:rPr lang="en-US" sz="22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set of all images of points in 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under </a:t>
            </a:r>
            <a:r>
              <a:rPr lang="en-US" sz="2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We denote it by </a:t>
            </a:r>
            <a:r>
              <a:rPr lang="en-US" sz="2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021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76800" y="1928552"/>
            <a:ext cx="4038600" cy="180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265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Example: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Let:</a:t>
            </a:r>
          </a:p>
          <a:p>
            <a:pPr marL="0" indent="0">
              <a:buNone/>
            </a:pPr>
            <a:r>
              <a:rPr lang="en-US" sz="2000" dirty="0"/>
              <a:t>         A = {</a:t>
            </a:r>
            <a:r>
              <a:rPr lang="en-US" sz="2000" dirty="0" err="1"/>
              <a:t>a,b,c</a:t>
            </a:r>
            <a:r>
              <a:rPr lang="en-US" sz="2000" dirty="0"/>
              <a:t>}, B = {1,2}</a:t>
            </a:r>
          </a:p>
          <a:p>
            <a:r>
              <a:rPr lang="en-US" sz="2000" dirty="0"/>
              <a:t>Define function f : A→B as:</a:t>
            </a:r>
          </a:p>
          <a:p>
            <a:r>
              <a:rPr lang="en-US" sz="2000" dirty="0"/>
              <a:t>f (a) = 1</a:t>
            </a:r>
          </a:p>
          <a:p>
            <a:r>
              <a:rPr lang="en-US" sz="2000" dirty="0"/>
              <a:t>f (b) = 2</a:t>
            </a:r>
          </a:p>
          <a:p>
            <a:r>
              <a:rPr lang="en-US" sz="2000" dirty="0"/>
              <a:t>f (c) = 1</a:t>
            </a:r>
          </a:p>
          <a:p>
            <a:pPr marL="0" indent="0">
              <a:buNone/>
            </a:pPr>
            <a:r>
              <a:rPr lang="en-US" sz="2000" dirty="0"/>
              <a:t>Here:</a:t>
            </a:r>
          </a:p>
          <a:p>
            <a:r>
              <a:rPr lang="en-US" sz="2400" b="1" dirty="0"/>
              <a:t>1</a:t>
            </a:r>
            <a:r>
              <a:rPr lang="en-US" sz="2000" dirty="0"/>
              <a:t> is the image of </a:t>
            </a:r>
            <a:r>
              <a:rPr lang="en-US" sz="2400" b="1" dirty="0"/>
              <a:t>a</a:t>
            </a:r>
            <a:endParaRPr lang="en-US" sz="2000" b="1" dirty="0"/>
          </a:p>
          <a:p>
            <a:r>
              <a:rPr lang="en-US" sz="2400" b="1" dirty="0"/>
              <a:t>a</a:t>
            </a:r>
            <a:r>
              <a:rPr lang="en-US" sz="2000" dirty="0"/>
              <a:t> is a preimage of </a:t>
            </a:r>
            <a:r>
              <a:rPr lang="en-US" sz="2400" b="1" dirty="0"/>
              <a:t>1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477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905000"/>
            <a:ext cx="388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/>
              <a:t>f</a:t>
            </a:r>
            <a:r>
              <a:rPr lang="en-US" sz="3200" dirty="0"/>
              <a:t>(a) = ?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257800" y="1752600"/>
            <a:ext cx="2667000" cy="3200400"/>
            <a:chOff x="3048000" y="1219200"/>
            <a:chExt cx="3276600" cy="3733800"/>
          </a:xfrm>
        </p:grpSpPr>
        <p:sp>
          <p:nvSpPr>
            <p:cNvPr id="9" name="Flowchart: Connector 8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lowchart: Connector 3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Connector 4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6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>
          <a:xfrm>
            <a:off x="2133600" y="1828800"/>
            <a:ext cx="289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" y="2590800"/>
            <a:ext cx="388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image of d is 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3800" y="2590800"/>
            <a:ext cx="68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4800" y="3352800"/>
            <a:ext cx="388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domain of f is 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62400" y="3352800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/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" y="4038600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</a:t>
            </a:r>
            <a:r>
              <a:rPr lang="en-US" sz="3200" dirty="0" err="1"/>
              <a:t>codomain</a:t>
            </a:r>
            <a:r>
              <a:rPr lang="en-US" sz="3200" dirty="0"/>
              <a:t> of f is 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67200" y="4038600"/>
            <a:ext cx="38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/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" y="4724400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</a:t>
            </a:r>
            <a:r>
              <a:rPr lang="en-US" sz="3200" dirty="0" err="1"/>
              <a:t>preimage</a:t>
            </a:r>
            <a:r>
              <a:rPr lang="en-US" sz="3200" dirty="0"/>
              <a:t> of y is 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724400"/>
            <a:ext cx="45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486400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/>
              <a:t>f</a:t>
            </a:r>
            <a:r>
              <a:rPr lang="en-US" sz="3200" dirty="0"/>
              <a:t>(</a:t>
            </a:r>
            <a:r>
              <a:rPr lang="en-US" sz="3200" i="1" dirty="0"/>
              <a:t>A</a:t>
            </a:r>
            <a:r>
              <a:rPr lang="en-US" sz="3200" dirty="0"/>
              <a:t>) = 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0" y="6019800"/>
            <a:ext cx="266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{</a:t>
            </a:r>
            <a:r>
              <a:rPr lang="en-US" sz="3200" dirty="0" err="1"/>
              <a:t>a,c,d</a:t>
            </a:r>
            <a:r>
              <a:rPr lang="en-US" sz="3200" dirty="0"/>
              <a:t>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4800" y="6096000"/>
            <a:ext cx="601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</a:t>
            </a:r>
            <a:r>
              <a:rPr lang="en-US" sz="3200" dirty="0" err="1"/>
              <a:t>preimage</a:t>
            </a:r>
            <a:r>
              <a:rPr lang="en-US" sz="3200" dirty="0"/>
              <a:t>(s) of z is (are)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95600" y="5486400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{</a:t>
            </a:r>
            <a:r>
              <a:rPr lang="en-US" sz="3200" dirty="0" err="1"/>
              <a:t>y,z</a:t>
            </a:r>
            <a:r>
              <a:rPr lang="en-US" sz="3200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5" grpId="0"/>
      <p:bldP spid="36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                        then 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143000" y="2057400"/>
            <a:ext cx="1688783" cy="345758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5943600" y="2971800"/>
            <a:ext cx="2667000" cy="3200400"/>
            <a:chOff x="3048000" y="1219200"/>
            <a:chExt cx="3276600" cy="3733800"/>
          </a:xfrm>
        </p:grpSpPr>
        <p:sp>
          <p:nvSpPr>
            <p:cNvPr id="7" name="Flowchart: Connector 6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Connector 12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2514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0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1524000" y="4648200"/>
            <a:ext cx="251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f </a:t>
            </a:r>
            <a:r>
              <a:rPr lang="en-US" sz="2800" dirty="0"/>
              <a:t>{</a:t>
            </a:r>
            <a:r>
              <a:rPr lang="en-US" sz="2800" dirty="0" err="1"/>
              <a:t>c,d</a:t>
            </a:r>
            <a:r>
              <a:rPr lang="en-US" sz="2800" dirty="0"/>
              <a:t>} is 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2400" y="381000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</a:t>
            </a:r>
            <a:r>
              <a:rPr lang="en-US" sz="2400" dirty="0" err="1"/>
              <a:t>y,z</a:t>
            </a:r>
            <a:r>
              <a:rPr lang="en-US" sz="2400" dirty="0"/>
              <a:t>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000" y="3733800"/>
            <a:ext cx="251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f </a:t>
            </a:r>
            <a:r>
              <a:rPr lang="en-US" sz="2800" dirty="0"/>
              <a:t>{</a:t>
            </a:r>
            <a:r>
              <a:rPr lang="en-US" sz="2800" dirty="0" err="1"/>
              <a:t>a,b,c</a:t>
            </a:r>
            <a:r>
              <a:rPr lang="en-US" sz="2800" dirty="0"/>
              <a:t>,} is 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38600" y="472440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</a:t>
            </a:r>
            <a:r>
              <a:rPr lang="en-US" sz="2400" i="1" dirty="0"/>
              <a:t>z</a:t>
            </a:r>
            <a:r>
              <a:rPr lang="en-US" sz="2400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982" y="521494"/>
            <a:ext cx="8229600" cy="1143000"/>
          </a:xfrm>
        </p:spPr>
        <p:txBody>
          <a:bodyPr/>
          <a:lstStyle/>
          <a:p>
            <a:r>
              <a:rPr lang="en-US" dirty="0"/>
              <a:t>Injective Function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935480"/>
            <a:ext cx="5334000" cy="4389120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solidFill>
                  <a:srgbClr val="7030A0"/>
                </a:solidFill>
              </a:rPr>
              <a:t>An injective (one-to-one) function is a function where each input has a unique output, so no two different inputs produce the same output.</a:t>
            </a:r>
          </a:p>
          <a:p>
            <a:pPr algn="just"/>
            <a:endParaRPr lang="en-US" sz="2000" b="1" dirty="0">
              <a:solidFill>
                <a:srgbClr val="7030A0"/>
              </a:solidFill>
            </a:endParaRPr>
          </a:p>
          <a:p>
            <a:pPr algn="just"/>
            <a:r>
              <a:rPr lang="en-US" sz="2000" b="1" dirty="0">
                <a:solidFill>
                  <a:srgbClr val="7030A0"/>
                </a:solidFill>
              </a:rPr>
              <a:t>Each input maps to a unique output.</a:t>
            </a:r>
          </a:p>
          <a:p>
            <a:pPr algn="just"/>
            <a:endParaRPr lang="en-US" sz="2000" b="1" dirty="0">
              <a:solidFill>
                <a:srgbClr val="7030A0"/>
              </a:solidFill>
            </a:endParaRPr>
          </a:p>
          <a:p>
            <a:pPr algn="just"/>
            <a:r>
              <a:rPr lang="en-US" sz="2000" b="1" dirty="0">
                <a:solidFill>
                  <a:srgbClr val="7030A0"/>
                </a:solidFill>
              </a:rPr>
              <a:t>Some elements of the codomain may not be mapped to at all.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93606"/>
            <a:ext cx="2743200" cy="35309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46131"/>
            <a:ext cx="8229600" cy="1143000"/>
          </a:xfrm>
        </p:spPr>
        <p:txBody>
          <a:bodyPr/>
          <a:lstStyle/>
          <a:p>
            <a:r>
              <a:rPr lang="en-US" dirty="0"/>
              <a:t>Injective Function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8404"/>
            <a:ext cx="8229600" cy="4389120"/>
          </a:xfrm>
        </p:spPr>
        <p:txBody>
          <a:bodyPr/>
          <a:lstStyle/>
          <a:p>
            <a:r>
              <a:rPr lang="en-US" b="1" dirty="0"/>
              <a:t>Example </a:t>
            </a:r>
            <a:r>
              <a:rPr lang="en-US" sz="3200" b="1" dirty="0"/>
              <a:t>1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/>
              <a:t>F : {1,2,3,4} → {2,4,6,8,10}</a:t>
            </a:r>
          </a:p>
          <a:p>
            <a:endParaRPr lang="en-US" dirty="0"/>
          </a:p>
          <a:p>
            <a:r>
              <a:rPr lang="en-US" b="1" dirty="0"/>
              <a:t>Solution:</a:t>
            </a:r>
          </a:p>
          <a:p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62000" y="3733800"/>
            <a:ext cx="98616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f</a:t>
            </a:r>
            <a: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(1) = 2</a:t>
            </a:r>
            <a:b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 (2) = 4</a:t>
            </a:r>
            <a:b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 (3) = 6</a:t>
            </a:r>
            <a:b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 (4) = 8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356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Injective Function - Example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304800" y="2133600"/>
            <a:ext cx="8229600" cy="160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b="1" dirty="0"/>
              <a:t>Example 2:</a:t>
            </a:r>
            <a:r>
              <a:rPr lang="en-US" sz="2000" dirty="0"/>
              <a:t> </a:t>
            </a:r>
            <a:r>
              <a:rPr lang="en-US" sz="2200" dirty="0"/>
              <a:t>Let's take a function, f(x) = </a:t>
            </a:r>
            <a:r>
              <a:rPr lang="en-US" sz="2800" dirty="0"/>
              <a:t>2x</a:t>
            </a:r>
            <a:r>
              <a:rPr lang="en-US" sz="2200" dirty="0"/>
              <a:t>. Is this function injective?</a:t>
            </a:r>
          </a:p>
          <a:p>
            <a:r>
              <a:rPr lang="en-US" sz="2200" dirty="0"/>
              <a:t/>
            </a:r>
            <a:br>
              <a:rPr lang="en-US" sz="2200" dirty="0"/>
            </a:br>
            <a:endParaRPr lang="en-US"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2989824"/>
            <a:ext cx="701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Solution:</a:t>
            </a:r>
            <a:r>
              <a:rPr lang="en-US" dirty="0"/>
              <a:t> </a:t>
            </a:r>
            <a:r>
              <a:rPr lang="en-US" sz="2200" dirty="0"/>
              <a:t>Yes, f(x) = </a:t>
            </a:r>
            <a:r>
              <a:rPr lang="en-US" sz="2800" dirty="0"/>
              <a:t>2x</a:t>
            </a:r>
            <a:r>
              <a:rPr lang="en-US" sz="2200" dirty="0"/>
              <a:t> is indeed an injective function. For every distinct input, you will always get a distinct output.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4114800"/>
            <a:ext cx="3172691" cy="23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59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Surjective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A </a:t>
            </a:r>
            <a:r>
              <a:rPr lang="en-US" sz="1800" b="1" dirty="0"/>
              <a:t>surjective (onto) function</a:t>
            </a:r>
            <a:r>
              <a:rPr lang="en-US" sz="1800" dirty="0"/>
              <a:t> is a function where </a:t>
            </a:r>
            <a:r>
              <a:rPr lang="en-US" sz="1800" b="1" dirty="0"/>
              <a:t>every element of the codomain is mapped to by at least one element of the domain</a:t>
            </a:r>
            <a:r>
              <a:rPr lang="en-US" sz="1800" dirty="0"/>
              <a:t>—in other words, </a:t>
            </a:r>
            <a:r>
              <a:rPr lang="en-US" sz="1800" b="1" dirty="0"/>
              <a:t>no element in the codomain is left unused</a:t>
            </a:r>
            <a:r>
              <a:rPr lang="en-US" sz="1800" dirty="0"/>
              <a:t>.</a:t>
            </a:r>
          </a:p>
          <a:p>
            <a:r>
              <a:rPr lang="en-US" sz="1800" b="1" dirty="0"/>
              <a:t>Key point: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Multiple domain elements </a:t>
            </a:r>
            <a:r>
              <a:rPr lang="en-US" sz="1800" b="1" dirty="0"/>
              <a:t>can</a:t>
            </a:r>
            <a:r>
              <a:rPr lang="en-US" sz="1800" dirty="0"/>
              <a:t> map to the same codomain element.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only requirement is that </a:t>
            </a:r>
            <a:r>
              <a:rPr lang="en-US" sz="1800" b="1" dirty="0"/>
              <a:t>every codomain element has at least one assignment</a:t>
            </a:r>
            <a:r>
              <a:rPr lang="en-US" sz="18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7B3665-C167-5623-0DF4-03E35D378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886200"/>
            <a:ext cx="4601217" cy="27340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Surjective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Example :</a:t>
            </a:r>
            <a:r>
              <a:rPr lang="en-US" sz="2400" dirty="0"/>
              <a:t> Let us consider the function </a:t>
            </a:r>
            <a:r>
              <a:rPr lang="en-US" sz="2400" b="1" dirty="0"/>
              <a:t>f : {1, 2, 3} → {a, b, c}</a:t>
            </a:r>
            <a:r>
              <a:rPr lang="en-US" sz="2400" dirty="0"/>
              <a:t> defined by: </a:t>
            </a:r>
            <a:r>
              <a:rPr lang="en-US" sz="2400" b="1" dirty="0"/>
              <a:t>f(1) = a, f(2) = b, f(3) = c</a:t>
            </a:r>
          </a:p>
          <a:p>
            <a:pPr marL="0" indent="0">
              <a:buNone/>
            </a:pPr>
            <a:r>
              <a:rPr lang="en-US" sz="2400" b="1" dirty="0"/>
              <a:t>Solution:</a:t>
            </a:r>
          </a:p>
          <a:p>
            <a:pPr marL="0" indent="0" algn="just">
              <a:buNone/>
            </a:pPr>
            <a:r>
              <a:rPr lang="en-US" sz="2000" dirty="0"/>
              <a:t>Here, every element in the codomain </a:t>
            </a:r>
            <a:r>
              <a:rPr lang="en-US" sz="2000" b="1" dirty="0"/>
              <a:t>{a, b, c} </a:t>
            </a:r>
            <a:r>
              <a:rPr lang="en-US" sz="2000" dirty="0"/>
              <a:t>has been "hit" by some element from the domain </a:t>
            </a:r>
            <a:r>
              <a:rPr lang="en-US" sz="2000" b="1" dirty="0"/>
              <a:t>{1, 2, 3}. </a:t>
            </a:r>
            <a:r>
              <a:rPr lang="en-US" sz="2000" dirty="0"/>
              <a:t>This means </a:t>
            </a:r>
            <a:r>
              <a:rPr lang="en-US" sz="2000" b="1" dirty="0"/>
              <a:t>f</a:t>
            </a:r>
            <a:r>
              <a:rPr lang="en-US" sz="2000" dirty="0"/>
              <a:t> is a surjective function because there are no elements left out in the codomain.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The following mapping presents another </a:t>
            </a:r>
            <a:r>
              <a:rPr lang="en-US" sz="2000" b="1" dirty="0"/>
              <a:t>example</a:t>
            </a:r>
            <a:r>
              <a:rPr lang="en-US" sz="2000" dirty="0"/>
              <a:t> 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130040"/>
            <a:ext cx="177165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95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"/>
            <a:ext cx="8229600" cy="1143000"/>
          </a:xfrm>
        </p:spPr>
        <p:txBody>
          <a:bodyPr/>
          <a:lstStyle/>
          <a:p>
            <a:r>
              <a:rPr lang="en-US" b="1" dirty="0"/>
              <a:t>Bijective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4440"/>
            <a:ext cx="8229600" cy="438912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A </a:t>
            </a:r>
            <a:r>
              <a:rPr lang="en-US" sz="2000" b="1" dirty="0">
                <a:solidFill>
                  <a:srgbClr val="0070C0"/>
                </a:solidFill>
              </a:rPr>
              <a:t>bijective function</a:t>
            </a:r>
            <a:r>
              <a:rPr lang="en-US" sz="2000" dirty="0">
                <a:solidFill>
                  <a:srgbClr val="0070C0"/>
                </a:solidFill>
              </a:rPr>
              <a:t> is a function that is </a:t>
            </a:r>
            <a:r>
              <a:rPr lang="en-US" sz="2000" b="1" dirty="0">
                <a:solidFill>
                  <a:srgbClr val="0070C0"/>
                </a:solidFill>
              </a:rPr>
              <a:t>both injective (one-to-one) and surjective (onto)</a:t>
            </a:r>
            <a:r>
              <a:rPr lang="en-US" sz="2000" dirty="0">
                <a:solidFill>
                  <a:srgbClr val="0070C0"/>
                </a:solidFill>
              </a:rPr>
              <a:t>.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This means </a:t>
            </a:r>
            <a:r>
              <a:rPr lang="en-US" sz="2000" b="1" dirty="0">
                <a:solidFill>
                  <a:srgbClr val="0070C0"/>
                </a:solidFill>
              </a:rPr>
              <a:t>each element of the domain maps to a unique element of the codomain, and every element of the codomain is used exactly once</a:t>
            </a:r>
            <a:r>
              <a:rPr lang="en-US" sz="2000" dirty="0">
                <a:solidFill>
                  <a:srgbClr val="0070C0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No repeated outputs (injective)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No unused codomain elements (surjective)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4D94A-5C14-D40C-A44E-43D428847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022" y="3792465"/>
            <a:ext cx="5953956" cy="27912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7073"/>
            <a:ext cx="8229600" cy="53340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Example </a:t>
            </a:r>
            <a:r>
              <a:rPr lang="en-US" sz="3300" b="1" dirty="0"/>
              <a:t>2</a:t>
            </a:r>
            <a:r>
              <a:rPr lang="en-US" b="1" dirty="0"/>
              <a:t>: Matching Students and ID Numbers?</a:t>
            </a:r>
          </a:p>
          <a:p>
            <a:pPr fontAlgn="base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you have a set of students (Set A) and a set of student ID numbers (Set B). You want to create a bijective function to pair each student with a unique student ID number. </a:t>
            </a:r>
          </a:p>
          <a:p>
            <a:pPr fontAlgn="base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A (Students):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{Alice, Bob, Carol, David}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B (Student ID Numbers):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{101, 102, 103, 104}</a:t>
            </a: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define a bijective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as follows:</a:t>
            </a:r>
          </a:p>
          <a:p>
            <a:pPr fontAlgn="base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f(Alice) = 101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f(Bob) = 102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f(Carol) = 103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f(David) = 104</a:t>
            </a:r>
          </a:p>
          <a:p>
            <a:pPr fontAlgn="base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example, each student in Set A is matched with a distinct student ID number in Set B, ensuring that no two students share the same ID number (injectivity). Also, every student ID number in Set B has a corresponding student in Set A, so no ID numbers are left unassigned (surjectivity).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62000" y="990600"/>
            <a:ext cx="8229600" cy="43891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Bijective -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439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AA44F3-4909-8365-52E4-1C44FA7AE7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5" t="6317" r="3881" b="4497"/>
          <a:stretch/>
        </p:blipFill>
        <p:spPr>
          <a:xfrm>
            <a:off x="228599" y="1600199"/>
            <a:ext cx="8686801" cy="373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735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Sequences and Summations</a:t>
            </a:r>
          </a:p>
        </p:txBody>
      </p:sp>
    </p:spTree>
    <p:extLst>
      <p:ext uri="{BB962C8B-B14F-4D97-AF65-F5344CB8AC3E}">
        <p14:creationId xmlns:p14="http://schemas.microsoft.com/office/powerpoint/2010/main" val="2196625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Sequences are ordered lists of elements. </a:t>
            </a:r>
          </a:p>
          <a:p>
            <a:pPr lvl="1"/>
            <a:r>
              <a:rPr lang="en-US" dirty="0"/>
              <a:t>  1, 2, 3, 5, 8</a:t>
            </a:r>
          </a:p>
          <a:p>
            <a:pPr lvl="1"/>
            <a:r>
              <a:rPr lang="en-US" dirty="0"/>
              <a:t>   1, 3,  9, 27, 81, …….</a:t>
            </a:r>
          </a:p>
          <a:p>
            <a:pPr lvl="1"/>
            <a:r>
              <a:rPr lang="en-US" dirty="0"/>
              <a:t>A sequence is a function whose domain is a subset of the integers, usually{0,1,2,3,…}or {1,2,3,..} and whose codomain is a set 𝑆.</a:t>
            </a:r>
          </a:p>
          <a:p>
            <a:pPr lvl="1"/>
            <a:r>
              <a:rPr lang="en-US" dirty="0"/>
              <a:t>The notation </a:t>
            </a:r>
            <a:r>
              <a:rPr lang="en-US" b="1" dirty="0">
                <a:solidFill>
                  <a:srgbClr val="0070C0"/>
                </a:solidFill>
              </a:rPr>
              <a:t>𝑎𝑛 represents the value of the sequence at position 𝑛.</a:t>
            </a:r>
          </a:p>
          <a:p>
            <a:pPr lvl="1"/>
            <a:r>
              <a:rPr lang="en-US" dirty="0"/>
              <a:t>It is the same as writing </a:t>
            </a:r>
            <a:r>
              <a:rPr lang="en-US" b="1" dirty="0">
                <a:solidFill>
                  <a:srgbClr val="0070C0"/>
                </a:solidFill>
              </a:rPr>
              <a:t>𝑓(𝑛), where 𝑓 is the function defining the sequence.</a:t>
            </a:r>
          </a:p>
          <a:p>
            <a:pPr lvl="1"/>
            <a:r>
              <a:rPr lang="en-US" dirty="0"/>
              <a:t>Each value </a:t>
            </a:r>
            <a:r>
              <a:rPr lang="en-US" b="1" dirty="0">
                <a:solidFill>
                  <a:srgbClr val="0070C0"/>
                </a:solidFill>
              </a:rPr>
              <a:t>𝑎𝑛 is called a term of the sequence.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3F1073-409C-E952-BA3E-5205B01D42FC}"/>
              </a:ext>
            </a:extLst>
          </p:cNvPr>
          <p:cNvSpPr txBox="1"/>
          <p:nvPr/>
        </p:nvSpPr>
        <p:spPr>
          <a:xfrm>
            <a:off x="1066800" y="990600"/>
            <a:ext cx="6629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Let the Function be: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an=n^2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a1= 1^2 =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a2= 2^2=  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a3=3^2 = 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a4=4^2 = 16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the sequence is:</a:t>
            </a:r>
          </a:p>
          <a:p>
            <a:pPr algn="ctr"/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1,4,9,16,…</a:t>
            </a:r>
          </a:p>
        </p:txBody>
      </p:sp>
    </p:spTree>
    <p:extLst>
      <p:ext uri="{BB962C8B-B14F-4D97-AF65-F5344CB8AC3E}">
        <p14:creationId xmlns:p14="http://schemas.microsoft.com/office/powerpoint/2010/main" val="3575507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 Progression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   Definition</a:t>
            </a:r>
            <a:r>
              <a:rPr lang="en-US" dirty="0"/>
              <a:t>: A </a:t>
            </a:r>
            <a:r>
              <a:rPr lang="en-US" i="1" dirty="0"/>
              <a:t>geometric progression </a:t>
            </a:r>
            <a:r>
              <a:rPr lang="en-US" dirty="0"/>
              <a:t>is a sequence of the form:</a:t>
            </a:r>
          </a:p>
          <a:p>
            <a:pPr>
              <a:buNone/>
            </a:pPr>
            <a:r>
              <a:rPr lang="en-US" dirty="0"/>
              <a:t>    where the </a:t>
            </a:r>
            <a:r>
              <a:rPr lang="en-US" i="1" dirty="0"/>
              <a:t>initial term a</a:t>
            </a:r>
            <a:r>
              <a:rPr lang="en-US" dirty="0"/>
              <a:t> and the </a:t>
            </a:r>
            <a:r>
              <a:rPr lang="en-US" i="1" dirty="0"/>
              <a:t>common ratio r </a:t>
            </a:r>
            <a:r>
              <a:rPr lang="en-US" dirty="0"/>
              <a:t>are real numbers.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800" b="1" dirty="0"/>
              <a:t>   </a:t>
            </a:r>
            <a:endParaRPr lang="en-US" dirty="0"/>
          </a:p>
        </p:txBody>
      </p:sp>
      <p:pic>
        <p:nvPicPr>
          <p:cNvPr id="14" name="Picture 1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286000" y="2362200"/>
            <a:ext cx="3579707" cy="4267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67B3E6-81F0-48E1-C813-3B0F6D5AD6BB}"/>
              </a:ext>
            </a:extLst>
          </p:cNvPr>
          <p:cNvSpPr txBox="1"/>
          <p:nvPr/>
        </p:nvSpPr>
        <p:spPr>
          <a:xfrm>
            <a:off x="701040" y="3657600"/>
            <a:ext cx="798576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numbers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 numbers (e.g., 2, 5, 3.7)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Negative numbers (e.g., −1,−4,−0.5)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Zero (0)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Whole numbers and fractions (1/2,−3/4​)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Irrational numbers (like 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2,𝜋)</a:t>
            </a:r>
            <a:endParaRPr lang="el-GR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692" y="495300"/>
            <a:ext cx="8229600" cy="1143000"/>
          </a:xfrm>
        </p:spPr>
        <p:txBody>
          <a:bodyPr/>
          <a:lstStyle/>
          <a:p>
            <a:r>
              <a:rPr lang="en-US" dirty="0"/>
              <a:t>Geometric Progression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8912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800" b="1" dirty="0"/>
              <a:t>   Examples</a:t>
            </a:r>
            <a:r>
              <a:rPr lang="en-US" sz="2800" dirty="0"/>
              <a:t>: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dirty="0"/>
              <a:t>Let </a:t>
            </a:r>
            <a:r>
              <a:rPr lang="en-US" i="1" dirty="0"/>
              <a:t>a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r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−1</a:t>
            </a:r>
            <a:r>
              <a:rPr lang="en-US" dirty="0"/>
              <a:t>. Then:</a:t>
            </a:r>
          </a:p>
          <a:p>
            <a:pPr marL="880110" lvl="1" indent="-514350">
              <a:buFont typeface="+mj-lt"/>
              <a:buAutoNum type="arabicPeriod"/>
            </a:pPr>
            <a:endParaRPr lang="en-US" dirty="0"/>
          </a:p>
          <a:p>
            <a:pPr marL="880110" lvl="1" indent="-514350">
              <a:buFont typeface="+mj-lt"/>
              <a:buAutoNum type="arabicPeriod"/>
            </a:pPr>
            <a:endParaRPr lang="en-US" dirty="0"/>
          </a:p>
          <a:p>
            <a:pPr marL="880110" lvl="1" indent="-514350">
              <a:buFont typeface="+mj-lt"/>
              <a:buAutoNum type="arabicPeriod"/>
            </a:pPr>
            <a:r>
              <a:rPr lang="en-US" dirty="0"/>
              <a:t>Let  </a:t>
            </a:r>
            <a:r>
              <a:rPr lang="en-US" i="1" dirty="0"/>
              <a:t>a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r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dirty="0"/>
              <a:t>. Then:</a:t>
            </a:r>
          </a:p>
          <a:p>
            <a:pPr marL="880110" lvl="1" indent="-514350">
              <a:buFont typeface="+mj-lt"/>
              <a:buAutoNum type="arabicPeriod"/>
            </a:pPr>
            <a:endParaRPr lang="en-US" dirty="0"/>
          </a:p>
          <a:p>
            <a:pPr marL="880110" lvl="1" indent="-514350">
              <a:buFont typeface="+mj-lt"/>
              <a:buAutoNum type="arabicPeriod"/>
            </a:pPr>
            <a:endParaRPr lang="en-US" dirty="0"/>
          </a:p>
          <a:p>
            <a:pPr marL="880110" lvl="1" indent="-514350">
              <a:buFont typeface="+mj-lt"/>
              <a:buAutoNum type="arabicPeriod"/>
            </a:pPr>
            <a:r>
              <a:rPr lang="en-US" dirty="0"/>
              <a:t>Let </a:t>
            </a:r>
            <a:r>
              <a:rPr lang="en-US" i="1" dirty="0"/>
              <a:t>a = </a:t>
            </a:r>
            <a:r>
              <a:rPr lang="en-US" dirty="0"/>
              <a:t>6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r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1/3</a:t>
            </a:r>
            <a:r>
              <a:rPr lang="en-US" dirty="0"/>
              <a:t>. Then: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13" name="Picture 12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1524000" y="3322320"/>
            <a:ext cx="5821680" cy="253365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1524000" y="4236720"/>
            <a:ext cx="6038850" cy="253365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1524000" y="5151120"/>
            <a:ext cx="5594985" cy="52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49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Progression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/>
              <a:t>   Definition</a:t>
            </a:r>
            <a:r>
              <a:rPr lang="en-US" dirty="0"/>
              <a:t>: A </a:t>
            </a:r>
            <a:r>
              <a:rPr lang="en-US" i="1" dirty="0"/>
              <a:t>arithmetic progression </a:t>
            </a:r>
            <a:r>
              <a:rPr lang="en-US" dirty="0"/>
              <a:t>is a sequence of the form:</a:t>
            </a:r>
          </a:p>
          <a:p>
            <a:pPr>
              <a:buNone/>
            </a:pPr>
            <a:r>
              <a:rPr lang="en-US" dirty="0"/>
              <a:t>    where the </a:t>
            </a:r>
            <a:r>
              <a:rPr lang="en-US" i="1" dirty="0"/>
              <a:t>initial term a</a:t>
            </a:r>
            <a:r>
              <a:rPr lang="en-US" dirty="0"/>
              <a:t> and the </a:t>
            </a:r>
            <a:r>
              <a:rPr lang="en-US" i="1" dirty="0"/>
              <a:t>common difference  d </a:t>
            </a:r>
            <a:r>
              <a:rPr lang="en-US" dirty="0"/>
              <a:t>are real numbers.</a:t>
            </a:r>
          </a:p>
          <a:p>
            <a:pPr>
              <a:buNone/>
            </a:pPr>
            <a:r>
              <a:rPr lang="en-US" sz="2400" b="1" dirty="0"/>
              <a:t>    Examples</a:t>
            </a:r>
            <a:r>
              <a:rPr lang="en-US" sz="2400" dirty="0"/>
              <a:t>:</a:t>
            </a:r>
            <a:endParaRPr lang="en-US" dirty="0"/>
          </a:p>
          <a:p>
            <a:pPr marL="880110" lvl="1" indent="-514350">
              <a:buFont typeface="+mj-lt"/>
              <a:buAutoNum type="arabicPeriod"/>
            </a:pPr>
            <a:r>
              <a:rPr lang="en-US" dirty="0" smtClean="0"/>
              <a:t>Let </a:t>
            </a:r>
            <a:r>
              <a:rPr lang="en-US" i="1" dirty="0" smtClean="0"/>
              <a:t>a = </a:t>
            </a:r>
            <a:r>
              <a:rPr lang="en-US" i="1" dirty="0" smtClean="0">
                <a:latin typeface="Cambria Math" pitchFamily="18" charset="0"/>
                <a:ea typeface="Cambria Math" pitchFamily="18" charset="0"/>
              </a:rPr>
              <a:t>−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dirty="0" smtClean="0"/>
              <a:t> </a:t>
            </a:r>
            <a:r>
              <a:rPr lang="en-US" dirty="0" smtClean="0"/>
              <a:t>and </a:t>
            </a:r>
            <a:r>
              <a:rPr lang="en-US" i="1" dirty="0" smtClean="0"/>
              <a:t>d =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 smtClean="0"/>
              <a:t>: </a:t>
            </a:r>
            <a:endParaRPr lang="en-US" dirty="0"/>
          </a:p>
          <a:p>
            <a:pPr marL="880110" lvl="1" indent="-514350">
              <a:buFont typeface="+mj-lt"/>
              <a:buAutoNum type="arabicPeriod"/>
            </a:pPr>
            <a:endParaRPr lang="en-US" dirty="0"/>
          </a:p>
          <a:p>
            <a:pPr marL="880110" lvl="1" indent="-514350">
              <a:buFont typeface="+mj-lt"/>
              <a:buAutoNum type="arabicPeriod"/>
            </a:pPr>
            <a:endParaRPr lang="en-US" dirty="0"/>
          </a:p>
          <a:p>
            <a:pPr marL="880110" lvl="1" indent="-514350">
              <a:buFont typeface="+mj-lt"/>
              <a:buAutoNum type="arabicPeriod"/>
            </a:pPr>
            <a:r>
              <a:rPr lang="en-US" dirty="0"/>
              <a:t>Let  </a:t>
            </a:r>
            <a:r>
              <a:rPr lang="en-US" i="1" dirty="0"/>
              <a:t>a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7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d =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−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: </a:t>
            </a:r>
          </a:p>
          <a:p>
            <a:pPr marL="880110" lvl="1" indent="-514350">
              <a:buFont typeface="+mj-lt"/>
              <a:buAutoNum type="arabicPeriod"/>
            </a:pPr>
            <a:endParaRPr lang="en-US" dirty="0"/>
          </a:p>
          <a:p>
            <a:pPr marL="880110" lvl="1" indent="-514350">
              <a:buFont typeface="+mj-lt"/>
              <a:buAutoNum type="arabicPeriod"/>
            </a:pPr>
            <a:endParaRPr lang="en-US" dirty="0"/>
          </a:p>
          <a:p>
            <a:pPr marL="880110" lvl="1" indent="-514350">
              <a:buFont typeface="+mj-lt"/>
              <a:buAutoNum type="arabicPeriod"/>
            </a:pPr>
            <a:r>
              <a:rPr lang="en-US" dirty="0"/>
              <a:t>Let </a:t>
            </a:r>
            <a:r>
              <a:rPr lang="en-US" i="1" dirty="0"/>
              <a:t>a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and d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: 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1905000" y="2286000"/>
            <a:ext cx="3303270" cy="226695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1295400" y="4038600"/>
            <a:ext cx="5939790" cy="253365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1371600" y="5181600"/>
            <a:ext cx="5436870" cy="253365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1524000" y="6172200"/>
            <a:ext cx="5364480" cy="2533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5BBAC0-5FD0-782F-7CCD-0AD4C55BD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" y="1847088"/>
            <a:ext cx="82296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finite ordered sequence of characters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taken from a fixed set called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alphabet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 strings: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abcde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hello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a string is the number of characters in it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(e.g.,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abcde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has length 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empty string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written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characters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length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228600"/>
            <a:ext cx="8229600" cy="1143000"/>
          </a:xfrm>
        </p:spPr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5BBAC0-5FD0-782F-7CCD-0AD4C55BD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62828"/>
            <a:ext cx="82296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Why strings matter in computer science?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Words, passwords, and text are strings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Programs work with strings all the time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4A221CF-AFA0-7A77-0259-186BAF2E7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893332"/>
            <a:ext cx="8839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sequence is any ordered list of elements;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string is a sequence specifically made of characters or symbols.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Sequence: 2, 4, 6, 8 (numbers)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String: h, e, l, l, o → "hello"</a:t>
            </a:r>
          </a:p>
        </p:txBody>
      </p:sp>
    </p:spTree>
    <p:extLst>
      <p:ext uri="{BB962C8B-B14F-4D97-AF65-F5344CB8AC3E}">
        <p14:creationId xmlns:p14="http://schemas.microsoft.com/office/powerpoint/2010/main" val="4152231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Fibonacci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7760"/>
            <a:ext cx="8991600" cy="43891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/>
              <a:t>  Definition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sz="2800" i="1" dirty="0">
                <a:ea typeface="Cambria Math" pitchFamily="18" charset="0"/>
              </a:rPr>
              <a:t>Fibonacci sequence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800" i="1" dirty="0"/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sz="2800" i="1" baseline="-25000" dirty="0"/>
              <a:t> </a:t>
            </a:r>
            <a:r>
              <a:rPr lang="en-US" sz="2800" i="1" dirty="0"/>
              <a:t>,f</a:t>
            </a:r>
            <a:r>
              <a:rPr lang="en-US" sz="2800" baseline="-25000" dirty="0"/>
              <a:t>1</a:t>
            </a:r>
            <a:r>
              <a:rPr lang="en-US" sz="2800" i="1" baseline="-25000" dirty="0"/>
              <a:t> </a:t>
            </a:r>
            <a:r>
              <a:rPr lang="en-US" sz="2800" i="1" dirty="0"/>
              <a:t>,f</a:t>
            </a:r>
            <a:r>
              <a:rPr lang="en-US" sz="2800" baseline="-25000" dirty="0"/>
              <a:t>2</a:t>
            </a:r>
            <a:r>
              <a:rPr lang="en-US" sz="2800" i="1" dirty="0"/>
              <a:t>,…,</a:t>
            </a:r>
            <a:r>
              <a:rPr lang="en-US" sz="2800" dirty="0"/>
              <a:t> by</a:t>
            </a:r>
            <a:r>
              <a:rPr lang="en-US" sz="2800" i="1" dirty="0"/>
              <a:t>:</a:t>
            </a:r>
          </a:p>
          <a:p>
            <a:pPr lvl="1"/>
            <a:r>
              <a:rPr lang="en-US" sz="2800" dirty="0"/>
              <a:t>Initial Conditions: </a:t>
            </a:r>
            <a:r>
              <a:rPr lang="en-US" sz="2800" i="1" dirty="0"/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sz="2800" i="1" baseline="-25000" dirty="0"/>
              <a:t> </a:t>
            </a:r>
            <a:r>
              <a:rPr lang="en-US" sz="2800" i="1" dirty="0"/>
              <a:t>=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sz="2800" i="1" dirty="0"/>
              <a:t>, f</a:t>
            </a:r>
            <a:r>
              <a:rPr lang="en-US" sz="2800" baseline="-25000" dirty="0"/>
              <a:t>1</a:t>
            </a:r>
            <a:r>
              <a:rPr lang="en-US" sz="2800" i="1" baseline="-25000" dirty="0"/>
              <a:t>  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= 1</a:t>
            </a:r>
          </a:p>
          <a:p>
            <a:pPr lvl="1"/>
            <a:r>
              <a:rPr lang="en-US" sz="2800" dirty="0"/>
              <a:t>Recurrence Relation: </a:t>
            </a:r>
            <a:r>
              <a:rPr lang="en-US" sz="2800" i="1" dirty="0"/>
              <a:t>f</a:t>
            </a:r>
            <a:r>
              <a:rPr lang="en-US" sz="2800" i="1" baseline="-25000" dirty="0"/>
              <a:t>n </a:t>
            </a:r>
            <a:r>
              <a:rPr lang="en-US" sz="2800" i="1" dirty="0"/>
              <a:t> = f</a:t>
            </a:r>
            <a:r>
              <a:rPr lang="en-US" sz="2800" i="1" baseline="-25000" dirty="0"/>
              <a:t>n-</a:t>
            </a:r>
            <a:r>
              <a:rPr lang="en-US" sz="2800" baseline="-25000" dirty="0"/>
              <a:t>1</a:t>
            </a:r>
            <a:r>
              <a:rPr lang="en-US" sz="2800" i="1" dirty="0"/>
              <a:t> </a:t>
            </a:r>
            <a:r>
              <a:rPr lang="en-US" sz="2800" i="1" baseline="-25000" dirty="0"/>
              <a:t> </a:t>
            </a:r>
            <a:r>
              <a:rPr lang="en-US" sz="2800" i="1" dirty="0"/>
              <a:t>+ f</a:t>
            </a:r>
            <a:r>
              <a:rPr lang="en-US" sz="2800" i="1" baseline="-25000" dirty="0"/>
              <a:t>n-</a:t>
            </a:r>
            <a:r>
              <a:rPr lang="en-US" sz="2800" baseline="-25000" dirty="0"/>
              <a:t>2</a:t>
            </a:r>
          </a:p>
          <a:p>
            <a:pPr lvl="1">
              <a:buNone/>
            </a:pPr>
            <a:endParaRPr lang="en-US" sz="2800" baseline="-25000" dirty="0"/>
          </a:p>
          <a:p>
            <a:pPr>
              <a:buNone/>
            </a:pPr>
            <a:r>
              <a:rPr lang="en-US" sz="2800" dirty="0"/>
              <a:t>  </a:t>
            </a:r>
            <a:r>
              <a:rPr lang="en-US" sz="2800" b="1" dirty="0"/>
              <a:t>Example</a:t>
            </a:r>
            <a:r>
              <a:rPr lang="en-US" sz="2800" dirty="0"/>
              <a:t>: Find  </a:t>
            </a:r>
            <a:r>
              <a:rPr lang="en-US" sz="2800" i="1" dirty="0"/>
              <a:t> f</a:t>
            </a:r>
            <a:r>
              <a:rPr lang="en-US" sz="2800" i="1" baseline="-25000" dirty="0"/>
              <a:t>2 </a:t>
            </a:r>
            <a:r>
              <a:rPr lang="en-US" sz="2800" i="1" dirty="0"/>
              <a:t>,f</a:t>
            </a:r>
            <a:r>
              <a:rPr lang="en-US" sz="2800" i="1" baseline="-25000" dirty="0"/>
              <a:t>3 </a:t>
            </a:r>
            <a:r>
              <a:rPr lang="en-US" sz="2800" i="1" dirty="0"/>
              <a:t>,f</a:t>
            </a:r>
            <a:r>
              <a:rPr lang="en-US" sz="2800" i="1" baseline="-25000" dirty="0"/>
              <a:t>4</a:t>
            </a:r>
            <a:r>
              <a:rPr lang="en-US" sz="2800" i="1" dirty="0"/>
              <a:t> , f</a:t>
            </a:r>
            <a:r>
              <a:rPr lang="en-US" sz="2800" i="1" baseline="-25000" dirty="0"/>
              <a:t>5 </a:t>
            </a:r>
            <a:r>
              <a:rPr lang="en-US" sz="2800" i="1" dirty="0"/>
              <a:t> </a:t>
            </a:r>
            <a:r>
              <a:rPr lang="en-US" sz="2800" dirty="0"/>
              <a:t>and </a:t>
            </a:r>
            <a:r>
              <a:rPr lang="en-US" sz="2800" i="1" dirty="0"/>
              <a:t>f</a:t>
            </a:r>
            <a:r>
              <a:rPr lang="en-US" sz="2800" i="1" baseline="-25000" dirty="0"/>
              <a:t>6</a:t>
            </a:r>
            <a:r>
              <a:rPr lang="en-US" sz="2800" i="1" dirty="0"/>
              <a:t>  .</a:t>
            </a:r>
          </a:p>
          <a:p>
            <a:pPr>
              <a:buNone/>
            </a:pPr>
            <a:r>
              <a:rPr lang="en-US" sz="2800" i="1" dirty="0"/>
              <a:t>     </a:t>
            </a:r>
            <a:r>
              <a:rPr lang="en-US" sz="2800" b="1" dirty="0"/>
              <a:t>Answer:</a:t>
            </a:r>
          </a:p>
          <a:p>
            <a:pPr>
              <a:buNone/>
            </a:pPr>
            <a:r>
              <a:rPr lang="en-US" sz="2800" dirty="0"/>
              <a:t>         </a:t>
            </a:r>
            <a:r>
              <a:rPr lang="en-US" sz="2800" i="1" dirty="0">
                <a:ea typeface="Cambria Math" pitchFamily="18" charset="0"/>
              </a:rPr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= </a:t>
            </a:r>
            <a:r>
              <a:rPr lang="en-US" sz="2800" i="1" dirty="0">
                <a:ea typeface="Cambria Math" pitchFamily="18" charset="0"/>
              </a:rPr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+ </a:t>
            </a:r>
            <a:r>
              <a:rPr lang="en-US" sz="2800" i="1" dirty="0">
                <a:ea typeface="Cambria Math" pitchFamily="18" charset="0"/>
              </a:rPr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0 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= 1 + 0 = 1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,</a:t>
            </a:r>
          </a:p>
          <a:p>
            <a:pPr>
              <a:buNone/>
            </a:pP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         </a:t>
            </a:r>
            <a:r>
              <a:rPr lang="en-US" sz="2800" i="1" dirty="0">
                <a:ea typeface="Cambria Math" pitchFamily="18" charset="0"/>
              </a:rPr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= </a:t>
            </a:r>
            <a:r>
              <a:rPr lang="en-US" sz="2800" i="1" dirty="0">
                <a:ea typeface="Cambria Math" pitchFamily="18" charset="0"/>
              </a:rPr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 + </a:t>
            </a:r>
            <a:r>
              <a:rPr lang="en-US" sz="2800" i="1" dirty="0">
                <a:ea typeface="Cambria Math" pitchFamily="18" charset="0"/>
              </a:rPr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1 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= 1 + 1 = 2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,</a:t>
            </a:r>
          </a:p>
          <a:p>
            <a:pPr>
              <a:buNone/>
            </a:pPr>
            <a:r>
              <a:rPr lang="en-US" sz="2800" dirty="0">
                <a:latin typeface="Cambria Math" pitchFamily="18" charset="0"/>
                <a:ea typeface="Cambria Math" pitchFamily="18" charset="0"/>
              </a:rPr>
              <a:t>          </a:t>
            </a:r>
            <a:r>
              <a:rPr lang="en-US" sz="2800" i="1" dirty="0">
                <a:ea typeface="Cambria Math" pitchFamily="18" charset="0"/>
              </a:rPr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= </a:t>
            </a:r>
            <a:r>
              <a:rPr lang="en-US" sz="2800" i="1" dirty="0">
                <a:ea typeface="Cambria Math" pitchFamily="18" charset="0"/>
              </a:rPr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+ </a:t>
            </a:r>
            <a:r>
              <a:rPr lang="en-US" sz="2800" i="1" dirty="0">
                <a:ea typeface="Cambria Math" pitchFamily="18" charset="0"/>
              </a:rPr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= 2 + 1 = 3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,</a:t>
            </a:r>
          </a:p>
          <a:p>
            <a:pPr>
              <a:buNone/>
            </a:pP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         </a:t>
            </a:r>
            <a:r>
              <a:rPr lang="en-US" sz="2800" i="1" dirty="0">
                <a:ea typeface="Cambria Math" pitchFamily="18" charset="0"/>
              </a:rPr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= </a:t>
            </a:r>
            <a:r>
              <a:rPr lang="en-US" sz="2800" i="1" dirty="0">
                <a:ea typeface="Cambria Math" pitchFamily="18" charset="0"/>
              </a:rPr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+ </a:t>
            </a:r>
            <a:r>
              <a:rPr lang="en-US" sz="2800" i="1" dirty="0">
                <a:ea typeface="Cambria Math" pitchFamily="18" charset="0"/>
              </a:rPr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3 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= 3 + 2 = 5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,</a:t>
            </a:r>
          </a:p>
          <a:p>
            <a:pPr>
              <a:buNone/>
            </a:pPr>
            <a:r>
              <a:rPr lang="en-US" sz="2800" dirty="0">
                <a:latin typeface="Cambria Math" pitchFamily="18" charset="0"/>
                <a:ea typeface="Cambria Math" pitchFamily="18" charset="0"/>
              </a:rPr>
              <a:t>          </a:t>
            </a:r>
            <a:r>
              <a:rPr lang="en-US" sz="2800" i="1" dirty="0">
                <a:ea typeface="Cambria Math" pitchFamily="18" charset="0"/>
              </a:rPr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6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= </a:t>
            </a:r>
            <a:r>
              <a:rPr lang="en-US" sz="2800" i="1" dirty="0">
                <a:ea typeface="Cambria Math" pitchFamily="18" charset="0"/>
              </a:rPr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+ </a:t>
            </a:r>
            <a:r>
              <a:rPr lang="en-US" sz="2800" i="1" dirty="0">
                <a:ea typeface="Cambria Math" pitchFamily="18" charset="0"/>
              </a:rPr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4 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= 5 + 3 = 8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.</a:t>
            </a:r>
          </a:p>
          <a:p>
            <a:pPr>
              <a:buNone/>
            </a:pPr>
            <a:r>
              <a:rPr lang="en-US" sz="2800" i="1" dirty="0"/>
              <a:t>         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Summations</a:t>
            </a:r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3581400" y="1905000"/>
            <a:ext cx="2734628" cy="260033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3581400" y="2286000"/>
            <a:ext cx="611981" cy="316706"/>
          </a:xfrm>
          <a:prstGeom prst="rect">
            <a:avLst/>
          </a:prstGeom>
        </p:spPr>
      </p:pic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09600" y="1828800"/>
            <a:ext cx="8229600" cy="4648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Sum of the terms       </a:t>
            </a:r>
          </a:p>
          <a:p>
            <a:pPr>
              <a:buNone/>
            </a:pPr>
            <a:r>
              <a:rPr lang="en-US" kern="100" dirty="0"/>
              <a:t>    from the sequence</a:t>
            </a:r>
          </a:p>
          <a:p>
            <a:r>
              <a:rPr lang="en-US" kern="100" dirty="0"/>
              <a:t>The notation:</a:t>
            </a:r>
          </a:p>
          <a:p>
            <a:pPr>
              <a:buNone/>
            </a:pPr>
            <a:endParaRPr lang="en-US" kern="100" dirty="0"/>
          </a:p>
          <a:p>
            <a:endParaRPr lang="en-US" kern="100" dirty="0"/>
          </a:p>
          <a:p>
            <a:pPr>
              <a:buNone/>
            </a:pPr>
            <a:endParaRPr lang="en-US" kern="100" dirty="0"/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(read as the sum from </a:t>
            </a:r>
            <a:r>
              <a:rPr lang="en-US" dirty="0">
                <a:solidFill>
                  <a:srgbClr val="0070C0"/>
                </a:solidFill>
              </a:rPr>
              <a:t>j = m to j = n </a:t>
            </a:r>
            <a:r>
              <a:rPr lang="en-US" dirty="0">
                <a:solidFill>
                  <a:srgbClr val="C00000"/>
                </a:solidFill>
              </a:rPr>
              <a:t>of </a:t>
            </a:r>
            <a:r>
              <a:rPr lang="en-US" dirty="0" err="1">
                <a:solidFill>
                  <a:srgbClr val="C00000"/>
                </a:solidFill>
              </a:rPr>
              <a:t>aj</a:t>
            </a:r>
            <a:r>
              <a:rPr lang="en-US" dirty="0">
                <a:solidFill>
                  <a:srgbClr val="C00000"/>
                </a:solidFill>
              </a:rPr>
              <a:t>)</a:t>
            </a:r>
            <a:r>
              <a:rPr lang="en-US" kern="100" dirty="0">
                <a:solidFill>
                  <a:srgbClr val="C00000"/>
                </a:solidFill>
              </a:rPr>
              <a:t> </a:t>
            </a:r>
            <a:r>
              <a:rPr lang="en-US" kern="100" dirty="0"/>
              <a:t>    </a:t>
            </a:r>
          </a:p>
          <a:p>
            <a:pPr>
              <a:buNone/>
            </a:pPr>
            <a:r>
              <a:rPr lang="en-US" kern="100" dirty="0"/>
              <a:t>represents</a:t>
            </a:r>
          </a:p>
          <a:p>
            <a:pPr>
              <a:buNone/>
            </a:pPr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The variable </a:t>
            </a:r>
            <a:r>
              <a:rPr lang="en-US" b="1" i="1" dirty="0">
                <a:solidFill>
                  <a:srgbClr val="0070C0"/>
                </a:solidFill>
              </a:rPr>
              <a:t>j</a:t>
            </a:r>
            <a:r>
              <a:rPr lang="en-US" b="1" dirty="0">
                <a:solidFill>
                  <a:srgbClr val="0070C0"/>
                </a:solidFill>
              </a:rPr>
              <a:t> is called the </a:t>
            </a:r>
            <a:r>
              <a:rPr lang="en-US" b="1" i="1" dirty="0">
                <a:solidFill>
                  <a:srgbClr val="0070C0"/>
                </a:solidFill>
              </a:rPr>
              <a:t>index of summation</a:t>
            </a:r>
            <a:r>
              <a:rPr lang="en-US" b="1" dirty="0">
                <a:solidFill>
                  <a:srgbClr val="0070C0"/>
                </a:solidFill>
              </a:rPr>
              <a:t>. </a:t>
            </a:r>
            <a:r>
              <a:rPr lang="en-US" dirty="0"/>
              <a:t>It runs through </a:t>
            </a:r>
            <a:r>
              <a:rPr lang="en-US" dirty="0">
                <a:solidFill>
                  <a:srgbClr val="7030A0"/>
                </a:solidFill>
              </a:rPr>
              <a:t>all the integers starting with its </a:t>
            </a:r>
            <a:r>
              <a:rPr lang="en-US" i="1" dirty="0">
                <a:solidFill>
                  <a:srgbClr val="7030A0"/>
                </a:solidFill>
              </a:rPr>
              <a:t>lower  limit  m</a:t>
            </a:r>
            <a:r>
              <a:rPr lang="en-US" dirty="0">
                <a:solidFill>
                  <a:srgbClr val="7030A0"/>
                </a:solidFill>
              </a:rPr>
              <a:t> and ending with its </a:t>
            </a:r>
            <a:r>
              <a:rPr lang="en-US" i="1" dirty="0">
                <a:solidFill>
                  <a:srgbClr val="7030A0"/>
                </a:solidFill>
              </a:rPr>
              <a:t>upper limit n</a:t>
            </a:r>
            <a:r>
              <a:rPr lang="en-US" dirty="0">
                <a:solidFill>
                  <a:srgbClr val="7030A0"/>
                </a:solidFill>
              </a:rPr>
              <a:t>. </a:t>
            </a:r>
          </a:p>
        </p:txBody>
      </p:sp>
      <p:pic>
        <p:nvPicPr>
          <p:cNvPr id="11" name="Picture 10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3018472" y="2888932"/>
            <a:ext cx="1025843" cy="1094423"/>
          </a:xfrm>
          <a:prstGeom prst="rect">
            <a:avLst/>
          </a:prstGeom>
        </p:spPr>
      </p:pic>
      <p:pic>
        <p:nvPicPr>
          <p:cNvPr id="14" name="Picture 13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4419600" y="3276600"/>
            <a:ext cx="1423035" cy="477203"/>
          </a:xfrm>
          <a:prstGeom prst="rect">
            <a:avLst/>
          </a:prstGeom>
        </p:spPr>
      </p:pic>
      <p:pic>
        <p:nvPicPr>
          <p:cNvPr id="16" name="Picture 15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6248400" y="3352800"/>
            <a:ext cx="1854518" cy="457200"/>
          </a:xfrm>
          <a:prstGeom prst="rect">
            <a:avLst/>
          </a:prstGeom>
        </p:spPr>
      </p:pic>
      <p:pic>
        <p:nvPicPr>
          <p:cNvPr id="10" name="Content Placeholder 3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2590800" y="4495800"/>
            <a:ext cx="3557588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Summation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A5D7E4-2FD8-ABC2-648C-1253BEBC5351}"/>
              </a:ext>
            </a:extLst>
          </p:cNvPr>
          <p:cNvSpPr txBox="1"/>
          <p:nvPr/>
        </p:nvSpPr>
        <p:spPr>
          <a:xfrm>
            <a:off x="426720" y="1847088"/>
            <a:ext cx="4587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Evaluate the summation: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746172-CDDB-E8DB-A8FD-9877EB7008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143" t="13384" r="13489"/>
          <a:stretch/>
        </p:blipFill>
        <p:spPr>
          <a:xfrm>
            <a:off x="3660334" y="1807645"/>
            <a:ext cx="1384106" cy="15360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371BC3-D424-E0AC-60F0-97BD2F343196}"/>
              </a:ext>
            </a:extLst>
          </p:cNvPr>
          <p:cNvSpPr txBox="1"/>
          <p:nvPr/>
        </p:nvSpPr>
        <p:spPr>
          <a:xfrm>
            <a:off x="487680" y="3218849"/>
            <a:ext cx="83515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 1: Write out the terms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summation means: 1+2+3+4+5</a:t>
            </a: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 2: Add the terms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1+2=3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3+3=6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6+4=10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10+5=15</a:t>
            </a:r>
          </a:p>
          <a:p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Answer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4E8639B-0FDA-1C71-81BF-7329827C9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761" y="5486400"/>
            <a:ext cx="2085146" cy="103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500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Summation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58F81E-A306-E6C0-C04B-72391CCE2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373" y="2057400"/>
            <a:ext cx="6815254" cy="430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96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summation notation to express the sum of the first 100 terms of the sequence {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aj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},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sequence is: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BABEA1-4E1C-655E-4DF0-E034FB74D9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609" r="14015" b="58238"/>
          <a:stretch/>
        </p:blipFill>
        <p:spPr>
          <a:xfrm>
            <a:off x="3276600" y="2891098"/>
            <a:ext cx="3514288" cy="107580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E6D5A9-DD77-5AE5-4D2F-DE55B3E1E308}"/>
              </a:ext>
            </a:extLst>
          </p:cNvPr>
          <p:cNvSpPr txBox="1"/>
          <p:nvPr/>
        </p:nvSpPr>
        <p:spPr>
          <a:xfrm>
            <a:off x="457200" y="1816608"/>
            <a:ext cx="72466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SOLUTION:</a:t>
            </a:r>
          </a:p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First 100 terms means: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Start at j=1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End at j=100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So the terms are: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9EF005-E8AF-8E85-2471-38B87E3AA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861262"/>
            <a:ext cx="1681206" cy="20174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77FF43-882E-109F-7F33-D6F63658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250" y="5010913"/>
            <a:ext cx="5786570" cy="154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645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Notation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C38FC-46F1-7ABD-E3C7-F7BF33362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2057400"/>
            <a:ext cx="8229600" cy="4389120"/>
          </a:xfrm>
        </p:spPr>
        <p:txBody>
          <a:bodyPr/>
          <a:lstStyle/>
          <a:p>
            <a:r>
              <a:rPr lang="en-US" b="1" dirty="0"/>
              <a:t>Product notation</a:t>
            </a:r>
            <a:r>
              <a:rPr lang="en-US" dirty="0"/>
              <a:t> is used when we want to </a:t>
            </a:r>
            <a:r>
              <a:rPr lang="en-US" b="1" dirty="0"/>
              <a:t>multiply many terms together</a:t>
            </a:r>
            <a:r>
              <a:rPr lang="en-US" dirty="0"/>
              <a:t>, just like summation is used to add terms.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Summation ( Σ ) → </a:t>
            </a:r>
            <a:r>
              <a:rPr lang="en-US" b="1" dirty="0"/>
              <a:t>addition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 ( Π ) → </a:t>
            </a:r>
            <a:r>
              <a:rPr lang="en-US" b="1" dirty="0"/>
              <a:t>multiplication/ say capital pi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Notation</a:t>
            </a:r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4191000" y="2057400"/>
            <a:ext cx="2734628" cy="260033"/>
          </a:xfrm>
          <a:prstGeom prst="rect">
            <a:avLst/>
          </a:prstGeom>
        </p:spPr>
      </p:pic>
      <p:pic>
        <p:nvPicPr>
          <p:cNvPr id="5" name="Picture 4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4114800" y="2438400"/>
            <a:ext cx="734378" cy="382905"/>
          </a:xfrm>
          <a:prstGeom prst="rect">
            <a:avLst/>
          </a:prstGeom>
        </p:spPr>
      </p:pic>
      <p:pic>
        <p:nvPicPr>
          <p:cNvPr id="18" name="Picture 17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3048000" y="5638800"/>
            <a:ext cx="3557588" cy="280035"/>
          </a:xfrm>
          <a:prstGeom prst="rect">
            <a:avLst/>
          </a:prstGeom>
        </p:spPr>
      </p:pic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85800" y="1905000"/>
            <a:ext cx="8229600" cy="4648200"/>
          </a:xfrm>
        </p:spPr>
        <p:txBody>
          <a:bodyPr/>
          <a:lstStyle/>
          <a:p>
            <a:r>
              <a:rPr lang="en-US" dirty="0"/>
              <a:t>Product of the terms </a:t>
            </a:r>
          </a:p>
          <a:p>
            <a:pPr>
              <a:buNone/>
            </a:pPr>
            <a:r>
              <a:rPr lang="en-US" dirty="0"/>
              <a:t>      </a:t>
            </a:r>
            <a:r>
              <a:rPr lang="en-US" kern="100" dirty="0"/>
              <a:t>from the sequence</a:t>
            </a:r>
          </a:p>
          <a:p>
            <a:endParaRPr lang="en-US" kern="100" dirty="0"/>
          </a:p>
          <a:p>
            <a:r>
              <a:rPr lang="en-US" kern="100" dirty="0"/>
              <a:t>The notation:</a:t>
            </a:r>
          </a:p>
          <a:p>
            <a:pPr>
              <a:buNone/>
            </a:pPr>
            <a:endParaRPr lang="en-US" kern="100" dirty="0"/>
          </a:p>
          <a:p>
            <a:endParaRPr lang="en-US" kern="100" dirty="0"/>
          </a:p>
          <a:p>
            <a:pPr>
              <a:buNone/>
            </a:pPr>
            <a:endParaRPr lang="en-US" kern="100" dirty="0"/>
          </a:p>
          <a:p>
            <a:pPr>
              <a:buNone/>
            </a:pPr>
            <a:r>
              <a:rPr lang="en-US" kern="100" dirty="0"/>
              <a:t>     represents</a:t>
            </a:r>
          </a:p>
          <a:p>
            <a:endParaRPr lang="en-US" dirty="0"/>
          </a:p>
        </p:txBody>
      </p:sp>
      <p:pic>
        <p:nvPicPr>
          <p:cNvPr id="13" name="Picture 12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1600200" y="3886200"/>
            <a:ext cx="1025843" cy="1094423"/>
          </a:xfrm>
          <a:prstGeom prst="rect">
            <a:avLst/>
          </a:prstGeom>
        </p:spPr>
      </p:pic>
      <p:pic>
        <p:nvPicPr>
          <p:cNvPr id="15" name="Picture 14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3657600" y="4267200"/>
            <a:ext cx="1383030" cy="477203"/>
          </a:xfrm>
          <a:prstGeom prst="rect">
            <a:avLst/>
          </a:prstGeom>
        </p:spPr>
      </p:pic>
      <p:pic>
        <p:nvPicPr>
          <p:cNvPr id="17" name="Picture 16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5943600" y="4191000"/>
            <a:ext cx="181165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051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Notation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2B8AF3-9870-FA14-309C-F9BF334538F8}"/>
              </a:ext>
            </a:extLst>
          </p:cNvPr>
          <p:cNvSpPr txBox="1"/>
          <p:nvPr/>
        </p:nvSpPr>
        <p:spPr>
          <a:xfrm>
            <a:off x="426720" y="1847088"/>
            <a:ext cx="4587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Evaluate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26D10A-CDD5-7E8E-3BDC-A1E7BE141D7F}"/>
              </a:ext>
            </a:extLst>
          </p:cNvPr>
          <p:cNvSpPr txBox="1"/>
          <p:nvPr/>
        </p:nvSpPr>
        <p:spPr>
          <a:xfrm>
            <a:off x="487680" y="3218849"/>
            <a:ext cx="83515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Step 1: Write out the terms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1×2×3×4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Step 2: Multiply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1×2=2 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2×3=6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6×4=24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Answer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C1E555-7819-FDAB-FE49-18E4BC58B7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629"/>
          <a:stretch/>
        </p:blipFill>
        <p:spPr>
          <a:xfrm>
            <a:off x="3093720" y="1736668"/>
            <a:ext cx="1661160" cy="15126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BC0DFA2-D271-9765-847C-01567407C3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88" t="7567"/>
          <a:stretch/>
        </p:blipFill>
        <p:spPr>
          <a:xfrm>
            <a:off x="2632638" y="5592869"/>
            <a:ext cx="1939362" cy="112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012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Recurrence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A recurrence relation is a formula that defines each term of a sequence using previous terms.</a:t>
            </a:r>
          </a:p>
          <a:p>
            <a:pPr>
              <a:buNone/>
            </a:pPr>
            <a:r>
              <a:rPr lang="en-US" b="1" dirty="0"/>
              <a:t>Definition: </a:t>
            </a:r>
            <a:r>
              <a:rPr lang="en-US" dirty="0"/>
              <a:t>A </a:t>
            </a:r>
            <a:r>
              <a:rPr lang="en-US" i="1" dirty="0"/>
              <a:t>recurrence relation </a:t>
            </a:r>
            <a:r>
              <a:rPr lang="en-US" dirty="0"/>
              <a:t>for the sequence {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dirty="0"/>
              <a:t>}</a:t>
            </a:r>
            <a:r>
              <a:rPr lang="en-US" i="1" dirty="0"/>
              <a:t> </a:t>
            </a:r>
            <a:r>
              <a:rPr lang="en-US" dirty="0"/>
              <a:t>is an equation that expresses 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dirty="0"/>
              <a:t> in terms of one or more of the previous terms of the sequence, namely, </a:t>
            </a:r>
            <a:r>
              <a:rPr lang="en-US" i="1" dirty="0"/>
              <a:t>a</a:t>
            </a:r>
            <a:r>
              <a:rPr lang="en-US" i="1" baseline="-25000" dirty="0"/>
              <a:t>0</a:t>
            </a:r>
            <a:r>
              <a:rPr lang="en-US" i="1" dirty="0"/>
              <a:t>, a</a:t>
            </a:r>
            <a:r>
              <a:rPr lang="en-US" i="1" baseline="-25000" dirty="0"/>
              <a:t>1</a:t>
            </a:r>
            <a:r>
              <a:rPr lang="en-US" i="1" dirty="0"/>
              <a:t>, …, a</a:t>
            </a:r>
            <a:r>
              <a:rPr lang="en-US" i="1" baseline="-25000" dirty="0"/>
              <a:t>n-1</a:t>
            </a:r>
            <a:r>
              <a:rPr lang="en-US" dirty="0"/>
              <a:t>, for all integers </a:t>
            </a:r>
            <a:r>
              <a:rPr lang="en-US" i="1" dirty="0"/>
              <a:t>n</a:t>
            </a:r>
            <a:r>
              <a:rPr lang="en-US" dirty="0"/>
              <a:t> with </a:t>
            </a:r>
            <a:r>
              <a:rPr lang="en-US" i="1" dirty="0"/>
              <a:t>n ≥ n</a:t>
            </a:r>
            <a:r>
              <a:rPr lang="en-US" i="1" baseline="-25000" dirty="0"/>
              <a:t>0</a:t>
            </a:r>
            <a:r>
              <a:rPr lang="en-US" dirty="0"/>
              <a:t>, where </a:t>
            </a:r>
            <a:r>
              <a:rPr lang="en-US" i="1" dirty="0"/>
              <a:t>n</a:t>
            </a:r>
            <a:r>
              <a:rPr lang="en-US" i="1" baseline="-25000" dirty="0"/>
              <a:t>0</a:t>
            </a:r>
            <a:r>
              <a:rPr lang="en-US" dirty="0"/>
              <a:t> is a nonnegative integer. </a:t>
            </a:r>
          </a:p>
          <a:p>
            <a:r>
              <a:rPr lang="en-US" dirty="0"/>
              <a:t>The </a:t>
            </a:r>
            <a:r>
              <a:rPr lang="en-US" b="1" i="1" dirty="0">
                <a:solidFill>
                  <a:srgbClr val="0070C0"/>
                </a:solidFill>
              </a:rPr>
              <a:t>initial conditions </a:t>
            </a:r>
            <a:r>
              <a:rPr lang="en-US" dirty="0"/>
              <a:t>for a sequence specify the </a:t>
            </a:r>
            <a:r>
              <a:rPr lang="en-US" dirty="0">
                <a:solidFill>
                  <a:srgbClr val="7030A0"/>
                </a:solidFill>
              </a:rPr>
              <a:t>terms that precede the first term where the recurrence relation takes effect. </a:t>
            </a:r>
          </a:p>
        </p:txBody>
      </p:sp>
    </p:spTree>
    <p:extLst>
      <p:ext uri="{BB962C8B-B14F-4D97-AF65-F5344CB8AC3E}">
        <p14:creationId xmlns:p14="http://schemas.microsoft.com/office/powerpoint/2010/main" val="1491664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Recurrence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Why n cannot be negative?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calculate a2​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you need a1​ and a0 → OK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calculate a1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you need a0 → OK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if you tried a−1​, you would need a−2​ →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doesn’t exist</a:t>
            </a:r>
            <a:endParaRPr 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the sequence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starts at a nonnegative index</a:t>
            </a: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because you need actual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 terms</a:t>
            </a: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use the formula.</a:t>
            </a:r>
          </a:p>
        </p:txBody>
      </p:sp>
    </p:spTree>
    <p:extLst>
      <p:ext uri="{BB962C8B-B14F-4D97-AF65-F5344CB8AC3E}">
        <p14:creationId xmlns:p14="http://schemas.microsoft.com/office/powerpoint/2010/main" val="30237887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EXAMPLE: Recurrence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057400"/>
            <a:ext cx="8686800" cy="438912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   Example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: Let {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dirty="0"/>
              <a:t>}</a:t>
            </a:r>
            <a:r>
              <a:rPr lang="en-US" i="1" dirty="0"/>
              <a:t> </a:t>
            </a:r>
            <a:r>
              <a:rPr lang="en-US" dirty="0"/>
              <a:t>be a sequence that satisfies the recurrence relation 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i="1" dirty="0"/>
              <a:t> = a</a:t>
            </a:r>
            <a:r>
              <a:rPr lang="en-US" i="1" baseline="-25000" dirty="0"/>
              <a:t>n-1</a:t>
            </a:r>
            <a:r>
              <a:rPr lang="en-US" i="1" dirty="0"/>
              <a:t> 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i="1" baseline="-25000" dirty="0"/>
              <a:t> </a:t>
            </a:r>
            <a:r>
              <a:rPr lang="en-US" baseline="-25000" dirty="0"/>
              <a:t> </a:t>
            </a:r>
            <a:r>
              <a:rPr lang="en-US" dirty="0"/>
              <a:t>for </a:t>
            </a:r>
            <a:r>
              <a:rPr lang="en-US" i="1" dirty="0"/>
              <a:t>n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1,2,3,4,</a:t>
            </a:r>
            <a:r>
              <a:rPr lang="en-US" dirty="0"/>
              <a:t>….  and suppose that </a:t>
            </a:r>
            <a:r>
              <a:rPr lang="en-US" i="1" dirty="0"/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i="1" dirty="0"/>
              <a:t>. </a:t>
            </a:r>
            <a:r>
              <a:rPr lang="en-US" dirty="0"/>
              <a:t> What are </a:t>
            </a:r>
            <a:r>
              <a:rPr lang="en-US" i="1" dirty="0"/>
              <a:t>a</a:t>
            </a:r>
            <a:r>
              <a:rPr lang="en-US" i="1" baseline="-25000" dirty="0"/>
              <a:t>1</a:t>
            </a:r>
            <a:r>
              <a:rPr lang="en-US" baseline="-25000" dirty="0"/>
              <a:t> 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i="1" baseline="-25000" dirty="0"/>
              <a:t>2</a:t>
            </a:r>
            <a:r>
              <a:rPr lang="en-US" baseline="-25000" dirty="0"/>
              <a:t> </a:t>
            </a:r>
            <a:r>
              <a:rPr lang="en-US" dirty="0"/>
              <a:t> and </a:t>
            </a:r>
            <a:r>
              <a:rPr lang="en-US" i="1" dirty="0"/>
              <a:t>a</a:t>
            </a:r>
            <a:r>
              <a:rPr lang="en-US" i="1" baseline="-25000" dirty="0"/>
              <a:t>3</a:t>
            </a:r>
            <a:r>
              <a:rPr lang="en-US" dirty="0"/>
              <a:t>? </a:t>
            </a:r>
          </a:p>
          <a:p>
            <a:pPr>
              <a:buNone/>
            </a:pPr>
            <a:r>
              <a:rPr lang="en-US" dirty="0"/>
              <a:t>     [Here </a:t>
            </a:r>
            <a:r>
              <a:rPr lang="en-US" i="1" dirty="0"/>
              <a:t>a</a:t>
            </a:r>
            <a:r>
              <a:rPr lang="en-US" i="1" baseline="-25000" dirty="0"/>
              <a:t>0</a:t>
            </a:r>
            <a:r>
              <a:rPr lang="en-US" i="1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i="1" dirty="0"/>
              <a:t> </a:t>
            </a:r>
            <a:r>
              <a:rPr lang="en-US" dirty="0"/>
              <a:t>is the initial condition</a:t>
            </a:r>
            <a:r>
              <a:rPr lang="en-US" i="1" dirty="0"/>
              <a:t>.</a:t>
            </a:r>
            <a:r>
              <a:rPr lang="en-US" dirty="0"/>
              <a:t>]</a:t>
            </a:r>
          </a:p>
          <a:p>
            <a:pPr>
              <a:buNone/>
            </a:pPr>
            <a:endParaRPr lang="en-US" dirty="0"/>
          </a:p>
          <a:p>
            <a:pPr lvl="1">
              <a:buNone/>
            </a:pPr>
            <a:r>
              <a:rPr lang="en-US" b="1" dirty="0"/>
              <a:t>Solution</a:t>
            </a:r>
            <a:r>
              <a:rPr lang="en-US" dirty="0"/>
              <a:t>: We see from the recurrence relation that</a:t>
            </a:r>
          </a:p>
          <a:p>
            <a:pPr lvl="1">
              <a:buNone/>
            </a:pPr>
            <a:r>
              <a:rPr lang="en-US" dirty="0"/>
              <a:t>      </a:t>
            </a:r>
            <a:r>
              <a:rPr lang="en-US" i="1" dirty="0"/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baseline="-25000" dirty="0"/>
              <a:t> </a:t>
            </a:r>
            <a:r>
              <a:rPr lang="en-US" i="1" dirty="0"/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i="1" dirty="0"/>
              <a:t>  a</a:t>
            </a:r>
            <a:r>
              <a:rPr lang="en-US" i="1" baseline="-25000" dirty="0"/>
              <a:t>0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+ 3 = 2 + 3 = 5</a:t>
            </a:r>
          </a:p>
          <a:p>
            <a:pPr lvl="1">
              <a:buNone/>
            </a:pPr>
            <a:r>
              <a:rPr lang="en-US" i="1" dirty="0"/>
              <a:t>      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i="1" baseline="-25000" dirty="0"/>
              <a:t> </a:t>
            </a:r>
            <a:r>
              <a:rPr lang="en-US" i="1" dirty="0"/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i="1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 + 3 = 8</a:t>
            </a:r>
          </a:p>
          <a:p>
            <a:pPr lvl="1">
              <a:buNone/>
            </a:pPr>
            <a:r>
              <a:rPr lang="en-US" dirty="0"/>
              <a:t>      </a:t>
            </a:r>
            <a:r>
              <a:rPr lang="en-US" i="1" dirty="0"/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baseline="-25000" dirty="0"/>
              <a:t> </a:t>
            </a:r>
            <a:r>
              <a:rPr lang="en-US" i="1" dirty="0"/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 8 + 3 = 11</a:t>
            </a:r>
          </a:p>
          <a:p>
            <a:pPr lvl="1">
              <a:buNone/>
            </a:pPr>
            <a:endParaRPr lang="en-US" i="1" dirty="0"/>
          </a:p>
          <a:p>
            <a:pPr lvl="1">
              <a:buNone/>
            </a:pP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3236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 2: Recurrence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   Example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: Let {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dirty="0"/>
              <a:t>} be a sequence that satisfies the recurrence relation 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i="1" dirty="0"/>
              <a:t> = a</a:t>
            </a:r>
            <a:r>
              <a:rPr lang="en-US" i="1" baseline="-25000" dirty="0"/>
              <a:t>n-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i="1" dirty="0"/>
              <a:t> – a</a:t>
            </a:r>
            <a:r>
              <a:rPr lang="en-US" i="1" baseline="-25000" dirty="0"/>
              <a:t>n-</a:t>
            </a:r>
            <a:r>
              <a:rPr lang="en-US" baseline="-25000" dirty="0"/>
              <a:t>2</a:t>
            </a:r>
            <a:r>
              <a:rPr lang="en-US" i="1" baseline="-25000" dirty="0"/>
              <a:t> </a:t>
            </a:r>
            <a:r>
              <a:rPr lang="en-US" baseline="-25000" dirty="0"/>
              <a:t> </a:t>
            </a:r>
            <a:r>
              <a:rPr lang="en-US" dirty="0"/>
              <a:t>for </a:t>
            </a:r>
            <a:r>
              <a:rPr lang="en-US" i="1" dirty="0"/>
              <a:t>n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2,3,4,…. </a:t>
            </a:r>
            <a:r>
              <a:rPr lang="en-US" dirty="0"/>
              <a:t> and suppose that </a:t>
            </a:r>
            <a:r>
              <a:rPr lang="en-US" i="1" dirty="0"/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a</a:t>
            </a:r>
            <a:r>
              <a:rPr lang="en-US" i="1" baseline="-25000" dirty="0"/>
              <a:t>1</a:t>
            </a:r>
            <a:r>
              <a:rPr lang="en-US" i="1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dirty="0"/>
              <a:t>. What are </a:t>
            </a:r>
            <a:r>
              <a:rPr lang="en-US" i="1" dirty="0"/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and </a:t>
            </a:r>
            <a:r>
              <a:rPr lang="en-US" i="1" dirty="0"/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? </a:t>
            </a:r>
          </a:p>
          <a:p>
            <a:pPr>
              <a:buNone/>
            </a:pPr>
            <a:r>
              <a:rPr lang="en-US" dirty="0"/>
              <a:t>    [Here the initial conditions are </a:t>
            </a:r>
            <a:r>
              <a:rPr lang="en-US" i="1" dirty="0"/>
              <a:t>a</a:t>
            </a:r>
            <a:r>
              <a:rPr lang="en-US" i="1" baseline="-25000" dirty="0"/>
              <a:t>0</a:t>
            </a:r>
            <a:r>
              <a:rPr lang="en-US" i="1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a</a:t>
            </a:r>
            <a:r>
              <a:rPr lang="en-US" i="1" baseline="-25000" dirty="0"/>
              <a:t>1</a:t>
            </a:r>
            <a:r>
              <a:rPr lang="en-US" i="1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dirty="0"/>
              <a:t>. ]</a:t>
            </a:r>
          </a:p>
          <a:p>
            <a:pPr>
              <a:buNone/>
            </a:pPr>
            <a:r>
              <a:rPr lang="en-US" dirty="0"/>
              <a:t>        </a:t>
            </a:r>
          </a:p>
          <a:p>
            <a:pPr>
              <a:buNone/>
            </a:pPr>
            <a:r>
              <a:rPr lang="en-US" dirty="0"/>
              <a:t>         </a:t>
            </a:r>
            <a:r>
              <a:rPr lang="en-US" b="1" dirty="0"/>
              <a:t>Solution</a:t>
            </a:r>
            <a:r>
              <a:rPr lang="en-US" dirty="0"/>
              <a:t>: We see from the recurrence relation that</a:t>
            </a:r>
          </a:p>
          <a:p>
            <a:pPr>
              <a:buNone/>
            </a:pPr>
            <a:r>
              <a:rPr lang="en-US" dirty="0"/>
              <a:t>              </a:t>
            </a:r>
            <a:r>
              <a:rPr lang="en-US" i="1" dirty="0"/>
              <a:t>a</a:t>
            </a:r>
            <a:r>
              <a:rPr lang="en-US" i="1" baseline="-25000" dirty="0"/>
              <a:t>2 </a:t>
            </a:r>
            <a:r>
              <a:rPr lang="en-US" i="1" dirty="0"/>
              <a:t> = a</a:t>
            </a:r>
            <a:r>
              <a:rPr lang="en-US" i="1" baseline="-25000" dirty="0"/>
              <a:t>1</a:t>
            </a:r>
            <a:r>
              <a:rPr lang="en-US" i="1" dirty="0"/>
              <a:t> - a</a:t>
            </a:r>
            <a:r>
              <a:rPr lang="en-US" i="1" baseline="-25000" dirty="0"/>
              <a:t>0  </a:t>
            </a:r>
            <a:r>
              <a:rPr lang="en-US" i="1" dirty="0"/>
              <a:t>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i="1" dirty="0"/>
              <a:t> –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i="1" dirty="0"/>
              <a:t>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</a:p>
          <a:p>
            <a:pPr>
              <a:buNone/>
            </a:pPr>
            <a:r>
              <a:rPr lang="en-US" i="1" dirty="0"/>
              <a:t>               a</a:t>
            </a:r>
            <a:r>
              <a:rPr lang="en-US" i="1" baseline="-25000" dirty="0"/>
              <a:t>3 </a:t>
            </a:r>
            <a:r>
              <a:rPr lang="en-US" i="1" dirty="0"/>
              <a:t> = a</a:t>
            </a:r>
            <a:r>
              <a:rPr lang="en-US" i="1" baseline="-25000" dirty="0"/>
              <a:t>2</a:t>
            </a:r>
            <a:r>
              <a:rPr lang="en-US" i="1" dirty="0"/>
              <a:t> – a</a:t>
            </a:r>
            <a:r>
              <a:rPr lang="en-US" i="1" baseline="-25000" dirty="0"/>
              <a:t>1  </a:t>
            </a:r>
            <a:r>
              <a:rPr lang="en-US" i="1" dirty="0"/>
              <a:t>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/>
              <a:t>–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=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/>
              <a:t>–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   </a:t>
            </a:r>
          </a:p>
          <a:p>
            <a:pPr lvl="1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22404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Recurrence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Finding a formula for the </a:t>
            </a:r>
            <a:r>
              <a:rPr lang="en-US" i="1" dirty="0"/>
              <a:t>n</a:t>
            </a:r>
            <a:r>
              <a:rPr lang="en-US" dirty="0"/>
              <a:t>th term of the sequence generated by a recurrence relation is called </a:t>
            </a:r>
            <a:r>
              <a:rPr lang="en-US" i="1" dirty="0"/>
              <a:t>solving the recurrence relation</a:t>
            </a:r>
            <a:r>
              <a:rPr lang="en-US" dirty="0"/>
              <a:t>. </a:t>
            </a:r>
          </a:p>
          <a:p>
            <a:r>
              <a:rPr lang="en-US" dirty="0"/>
              <a:t>Such a formula is called a </a:t>
            </a:r>
            <a:r>
              <a:rPr lang="en-US" i="1" dirty="0"/>
              <a:t>closed formula</a:t>
            </a:r>
            <a:r>
              <a:rPr lang="en-US" dirty="0"/>
              <a:t>.</a:t>
            </a:r>
          </a:p>
          <a:p>
            <a:r>
              <a:rPr lang="en-US" dirty="0"/>
              <a:t>Various methods for solving recurrence relations will be covered in Chapter 8 where recurrence relations will be studied in greater depth.</a:t>
            </a:r>
          </a:p>
          <a:p>
            <a:r>
              <a:rPr lang="en-US" dirty="0"/>
              <a:t>Here we illustrate by example the method of iteration in which we need to guess the formula. The guess can be proved correct by the method of induction (Chapter 5).</a:t>
            </a:r>
          </a:p>
        </p:txBody>
      </p:sp>
    </p:spTree>
    <p:extLst>
      <p:ext uri="{BB962C8B-B14F-4D97-AF65-F5344CB8AC3E}">
        <p14:creationId xmlns:p14="http://schemas.microsoft.com/office/powerpoint/2010/main" val="7896339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Iterative Solution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   Method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: Working upward, forward substitution</a:t>
            </a:r>
          </a:p>
          <a:p>
            <a:pPr>
              <a:buNone/>
            </a:pPr>
            <a:r>
              <a:rPr lang="en-US" dirty="0"/>
              <a:t>   Let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i="1" baseline="-25000" dirty="0">
                <a:ea typeface="Cambria Math" pitchFamily="18" charset="0"/>
              </a:rPr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}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/>
              <a:t>be a sequence that satisfies the recurrence relation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i="1" baseline="-25000" dirty="0">
                <a:ea typeface="Cambria Math" pitchFamily="18" charset="0"/>
              </a:rPr>
              <a:t>n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i="1" baseline="-25000" dirty="0">
                <a:ea typeface="Cambria Math" pitchFamily="18" charset="0"/>
              </a:rPr>
              <a:t>n</a:t>
            </a:r>
            <a:r>
              <a:rPr lang="en-US" i="1" baseline="-25000" dirty="0">
                <a:latin typeface="Cambria Math" pitchFamily="18" charset="0"/>
                <a:ea typeface="Cambria Math" pitchFamily="18" charset="0"/>
              </a:rPr>
              <a:t>-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+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aseline="-25000" dirty="0"/>
              <a:t> </a:t>
            </a:r>
            <a:r>
              <a:rPr lang="en-US" dirty="0"/>
              <a:t>for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 2,3,4,….  </a:t>
            </a:r>
            <a:r>
              <a:rPr lang="en-US" dirty="0"/>
              <a:t>and suppose that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i="1" dirty="0"/>
              <a:t>.</a:t>
            </a:r>
          </a:p>
          <a:p>
            <a:pPr lvl="1">
              <a:buNone/>
            </a:pPr>
            <a:r>
              <a:rPr lang="en-US" i="1" dirty="0"/>
              <a:t>     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i="1" baseline="-250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 + 3</a:t>
            </a:r>
          </a:p>
          <a:p>
            <a:pPr lvl="1"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 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i="1" baseline="-250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(2 + 3) + 3 = 2 + 3 ∙ 2 </a:t>
            </a:r>
          </a:p>
          <a:p>
            <a:pPr lvl="1"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 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i="1" baseline="-250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(2 + 2 ∙ 3) + 3 = 2 + 3 ∙ 3</a:t>
            </a:r>
          </a:p>
          <a:p>
            <a:pPr lvl="1">
              <a:buNone/>
            </a:pPr>
            <a:r>
              <a:rPr lang="en-US" i="1" dirty="0">
                <a:latin typeface="Cambria Math" pitchFamily="18" charset="0"/>
                <a:ea typeface="Cambria Math" pitchFamily="18" charset="0"/>
              </a:rPr>
              <a:t>                    .</a:t>
            </a:r>
          </a:p>
          <a:p>
            <a:pPr lvl="1">
              <a:buNone/>
            </a:pPr>
            <a:r>
              <a:rPr lang="en-US" i="1" dirty="0">
                <a:latin typeface="Cambria Math" pitchFamily="18" charset="0"/>
                <a:ea typeface="Cambria Math" pitchFamily="18" charset="0"/>
              </a:rPr>
              <a:t>                    .</a:t>
            </a:r>
          </a:p>
          <a:p>
            <a:pPr lvl="1">
              <a:buNone/>
            </a:pPr>
            <a:r>
              <a:rPr lang="en-US" i="1" dirty="0">
                <a:latin typeface="Cambria Math" pitchFamily="18" charset="0"/>
                <a:ea typeface="Cambria Math" pitchFamily="18" charset="0"/>
              </a:rPr>
              <a:t>                    .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       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i="1" baseline="-25000" dirty="0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i="1" baseline="-25000" dirty="0">
                <a:ea typeface="Cambria Math" pitchFamily="18" charset="0"/>
              </a:rPr>
              <a:t>n-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+ 3 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(2 + 3 ∙ (</a:t>
            </a:r>
            <a:r>
              <a:rPr lang="en-US" i="1" dirty="0">
                <a:ea typeface="Cambria Math" pitchFamily="18" charset="0"/>
              </a:rPr>
              <a:t>n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–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2))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+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 +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3(</a:t>
            </a:r>
            <a:r>
              <a:rPr lang="en-US" i="1" dirty="0">
                <a:ea typeface="Cambria Math" pitchFamily="18" charset="0"/>
              </a:rPr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– 1)</a:t>
            </a:r>
          </a:p>
          <a:p>
            <a:pPr lvl="1">
              <a:buNone/>
            </a:pP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830910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Solution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/>
              <a:t>   Method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: Working downward, backward substitution</a:t>
            </a:r>
          </a:p>
          <a:p>
            <a:pPr>
              <a:buNone/>
            </a:pPr>
            <a:r>
              <a:rPr lang="en-US" dirty="0"/>
              <a:t>    Let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i="1" baseline="-25000" dirty="0">
                <a:ea typeface="Cambria Math" pitchFamily="18" charset="0"/>
              </a:rPr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}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/>
              <a:t>be a sequence that satisfies the recurrence relation                   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i="1" baseline="-25000" dirty="0">
                <a:ea typeface="Cambria Math" pitchFamily="18" charset="0"/>
              </a:rPr>
              <a:t>n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i="1" baseline="-25000" dirty="0">
                <a:ea typeface="Cambria Math" pitchFamily="18" charset="0"/>
              </a:rPr>
              <a:t>n</a:t>
            </a:r>
            <a:r>
              <a:rPr lang="en-US" i="1" baseline="-25000" dirty="0">
                <a:latin typeface="Cambria Math" pitchFamily="18" charset="0"/>
                <a:ea typeface="Cambria Math" pitchFamily="18" charset="0"/>
              </a:rPr>
              <a:t>-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+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aseline="-25000" dirty="0"/>
              <a:t> </a:t>
            </a:r>
            <a:r>
              <a:rPr lang="en-US" dirty="0"/>
              <a:t>for </a:t>
            </a:r>
            <a:r>
              <a:rPr lang="en-US" i="1" dirty="0">
                <a:ea typeface="Cambria Math" pitchFamily="18" charset="0"/>
              </a:rPr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 2,3,4,….  </a:t>
            </a:r>
            <a:r>
              <a:rPr lang="en-US" dirty="0"/>
              <a:t>and suppose that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i="1" dirty="0"/>
              <a:t>.</a:t>
            </a:r>
            <a:endParaRPr lang="en-US" dirty="0"/>
          </a:p>
          <a:p>
            <a:pPr>
              <a:buNone/>
            </a:pPr>
            <a:endParaRPr lang="en-US" i="1" dirty="0"/>
          </a:p>
          <a:p>
            <a:pPr>
              <a:buNone/>
            </a:pPr>
            <a:r>
              <a:rPr lang="en-US" i="1" dirty="0"/>
              <a:t>           </a:t>
            </a:r>
            <a:r>
              <a:rPr lang="en-US" sz="2800" i="1" dirty="0">
                <a:ea typeface="Cambria Math" pitchFamily="18" charset="0"/>
              </a:rPr>
              <a:t>a</a:t>
            </a:r>
            <a:r>
              <a:rPr lang="en-US" sz="2800" i="1" baseline="-25000" dirty="0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i="1" dirty="0">
                <a:ea typeface="Cambria Math" pitchFamily="18" charset="0"/>
              </a:rPr>
              <a:t>a</a:t>
            </a:r>
            <a:r>
              <a:rPr lang="en-US" sz="2800" i="1" baseline="-25000" dirty="0">
                <a:latin typeface="Cambria Math" pitchFamily="18" charset="0"/>
                <a:ea typeface="Cambria Math" pitchFamily="18" charset="0"/>
              </a:rPr>
              <a:t>n-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+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3</a:t>
            </a:r>
          </a:p>
          <a:p>
            <a:pPr>
              <a:buNone/>
            </a:pP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                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sz="2800" i="1" dirty="0">
                <a:ea typeface="Cambria Math" pitchFamily="18" charset="0"/>
              </a:rPr>
              <a:t>a</a:t>
            </a:r>
            <a:r>
              <a:rPr lang="en-US" sz="2800" i="1" baseline="-25000" dirty="0">
                <a:latin typeface="Cambria Math" pitchFamily="18" charset="0"/>
                <a:ea typeface="Cambria Math" pitchFamily="18" charset="0"/>
              </a:rPr>
              <a:t>n-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+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3)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+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i="1" dirty="0">
                <a:ea typeface="Cambria Math" pitchFamily="18" charset="0"/>
              </a:rPr>
              <a:t>a</a:t>
            </a:r>
            <a:r>
              <a:rPr lang="en-US" sz="2800" i="1" baseline="-25000" dirty="0">
                <a:latin typeface="Cambria Math" pitchFamily="18" charset="0"/>
                <a:ea typeface="Cambria Math" pitchFamily="18" charset="0"/>
              </a:rPr>
              <a:t>n-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+ 3 ∙ 2 </a:t>
            </a:r>
            <a:endParaRPr lang="en-US" sz="2800" dirty="0"/>
          </a:p>
          <a:p>
            <a:pPr lvl="1">
              <a:buNone/>
            </a:pPr>
            <a:r>
              <a:rPr lang="en-US" sz="2800" i="1" dirty="0"/>
              <a:t>          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sz="2800" i="1" dirty="0">
                <a:ea typeface="Cambria Math" pitchFamily="18" charset="0"/>
              </a:rPr>
              <a:t>a</a:t>
            </a:r>
            <a:r>
              <a:rPr lang="en-US" sz="2800" i="1" baseline="-25000" dirty="0">
                <a:latin typeface="Cambria Math" pitchFamily="18" charset="0"/>
                <a:ea typeface="Cambria Math" pitchFamily="18" charset="0"/>
              </a:rPr>
              <a:t>n-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+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3 )+ 3 ∙ 2  =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i="1" dirty="0">
                <a:ea typeface="Cambria Math" pitchFamily="18" charset="0"/>
              </a:rPr>
              <a:t>a</a:t>
            </a:r>
            <a:r>
              <a:rPr lang="en-US" sz="2800" i="1" baseline="-25000" dirty="0">
                <a:latin typeface="Cambria Math" pitchFamily="18" charset="0"/>
                <a:ea typeface="Cambria Math" pitchFamily="18" charset="0"/>
              </a:rPr>
              <a:t>n-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+ 3 ∙ 3</a:t>
            </a:r>
          </a:p>
          <a:p>
            <a:pPr lvl="1">
              <a:buNone/>
            </a:pP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                   .</a:t>
            </a:r>
          </a:p>
          <a:p>
            <a:pPr lvl="1">
              <a:buNone/>
            </a:pP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                   .</a:t>
            </a:r>
          </a:p>
          <a:p>
            <a:pPr lvl="1">
              <a:buNone/>
            </a:pP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                   .</a:t>
            </a:r>
          </a:p>
          <a:p>
            <a:pPr lvl="1">
              <a:buNone/>
            </a:pP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      </a:t>
            </a:r>
            <a:endParaRPr lang="en-US" sz="2800" dirty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en-US" sz="2800" dirty="0">
                <a:latin typeface="Cambria Math" pitchFamily="18" charset="0"/>
                <a:ea typeface="Cambria Math" pitchFamily="18" charset="0"/>
              </a:rPr>
              <a:t>                  = </a:t>
            </a:r>
            <a:r>
              <a:rPr lang="en-US" sz="2800" i="1" dirty="0">
                <a:ea typeface="Cambria Math" pitchFamily="18" charset="0"/>
              </a:rPr>
              <a:t>a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+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3(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n –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2)   =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sz="2800" i="1" dirty="0">
                <a:ea typeface="Cambria Math" pitchFamily="18" charset="0"/>
              </a:rPr>
              <a:t>a</a:t>
            </a:r>
            <a:r>
              <a:rPr lang="en-US" sz="2800" i="1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+ 3) + 3(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n –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2) 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2 + 3(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– 1)</a:t>
            </a:r>
          </a:p>
          <a:p>
            <a:pPr lvl="1">
              <a:buNone/>
            </a:pPr>
            <a:r>
              <a:rPr lang="en-US" sz="28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376958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Financial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  Example</a:t>
            </a:r>
            <a:r>
              <a:rPr lang="en-US" dirty="0"/>
              <a:t>: Suppose that a person deposits $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10,000.00</a:t>
            </a:r>
            <a:r>
              <a:rPr lang="en-US" dirty="0"/>
              <a:t> in a savings account at a bank yielding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11</a:t>
            </a:r>
            <a:r>
              <a:rPr lang="en-US" dirty="0"/>
              <a:t>% per year with interest compounded annually. How much will be in the account after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30</a:t>
            </a:r>
            <a:r>
              <a:rPr lang="en-US" dirty="0"/>
              <a:t> years?</a:t>
            </a:r>
          </a:p>
          <a:p>
            <a:pPr>
              <a:buNone/>
            </a:pPr>
            <a:r>
              <a:rPr lang="en-US" dirty="0"/>
              <a:t>   Let </a:t>
            </a:r>
            <a:r>
              <a:rPr lang="en-US" i="1" dirty="0" err="1"/>
              <a:t>P</a:t>
            </a:r>
            <a:r>
              <a:rPr lang="en-US" i="1" baseline="-25000" dirty="0" err="1"/>
              <a:t>n</a:t>
            </a:r>
            <a:r>
              <a:rPr lang="en-US" baseline="-25000" dirty="0"/>
              <a:t> </a:t>
            </a:r>
            <a:r>
              <a:rPr lang="en-US" dirty="0"/>
              <a:t> denote the amount in the account after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30</a:t>
            </a:r>
            <a:r>
              <a:rPr lang="en-US" dirty="0"/>
              <a:t> years. </a:t>
            </a:r>
            <a:r>
              <a:rPr lang="en-US" i="1" dirty="0" err="1"/>
              <a:t>P</a:t>
            </a:r>
            <a:r>
              <a:rPr lang="en-US" i="1" baseline="-25000" dirty="0" err="1"/>
              <a:t>n</a:t>
            </a:r>
            <a:r>
              <a:rPr lang="en-US" baseline="-25000" dirty="0"/>
              <a:t> </a:t>
            </a:r>
            <a:r>
              <a:rPr lang="en-US" dirty="0"/>
              <a:t> satisfies the following recurrence relation:</a:t>
            </a:r>
          </a:p>
          <a:p>
            <a:pPr>
              <a:buNone/>
            </a:pPr>
            <a:r>
              <a:rPr lang="en-US" i="1" dirty="0"/>
              <a:t>              </a:t>
            </a:r>
            <a:r>
              <a:rPr lang="en-US" i="1" dirty="0" err="1"/>
              <a:t>P</a:t>
            </a:r>
            <a:r>
              <a:rPr lang="en-US" i="1" baseline="-25000" dirty="0" err="1"/>
              <a:t>n</a:t>
            </a:r>
            <a:r>
              <a:rPr lang="en-US" i="1" dirty="0"/>
              <a:t> = P</a:t>
            </a:r>
            <a:r>
              <a:rPr lang="en-US" i="1" baseline="-25000" dirty="0"/>
              <a:t>n-1</a:t>
            </a:r>
            <a:r>
              <a:rPr lang="en-US" i="1" dirty="0"/>
              <a:t> 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0.11</a:t>
            </a:r>
            <a:r>
              <a:rPr lang="en-US" i="1" dirty="0"/>
              <a:t>P</a:t>
            </a:r>
            <a:r>
              <a:rPr lang="en-US" i="1" baseline="-25000" dirty="0"/>
              <a:t>n-1</a:t>
            </a:r>
            <a:r>
              <a:rPr lang="en-US" i="1" dirty="0"/>
              <a:t> = </a:t>
            </a:r>
            <a:r>
              <a:rPr lang="en-US" dirty="0"/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1.11</a:t>
            </a:r>
            <a:r>
              <a:rPr lang="en-US" dirty="0"/>
              <a:t>) </a:t>
            </a:r>
            <a:r>
              <a:rPr lang="en-US" i="1" dirty="0"/>
              <a:t>P</a:t>
            </a:r>
            <a:r>
              <a:rPr lang="en-US" i="1" baseline="-25000" dirty="0"/>
              <a:t>n-1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                         with the initial condition  </a:t>
            </a:r>
            <a:r>
              <a:rPr lang="en-US" i="1" dirty="0"/>
              <a:t>P</a:t>
            </a:r>
            <a:r>
              <a:rPr lang="en-US" baseline="-25000" dirty="0"/>
              <a:t>0  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10,000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14600" y="61722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Continued on next slide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3085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Financial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i="1" dirty="0"/>
              <a:t>        </a:t>
            </a:r>
            <a:r>
              <a:rPr lang="en-US" i="1" dirty="0" err="1"/>
              <a:t>P</a:t>
            </a:r>
            <a:r>
              <a:rPr lang="en-US" i="1" baseline="-25000" dirty="0" err="1"/>
              <a:t>n</a:t>
            </a:r>
            <a:r>
              <a:rPr lang="en-US" i="1" dirty="0"/>
              <a:t> = P</a:t>
            </a:r>
            <a:r>
              <a:rPr lang="en-US" i="1" baseline="-25000" dirty="0"/>
              <a:t>n-1</a:t>
            </a:r>
            <a:r>
              <a:rPr lang="en-US" i="1" dirty="0"/>
              <a:t> 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0.11</a:t>
            </a:r>
            <a:r>
              <a:rPr lang="en-US" i="1" dirty="0"/>
              <a:t>P</a:t>
            </a:r>
            <a:r>
              <a:rPr lang="en-US" i="1" baseline="-25000" dirty="0"/>
              <a:t>n-1</a:t>
            </a:r>
            <a:r>
              <a:rPr lang="en-US" i="1" dirty="0"/>
              <a:t> = </a:t>
            </a:r>
            <a:r>
              <a:rPr lang="en-US" dirty="0"/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1.11</a:t>
            </a:r>
            <a:r>
              <a:rPr lang="en-US" dirty="0"/>
              <a:t>) </a:t>
            </a:r>
            <a:r>
              <a:rPr lang="en-US" i="1" dirty="0"/>
              <a:t>P</a:t>
            </a:r>
            <a:r>
              <a:rPr lang="en-US" i="1" baseline="-25000" dirty="0"/>
              <a:t>n-1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                         with the initial condition  </a:t>
            </a:r>
            <a:r>
              <a:rPr lang="en-US" i="1" dirty="0"/>
              <a:t>P</a:t>
            </a:r>
            <a:r>
              <a:rPr lang="en-US" baseline="-25000" dirty="0"/>
              <a:t>0  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10,000</a:t>
            </a:r>
            <a:endParaRPr lang="en-US" i="1" dirty="0"/>
          </a:p>
          <a:p>
            <a:pPr>
              <a:buNone/>
            </a:pPr>
            <a:r>
              <a:rPr lang="en-US" b="1" dirty="0"/>
              <a:t>Solution</a:t>
            </a:r>
            <a:r>
              <a:rPr lang="en-US" dirty="0"/>
              <a:t>: Forward Substitution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i="1" dirty="0"/>
              <a:t>P</a:t>
            </a:r>
            <a:r>
              <a:rPr lang="en-US" baseline="-25000" dirty="0"/>
              <a:t>1</a:t>
            </a:r>
            <a:r>
              <a:rPr lang="en-US" dirty="0"/>
              <a:t>  =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1.11</a:t>
            </a:r>
            <a:r>
              <a:rPr lang="en-US" dirty="0"/>
              <a:t>)</a:t>
            </a:r>
            <a:r>
              <a:rPr lang="en-US" i="1" dirty="0"/>
              <a:t>P</a:t>
            </a:r>
            <a:r>
              <a:rPr lang="en-US" baseline="-25000" dirty="0"/>
              <a:t>0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i="1" dirty="0"/>
              <a:t>P</a:t>
            </a:r>
            <a:r>
              <a:rPr lang="en-US" baseline="-25000" dirty="0"/>
              <a:t>2</a:t>
            </a:r>
            <a:r>
              <a:rPr lang="en-US" dirty="0"/>
              <a:t>  =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1.11</a:t>
            </a:r>
            <a:r>
              <a:rPr lang="en-US" dirty="0"/>
              <a:t>)</a:t>
            </a:r>
            <a:r>
              <a:rPr lang="en-US" i="1" dirty="0"/>
              <a:t>P</a:t>
            </a:r>
            <a:r>
              <a:rPr lang="en-US" baseline="-25000" dirty="0"/>
              <a:t>1 </a:t>
            </a:r>
            <a:r>
              <a:rPr lang="en-US" dirty="0"/>
              <a:t>=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1.11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i="1" dirty="0"/>
              <a:t>P</a:t>
            </a:r>
            <a:r>
              <a:rPr lang="en-US" baseline="-25000" dirty="0"/>
              <a:t>0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i="1" dirty="0"/>
              <a:t>P</a:t>
            </a:r>
            <a:r>
              <a:rPr lang="en-US" baseline="-25000" dirty="0"/>
              <a:t>3</a:t>
            </a:r>
            <a:r>
              <a:rPr lang="en-US" dirty="0"/>
              <a:t>  =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1.11</a:t>
            </a:r>
            <a:r>
              <a:rPr lang="en-US" dirty="0"/>
              <a:t>)</a:t>
            </a:r>
            <a:r>
              <a:rPr lang="en-US" i="1" dirty="0"/>
              <a:t>P</a:t>
            </a:r>
            <a:r>
              <a:rPr lang="en-US" baseline="-25000" dirty="0"/>
              <a:t>2 </a:t>
            </a:r>
            <a:r>
              <a:rPr lang="en-US" dirty="0"/>
              <a:t>=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1.11</a:t>
            </a:r>
            <a:r>
              <a:rPr lang="en-US" dirty="0"/>
              <a:t>)</a:t>
            </a:r>
            <a:r>
              <a:rPr lang="en-US" baseline="30000" dirty="0"/>
              <a:t>3</a:t>
            </a:r>
            <a:r>
              <a:rPr lang="en-US" i="1" dirty="0"/>
              <a:t>P</a:t>
            </a:r>
            <a:r>
              <a:rPr lang="en-US" baseline="-25000" dirty="0"/>
              <a:t>0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                  :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i="1" dirty="0" err="1"/>
              <a:t>P</a:t>
            </a:r>
            <a:r>
              <a:rPr lang="en-US" i="1" baseline="-25000" dirty="0" err="1"/>
              <a:t>n</a:t>
            </a:r>
            <a:r>
              <a:rPr lang="en-US" dirty="0"/>
              <a:t> =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1.11</a:t>
            </a:r>
            <a:r>
              <a:rPr lang="en-US" dirty="0"/>
              <a:t>)</a:t>
            </a:r>
            <a:r>
              <a:rPr lang="en-US" i="1" dirty="0"/>
              <a:t>P</a:t>
            </a:r>
            <a:r>
              <a:rPr lang="en-US" i="1" baseline="-25000" dirty="0"/>
              <a:t>n</a:t>
            </a:r>
            <a:r>
              <a:rPr lang="en-US" baseline="-25000" dirty="0"/>
              <a:t>-1 </a:t>
            </a:r>
            <a:r>
              <a:rPr lang="en-US" dirty="0"/>
              <a:t>=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1.11</a:t>
            </a:r>
            <a:r>
              <a:rPr lang="en-US" dirty="0"/>
              <a:t>)</a:t>
            </a:r>
            <a:r>
              <a:rPr lang="en-US" i="1" baseline="30000" dirty="0"/>
              <a:t>n</a:t>
            </a:r>
            <a:r>
              <a:rPr lang="en-US" dirty="0"/>
              <a:t>P</a:t>
            </a:r>
            <a:r>
              <a:rPr lang="en-US" baseline="-25000" dirty="0"/>
              <a:t>0</a:t>
            </a:r>
            <a:r>
              <a:rPr lang="en-US" dirty="0"/>
              <a:t>    =    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1.11</a:t>
            </a:r>
            <a:r>
              <a:rPr lang="en-US" dirty="0"/>
              <a:t>)</a:t>
            </a:r>
            <a:r>
              <a:rPr lang="en-US" i="1" baseline="30000" dirty="0"/>
              <a:t>n</a:t>
            </a:r>
            <a:r>
              <a:rPr lang="en-US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10,000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i="1" dirty="0" err="1"/>
              <a:t>P</a:t>
            </a:r>
            <a:r>
              <a:rPr lang="en-US" i="1" baseline="-25000" dirty="0" err="1"/>
              <a:t>n</a:t>
            </a:r>
            <a:r>
              <a:rPr lang="en-US" dirty="0"/>
              <a:t> =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1.11</a:t>
            </a:r>
            <a:r>
              <a:rPr lang="en-US" dirty="0"/>
              <a:t>)</a:t>
            </a:r>
            <a:r>
              <a:rPr lang="en-US" i="1" baseline="30000" dirty="0"/>
              <a:t>n</a:t>
            </a:r>
            <a:r>
              <a:rPr lang="en-US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10,000</a:t>
            </a:r>
            <a:r>
              <a:rPr lang="en-US" dirty="0"/>
              <a:t> (</a:t>
            </a:r>
            <a:r>
              <a:rPr lang="en-US" sz="2200" dirty="0"/>
              <a:t>Can prove by induction, covered in Chapter </a:t>
            </a:r>
            <a:r>
              <a:rPr lang="en-US" sz="2200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i="1" dirty="0"/>
              <a:t>P</a:t>
            </a:r>
            <a:r>
              <a:rPr lang="en-US" baseline="-25000" dirty="0"/>
              <a:t>30</a:t>
            </a:r>
            <a:r>
              <a:rPr lang="en-US" dirty="0"/>
              <a:t> =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1.11</a:t>
            </a:r>
            <a:r>
              <a:rPr lang="en-US" dirty="0"/>
              <a:t>)</a:t>
            </a:r>
            <a:r>
              <a:rPr lang="en-US" baseline="30000" dirty="0"/>
              <a:t>30</a:t>
            </a:r>
            <a:r>
              <a:rPr lang="en-US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10,000</a:t>
            </a:r>
            <a:r>
              <a:rPr lang="en-US" dirty="0"/>
              <a:t> = $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228,992.97</a:t>
            </a:r>
          </a:p>
        </p:txBody>
      </p:sp>
    </p:spTree>
    <p:extLst>
      <p:ext uri="{BB962C8B-B14F-4D97-AF65-F5344CB8AC3E}">
        <p14:creationId xmlns:p14="http://schemas.microsoft.com/office/powerpoint/2010/main" val="41688373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f: A \rightarrow B$&#10;&#10;\end{document}"/>
  <p:tag name="IGUANATEXSIZE" val="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$ a, ar, ar^{2}, \ldots, ar^{n}, \ldots$$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$ \{b_n\} \; =\; \{b_0, b_1, b_2, b_3, b_4, \dots\} \;=\; &#10;\{1, -1, 1, -1, 1, \ldots\}$$&#10;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$ \{c_n\} = \{c_0, c_1, c_2, c_3, c_4, \dots\} =&#10;\{2, 10, 50, 250, 1250, \ldots\}$$&#10;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$ \{d_n\} = \{d_0, d_1, d_2, d_3, d_4, \dots\} =&#10;\{6, 2, \frac{2}{3}, \frac{2}{9}, \frac{2}{27}, \ldots\}$$&#10;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$ a, a + d, a + 2d, \ldots, a + nd, \ldots$$&#10;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$ \{s_n\} \; =\; \{s_0, s_1, s_2, s_3, s_4, \dots\} \;=\; &#10;\{-1, 3, 7, 11, 15, \ldots\}$$&#10;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$ \{t_n\} = \{t_0, t_1, t_2, t_3, t_4, \dots\} =&#10;\{7, 4, 1, -2, -5, \ldots\}$$&#10;&#10;\end{document}"/>
  <p:tag name="IGUANATEXSIZE" val="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$ \{u_n\} = \{u_0, u_1, u_2, u_3, u_4, \dots\} =&#10;\{1, 3, 5, 7, 9, \ldots\}$$&#10;&#10;\end{document}"/>
  <p:tag name="IGUANATEXSIZE" val="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_m, a_{m+1},   \dots, a_n$&#10;&#10;\end{document}"/>
  <p:tag name="IGUANATEXSIZE" val="3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a_n\}$&#10;&#10;\end{document}"/>
  <p:tag name="IGUANATEXSIZE" val="2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$ \sum_{j=m}^{n} a_j   $$&#10;&#10;\end{document}"/>
  <p:tag name="IGUANATEXSIZE" val="3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sum_{j=m}^{n} a_j   $&#10;&#10;\end{document}"/>
  <p:tag name="IGUANATEXSIZE" val="3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sum_{m \leq j \leq n} a_j   $&#10;&#10;\end{document}"/>
  <p:tag name="IGUANATEXSIZE" val="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_m + a_{m+1} +  \dots + a_n$&#10;&#10;\end{document}"/>
  <p:tag name="IGUANATEXSIZE" val="3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_m, a_{m+1},   \dots, a_n$&#10;&#10;\end{document}"/>
  <p:tag name="IGUANATEXSIZE" val="3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a_n\}$&#10;&#10;\end{document}"/>
  <p:tag name="IGUANATEXSIZE" val="3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_m \times a_{m+1} \times \dots \times a_n$&#10;&#10;\end{document}"/>
  <p:tag name="IGUANATEXSIZE" val="3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$ \prod_{j=m}^{n} a_j   $$&#10;&#10;\end{document}"/>
  <p:tag name="IGUANATEXSIZE" val="3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prod_{j=m}^{n} a_j   $&#10;&#10;\end{document}"/>
  <p:tag name="IGUANATEXSIZE" val="3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prod_{m \leq j \leq n} a_j   $&#10;&#10;\end{document}"/>
  <p:tag name="IGUANATEXSIZE" val="3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36919</TotalTime>
  <Words>2087</Words>
  <Application>Microsoft Office PowerPoint</Application>
  <PresentationFormat>On-screen Show (4:3)</PresentationFormat>
  <Paragraphs>330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Wingdings 2</vt:lpstr>
      <vt:lpstr>Wingdings</vt:lpstr>
      <vt:lpstr>Cambria Math</vt:lpstr>
      <vt:lpstr>Calibri</vt:lpstr>
      <vt:lpstr>Times New Roman</vt:lpstr>
      <vt:lpstr>Noto Serif</vt:lpstr>
      <vt:lpstr>Constantia</vt:lpstr>
      <vt:lpstr>Flow</vt:lpstr>
      <vt:lpstr>Functions</vt:lpstr>
      <vt:lpstr>Functions</vt:lpstr>
      <vt:lpstr>Functions</vt:lpstr>
      <vt:lpstr>Example:</vt:lpstr>
      <vt:lpstr>Questions</vt:lpstr>
      <vt:lpstr>Question on Functions</vt:lpstr>
      <vt:lpstr>Injective Function</vt:lpstr>
      <vt:lpstr>Injective Function - Example</vt:lpstr>
      <vt:lpstr>Injective Function - Example</vt:lpstr>
      <vt:lpstr>Surjective Function</vt:lpstr>
      <vt:lpstr>Surjective - Example</vt:lpstr>
      <vt:lpstr>Bijective Functions</vt:lpstr>
      <vt:lpstr>Bijective - Example</vt:lpstr>
      <vt:lpstr>PowerPoint Presentation</vt:lpstr>
      <vt:lpstr>Sequences and Summations</vt:lpstr>
      <vt:lpstr>Sequences</vt:lpstr>
      <vt:lpstr>PowerPoint Presentation</vt:lpstr>
      <vt:lpstr>Geometric Progression</vt:lpstr>
      <vt:lpstr>Geometric Progression</vt:lpstr>
      <vt:lpstr>Arithmetic Progression</vt:lpstr>
      <vt:lpstr>Strings</vt:lpstr>
      <vt:lpstr>Strings</vt:lpstr>
      <vt:lpstr>Fibonacci Sequence</vt:lpstr>
      <vt:lpstr>Summations</vt:lpstr>
      <vt:lpstr>Summation EXAMPLE</vt:lpstr>
      <vt:lpstr>Summation EXAMPLE</vt:lpstr>
      <vt:lpstr>Summation EXAMPLE</vt:lpstr>
      <vt:lpstr>Summations</vt:lpstr>
      <vt:lpstr>Product Notation</vt:lpstr>
      <vt:lpstr>Product Notation</vt:lpstr>
      <vt:lpstr>Product Notation</vt:lpstr>
      <vt:lpstr>Recurrence Relations</vt:lpstr>
      <vt:lpstr>Recurrence Relations</vt:lpstr>
      <vt:lpstr>EXAMPLE: Recurrence Relations</vt:lpstr>
      <vt:lpstr>EXAMPLE 2: Recurrence Relations</vt:lpstr>
      <vt:lpstr>Solving Recurrence Relations</vt:lpstr>
      <vt:lpstr>Iterative Solution Example</vt:lpstr>
      <vt:lpstr>Iterative Solution Example</vt:lpstr>
      <vt:lpstr>Financial Application</vt:lpstr>
      <vt:lpstr>Financial Application</vt:lpstr>
    </vt:vector>
  </TitlesOfParts>
  <Company>Monmouth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Foundations: Logic and Proofs</dc:title>
  <dc:creator>Richard Scherl</dc:creator>
  <cp:lastModifiedBy>Dureshahwar Waseem</cp:lastModifiedBy>
  <cp:revision>2038</cp:revision>
  <dcterms:created xsi:type="dcterms:W3CDTF">2011-03-27T19:09:13Z</dcterms:created>
  <dcterms:modified xsi:type="dcterms:W3CDTF">2026-01-12T02:24:59Z</dcterms:modified>
</cp:coreProperties>
</file>