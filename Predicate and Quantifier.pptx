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4" r:id="rId3"/>
    <p:sldId id="359" r:id="rId4"/>
    <p:sldId id="520" r:id="rId5"/>
    <p:sldId id="519" r:id="rId6"/>
    <p:sldId id="521" r:id="rId7"/>
    <p:sldId id="360" r:id="rId8"/>
    <p:sldId id="305" r:id="rId9"/>
    <p:sldId id="314" r:id="rId10"/>
    <p:sldId id="522" r:id="rId11"/>
    <p:sldId id="524" r:id="rId12"/>
    <p:sldId id="361" r:id="rId13"/>
    <p:sldId id="362" r:id="rId14"/>
    <p:sldId id="523" r:id="rId15"/>
    <p:sldId id="363" r:id="rId16"/>
    <p:sldId id="365" r:id="rId17"/>
    <p:sldId id="364" r:id="rId18"/>
    <p:sldId id="366" r:id="rId19"/>
    <p:sldId id="369" r:id="rId20"/>
    <p:sldId id="402" r:id="rId21"/>
    <p:sldId id="400" r:id="rId22"/>
    <p:sldId id="525" r:id="rId23"/>
    <p:sldId id="358" r:id="rId24"/>
    <p:sldId id="399" r:id="rId25"/>
    <p:sldId id="526" r:id="rId26"/>
    <p:sldId id="527" r:id="rId27"/>
    <p:sldId id="370" r:id="rId28"/>
    <p:sldId id="528" r:id="rId29"/>
    <p:sldId id="529" r:id="rId30"/>
    <p:sldId id="530" r:id="rId31"/>
    <p:sldId id="531" r:id="rId32"/>
  </p:sldIdLst>
  <p:sldSz cx="9144000" cy="6858000" type="screen4x3"/>
  <p:notesSz cx="7010400" cy="9296400"/>
  <p:embeddedFontLst>
    <p:embeddedFont>
      <p:font typeface="Cambria Math" panose="02040503050406030204" pitchFamily="18" charset="0"/>
      <p:regular r:id="rId35"/>
    </p:embeddedFont>
    <p:embeddedFont>
      <p:font typeface="Constantia" panose="02030602050306030303" pitchFamily="18" charset="0"/>
      <p:regular r:id="rId36"/>
      <p:bold r:id="rId37"/>
      <p:italic r:id="rId38"/>
      <p:bold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Wingdings 2" panose="05020102010507070707" pitchFamily="18" charset="2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990033"/>
    <a:srgbClr val="FF6600"/>
    <a:srgbClr val="00FF00"/>
    <a:srgbClr val="CC6600"/>
    <a:srgbClr val="FF99FF"/>
    <a:srgbClr val="FFFFFF"/>
    <a:srgbClr val="FFCCFF"/>
    <a:srgbClr val="CCCC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63" d="100"/>
          <a:sy n="63" d="100"/>
        </p:scale>
        <p:origin x="14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C0FEF7AE-0C30-4EA7-B74D-470A9C33048D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2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10106763-8029-41BC-9E70-E644A94F0E80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A56D6F1B-26ED-417A-B5D8-8AED7AD37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6D6F1B-26ED-417A-B5D8-8AED7AD3792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42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98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57B6A7-1EA9-4BE6-974C-D49D9BB4E80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45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15220D-0BB5-4C71-B862-812B075D02FE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Foundations: Logic and Proofs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2, Part II: Predicate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1.4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24155BE-84EF-D2E5-BCF5-FA1EEF41F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556737"/>
            <a:ext cx="8305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What is a Predicate?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Predicate = statement with a variable</a:t>
            </a:r>
            <a:endParaRPr lang="en-US" altLang="en-US" sz="2400" b="1" dirty="0">
              <a:solidFill>
                <a:srgbClr val="FF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statement that depends on a variable and becomes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or 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Arial" panose="020B0604020202020204" pitchFamily="34" charset="0"/>
              </a:rPr>
              <a:t>once the variable is given a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P(x):x is even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P(x):x &gt; 3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P(x):</a:t>
            </a:r>
            <a:r>
              <a:rPr lang="en-US" altLang="en-US" sz="2400" b="1" dirty="0">
                <a:solidFill>
                  <a:srgbClr val="7030A0"/>
                </a:solidFill>
                <a:latin typeface="Arial" panose="020B0604020202020204" pitchFamily="34" charset="0"/>
              </a:rPr>
              <a:t> |x| = 1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/>
          </a:p>
          <a:p>
            <a:r>
              <a:rPr lang="en-US" sz="2400" dirty="0"/>
              <a:t>By itself, it is </a:t>
            </a:r>
            <a:r>
              <a:rPr lang="en-US" sz="2400" b="1" dirty="0"/>
              <a:t>not true or false</a:t>
            </a:r>
            <a:r>
              <a:rPr lang="en-US" sz="2400" dirty="0"/>
              <a:t>.</a:t>
            </a:r>
          </a:p>
          <a:p>
            <a:r>
              <a:rPr lang="en-US" sz="2400" dirty="0"/>
              <a:t>It becomes true or false </a:t>
            </a:r>
            <a:r>
              <a:rPr lang="en-US" sz="2400" b="1" dirty="0"/>
              <a:t>after you put a value of x or a quantifier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5462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24155BE-84EF-D2E5-BCF5-FA1EEF41F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81" y="381000"/>
            <a:ext cx="872490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Why We Need Predicate Logic?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0" dirty="0">
                <a:solidFill>
                  <a:srgbClr val="C00000"/>
                </a:solidFill>
                <a:effectLst/>
                <a:latin typeface="quote-cjk-patch"/>
              </a:rPr>
              <a:t>Problem with Propositional Logic:</a:t>
            </a:r>
            <a:r>
              <a:rPr lang="en-US" sz="2400" dirty="0">
                <a:solidFill>
                  <a:srgbClr val="C00000"/>
                </a:solidFill>
              </a:rPr>
              <a:t/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b="0" i="0" dirty="0">
                <a:solidFill>
                  <a:srgbClr val="7030A0"/>
                </a:solidFill>
                <a:effectLst/>
                <a:latin typeface="quote-cjk-patch"/>
              </a:rPr>
              <a:t>Propositional logic only deals with whole statements (propositions) being true or false. </a:t>
            </a:r>
            <a:r>
              <a:rPr lang="en-US" sz="2400" b="0" i="0" dirty="0">
                <a:solidFill>
                  <a:srgbClr val="CC0099"/>
                </a:solidFill>
                <a:effectLst/>
                <a:latin typeface="quote-cjk-patch"/>
              </a:rPr>
              <a:t>But many arguments involve </a:t>
            </a:r>
            <a:r>
              <a:rPr lang="en-US" sz="2400" b="1" i="0" dirty="0">
                <a:solidFill>
                  <a:srgbClr val="CC0099"/>
                </a:solidFill>
                <a:effectLst/>
                <a:latin typeface="quote-cjk-patch"/>
              </a:rPr>
              <a:t>objects and their properties</a:t>
            </a:r>
            <a:r>
              <a:rPr lang="en-US" sz="2400" b="0" i="0" dirty="0">
                <a:solidFill>
                  <a:srgbClr val="CC0099"/>
                </a:solidFill>
                <a:effectLst/>
                <a:latin typeface="quote-cjk-patch"/>
              </a:rPr>
              <a:t>: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002060"/>
                </a:solidFill>
              </a:rPr>
              <a:t>Statement: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All birds can fly.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A sparrow is a bird.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Therefore:</a:t>
            </a:r>
          </a:p>
          <a:p>
            <a:pPr lvl="1"/>
            <a:r>
              <a:rPr lang="en-US" sz="2400" dirty="0"/>
              <a:t>➡ A sparrow can fly.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rgbClr val="00B050"/>
                </a:solidFill>
              </a:rPr>
              <a:t>Statement 2: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All students must register for courses.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Ali is a student.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Therefore:</a:t>
            </a:r>
          </a:p>
          <a:p>
            <a:pPr lvl="1"/>
            <a:r>
              <a:rPr lang="en-US" sz="2400" dirty="0"/>
              <a:t>➡ Ali must register for courses.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6CA3F9-2424-88B6-DF8C-E923A5ADE01D}"/>
              </a:ext>
            </a:extLst>
          </p:cNvPr>
          <p:cNvGrpSpPr/>
          <p:nvPr/>
        </p:nvGrpSpPr>
        <p:grpSpPr>
          <a:xfrm>
            <a:off x="3997569" y="2362200"/>
            <a:ext cx="4972050" cy="2725072"/>
            <a:chOff x="3962400" y="1981200"/>
            <a:chExt cx="4972050" cy="272507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789B2AA-9E26-ADF5-F8FA-A8738557CF7C}"/>
                </a:ext>
              </a:extLst>
            </p:cNvPr>
            <p:cNvSpPr/>
            <p:nvPr/>
          </p:nvSpPr>
          <p:spPr>
            <a:xfrm>
              <a:off x="3962400" y="1981200"/>
              <a:ext cx="4972050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FF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52C616-F2DB-55ED-B112-853E8812C23B}"/>
                </a:ext>
              </a:extLst>
            </p:cNvPr>
            <p:cNvSpPr txBox="1"/>
            <p:nvPr/>
          </p:nvSpPr>
          <p:spPr>
            <a:xfrm>
              <a:off x="4038600" y="2151727"/>
              <a:ext cx="4895850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i="0" dirty="0">
                  <a:solidFill>
                    <a:srgbClr val="99003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quote-cjk-patch"/>
                </a:rPr>
                <a:t>In propositional logic, these would be p, q, r with no connection. We can't express "all" or "some" relationships.</a:t>
              </a:r>
            </a:p>
            <a:p>
              <a:pPr algn="ctr"/>
              <a:endParaRPr lang="en-US" sz="2000" b="1" i="0" dirty="0">
                <a:solidFill>
                  <a:srgbClr val="002060"/>
                </a:solidFill>
                <a:effectLst/>
                <a:latin typeface="quote-cjk-patch"/>
              </a:endParaRPr>
            </a:p>
            <a:p>
              <a:pPr algn="ctr"/>
              <a:r>
                <a:rPr lang="en-US" sz="2000" b="1" i="0" dirty="0">
                  <a:solidFill>
                    <a:srgbClr val="FF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quote-cjk-patch"/>
                </a:rPr>
                <a:t>Solution:</a:t>
              </a:r>
              <a:r>
                <a:rPr lang="en-US" sz="2000" b="0" i="0" dirty="0">
                  <a:solidFill>
                    <a:srgbClr val="FF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quote-cjk-patch"/>
                </a:rPr>
                <a:t> Predicate logic adds variables, predicates, and quantifiers.</a:t>
              </a:r>
            </a:p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/>
              </a:r>
              <a:br>
                <a:rPr lang="en-US" sz="2000" dirty="0">
                  <a:solidFill>
                    <a:srgbClr val="002060"/>
                  </a:solidFill>
                </a:rPr>
              </a:br>
              <a:endParaRPr lang="en-US" sz="2000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017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DF9E2A-3E1B-BE68-CB43-D584EB9A7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30756"/>
            <a:ext cx="8686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Arial" panose="020B0604020202020204" pitchFamily="34" charset="0"/>
              </a:rPr>
              <a:t>Now write it in Predicate Logic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rial" panose="020B0604020202020204" pitchFamily="34" charset="0"/>
              </a:rPr>
              <a:t>Predicates Example1: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B(x): x is a bird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F(x): x can fly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11566C-9A43-432F-10B6-175BC0C18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69095"/>
            <a:ext cx="315182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rial" panose="020B0604020202020204" pitchFamily="34" charset="0"/>
              </a:rPr>
              <a:t>Logical form: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∀x(B(x)→F(x))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B(sparrow)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6CB0F86-2321-0D1A-692E-1806CAC26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181600"/>
            <a:ext cx="3962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F(sparrow)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D47627-1C54-90A0-C9F4-8631CBD24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817" y="1223198"/>
            <a:ext cx="8686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CC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Predicates Example2: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S(x): x is a student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R(x): x must register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7A4D77-9613-D202-D6A0-EA0FA787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74" y="3429000"/>
            <a:ext cx="319831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Logical form: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∀x(S(x)→R(x))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(Ali)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AE6E9EE-9815-2608-AB8D-2B4F153C6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81600"/>
            <a:ext cx="433923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R(Ali)</a:t>
            </a:r>
          </a:p>
        </p:txBody>
      </p:sp>
    </p:spTree>
    <p:extLst>
      <p:ext uri="{BB962C8B-B14F-4D97-AF65-F5344CB8AC3E}">
        <p14:creationId xmlns:p14="http://schemas.microsoft.com/office/powerpoint/2010/main" val="144875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3AEB8F2E-6BDB-E766-50FA-D4557117C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496670"/>
            <a:ext cx="830580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 and Domain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x, y, z (placeholders for objects)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b="1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Domain: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domain tells us which values we are allowed to test.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omain is denoted by U.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Domain D=  Z (all integers)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D= {1,2,3,4,5}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Always specify the domain - it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changes the meaning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the predicate.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(Changing the domain changes the answer.)</a:t>
            </a:r>
          </a:p>
        </p:txBody>
      </p:sp>
    </p:spTree>
    <p:extLst>
      <p:ext uri="{BB962C8B-B14F-4D97-AF65-F5344CB8AC3E}">
        <p14:creationId xmlns:p14="http://schemas.microsoft.com/office/powerpoint/2010/main" val="1713459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DAE6F4-65E0-3D6F-C59B-80733645F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295400"/>
            <a:ext cx="8420100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6600"/>
                </a:solidFill>
              </a:rPr>
              <a:t>Propositional functions become propositions (and have truth values) </a:t>
            </a:r>
            <a:r>
              <a:rPr lang="en-US" sz="2000" b="1" dirty="0">
                <a:solidFill>
                  <a:srgbClr val="00B050"/>
                </a:solidFill>
              </a:rPr>
              <a:t>when their variables are each replaced by a value from the domain (or  bound by a quantifier)</a:t>
            </a:r>
          </a:p>
          <a:p>
            <a:pPr algn="ctr"/>
            <a:r>
              <a:rPr lang="en-US" sz="3200" b="1" dirty="0">
                <a:solidFill>
                  <a:srgbClr val="7030A0"/>
                </a:solidFill>
              </a:rPr>
              <a:t>Same predicate, different domain → different meaning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Example: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P(x): “x &gt; 0”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C6600"/>
                </a:solidFill>
              </a:rPr>
              <a:t>U =</a:t>
            </a:r>
            <a:r>
              <a:rPr lang="en-US" sz="3200" dirty="0"/>
              <a:t> integers → ∀x P(x) is </a:t>
            </a:r>
            <a:r>
              <a:rPr lang="en-US" sz="3200" b="1" dirty="0">
                <a:solidFill>
                  <a:srgbClr val="C00000"/>
                </a:solidFill>
              </a:rPr>
              <a:t>False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B050"/>
                </a:solidFill>
              </a:rPr>
              <a:t>U = </a:t>
            </a:r>
            <a:r>
              <a:rPr lang="en-US" sz="3200" dirty="0"/>
              <a:t>positive integers → ∀x P(x) is </a:t>
            </a:r>
            <a:r>
              <a:rPr lang="en-US" sz="3200" b="1" dirty="0">
                <a:solidFill>
                  <a:srgbClr val="0070C0"/>
                </a:solidFill>
              </a:rPr>
              <a:t>True</a:t>
            </a:r>
          </a:p>
          <a:p>
            <a:endParaRPr lang="en-US" sz="3200" b="1" dirty="0"/>
          </a:p>
          <a:p>
            <a:r>
              <a:rPr lang="en-US" sz="3200" b="1" dirty="0"/>
              <a:t>Always have to specify domain(U)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27A23-C7C3-8401-5787-A11D2485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1143000"/>
          </a:xfrm>
        </p:spPr>
        <p:txBody>
          <a:bodyPr>
            <a:normAutofit/>
          </a:bodyPr>
          <a:lstStyle/>
          <a:p>
            <a:r>
              <a:rPr lang="en-US" b="1" dirty="0"/>
              <a:t>Propositional Functions</a:t>
            </a:r>
          </a:p>
        </p:txBody>
      </p:sp>
    </p:spTree>
    <p:extLst>
      <p:ext uri="{BB962C8B-B14F-4D97-AF65-F5344CB8AC3E}">
        <p14:creationId xmlns:p14="http://schemas.microsoft.com/office/powerpoint/2010/main" val="169106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74" y="91440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Examples of Propositional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4440"/>
            <a:ext cx="8969326" cy="438912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Let “</a:t>
            </a:r>
            <a:r>
              <a:rPr lang="en-US" sz="2000" i="1" dirty="0">
                <a:solidFill>
                  <a:srgbClr val="C00000"/>
                </a:solidFill>
              </a:rPr>
              <a:t>x</a:t>
            </a:r>
            <a:r>
              <a:rPr lang="en-US" sz="2000" dirty="0">
                <a:solidFill>
                  <a:srgbClr val="C00000"/>
                </a:solidFill>
              </a:rPr>
              <a:t> + </a:t>
            </a:r>
            <a:r>
              <a:rPr lang="en-US" sz="2000" i="1" dirty="0">
                <a:solidFill>
                  <a:srgbClr val="C00000"/>
                </a:solidFill>
              </a:rPr>
              <a:t>y</a:t>
            </a:r>
            <a:r>
              <a:rPr lang="en-US" sz="2000" dirty="0">
                <a:solidFill>
                  <a:srgbClr val="C00000"/>
                </a:solidFill>
              </a:rPr>
              <a:t> = </a:t>
            </a:r>
            <a:r>
              <a:rPr lang="en-US" sz="2000" i="1" dirty="0">
                <a:solidFill>
                  <a:srgbClr val="C00000"/>
                </a:solidFill>
              </a:rPr>
              <a:t>z” </a:t>
            </a:r>
            <a:r>
              <a:rPr lang="en-US" sz="2000" dirty="0">
                <a:solidFill>
                  <a:srgbClr val="C00000"/>
                </a:solidFill>
              </a:rPr>
              <a:t>be denoted by  </a:t>
            </a:r>
            <a:r>
              <a:rPr lang="en-US" sz="2000" i="1" dirty="0">
                <a:solidFill>
                  <a:srgbClr val="C00000"/>
                </a:solidFill>
              </a:rPr>
              <a:t>R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i="1" dirty="0">
                <a:solidFill>
                  <a:srgbClr val="C00000"/>
                </a:solidFill>
              </a:rPr>
              <a:t>x, y, z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  <a:r>
              <a:rPr lang="en-US" sz="2000" i="1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and </a:t>
            </a:r>
            <a:r>
              <a:rPr lang="en-US" sz="2000" i="1" dirty="0">
                <a:solidFill>
                  <a:srgbClr val="C00000"/>
                </a:solidFill>
              </a:rPr>
              <a:t>U</a:t>
            </a:r>
            <a:r>
              <a:rPr lang="en-US" sz="2000" dirty="0">
                <a:solidFill>
                  <a:srgbClr val="C00000"/>
                </a:solidFill>
              </a:rPr>
              <a:t> (for all three variables) be the integers. Find these truth values:</a:t>
            </a:r>
            <a:r>
              <a:rPr lang="en-US" sz="2000" i="1" dirty="0">
                <a:solidFill>
                  <a:srgbClr val="C00000"/>
                </a:solidFill>
              </a:rPr>
              <a:t> </a:t>
            </a:r>
            <a:endParaRPr lang="en-US" sz="2000" dirty="0">
              <a:solidFill>
                <a:srgbClr val="C00000"/>
              </a:solidFill>
            </a:endParaRPr>
          </a:p>
          <a:p>
            <a:pPr lvl="1">
              <a:buNone/>
            </a:pPr>
            <a:r>
              <a:rPr lang="en-US" sz="2000" dirty="0"/>
              <a:t>R(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2,-1</a:t>
            </a:r>
            <a:r>
              <a:rPr lang="en-US" sz="2000" dirty="0"/>
              <a:t>,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2000" dirty="0"/>
              <a:t>) </a:t>
            </a:r>
            <a:r>
              <a:rPr lang="en-US" sz="2000" b="1" dirty="0"/>
              <a:t>Solution:  F</a:t>
            </a:r>
          </a:p>
          <a:p>
            <a:pPr lvl="1">
              <a:buNone/>
            </a:pPr>
            <a:r>
              <a:rPr lang="en-US" sz="2000" dirty="0"/>
              <a:t>R(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3,4,7</a:t>
            </a:r>
            <a:r>
              <a:rPr lang="en-US" sz="2000" dirty="0"/>
              <a:t>) </a:t>
            </a:r>
            <a:r>
              <a:rPr lang="en-US" sz="2000" b="1" dirty="0"/>
              <a:t>Solution: T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R(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 </a:t>
            </a:r>
            <a:r>
              <a:rPr lang="en-US" sz="2000" b="1" dirty="0"/>
              <a:t>Solution: Not a Proposition</a:t>
            </a:r>
          </a:p>
          <a:p>
            <a:pPr lvl="1">
              <a:buNone/>
            </a:pPr>
            <a:endParaRPr lang="en-US" sz="2000" b="1" dirty="0"/>
          </a:p>
          <a:p>
            <a:r>
              <a:rPr lang="en-US" sz="2000" dirty="0">
                <a:solidFill>
                  <a:srgbClr val="CC0099"/>
                </a:solidFill>
              </a:rPr>
              <a:t>Now let  “</a:t>
            </a:r>
            <a:r>
              <a:rPr lang="en-US" sz="2000" i="1" dirty="0">
                <a:solidFill>
                  <a:srgbClr val="CC0099"/>
                </a:solidFill>
              </a:rPr>
              <a:t>x</a:t>
            </a:r>
            <a:r>
              <a:rPr lang="en-US" sz="2000" dirty="0">
                <a:solidFill>
                  <a:srgbClr val="CC0099"/>
                </a:solidFill>
              </a:rPr>
              <a:t> - </a:t>
            </a:r>
            <a:r>
              <a:rPr lang="en-US" sz="2000" i="1" dirty="0">
                <a:solidFill>
                  <a:srgbClr val="CC0099"/>
                </a:solidFill>
              </a:rPr>
              <a:t>y</a:t>
            </a:r>
            <a:r>
              <a:rPr lang="en-US" sz="2000" dirty="0">
                <a:solidFill>
                  <a:srgbClr val="CC0099"/>
                </a:solidFill>
              </a:rPr>
              <a:t> = </a:t>
            </a:r>
            <a:r>
              <a:rPr lang="en-US" sz="2000" i="1" dirty="0">
                <a:solidFill>
                  <a:srgbClr val="CC0099"/>
                </a:solidFill>
              </a:rPr>
              <a:t>z” </a:t>
            </a:r>
            <a:r>
              <a:rPr lang="en-US" sz="2000" dirty="0">
                <a:solidFill>
                  <a:srgbClr val="CC0099"/>
                </a:solidFill>
              </a:rPr>
              <a:t>be denoted by </a:t>
            </a:r>
            <a:r>
              <a:rPr lang="en-US" sz="2000" i="1" dirty="0">
                <a:solidFill>
                  <a:srgbClr val="CC0099"/>
                </a:solidFill>
              </a:rPr>
              <a:t>Q</a:t>
            </a:r>
            <a:r>
              <a:rPr lang="en-US" sz="2000" dirty="0">
                <a:solidFill>
                  <a:srgbClr val="CC0099"/>
                </a:solidFill>
              </a:rPr>
              <a:t>(</a:t>
            </a:r>
            <a:r>
              <a:rPr lang="en-US" sz="2000" i="1" dirty="0">
                <a:solidFill>
                  <a:srgbClr val="CC0099"/>
                </a:solidFill>
              </a:rPr>
              <a:t>x</a:t>
            </a:r>
            <a:r>
              <a:rPr lang="en-US" sz="2000" dirty="0">
                <a:solidFill>
                  <a:srgbClr val="CC0099"/>
                </a:solidFill>
              </a:rPr>
              <a:t>, </a:t>
            </a:r>
            <a:r>
              <a:rPr lang="en-US" sz="2000" i="1" dirty="0">
                <a:solidFill>
                  <a:srgbClr val="CC0099"/>
                </a:solidFill>
              </a:rPr>
              <a:t>y</a:t>
            </a:r>
            <a:r>
              <a:rPr lang="en-US" sz="2000" dirty="0">
                <a:solidFill>
                  <a:srgbClr val="CC0099"/>
                </a:solidFill>
              </a:rPr>
              <a:t>, </a:t>
            </a:r>
            <a:r>
              <a:rPr lang="en-US" sz="2000" i="1" dirty="0">
                <a:solidFill>
                  <a:srgbClr val="CC0099"/>
                </a:solidFill>
              </a:rPr>
              <a:t>z</a:t>
            </a:r>
            <a:r>
              <a:rPr lang="en-US" sz="2000" dirty="0">
                <a:solidFill>
                  <a:srgbClr val="CC0099"/>
                </a:solidFill>
              </a:rPr>
              <a:t>), with U as the integers.</a:t>
            </a:r>
            <a:r>
              <a:rPr lang="en-US" sz="2000" i="1" dirty="0">
                <a:solidFill>
                  <a:srgbClr val="CC0099"/>
                </a:solidFill>
              </a:rPr>
              <a:t> </a:t>
            </a:r>
            <a:r>
              <a:rPr lang="en-US" sz="2000" dirty="0">
                <a:solidFill>
                  <a:srgbClr val="CC0099"/>
                </a:solidFill>
              </a:rPr>
              <a:t>Find</a:t>
            </a:r>
            <a:r>
              <a:rPr lang="en-US" sz="2000" b="1" dirty="0">
                <a:solidFill>
                  <a:srgbClr val="CC0099"/>
                </a:solidFill>
              </a:rPr>
              <a:t> </a:t>
            </a:r>
            <a:r>
              <a:rPr lang="en-US" sz="2000" dirty="0">
                <a:solidFill>
                  <a:srgbClr val="CC0099"/>
                </a:solidFill>
              </a:rPr>
              <a:t>these truth values:</a:t>
            </a:r>
          </a:p>
          <a:p>
            <a:pPr lvl="1">
              <a:buNone/>
            </a:pPr>
            <a:r>
              <a:rPr lang="en-US" sz="2000" dirty="0"/>
              <a:t>Q(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2,-1,3</a:t>
            </a:r>
            <a:r>
              <a:rPr lang="en-US" sz="2000" dirty="0"/>
              <a:t>)</a:t>
            </a:r>
            <a:r>
              <a:rPr lang="en-US" sz="2000" b="1" dirty="0"/>
              <a:t> Solution:  T</a:t>
            </a:r>
          </a:p>
          <a:p>
            <a:pPr lvl="1">
              <a:buNone/>
            </a:pPr>
            <a:r>
              <a:rPr lang="en-US" sz="2000" dirty="0"/>
              <a:t>Q(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3,4,7</a:t>
            </a:r>
            <a:r>
              <a:rPr lang="en-US" sz="2000" dirty="0"/>
              <a:t>)</a:t>
            </a:r>
            <a:r>
              <a:rPr lang="en-US" sz="2000" b="1" dirty="0"/>
              <a:t> Solution: F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 Q(</a:t>
            </a:r>
            <a:r>
              <a:rPr lang="en-US" sz="2000" i="1" dirty="0"/>
              <a:t>x</a:t>
            </a:r>
            <a:r>
              <a:rPr lang="en-US" sz="2000" dirty="0"/>
              <a:t>, </a:t>
            </a:r>
            <a:r>
              <a:rPr lang="en-US" sz="2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000" dirty="0"/>
              <a:t>, </a:t>
            </a:r>
            <a:r>
              <a:rPr lang="en-US" sz="2000" i="1" dirty="0"/>
              <a:t>z</a:t>
            </a:r>
            <a:r>
              <a:rPr lang="en-US" sz="2000" dirty="0"/>
              <a:t>)</a:t>
            </a:r>
            <a:r>
              <a:rPr lang="en-US" sz="2000" b="1" dirty="0"/>
              <a:t> Solution:  Not a Proposition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What is a Truth Set?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02D44BC-6CAF-6360-F86C-5B6C4906C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71600"/>
            <a:ext cx="8305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Given a predicate P(x) and a domain D,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the truth set of P(x) is the set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all elements in D for which P(x) is true .</a:t>
            </a:r>
            <a:endParaRPr lang="en-US" sz="3600" dirty="0"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rgbClr val="00B050"/>
                </a:solidFill>
                <a:latin typeface="+mj-lt"/>
              </a:rPr>
              <a:t>{</a:t>
            </a:r>
            <a:r>
              <a:rPr lang="en-US" sz="3600" dirty="0" err="1">
                <a:solidFill>
                  <a:srgbClr val="00B050"/>
                </a:solidFill>
                <a:latin typeface="+mj-lt"/>
              </a:rPr>
              <a:t>x∈D</a:t>
            </a:r>
            <a:r>
              <a:rPr lang="en-US" sz="3600" dirty="0">
                <a:solidFill>
                  <a:srgbClr val="00B050"/>
                </a:solidFill>
                <a:latin typeface="+mj-lt"/>
              </a:rPr>
              <a:t> ∣ P(x) is true}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B75DED-F0A9-C225-4C96-A430608B6AD8}"/>
              </a:ext>
            </a:extLst>
          </p:cNvPr>
          <p:cNvGraphicFramePr>
            <a:graphicFrameLocks noGrp="1"/>
          </p:cNvGraphicFramePr>
          <p:nvPr/>
        </p:nvGraphicFramePr>
        <p:xfrm>
          <a:off x="4533900" y="3137094"/>
          <a:ext cx="4419600" cy="357319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18004229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8336351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95259075"/>
                    </a:ext>
                  </a:extLst>
                </a:gridCol>
              </a:tblGrid>
              <a:tr h="82458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</a:rPr>
                        <a:t>x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</a:rPr>
                        <a:t>True/False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413457"/>
                  </a:ext>
                </a:extLst>
              </a:tr>
              <a:tr h="4581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−2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−2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915843"/>
                  </a:ext>
                </a:extLst>
              </a:tr>
              <a:tr h="4581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−1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387113"/>
                  </a:ext>
                </a:extLst>
              </a:tr>
              <a:tr h="4581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398724"/>
                  </a:ext>
                </a:extLst>
              </a:tr>
              <a:tr h="4581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342415"/>
                  </a:ext>
                </a:extLst>
              </a:tr>
              <a:tr h="4581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2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493680"/>
                  </a:ext>
                </a:extLst>
              </a:tr>
              <a:tr h="4581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641317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34FA023F-42D1-8D1A-B7FD-CC03AF40C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16608"/>
            <a:ext cx="370967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P(x): x &gt; 0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Domain: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 = {−2, −1, 0, 1, 2, 3}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Solution: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Truth set:{1, 2, 3}</a:t>
            </a:r>
          </a:p>
        </p:txBody>
      </p:sp>
    </p:spTree>
    <p:extLst>
      <p:ext uri="{BB962C8B-B14F-4D97-AF65-F5344CB8AC3E}">
        <p14:creationId xmlns:p14="http://schemas.microsoft.com/office/powerpoint/2010/main" val="1578240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DAE6F4-65E0-3D6F-C59B-80733645F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85800"/>
            <a:ext cx="59436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P(x): |x| = 1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Domain: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values: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x = −1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|−1| = 1 →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x = 1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|1| = 1 →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Others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set: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{−1, 1}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91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b="1" dirty="0"/>
              <a:t>Compound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10600" cy="438912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Connectives from propositional logic carry over to predicate logic. </a:t>
            </a:r>
          </a:p>
          <a:p>
            <a:r>
              <a:rPr lang="en-US" dirty="0">
                <a:solidFill>
                  <a:srgbClr val="FF6600"/>
                </a:solidFill>
              </a:rPr>
              <a:t>If </a:t>
            </a:r>
            <a:r>
              <a:rPr lang="en-US" i="1" dirty="0">
                <a:solidFill>
                  <a:srgbClr val="FF6600"/>
                </a:solidFill>
              </a:rPr>
              <a:t>P(x)</a:t>
            </a:r>
            <a:r>
              <a:rPr lang="en-US" dirty="0">
                <a:solidFill>
                  <a:srgbClr val="FF6600"/>
                </a:solidFill>
              </a:rPr>
              <a:t> denotes  “</a:t>
            </a:r>
            <a:r>
              <a:rPr lang="en-US" i="1" dirty="0">
                <a:solidFill>
                  <a:srgbClr val="FF6600"/>
                </a:solidFill>
              </a:rPr>
              <a:t>x</a:t>
            </a:r>
            <a:r>
              <a:rPr lang="en-US" dirty="0">
                <a:solidFill>
                  <a:srgbClr val="FF6600"/>
                </a:solidFill>
              </a:rPr>
              <a:t> &gt; </a:t>
            </a:r>
            <a:r>
              <a:rPr lang="en-US" dirty="0">
                <a:solidFill>
                  <a:srgbClr val="FF6600"/>
                </a:solidFill>
                <a:latin typeface="Cambria Math" pitchFamily="18" charset="0"/>
                <a:ea typeface="Cambria Math" pitchFamily="18" charset="0"/>
              </a:rPr>
              <a:t>0,”</a:t>
            </a:r>
            <a:r>
              <a:rPr lang="en-US" dirty="0">
                <a:solidFill>
                  <a:srgbClr val="FF6600"/>
                </a:solidFill>
              </a:rPr>
              <a:t> find these truth values:</a:t>
            </a:r>
          </a:p>
          <a:p>
            <a:pPr lvl="1">
              <a:buNone/>
            </a:pPr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∨ P(-1)     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Solution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: T</a:t>
            </a:r>
          </a:p>
          <a:p>
            <a:pPr lvl="1">
              <a:buNone/>
            </a:pPr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∧ P(-1)     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Solution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: F</a:t>
            </a:r>
          </a:p>
          <a:p>
            <a:pPr lvl="1">
              <a:buNone/>
            </a:pPr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→ P(-1)    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Solution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: F</a:t>
            </a:r>
          </a:p>
          <a:p>
            <a:pPr lvl="1">
              <a:buNone/>
            </a:pPr>
            <a:r>
              <a:rPr lang="en-US" dirty="0">
                <a:solidFill>
                  <a:srgbClr val="0070C0"/>
                </a:solidFill>
              </a:rPr>
              <a:t>P(</a:t>
            </a:r>
            <a:r>
              <a:rPr lang="en-US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→ ¬P(-1)    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Solution</a:t>
            </a:r>
            <a:r>
              <a:rPr lang="en-US" dirty="0">
                <a:solidFill>
                  <a:srgbClr val="0070C0"/>
                </a:solidFill>
                <a:latin typeface="Cambria Math"/>
                <a:ea typeface="Cambria Math"/>
              </a:rPr>
              <a:t>: T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Expressions with variables are not propositions and therefore </a:t>
            </a:r>
            <a:r>
              <a:rPr lang="en-US" dirty="0">
                <a:solidFill>
                  <a:srgbClr val="C00000"/>
                </a:solidFill>
              </a:rPr>
              <a:t>do not have truth values.  For example,</a:t>
            </a:r>
          </a:p>
          <a:p>
            <a:pPr lvl="1">
              <a:buNone/>
            </a:pPr>
            <a:r>
              <a:rPr lang="en-US" dirty="0">
                <a:solidFill>
                  <a:srgbClr val="C00000"/>
                </a:solidFill>
              </a:rPr>
              <a:t>P(</a:t>
            </a:r>
            <a:r>
              <a:rPr lang="en-US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>
                <a:solidFill>
                  <a:srgbClr val="C00000"/>
                </a:solidFill>
                <a:latin typeface="Cambria Math"/>
                <a:ea typeface="Cambria Math"/>
              </a:rPr>
              <a:t>∧ P(</a:t>
            </a:r>
            <a:r>
              <a:rPr lang="en-US" i="1" dirty="0">
                <a:solidFill>
                  <a:srgbClr val="C00000"/>
                </a:solidFill>
                <a:latin typeface="Cambria Math"/>
                <a:ea typeface="Cambria Math"/>
              </a:rPr>
              <a:t>y</a:t>
            </a:r>
            <a:r>
              <a:rPr lang="en-US" dirty="0">
                <a:solidFill>
                  <a:srgbClr val="C00000"/>
                </a:solidFill>
                <a:latin typeface="Cambria Math"/>
                <a:ea typeface="Cambria Math"/>
              </a:rPr>
              <a:t>)      </a:t>
            </a:r>
          </a:p>
          <a:p>
            <a:pPr lvl="1">
              <a:buNone/>
            </a:pPr>
            <a:r>
              <a:rPr lang="en-US" dirty="0">
                <a:solidFill>
                  <a:srgbClr val="C00000"/>
                </a:solidFill>
              </a:rPr>
              <a:t>P(</a:t>
            </a:r>
            <a:r>
              <a:rPr lang="en-US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>
                <a:solidFill>
                  <a:srgbClr val="C00000"/>
                </a:solidFill>
                <a:latin typeface="Cambria Math"/>
                <a:ea typeface="Cambria Math"/>
              </a:rPr>
              <a:t>→ P(</a:t>
            </a:r>
            <a:r>
              <a:rPr lang="en-US" i="1" dirty="0">
                <a:solidFill>
                  <a:srgbClr val="C00000"/>
                </a:solidFill>
                <a:latin typeface="Cambria Math"/>
                <a:ea typeface="Cambria Math"/>
              </a:rPr>
              <a:t>y</a:t>
            </a:r>
            <a:r>
              <a:rPr lang="en-US" dirty="0">
                <a:solidFill>
                  <a:srgbClr val="C00000"/>
                </a:solidFill>
                <a:latin typeface="Cambria Math"/>
                <a:ea typeface="Cambria Math"/>
              </a:rPr>
              <a:t>)    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DAE6F4-65E0-3D6F-C59B-80733645F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9600" y="533400"/>
            <a:ext cx="5943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rgbClr val="002060"/>
                </a:solidFill>
              </a:rPr>
              <a:t>Quantifiers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1E1DF-9117-A459-8BA5-3EFEF33E22A1}"/>
              </a:ext>
            </a:extLst>
          </p:cNvPr>
          <p:cNvSpPr txBox="1"/>
          <p:nvPr/>
        </p:nvSpPr>
        <p:spPr>
          <a:xfrm>
            <a:off x="609600" y="1447800"/>
            <a:ext cx="723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1. Universal quantifier (∀)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3D7D6-4175-B4C8-EF43-81A21A64F27A}"/>
              </a:ext>
            </a:extLst>
          </p:cNvPr>
          <p:cNvSpPr txBox="1"/>
          <p:nvPr/>
        </p:nvSpPr>
        <p:spPr>
          <a:xfrm>
            <a:off x="609600" y="2045470"/>
            <a:ext cx="838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∀x ∈D, P(x) is TRUE</a:t>
            </a:r>
            <a:endParaRPr 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“For </a:t>
            </a:r>
            <a:r>
              <a:rPr lang="en-US" sz="2800" b="1" dirty="0">
                <a:solidFill>
                  <a:srgbClr val="C00000"/>
                </a:solidFill>
              </a:rPr>
              <a:t>every x</a:t>
            </a:r>
            <a:r>
              <a:rPr lang="en-US" sz="2800" dirty="0">
                <a:solidFill>
                  <a:srgbClr val="C00000"/>
                </a:solidFill>
              </a:rPr>
              <a:t> in the domain, P(x) is true”</a:t>
            </a:r>
          </a:p>
          <a:p>
            <a:r>
              <a:rPr lang="en-US" sz="2800" dirty="0">
                <a:solidFill>
                  <a:srgbClr val="7030A0"/>
                </a:solidFill>
              </a:rPr>
              <a:t>Rule using truth set:</a:t>
            </a:r>
          </a:p>
          <a:p>
            <a:r>
              <a:rPr lang="en-US" sz="2800" dirty="0">
                <a:solidFill>
                  <a:srgbClr val="990033"/>
                </a:solidFill>
              </a:rPr>
              <a:t>Truth set = whole domain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6517B-7D2E-5246-5258-2680B22793D8}"/>
              </a:ext>
            </a:extLst>
          </p:cNvPr>
          <p:cNvSpPr txBox="1"/>
          <p:nvPr/>
        </p:nvSpPr>
        <p:spPr>
          <a:xfrm>
            <a:off x="572086" y="3962400"/>
            <a:ext cx="6209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2. Existential quantifier (∃)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D1500-6334-BF21-F34D-46FB19DEC1E2}"/>
              </a:ext>
            </a:extLst>
          </p:cNvPr>
          <p:cNvSpPr txBox="1"/>
          <p:nvPr/>
        </p:nvSpPr>
        <p:spPr>
          <a:xfrm>
            <a:off x="572086" y="4547175"/>
            <a:ext cx="838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C0099"/>
                </a:solidFill>
              </a:rPr>
              <a:t>∃x ∈D, P(x) is TRUE</a:t>
            </a:r>
            <a:endParaRPr lang="en-US" sz="2800" dirty="0">
              <a:solidFill>
                <a:srgbClr val="CC0099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“There </a:t>
            </a:r>
            <a:r>
              <a:rPr lang="en-US" sz="2800" b="1" dirty="0">
                <a:solidFill>
                  <a:srgbClr val="C00000"/>
                </a:solidFill>
              </a:rPr>
              <a:t>exists at least one x </a:t>
            </a:r>
            <a:r>
              <a:rPr lang="en-US" sz="2800" dirty="0">
                <a:solidFill>
                  <a:srgbClr val="C00000"/>
                </a:solidFill>
              </a:rPr>
              <a:t>in the domain where P(x) is true”</a:t>
            </a:r>
          </a:p>
          <a:p>
            <a:r>
              <a:rPr lang="en-US" sz="2800" dirty="0">
                <a:solidFill>
                  <a:srgbClr val="7030A0"/>
                </a:solidFill>
              </a:rPr>
              <a:t>Rule using truth set:</a:t>
            </a:r>
          </a:p>
          <a:p>
            <a:r>
              <a:rPr lang="en-US" sz="2800" dirty="0">
                <a:solidFill>
                  <a:srgbClr val="CC6600"/>
                </a:solidFill>
              </a:rPr>
              <a:t>Truth set is NOT empty</a:t>
            </a:r>
          </a:p>
        </p:txBody>
      </p:sp>
    </p:spTree>
    <p:extLst>
      <p:ext uri="{BB962C8B-B14F-4D97-AF65-F5344CB8AC3E}">
        <p14:creationId xmlns:p14="http://schemas.microsoft.com/office/powerpoint/2010/main" val="324070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936D2612-A123-36FA-E83B-A6C4388C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81000"/>
            <a:ext cx="57044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Example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{1,2,3}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Predicate: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&gt; 0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set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{1,2,3}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∀x P(x) is TRUE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AF17009-C054-63FD-8024-4C55E25A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0"/>
            <a:ext cx="63392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Example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{1,2,3}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Predicate: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is even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set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{2}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∃x P(x) is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653DB-BF5C-5CF0-2311-96331F4959C0}"/>
              </a:ext>
            </a:extLst>
          </p:cNvPr>
          <p:cNvSpPr txBox="1"/>
          <p:nvPr/>
        </p:nvSpPr>
        <p:spPr>
          <a:xfrm>
            <a:off x="685800" y="5356484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C0099"/>
                </a:solidFill>
              </a:rPr>
              <a:t>Truth set = </a:t>
            </a:r>
            <a:r>
              <a:rPr lang="en-US" sz="2800" dirty="0"/>
              <a:t>all values that make the predicate true.</a:t>
            </a:r>
            <a:br>
              <a:rPr lang="en-US" sz="2800" dirty="0"/>
            </a:br>
            <a:r>
              <a:rPr lang="en-US" sz="2800" dirty="0">
                <a:solidFill>
                  <a:srgbClr val="7030A0"/>
                </a:solidFill>
              </a:rPr>
              <a:t>∀ means the truth set is the whole domain; 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∃ means it’s non-empty.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2BA0FFA-F0E3-44E9-549B-0A61D177B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678828"/>
            <a:ext cx="57044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Example 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𝐷={0,1,2}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Predicate 𝑃(𝑥):𝑥^2=1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set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{1}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∃x P(x) is TRUE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773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C7C22-3368-8F6A-66B1-E69DE0E8B497}"/>
              </a:ext>
            </a:extLst>
          </p:cNvPr>
          <p:cNvSpPr txBox="1"/>
          <p:nvPr/>
        </p:nvSpPr>
        <p:spPr>
          <a:xfrm>
            <a:off x="114300" y="363915"/>
            <a:ext cx="89154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How Quantifiers Work?</a:t>
            </a:r>
          </a:p>
          <a:p>
            <a:pPr algn="l"/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Imagine your domain has </a:t>
            </a:r>
            <a:r>
              <a:rPr lang="en-US" sz="2800" b="0" i="0" dirty="0">
                <a:solidFill>
                  <a:srgbClr val="002060"/>
                </a:solidFill>
                <a:effectLst/>
                <a:latin typeface="quote-cjk-patch"/>
              </a:rPr>
              <a:t>3 objects: {Alice, Bob, Charlie}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CC6600"/>
                </a:solidFill>
                <a:effectLst/>
                <a:latin typeface="KaTeX_Main"/>
              </a:rPr>
              <a:t>S(x)</a:t>
            </a:r>
            <a:r>
              <a:rPr lang="en-US" sz="2800" b="0" i="0" dirty="0">
                <a:solidFill>
                  <a:srgbClr val="CC6600"/>
                </a:solidFill>
                <a:effectLst/>
                <a:latin typeface="quote-cjk-patch"/>
              </a:rPr>
              <a:t>: "x is a student"</a:t>
            </a:r>
          </a:p>
          <a:p>
            <a:pPr algn="ctr"/>
            <a:endParaRPr lang="en-US" sz="2800" b="1" i="0" dirty="0">
              <a:solidFill>
                <a:srgbClr val="C00000"/>
              </a:solidFill>
              <a:effectLst/>
              <a:latin typeface="quote-cjk-patch"/>
            </a:endParaRPr>
          </a:p>
          <a:p>
            <a:pPr algn="ctr"/>
            <a:r>
              <a:rPr lang="en-US" sz="2800" b="1" i="0" dirty="0">
                <a:solidFill>
                  <a:srgbClr val="C00000"/>
                </a:solidFill>
                <a:effectLst/>
                <a:latin typeface="quote-cjk-patch"/>
              </a:rPr>
              <a:t>Universal (∀) = </a:t>
            </a:r>
            <a:r>
              <a:rPr lang="en-US" sz="2800" b="1" i="0" dirty="0">
                <a:solidFill>
                  <a:srgbClr val="CC0099"/>
                </a:solidFill>
                <a:effectLst/>
                <a:latin typeface="quote-cjk-patch"/>
              </a:rPr>
              <a:t>AND over all objects:</a:t>
            </a:r>
            <a:r>
              <a:rPr lang="en-US" sz="2800" b="0" i="0" dirty="0">
                <a:solidFill>
                  <a:srgbClr val="CC0099"/>
                </a:solidFill>
                <a:effectLst/>
                <a:latin typeface="quote-cjk-patch"/>
              </a:rPr>
              <a:t/>
            </a:r>
            <a:br>
              <a:rPr lang="en-US" sz="2800" b="0" i="0" dirty="0">
                <a:solidFill>
                  <a:srgbClr val="CC0099"/>
                </a:solidFill>
                <a:effectLst/>
                <a:latin typeface="quote-cjk-patch"/>
              </a:rPr>
            </a:br>
            <a:r>
              <a:rPr lang="en-US" sz="2800" b="0" i="0" dirty="0">
                <a:solidFill>
                  <a:srgbClr val="7030A0"/>
                </a:solidFill>
                <a:effectLst/>
                <a:latin typeface="KaTeX_Main"/>
              </a:rPr>
              <a:t>∀</a:t>
            </a:r>
            <a:r>
              <a:rPr lang="en-US" sz="2800" b="0" i="0" dirty="0" err="1">
                <a:solidFill>
                  <a:srgbClr val="7030A0"/>
                </a:solidFill>
                <a:effectLst/>
                <a:latin typeface="KaTeX_Main"/>
              </a:rPr>
              <a:t>xS</a:t>
            </a:r>
            <a:r>
              <a:rPr lang="en-US" sz="2800" b="0" i="0" dirty="0">
                <a:solidFill>
                  <a:srgbClr val="7030A0"/>
                </a:solidFill>
                <a:effectLst/>
                <a:latin typeface="KaTeX_Main"/>
              </a:rPr>
              <a:t>(x) </a:t>
            </a:r>
            <a:r>
              <a:rPr lang="en-US" sz="2800" b="0" i="0" dirty="0">
                <a:solidFill>
                  <a:srgbClr val="7030A0"/>
                </a:solidFill>
                <a:effectLst/>
                <a:latin typeface="quote-cjk-patch"/>
              </a:rPr>
              <a:t>means: S(Alice) </a:t>
            </a:r>
            <a:r>
              <a:rPr lang="en-US" sz="2800" b="1" i="0" dirty="0">
                <a:solidFill>
                  <a:srgbClr val="7030A0"/>
                </a:solidFill>
                <a:effectLst/>
                <a:latin typeface="quote-cjk-patch"/>
              </a:rPr>
              <a:t>AND</a:t>
            </a:r>
            <a:r>
              <a:rPr lang="en-US" sz="2800" b="0" i="0" dirty="0">
                <a:solidFill>
                  <a:srgbClr val="7030A0"/>
                </a:solidFill>
                <a:effectLst/>
                <a:latin typeface="quote-cjk-patch"/>
              </a:rPr>
              <a:t> S(Bob) </a:t>
            </a:r>
            <a:r>
              <a:rPr lang="en-US" sz="2800" b="1" i="0" dirty="0">
                <a:solidFill>
                  <a:srgbClr val="7030A0"/>
                </a:solidFill>
                <a:effectLst/>
                <a:latin typeface="quote-cjk-patch"/>
              </a:rPr>
              <a:t>AND</a:t>
            </a:r>
            <a:r>
              <a:rPr lang="en-US" sz="2800" b="0" i="0" dirty="0">
                <a:solidFill>
                  <a:srgbClr val="7030A0"/>
                </a:solidFill>
                <a:effectLst/>
                <a:latin typeface="quote-cjk-patch"/>
              </a:rPr>
              <a:t> S(Charlie)</a:t>
            </a:r>
            <a:br>
              <a:rPr lang="en-US" sz="2800" b="0" i="0" dirty="0">
                <a:solidFill>
                  <a:srgbClr val="7030A0"/>
                </a:solidFill>
                <a:effectLst/>
                <a:latin typeface="quote-cjk-patch"/>
              </a:rPr>
            </a:br>
            <a:r>
              <a:rPr lang="en-US" sz="2800" b="0" i="0" dirty="0">
                <a:solidFill>
                  <a:srgbClr val="7030A0"/>
                </a:solidFill>
                <a:effectLst/>
                <a:latin typeface="quote-cjk-patch"/>
              </a:rPr>
              <a:t>(All three must be true)</a:t>
            </a:r>
          </a:p>
          <a:p>
            <a:pPr algn="ctr"/>
            <a:endParaRPr lang="en-US" sz="2800" b="1" i="0" dirty="0">
              <a:solidFill>
                <a:srgbClr val="FF6600"/>
              </a:solidFill>
              <a:latin typeface="quote-cjk-patch"/>
            </a:endParaRPr>
          </a:p>
          <a:p>
            <a:pPr algn="ctr"/>
            <a:r>
              <a:rPr lang="en-US" sz="2800" b="1" i="0" dirty="0">
                <a:solidFill>
                  <a:srgbClr val="FF6600"/>
                </a:solidFill>
                <a:latin typeface="quote-cjk-patch"/>
              </a:rPr>
              <a:t>Existential (∃) = </a:t>
            </a:r>
            <a:r>
              <a:rPr lang="en-US" sz="2800" b="1" i="0" dirty="0">
                <a:solidFill>
                  <a:srgbClr val="CC0099"/>
                </a:solidFill>
                <a:latin typeface="quote-cjk-patch"/>
              </a:rPr>
              <a:t>OR over all objects:</a:t>
            </a:r>
            <a:r>
              <a:rPr lang="en-US" sz="2800" b="0" i="0" dirty="0">
                <a:solidFill>
                  <a:srgbClr val="CC0099"/>
                </a:solidFill>
                <a:latin typeface="quote-cjk-patch"/>
              </a:rPr>
              <a:t/>
            </a:r>
            <a:br>
              <a:rPr lang="en-US" sz="2800" b="0" i="0" dirty="0">
                <a:solidFill>
                  <a:srgbClr val="CC0099"/>
                </a:solidFill>
                <a:latin typeface="quote-cjk-patch"/>
              </a:rPr>
            </a:br>
            <a:r>
              <a:rPr lang="en-US" sz="2800" b="0" i="0" dirty="0">
                <a:solidFill>
                  <a:srgbClr val="00B0F0"/>
                </a:solidFill>
                <a:effectLst/>
                <a:latin typeface="KaTeX_Main"/>
              </a:rPr>
              <a:t>∃</a:t>
            </a:r>
            <a:r>
              <a:rPr lang="en-US" sz="2800" b="0" i="0" dirty="0" err="1">
                <a:solidFill>
                  <a:srgbClr val="00B0F0"/>
                </a:solidFill>
                <a:effectLst/>
                <a:latin typeface="KaTeX_Main"/>
              </a:rPr>
              <a:t>xS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KaTeX_Main"/>
              </a:rPr>
              <a:t>(x) 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  <a:t>means:</a:t>
            </a:r>
            <a:b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</a:br>
            <a: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  <a:t>S(Alice) </a:t>
            </a:r>
            <a:r>
              <a:rPr lang="en-US" sz="2800" b="1" i="0" dirty="0">
                <a:solidFill>
                  <a:srgbClr val="00B0F0"/>
                </a:solidFill>
                <a:effectLst/>
                <a:latin typeface="quote-cjk-patch"/>
              </a:rPr>
              <a:t>OR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  <a:t> S(Bob) </a:t>
            </a:r>
            <a:r>
              <a:rPr lang="en-US" sz="2800" b="1" i="0" dirty="0">
                <a:solidFill>
                  <a:srgbClr val="00B0F0"/>
                </a:solidFill>
                <a:effectLst/>
                <a:latin typeface="quote-cjk-patch"/>
              </a:rPr>
              <a:t>OR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  <a:t> S(Charlie)</a:t>
            </a:r>
            <a:b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</a:br>
            <a:r>
              <a:rPr lang="en-US" sz="2800" b="0" i="0" dirty="0">
                <a:solidFill>
                  <a:srgbClr val="00B0F0"/>
                </a:solidFill>
                <a:effectLst/>
                <a:latin typeface="quote-cjk-patch"/>
              </a:rPr>
              <a:t>(At least one must be true)</a:t>
            </a:r>
          </a:p>
        </p:txBody>
      </p:sp>
    </p:spTree>
    <p:extLst>
      <p:ext uri="{BB962C8B-B14F-4D97-AF65-F5344CB8AC3E}">
        <p14:creationId xmlns:p14="http://schemas.microsoft.com/office/powerpoint/2010/main" val="2183823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C7C22-3368-8F6A-66B1-E69DE0E8B497}"/>
              </a:ext>
            </a:extLst>
          </p:cNvPr>
          <p:cNvSpPr txBox="1"/>
          <p:nvPr/>
        </p:nvSpPr>
        <p:spPr>
          <a:xfrm>
            <a:off x="685800" y="838200"/>
            <a:ext cx="838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Domain:</a:t>
            </a:r>
          </a:p>
          <a:p>
            <a:pPr algn="ctr"/>
            <a:r>
              <a:rPr lang="en-US" sz="3200" dirty="0"/>
              <a:t>𝐷={−3,−2,−1,0,1,2,3} 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Predicate:</a:t>
            </a:r>
          </a:p>
          <a:p>
            <a:pPr algn="ctr"/>
            <a:r>
              <a:rPr lang="en-US" sz="3200" dirty="0"/>
              <a:t>𝑃(𝑥): </a:t>
            </a:r>
            <a:r>
              <a:rPr lang="en-US" sz="3200" dirty="0">
                <a:latin typeface="+mj-lt"/>
              </a:rPr>
              <a:t>𝑥^2&lt;5</a:t>
            </a:r>
            <a:endParaRPr lang="en-US" sz="3200" dirty="0"/>
          </a:p>
          <a:p>
            <a:r>
              <a:rPr lang="en-US" sz="3200" dirty="0"/>
              <a:t>1. Find the truth set of P(x)</a:t>
            </a:r>
          </a:p>
          <a:p>
            <a:r>
              <a:rPr lang="en-US" sz="3200" dirty="0"/>
              <a:t>2. Determine whether:</a:t>
            </a:r>
          </a:p>
          <a:p>
            <a:pPr lvl="1"/>
            <a:r>
              <a:rPr lang="en-US" sz="3200" dirty="0"/>
              <a:t>∃𝑥 𝑃(𝑥) is true or false</a:t>
            </a:r>
          </a:p>
          <a:p>
            <a:pPr lvl="1"/>
            <a:r>
              <a:rPr lang="en-US" sz="3200" dirty="0"/>
              <a:t>∀𝑥 𝑃(𝑥) is true or false</a:t>
            </a:r>
          </a:p>
        </p:txBody>
      </p:sp>
    </p:spTree>
    <p:extLst>
      <p:ext uri="{BB962C8B-B14F-4D97-AF65-F5344CB8AC3E}">
        <p14:creationId xmlns:p14="http://schemas.microsoft.com/office/powerpoint/2010/main" val="3474099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C7C22-3368-8F6A-66B1-E69DE0E8B497}"/>
              </a:ext>
            </a:extLst>
          </p:cNvPr>
          <p:cNvSpPr txBox="1"/>
          <p:nvPr/>
        </p:nvSpPr>
        <p:spPr>
          <a:xfrm>
            <a:off x="685800" y="838200"/>
            <a:ext cx="838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Domain:</a:t>
            </a:r>
          </a:p>
          <a:p>
            <a:pPr algn="ctr"/>
            <a:r>
              <a:rPr lang="en-US" sz="3200" dirty="0"/>
              <a:t>𝐷={−3,−2,−1,0,1,2,3} 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Predicate:</a:t>
            </a:r>
          </a:p>
          <a:p>
            <a:pPr algn="ctr"/>
            <a:r>
              <a:rPr lang="en-US" sz="3200" dirty="0"/>
              <a:t>𝑃(𝑥): </a:t>
            </a:r>
            <a:r>
              <a:rPr lang="en-US" sz="3200" dirty="0">
                <a:latin typeface="+mj-lt"/>
              </a:rPr>
              <a:t>𝑥^2&lt;5</a:t>
            </a:r>
            <a:endParaRPr lang="en-US" sz="3200" dirty="0"/>
          </a:p>
          <a:p>
            <a:r>
              <a:rPr lang="en-US" sz="3200" dirty="0"/>
              <a:t>1. Find the truth set of P(x)</a:t>
            </a:r>
          </a:p>
          <a:p>
            <a:r>
              <a:rPr lang="en-US" sz="3200" dirty="0"/>
              <a:t>2. Determine whether:</a:t>
            </a:r>
          </a:p>
          <a:p>
            <a:pPr lvl="1"/>
            <a:r>
              <a:rPr lang="en-US" sz="3200" dirty="0"/>
              <a:t>∃𝑥 𝑃(𝑥) is true or false</a:t>
            </a:r>
          </a:p>
          <a:p>
            <a:pPr lvl="1"/>
            <a:r>
              <a:rPr lang="en-US" sz="3200" dirty="0"/>
              <a:t>∀𝑥 𝑃(𝑥) is true or false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C5B754-1077-539B-FE32-C52102EFB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22" y="5049174"/>
            <a:ext cx="67818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Arial" panose="020B0604020202020204" pitchFamily="34" charset="0"/>
              </a:rPr>
              <a:t>SOLUTION: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set: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{−2, −1, 0, 1, 2}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∃x P(x):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7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C7C22-3368-8F6A-66B1-E69DE0E8B497}"/>
              </a:ext>
            </a:extLst>
          </p:cNvPr>
          <p:cNvSpPr txBox="1"/>
          <p:nvPr/>
        </p:nvSpPr>
        <p:spPr>
          <a:xfrm>
            <a:off x="685800" y="838200"/>
            <a:ext cx="838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Domain:</a:t>
            </a:r>
          </a:p>
          <a:p>
            <a:pPr algn="ctr"/>
            <a:r>
              <a:rPr lang="en-US" sz="3200" dirty="0"/>
              <a:t>𝐷={1,2,3,4,5} 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Predicate:</a:t>
            </a:r>
          </a:p>
          <a:p>
            <a:pPr algn="ctr"/>
            <a:r>
              <a:rPr lang="en-US" sz="3200" dirty="0"/>
              <a:t>𝑃(𝑥): </a:t>
            </a:r>
            <a:r>
              <a:rPr lang="en-US" sz="3200" dirty="0">
                <a:latin typeface="+mj-lt"/>
              </a:rPr>
              <a:t>x is a prime number</a:t>
            </a:r>
          </a:p>
          <a:p>
            <a:pPr algn="ctr"/>
            <a:endParaRPr lang="en-US" sz="3200" dirty="0"/>
          </a:p>
          <a:p>
            <a:r>
              <a:rPr lang="en-US" sz="3200" dirty="0"/>
              <a:t>1. Find the truth set of P(x)</a:t>
            </a:r>
          </a:p>
          <a:p>
            <a:r>
              <a:rPr lang="en-US" sz="3200" dirty="0"/>
              <a:t>2. Determine whether:</a:t>
            </a:r>
          </a:p>
          <a:p>
            <a:pPr lvl="1"/>
            <a:r>
              <a:rPr lang="en-US" sz="3200" dirty="0"/>
              <a:t>∃𝑥 𝑃(𝑥) is true or false</a:t>
            </a:r>
          </a:p>
          <a:p>
            <a:pPr lvl="1"/>
            <a:r>
              <a:rPr lang="en-US" sz="3200" dirty="0"/>
              <a:t>∀𝑥 𝑃(𝑥) is true or false</a:t>
            </a:r>
          </a:p>
        </p:txBody>
      </p:sp>
    </p:spTree>
    <p:extLst>
      <p:ext uri="{BB962C8B-B14F-4D97-AF65-F5344CB8AC3E}">
        <p14:creationId xmlns:p14="http://schemas.microsoft.com/office/powerpoint/2010/main" val="3083305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C7C22-3368-8F6A-66B1-E69DE0E8B497}"/>
              </a:ext>
            </a:extLst>
          </p:cNvPr>
          <p:cNvSpPr txBox="1"/>
          <p:nvPr/>
        </p:nvSpPr>
        <p:spPr>
          <a:xfrm>
            <a:off x="685800" y="838200"/>
            <a:ext cx="838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Domain:</a:t>
            </a:r>
          </a:p>
          <a:p>
            <a:pPr algn="ctr"/>
            <a:r>
              <a:rPr lang="en-US" sz="3200" dirty="0"/>
              <a:t>𝐷={1,2,3,4,5} 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Predicate:</a:t>
            </a:r>
          </a:p>
          <a:p>
            <a:pPr algn="ctr"/>
            <a:r>
              <a:rPr lang="en-US" sz="3200" dirty="0"/>
              <a:t>𝑃(𝑥): </a:t>
            </a:r>
            <a:r>
              <a:rPr lang="en-US" sz="3200" dirty="0">
                <a:latin typeface="+mj-lt"/>
              </a:rPr>
              <a:t>x is a prime number</a:t>
            </a:r>
            <a:endParaRPr lang="en-US" sz="3200" dirty="0"/>
          </a:p>
          <a:p>
            <a:r>
              <a:rPr lang="en-US" sz="3200" dirty="0"/>
              <a:t>1. Find the truth set of P(x)</a:t>
            </a:r>
          </a:p>
          <a:p>
            <a:r>
              <a:rPr lang="en-US" sz="3200" dirty="0"/>
              <a:t>2. Determine whether:</a:t>
            </a:r>
          </a:p>
          <a:p>
            <a:pPr lvl="1"/>
            <a:r>
              <a:rPr lang="en-US" sz="3200" dirty="0"/>
              <a:t>∃𝑥 𝑃(𝑥) is true or false</a:t>
            </a:r>
          </a:p>
          <a:p>
            <a:pPr lvl="1"/>
            <a:r>
              <a:rPr lang="en-US" sz="3200" dirty="0"/>
              <a:t>∀𝑥 𝑃(𝑥) is true or false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8B1E08-2734-C4EF-4064-91544F5A4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70073"/>
            <a:ext cx="67818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C0099"/>
                </a:solidFill>
                <a:effectLst/>
                <a:latin typeface="Arial" panose="020B0604020202020204" pitchFamily="34" charset="0"/>
              </a:rPr>
              <a:t>SOLUTION: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set: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{2, 3, 5}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∃x P(x):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∀x P(x):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(1 and 4 are not prime)</a:t>
            </a:r>
          </a:p>
        </p:txBody>
      </p:sp>
    </p:spTree>
    <p:extLst>
      <p:ext uri="{BB962C8B-B14F-4D97-AF65-F5344CB8AC3E}">
        <p14:creationId xmlns:p14="http://schemas.microsoft.com/office/powerpoint/2010/main" val="324579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70C0"/>
                </a:solidFill>
              </a:rPr>
              <a:t>The truth value of </a:t>
            </a:r>
            <a:r>
              <a:rPr lang="en-US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x P(x)</a:t>
            </a:r>
            <a:r>
              <a:rPr lang="en-US" dirty="0">
                <a:solidFill>
                  <a:srgbClr val="0070C0"/>
                </a:solidFill>
              </a:rPr>
              <a:t>  and </a:t>
            </a:r>
            <a:r>
              <a:rPr lang="en-US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x P(x)  </a:t>
            </a:r>
            <a:r>
              <a:rPr lang="en-US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depend on both the </a:t>
            </a:r>
            <a:r>
              <a:rPr lang="en-US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propositional function </a:t>
            </a:r>
            <a:r>
              <a:rPr lang="en-US" b="1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P(x) </a:t>
            </a:r>
            <a:r>
              <a:rPr lang="en-US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and on  the domain </a:t>
            </a:r>
            <a:r>
              <a:rPr lang="en-US" b="1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U</a:t>
            </a:r>
            <a:r>
              <a:rPr lang="en-US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. </a:t>
            </a:r>
          </a:p>
          <a:p>
            <a:r>
              <a:rPr lang="en-US" b="1" dirty="0">
                <a:latin typeface="Cambria Math" pitchFamily="18" charset="0"/>
                <a:ea typeface="Cambria Math" pitchFamily="18" charset="0"/>
                <a:sym typeface="Symbol"/>
              </a:rPr>
              <a:t>Examples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: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i="1" dirty="0"/>
              <a:t>U</a:t>
            </a:r>
            <a:r>
              <a:rPr lang="en-US" dirty="0"/>
              <a:t> is the  positive integers and </a:t>
            </a:r>
            <a:r>
              <a:rPr lang="en-US" i="1" dirty="0"/>
              <a:t>P(x) </a:t>
            </a:r>
            <a:r>
              <a:rPr lang="en-US" dirty="0"/>
              <a:t>is the statement           “</a:t>
            </a:r>
            <a:r>
              <a:rPr lang="en-US" i="1" dirty="0"/>
              <a:t>x</a:t>
            </a:r>
            <a:r>
              <a:rPr lang="en-US" dirty="0"/>
              <a:t> &lt;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”, </a:t>
            </a:r>
            <a:r>
              <a:rPr lang="en-US" b="1" dirty="0">
                <a:solidFill>
                  <a:srgbClr val="7030A0"/>
                </a:solidFill>
              </a:rPr>
              <a:t>then </a:t>
            </a:r>
            <a:r>
              <a:rPr lang="en-US" b="1" i="1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x P(x)</a:t>
            </a:r>
            <a:r>
              <a:rPr lang="en-US" b="1" dirty="0">
                <a:solidFill>
                  <a:srgbClr val="7030A0"/>
                </a:solidFill>
              </a:rPr>
              <a:t>   is true, but </a:t>
            </a:r>
            <a:r>
              <a:rPr lang="en-US" b="1" i="1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x P(x)  </a:t>
            </a:r>
            <a:r>
              <a:rPr lang="en-US" b="1" dirty="0">
                <a:solidFill>
                  <a:srgbClr val="7030A0"/>
                </a:solidFill>
                <a:latin typeface="Cambria Math" pitchFamily="18" charset="0"/>
                <a:ea typeface="Cambria Math" pitchFamily="18" charset="0"/>
                <a:sym typeface="Symbol"/>
              </a:rPr>
              <a:t>is false.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i="1" dirty="0"/>
              <a:t>U</a:t>
            </a:r>
            <a:r>
              <a:rPr lang="en-US" dirty="0"/>
              <a:t> is the negative integers and </a:t>
            </a:r>
            <a:r>
              <a:rPr lang="en-US" i="1" dirty="0"/>
              <a:t>P(x) </a:t>
            </a:r>
            <a:r>
              <a:rPr lang="en-US" dirty="0"/>
              <a:t>is the statement           “</a:t>
            </a:r>
            <a:r>
              <a:rPr lang="en-US" i="1" dirty="0"/>
              <a:t>x</a:t>
            </a:r>
            <a:r>
              <a:rPr lang="en-US" dirty="0"/>
              <a:t> &lt;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”, then </a:t>
            </a:r>
            <a:r>
              <a:rPr lang="en-US" b="1" dirty="0">
                <a:solidFill>
                  <a:srgbClr val="FF6600"/>
                </a:solidFill>
              </a:rPr>
              <a:t>both </a:t>
            </a:r>
            <a:r>
              <a:rPr lang="en-US" b="1" i="1" dirty="0">
                <a:solidFill>
                  <a:srgbClr val="FF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x P(x)</a:t>
            </a:r>
            <a:r>
              <a:rPr lang="en-US" b="1" dirty="0">
                <a:solidFill>
                  <a:srgbClr val="FF6600"/>
                </a:solidFill>
              </a:rPr>
              <a:t>  and  </a:t>
            </a:r>
            <a:r>
              <a:rPr lang="en-US" b="1" i="1" dirty="0">
                <a:solidFill>
                  <a:srgbClr val="FF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x P(x)  </a:t>
            </a:r>
            <a:r>
              <a:rPr lang="en-US" b="1" dirty="0">
                <a:solidFill>
                  <a:srgbClr val="FF6600"/>
                </a:solidFill>
                <a:latin typeface="Cambria Math" pitchFamily="18" charset="0"/>
                <a:ea typeface="Cambria Math" pitchFamily="18" charset="0"/>
                <a:sym typeface="Symbol"/>
              </a:rPr>
              <a:t>are true.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i="1" dirty="0"/>
              <a:t>U</a:t>
            </a:r>
            <a:r>
              <a:rPr lang="en-US" dirty="0"/>
              <a:t> consists of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,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, and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/>
              <a:t>,  and </a:t>
            </a:r>
            <a:r>
              <a:rPr lang="en-US" i="1" dirty="0"/>
              <a:t>P(x) </a:t>
            </a:r>
            <a:r>
              <a:rPr lang="en-US" dirty="0"/>
              <a:t>is the statement           “</a:t>
            </a:r>
            <a:r>
              <a:rPr lang="en-US" i="1" dirty="0"/>
              <a:t>x</a:t>
            </a:r>
            <a:r>
              <a:rPr lang="en-US" dirty="0"/>
              <a:t> &gt;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”, </a:t>
            </a:r>
            <a:r>
              <a:rPr lang="en-US" b="1" dirty="0">
                <a:solidFill>
                  <a:srgbClr val="00B050"/>
                </a:solidFill>
              </a:rPr>
              <a:t>then  both </a:t>
            </a:r>
            <a:r>
              <a:rPr lang="en-US" b="1" i="1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x P(x)</a:t>
            </a:r>
            <a:r>
              <a:rPr lang="en-US" b="1" dirty="0">
                <a:solidFill>
                  <a:srgbClr val="00B050"/>
                </a:solidFill>
              </a:rPr>
              <a:t>   and </a:t>
            </a:r>
            <a:r>
              <a:rPr lang="en-US" b="1" i="1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x P(x)  </a:t>
            </a:r>
            <a:r>
              <a:rPr lang="en-US" b="1" dirty="0">
                <a:solidFill>
                  <a:srgbClr val="00B050"/>
                </a:solidFill>
                <a:latin typeface="Cambria Math" pitchFamily="18" charset="0"/>
                <a:ea typeface="Cambria Math" pitchFamily="18" charset="0"/>
                <a:sym typeface="Symbol"/>
              </a:rPr>
              <a:t>are true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. But if </a:t>
            </a:r>
            <a:r>
              <a:rPr lang="en-US" i="1" dirty="0"/>
              <a:t>P(x) </a:t>
            </a:r>
            <a:r>
              <a:rPr lang="en-US" dirty="0"/>
              <a:t>is the statement “</a:t>
            </a:r>
            <a:r>
              <a:rPr lang="en-US" i="1" dirty="0"/>
              <a:t>x</a:t>
            </a:r>
            <a:r>
              <a:rPr lang="en-US" dirty="0"/>
              <a:t> &lt;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”, then  </a:t>
            </a:r>
            <a:r>
              <a:rPr lang="en-US" b="1" dirty="0">
                <a:solidFill>
                  <a:srgbClr val="002060"/>
                </a:solidFill>
              </a:rPr>
              <a:t>both </a:t>
            </a:r>
            <a:r>
              <a:rPr lang="en-US" b="1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x P(x)</a:t>
            </a:r>
            <a:r>
              <a:rPr lang="en-US" b="1" dirty="0">
                <a:solidFill>
                  <a:srgbClr val="002060"/>
                </a:solidFill>
              </a:rPr>
              <a:t>   and             </a:t>
            </a:r>
            <a:r>
              <a:rPr lang="en-US" b="1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x P(x)  </a:t>
            </a:r>
            <a:r>
              <a:rPr lang="en-US" b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are false. </a:t>
            </a:r>
            <a:endParaRPr lang="en-US" b="1" dirty="0">
              <a:solidFill>
                <a:srgbClr val="002060"/>
              </a:solidFill>
            </a:endParaRP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Precedence of 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The quantifiers </a:t>
            </a:r>
            <a:r>
              <a:rPr lang="en-US" b="1" dirty="0">
                <a:solidFill>
                  <a:srgbClr val="00B050"/>
                </a:solidFill>
                <a:sym typeface="Symbol"/>
              </a:rPr>
              <a:t> and   have higher precedence than all the logical operators.</a:t>
            </a:r>
          </a:p>
          <a:p>
            <a:r>
              <a:rPr lang="en-US" dirty="0">
                <a:solidFill>
                  <a:srgbClr val="0070C0"/>
                </a:solidFill>
                <a:sym typeface="Symbol"/>
              </a:rPr>
              <a:t>For example, </a:t>
            </a:r>
            <a:r>
              <a:rPr lang="en-US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P(x) </a:t>
            </a:r>
            <a:r>
              <a:rPr lang="en-US" i="1" dirty="0">
                <a:solidFill>
                  <a:srgbClr val="0070C0"/>
                </a:solidFill>
                <a:latin typeface="Cambria Math"/>
                <a:ea typeface="Cambria Math"/>
                <a:sym typeface="Symbol"/>
              </a:rPr>
              <a:t>∨</a:t>
            </a:r>
            <a:r>
              <a:rPr lang="en-US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 Q(x)  </a:t>
            </a:r>
            <a:r>
              <a:rPr lang="en-US" dirty="0">
                <a:solidFill>
                  <a:srgbClr val="0070C0"/>
                </a:solidFill>
                <a:sym typeface="Symbol"/>
              </a:rPr>
              <a:t>means</a:t>
            </a:r>
            <a:r>
              <a:rPr lang="en-US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 (x P(x))</a:t>
            </a:r>
            <a:r>
              <a:rPr lang="en-US" i="1" dirty="0">
                <a:solidFill>
                  <a:srgbClr val="0070C0"/>
                </a:solidFill>
                <a:latin typeface="Cambria Math"/>
                <a:ea typeface="Cambria Math"/>
                <a:sym typeface="Symbol"/>
              </a:rPr>
              <a:t>∨</a:t>
            </a:r>
            <a:r>
              <a:rPr lang="en-US" i="1" dirty="0">
                <a:solidFill>
                  <a:srgbClr val="0070C0"/>
                </a:solidFill>
                <a:latin typeface="Cambria Math" pitchFamily="18" charset="0"/>
                <a:ea typeface="Cambria Math" pitchFamily="18" charset="0"/>
                <a:sym typeface="Symbol"/>
              </a:rPr>
              <a:t> Q(x)</a:t>
            </a:r>
            <a:r>
              <a:rPr lang="en-US" dirty="0">
                <a:solidFill>
                  <a:srgbClr val="0070C0"/>
                </a:solidFill>
                <a:sym typeface="Symbol"/>
              </a:rPr>
              <a:t>  </a:t>
            </a:r>
          </a:p>
          <a:p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r>
              <a:rPr lang="en-US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(P(x) </a:t>
            </a:r>
            <a:r>
              <a:rPr lang="en-US" i="1" dirty="0">
                <a:solidFill>
                  <a:srgbClr val="002060"/>
                </a:solidFill>
                <a:latin typeface="Cambria Math"/>
                <a:ea typeface="Cambria Math"/>
                <a:sym typeface="Symbol"/>
              </a:rPr>
              <a:t>∨</a:t>
            </a:r>
            <a:r>
              <a:rPr lang="en-US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 Q(x)) 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means something different.</a:t>
            </a:r>
          </a:p>
          <a:p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Unfortunately, often people write </a:t>
            </a:r>
            <a:r>
              <a:rPr lang="en-US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P(x) </a:t>
            </a:r>
            <a:r>
              <a:rPr lang="en-US" i="1" dirty="0">
                <a:solidFill>
                  <a:srgbClr val="002060"/>
                </a:solidFill>
                <a:latin typeface="Cambria Math"/>
                <a:ea typeface="Cambria Math"/>
                <a:sym typeface="Symbol"/>
              </a:rPr>
              <a:t>∨</a:t>
            </a:r>
            <a:r>
              <a:rPr lang="en-US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 Q(x)  </a:t>
            </a:r>
            <a:r>
              <a:rPr lang="en-US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when they mean </a:t>
            </a:r>
            <a:r>
              <a:rPr lang="en-US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 x (P(x) </a:t>
            </a:r>
            <a:r>
              <a:rPr lang="en-US" i="1" dirty="0">
                <a:solidFill>
                  <a:srgbClr val="002060"/>
                </a:solidFill>
                <a:latin typeface="Cambria Math"/>
                <a:ea typeface="Cambria Math"/>
                <a:sym typeface="Symbol"/>
              </a:rPr>
              <a:t>∨</a:t>
            </a:r>
            <a:r>
              <a:rPr lang="en-US" i="1" dirty="0">
                <a:solidFill>
                  <a:srgbClr val="002060"/>
                </a:solidFill>
                <a:latin typeface="Cambria Math" pitchFamily="18" charset="0"/>
                <a:ea typeface="Cambria Math" pitchFamily="18" charset="0"/>
                <a:sym typeface="Symbol"/>
              </a:rPr>
              <a:t> Q(x)). 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855" y="-381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Translating from English to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55" y="1234440"/>
            <a:ext cx="8229600" cy="56235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Example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 Translate the following sentence into predicate logic: </a:t>
            </a:r>
            <a:r>
              <a:rPr lang="en-US" b="1" dirty="0">
                <a:solidFill>
                  <a:srgbClr val="990033"/>
                </a:solidFill>
              </a:rPr>
              <a:t>“Every student in this class has taken a course in Java.”</a:t>
            </a:r>
          </a:p>
          <a:p>
            <a:pPr>
              <a:buNone/>
            </a:pPr>
            <a:r>
              <a:rPr lang="en-US" b="1" dirty="0"/>
              <a:t>Solution</a:t>
            </a:r>
            <a:r>
              <a:rPr lang="en-US" dirty="0"/>
              <a:t>:  First decide on the domain </a:t>
            </a:r>
            <a:r>
              <a:rPr lang="en-US" i="1" dirty="0"/>
              <a:t>U</a:t>
            </a:r>
            <a:r>
              <a:rPr lang="en-US" dirty="0"/>
              <a:t>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r>
              <a:rPr lang="en-US" b="1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x (S(x) </a:t>
            </a:r>
            <a:r>
              <a:rPr lang="en-US" b="1" dirty="0">
                <a:solidFill>
                  <a:srgbClr val="C00000"/>
                </a:solidFill>
                <a:latin typeface="Cambria Math"/>
                <a:ea typeface="Cambria Math"/>
                <a:sym typeface="Symbol"/>
              </a:rPr>
              <a:t>∧</a:t>
            </a:r>
            <a:r>
              <a:rPr lang="en-US" b="1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J(x))</a:t>
            </a:r>
            <a:r>
              <a:rPr lang="en-US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is not correct.  What does it mean?</a:t>
            </a:r>
          </a:p>
          <a:p>
            <a:pPr lvl="1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208ABC-4732-B971-9042-16CCEA7AF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384" y="2830001"/>
            <a:ext cx="7772400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Option 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Domain = students in this class only.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Let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J(x)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= "x has taken Java."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We just say: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∀x J(x)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quote-cjk-patch"/>
              </a:rPr>
              <a:t>Meaning: 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quote-cjk-patch"/>
              </a:rPr>
              <a:t>Every person in this domain has taken Java.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91EBBA-9038-3A78-5241-67A75675C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04" y="4282980"/>
            <a:ext cx="8112093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Option B: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Domain = all people.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Let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= "x is a student in this class"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J(x)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= "x has taken Java."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Right way: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∀x (S(x) → J(x))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quote-cjk-patch"/>
              </a:rPr>
              <a:t>Meaning: 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quote-cjk-patch"/>
              </a:rPr>
              <a:t>For all people, if they are in this class, then they have taken Java.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855" y="-381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Translating from English to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55" y="1234440"/>
            <a:ext cx="8229600" cy="562356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Example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:  Translate the following sentence into predicate logic: </a:t>
            </a:r>
            <a:r>
              <a:rPr lang="en-US" b="1" dirty="0">
                <a:solidFill>
                  <a:srgbClr val="990033"/>
                </a:solidFill>
              </a:rPr>
              <a:t>“Some student in this class has taken a course in Java.”</a:t>
            </a:r>
          </a:p>
          <a:p>
            <a:pPr>
              <a:buNone/>
            </a:pPr>
            <a:r>
              <a:rPr lang="en-US" b="1" dirty="0"/>
              <a:t>Solution</a:t>
            </a:r>
            <a:r>
              <a:rPr lang="en-US" dirty="0"/>
              <a:t>:  First decide on the domain </a:t>
            </a:r>
            <a:r>
              <a:rPr lang="en-US" i="1" dirty="0"/>
              <a:t>U</a:t>
            </a:r>
            <a:r>
              <a:rPr lang="en-US" dirty="0"/>
              <a:t>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i="1" dirty="0">
              <a:latin typeface="Cambria Math" pitchFamily="18" charset="0"/>
              <a:ea typeface="Cambria Math" pitchFamily="18" charset="0"/>
              <a:sym typeface="Symbol"/>
            </a:endParaRPr>
          </a:p>
          <a:p>
            <a:pPr lvl="1">
              <a:buNone/>
            </a:pPr>
            <a:endParaRPr lang="en-US" b="1" i="0" dirty="0">
              <a:solidFill>
                <a:srgbClr val="C00000"/>
              </a:solidFill>
              <a:effectLst/>
              <a:latin typeface="quote-cjk-patch"/>
            </a:endParaRPr>
          </a:p>
          <a:p>
            <a:pPr lvl="1">
              <a:buNone/>
            </a:pPr>
            <a:r>
              <a:rPr lang="en-US" b="1" i="0" dirty="0">
                <a:solidFill>
                  <a:srgbClr val="C00000"/>
                </a:solidFill>
                <a:effectLst/>
                <a:latin typeface="quote-cjk-patch"/>
              </a:rPr>
              <a:t>∃x</a:t>
            </a:r>
            <a:r>
              <a:rPr lang="en-US" b="1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S(x) </a:t>
            </a:r>
            <a:r>
              <a:rPr lang="en-US" b="1" dirty="0">
                <a:solidFill>
                  <a:srgbClr val="C00000"/>
                </a:solidFill>
                <a:latin typeface="Cambria Math"/>
                <a:ea typeface="Cambria Math"/>
                <a:sym typeface="Symbol"/>
              </a:rPr>
              <a:t>∧</a:t>
            </a:r>
            <a:r>
              <a:rPr lang="en-US" b="1" i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J(x))</a:t>
            </a:r>
            <a:r>
              <a:rPr lang="en-US" b="1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/>
              </a:rPr>
              <a:t>  is not correct.  What does it mean?</a:t>
            </a:r>
          </a:p>
          <a:p>
            <a:pPr lvl="1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7B8FDC-068E-7ACF-9D19-AFE9ED5F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529" y="2767280"/>
            <a:ext cx="8259377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Option 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Domain = students in this class only.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Let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J(x)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= "x has taken Java."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We just say: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∃x J(x)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quote-cjk-patch"/>
              </a:rPr>
              <a:t>Meaning: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quote-cjk-patch"/>
              </a:rPr>
              <a:t>There exists at least one student in the domain who has taken Java.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8E6D2-9697-D968-F3CC-7A2E203CC796}"/>
              </a:ext>
            </a:extLst>
          </p:cNvPr>
          <p:cNvSpPr txBox="1"/>
          <p:nvPr/>
        </p:nvSpPr>
        <p:spPr>
          <a:xfrm>
            <a:off x="607255" y="4120027"/>
            <a:ext cx="792480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Option B: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 Domain = all people.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Let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= "x is a student in this class"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J(x)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= "x has taken Java."</a:t>
            </a:r>
            <a:endParaRPr lang="en-U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Right way: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∃x (S(x) ∧ J(x))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000" b="0" i="0" dirty="0">
                <a:solidFill>
                  <a:srgbClr val="FF6600"/>
                </a:solidFill>
                <a:effectLst/>
                <a:latin typeface="quote-cjk-patch"/>
              </a:rPr>
              <a:t>Meaning: </a:t>
            </a:r>
            <a:r>
              <a:rPr lang="en-US" sz="2000" b="0" i="1" dirty="0">
                <a:solidFill>
                  <a:srgbClr val="FF6600"/>
                </a:solidFill>
                <a:effectLst/>
                <a:latin typeface="quote-cjk-patch"/>
              </a:rPr>
              <a:t>There exists a person who is in this class(student) </a:t>
            </a:r>
            <a:r>
              <a:rPr lang="en-US" sz="2000" b="1" i="1" dirty="0">
                <a:solidFill>
                  <a:srgbClr val="FF6600"/>
                </a:solidFill>
                <a:effectLst/>
                <a:latin typeface="quote-cjk-patch"/>
              </a:rPr>
              <a:t>and</a:t>
            </a:r>
            <a:r>
              <a:rPr lang="en-US" sz="2000" b="0" i="1" dirty="0">
                <a:solidFill>
                  <a:srgbClr val="FF6600"/>
                </a:solidFill>
                <a:effectLst/>
                <a:latin typeface="quote-cjk-patch"/>
              </a:rPr>
              <a:t> has taken Java.</a:t>
            </a:r>
            <a:endParaRPr lang="en-US" sz="2000" b="0" i="0" dirty="0">
              <a:solidFill>
                <a:srgbClr val="FF660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624546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Equivalences in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B050"/>
                </a:solidFill>
                <a:effectLst/>
                <a:latin typeface="quote-cjk-patch"/>
              </a:rPr>
              <a:t>Two logic statements are equivalent if they are </a:t>
            </a:r>
            <a:r>
              <a:rPr lang="en-US" b="1" i="0" dirty="0">
                <a:solidFill>
                  <a:srgbClr val="00B050"/>
                </a:solidFill>
                <a:effectLst/>
                <a:latin typeface="quote-cjk-patch"/>
              </a:rPr>
              <a:t>always true under the same conditions</a:t>
            </a:r>
            <a:r>
              <a:rPr lang="en-US" b="0" i="0" dirty="0">
                <a:solidFill>
                  <a:srgbClr val="00B050"/>
                </a:solidFill>
                <a:effectLst/>
                <a:latin typeface="quote-cjk-patch"/>
              </a:rPr>
              <a:t> (any predicates, any domain).</a:t>
            </a:r>
          </a:p>
          <a:p>
            <a:endParaRPr lang="en-US" dirty="0">
              <a:solidFill>
                <a:srgbClr val="0F1115"/>
              </a:solidFill>
              <a:latin typeface="quote-cjk-patch"/>
            </a:endParaRPr>
          </a:p>
          <a:p>
            <a:r>
              <a:rPr lang="en-US" dirty="0"/>
              <a:t>The notation </a:t>
            </a:r>
            <a:r>
              <a:rPr lang="en-US" b="1" i="1" dirty="0">
                <a:solidFill>
                  <a:srgbClr val="0070C0"/>
                </a:solidFill>
              </a:rPr>
              <a:t>S 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≡</a:t>
            </a:r>
            <a:r>
              <a:rPr lang="en-US" b="1" i="1" dirty="0">
                <a:solidFill>
                  <a:srgbClr val="0070C0"/>
                </a:solidFill>
                <a:latin typeface="Cambria Math"/>
                <a:ea typeface="Cambria Math"/>
              </a:rPr>
              <a:t>T</a:t>
            </a:r>
            <a:r>
              <a:rPr lang="en-US" b="1" dirty="0">
                <a:solidFill>
                  <a:srgbClr val="0070C0"/>
                </a:solidFill>
                <a:latin typeface="Cambria Math"/>
                <a:ea typeface="Cambria Math"/>
              </a:rPr>
              <a:t>  </a:t>
            </a:r>
            <a:r>
              <a:rPr lang="en-US" dirty="0">
                <a:latin typeface="Cambria Math"/>
                <a:ea typeface="Cambria Math"/>
              </a:rPr>
              <a:t>indicates that </a:t>
            </a:r>
            <a:r>
              <a:rPr lang="en-US" i="1" dirty="0">
                <a:latin typeface="Cambria Math"/>
                <a:ea typeface="Cambria Math"/>
              </a:rPr>
              <a:t>S</a:t>
            </a:r>
            <a:r>
              <a:rPr lang="en-US" dirty="0">
                <a:latin typeface="Cambria Math"/>
                <a:ea typeface="Cambria Math"/>
              </a:rPr>
              <a:t> and </a:t>
            </a:r>
            <a:r>
              <a:rPr lang="en-US" i="1" dirty="0">
                <a:latin typeface="Cambria Math"/>
                <a:ea typeface="Cambria Math"/>
              </a:rPr>
              <a:t>T</a:t>
            </a:r>
            <a:r>
              <a:rPr lang="en-US" dirty="0">
                <a:latin typeface="Cambria Math"/>
                <a:ea typeface="Cambria Math"/>
              </a:rPr>
              <a:t>  are logically equivalent. </a:t>
            </a:r>
          </a:p>
          <a:p>
            <a:r>
              <a:rPr lang="en-US" b="1" dirty="0">
                <a:latin typeface="Cambria Math"/>
                <a:ea typeface="Cambria Math"/>
              </a:rPr>
              <a:t>Example</a:t>
            </a:r>
            <a:r>
              <a:rPr lang="en-US" dirty="0">
                <a:latin typeface="Cambria Math"/>
                <a:ea typeface="Cambria Math"/>
              </a:rPr>
              <a:t>:  </a:t>
            </a:r>
            <a:r>
              <a:rPr lang="en-US" dirty="0">
                <a:latin typeface="Cambria Math"/>
                <a:ea typeface="Cambria Math"/>
                <a:sym typeface="Symbol"/>
              </a:rPr>
              <a:t></a:t>
            </a:r>
            <a:r>
              <a:rPr lang="en-US" i="1" dirty="0">
                <a:latin typeface="Cambria Math"/>
                <a:ea typeface="Cambria Math"/>
                <a:sym typeface="Symbol"/>
              </a:rPr>
              <a:t>x</a:t>
            </a:r>
            <a:r>
              <a:rPr lang="en-US" dirty="0">
                <a:latin typeface="Cambria Math"/>
                <a:ea typeface="Cambria Math"/>
                <a:sym typeface="Symbol"/>
              </a:rPr>
              <a:t> ¬¬</a:t>
            </a:r>
            <a:r>
              <a:rPr lang="en-US" i="1" dirty="0">
                <a:latin typeface="Cambria Math"/>
                <a:ea typeface="Cambria Math"/>
                <a:sym typeface="Symbol"/>
              </a:rPr>
              <a:t>S(x) </a:t>
            </a:r>
            <a:r>
              <a:rPr lang="en-US" dirty="0">
                <a:latin typeface="Cambria Math"/>
                <a:ea typeface="Cambria Math"/>
              </a:rPr>
              <a:t>≡</a:t>
            </a:r>
            <a:r>
              <a:rPr lang="en-US" dirty="0">
                <a:latin typeface="Cambria Math"/>
                <a:ea typeface="Cambria Math"/>
                <a:sym typeface="Symbol"/>
              </a:rPr>
              <a:t> </a:t>
            </a:r>
            <a:r>
              <a:rPr lang="en-US" i="1" dirty="0">
                <a:latin typeface="Cambria Math"/>
                <a:ea typeface="Cambria Math"/>
                <a:sym typeface="Symbol"/>
              </a:rPr>
              <a:t>x S(x)</a:t>
            </a:r>
            <a:endParaRPr lang="en-US" i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Thinking about Quantifiers as Conjunctions and Disjunctions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4" y="2057400"/>
            <a:ext cx="8229600" cy="4389120"/>
          </a:xfrm>
        </p:spPr>
        <p:txBody>
          <a:bodyPr>
            <a:normAutofit/>
          </a:bodyPr>
          <a:lstStyle/>
          <a:p>
            <a:r>
              <a:rPr lang="en-US" dirty="0">
                <a:sym typeface="Symbol"/>
              </a:rPr>
              <a:t>If the domain is finite, a </a:t>
            </a:r>
            <a:r>
              <a:rPr lang="en-US" dirty="0">
                <a:solidFill>
                  <a:srgbClr val="FF6600"/>
                </a:solidFill>
                <a:sym typeface="Symbol"/>
              </a:rPr>
              <a:t>universally quantified proposition is equivalent to a conjunction of propositions without quantifiers </a:t>
            </a:r>
            <a:r>
              <a:rPr lang="en-US" dirty="0">
                <a:sym typeface="Symbol"/>
              </a:rPr>
              <a:t>and an </a:t>
            </a:r>
            <a:r>
              <a:rPr lang="en-US" dirty="0">
                <a:solidFill>
                  <a:srgbClr val="00B050"/>
                </a:solidFill>
                <a:sym typeface="Symbol"/>
              </a:rPr>
              <a:t>existentially quantified proposition is equivalent to  a disjunction of propositions without quantifiers. </a:t>
            </a:r>
          </a:p>
          <a:p>
            <a:r>
              <a:rPr lang="en-US" b="1" dirty="0">
                <a:sym typeface="Symbol"/>
              </a:rPr>
              <a:t>Example:</a:t>
            </a:r>
          </a:p>
          <a:p>
            <a:pPr algn="l"/>
            <a:r>
              <a:rPr lang="en-US" b="1" i="0" dirty="0">
                <a:solidFill>
                  <a:srgbClr val="C00000"/>
                </a:solidFill>
                <a:effectLst/>
                <a:latin typeface="quote-cjk-patch"/>
              </a:rPr>
              <a:t>Domain = {1, 2, 3}</a:t>
            </a:r>
            <a:endParaRPr lang="en-US" b="0" i="0" dirty="0">
              <a:solidFill>
                <a:srgbClr val="C0000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70C0"/>
                </a:solidFill>
                <a:effectLst/>
                <a:latin typeface="quote-cjk-patch"/>
              </a:rPr>
              <a:t>∀x P(x)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 = P(1) ∧ P(2) ∧ P(3) </a:t>
            </a: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(All must be true)</a:t>
            </a:r>
            <a:endParaRPr lang="en-US" b="0" i="0" dirty="0">
              <a:solidFill>
                <a:srgbClr val="0070C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70C0"/>
                </a:solidFill>
                <a:effectLst/>
                <a:latin typeface="quote-cjk-patch"/>
              </a:rPr>
              <a:t>∃x P(x)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 = P(1) ∨ P(2) ∨ P(3) </a:t>
            </a: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(At least one true)</a:t>
            </a:r>
            <a:endParaRPr lang="en-US" b="0" i="0" dirty="0">
              <a:solidFill>
                <a:srgbClr val="0070C0"/>
              </a:solidFill>
              <a:effectLst/>
              <a:latin typeface="quote-cjk-patch"/>
            </a:endParaRPr>
          </a:p>
          <a:p>
            <a:pPr>
              <a:buNone/>
            </a:pPr>
            <a:endParaRPr lang="en-US" dirty="0">
              <a:sym typeface="Symbol"/>
            </a:endParaRPr>
          </a:p>
          <a:p>
            <a:pPr>
              <a:buNone/>
            </a:pPr>
            <a:endParaRPr lang="en-US" dirty="0">
              <a:sym typeface="Symbol"/>
            </a:endParaRPr>
          </a:p>
          <a:p>
            <a:pPr>
              <a:buNone/>
            </a:pPr>
            <a:endParaRPr lang="en-US" dirty="0">
              <a:sym typeface="Symbol"/>
            </a:endParaRPr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Negating Quantified 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077FD-2013-E244-3161-87B93A557BEA}"/>
              </a:ext>
            </a:extLst>
          </p:cNvPr>
          <p:cNvSpPr txBox="1"/>
          <p:nvPr/>
        </p:nvSpPr>
        <p:spPr>
          <a:xfrm>
            <a:off x="228600" y="1371600"/>
            <a:ext cx="8915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Negating "All"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quote-cjk-patch"/>
              </a:rPr>
              <a:t>Original: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"Every student has taken Java" = 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∀x J(x)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B050"/>
                </a:solidFill>
                <a:effectLst/>
                <a:latin typeface="quote-cjk-patch"/>
              </a:rPr>
              <a:t>Negation: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"Not every student..." = 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¬∀x J(x)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1" i="0" dirty="0">
                <a:solidFill>
                  <a:srgbClr val="C00000"/>
                </a:solidFill>
                <a:effectLst/>
                <a:latin typeface="quote-cjk-patch"/>
              </a:rPr>
              <a:t>Meaning: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"There exists a student who has NOT taken Java" = 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∃x ¬J(x)</a:t>
            </a:r>
          </a:p>
          <a:p>
            <a:pPr algn="l"/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sz="2400" b="0" i="0" dirty="0">
                <a:solidFill>
                  <a:srgbClr val="CC0099"/>
                </a:solidFill>
                <a:effectLst/>
                <a:latin typeface="quote-cjk-patch"/>
              </a:rPr>
              <a:t>So:  </a:t>
            </a:r>
            <a:r>
              <a:rPr lang="en-US" sz="2400" b="1" i="0" dirty="0">
                <a:solidFill>
                  <a:srgbClr val="CC0099"/>
                </a:solidFill>
                <a:effectLst/>
                <a:latin typeface="quote-cjk-patch"/>
              </a:rPr>
              <a:t>¬∀x J(x) ≡ ∃x ¬J(x)</a:t>
            </a:r>
            <a:endParaRPr lang="en-US" sz="2400" b="0" i="0" dirty="0">
              <a:solidFill>
                <a:srgbClr val="CC0099"/>
              </a:solidFill>
              <a:effectLst/>
              <a:latin typeface="quote-cjk-patch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E9318-1C28-946A-82AB-F5A4FC6F5FAD}"/>
              </a:ext>
            </a:extLst>
          </p:cNvPr>
          <p:cNvSpPr txBox="1"/>
          <p:nvPr/>
        </p:nvSpPr>
        <p:spPr>
          <a:xfrm>
            <a:off x="228600" y="4114800"/>
            <a:ext cx="800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Negating "Some"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quote-cjk-patch"/>
              </a:rPr>
              <a:t>Original: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"Some student has taken Java" = 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∃x J(x)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B050"/>
                </a:solidFill>
                <a:effectLst/>
                <a:latin typeface="quote-cjk-patch"/>
              </a:rPr>
              <a:t>Negation: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"No student has taken Java" = 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¬∃x J(x)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1" i="0" dirty="0">
                <a:solidFill>
                  <a:srgbClr val="C00000"/>
                </a:solidFill>
                <a:effectLst/>
                <a:latin typeface="quote-cjk-patch"/>
              </a:rPr>
              <a:t>Meaning: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"Every student has NOT taken Java" = 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∀x ¬J(x)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sz="2400" b="0" i="0" dirty="0">
                <a:solidFill>
                  <a:srgbClr val="CC0099"/>
                </a:solidFill>
                <a:effectLst/>
                <a:latin typeface="quote-cjk-patch"/>
              </a:rPr>
              <a:t>So: </a:t>
            </a:r>
            <a:r>
              <a:rPr lang="en-US" sz="2400" b="1" i="0" dirty="0">
                <a:solidFill>
                  <a:srgbClr val="CC0099"/>
                </a:solidFill>
                <a:effectLst/>
                <a:latin typeface="quote-cjk-patch"/>
              </a:rPr>
              <a:t>¬∃x J(x) ≡ ∀x ¬J(x)</a:t>
            </a:r>
            <a:endParaRPr lang="en-US" sz="2400" b="0" i="0" dirty="0">
              <a:solidFill>
                <a:srgbClr val="CC0099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474" y="22669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 Morgan’s Laws for 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74" y="1380715"/>
            <a:ext cx="8229600" cy="5398008"/>
          </a:xfrm>
        </p:spPr>
        <p:txBody>
          <a:bodyPr>
            <a:normAutofit/>
          </a:bodyPr>
          <a:lstStyle/>
          <a:p>
            <a:r>
              <a:rPr lang="en-US" dirty="0"/>
              <a:t>The rules for negating quantifiers are: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reasoning in the table shows that: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are important. You will use these. </a:t>
            </a:r>
          </a:p>
        </p:txBody>
      </p:sp>
      <p:pic>
        <p:nvPicPr>
          <p:cNvPr id="4" name="Picture 3" descr="table2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86934" y="1833958"/>
            <a:ext cx="7555832" cy="1828800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362200" y="4419600"/>
            <a:ext cx="3431858" cy="382905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286000" y="5105400"/>
            <a:ext cx="3431858" cy="3829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45" y="3634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Translation from English to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90" y="1447800"/>
            <a:ext cx="8229600" cy="43891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990033"/>
                </a:solidFill>
              </a:rPr>
              <a:t>“Some student in this class has visited Mexico.”</a:t>
            </a:r>
          </a:p>
          <a:p>
            <a:pPr marL="850392" lvl="1" indent="-457200">
              <a:buNone/>
            </a:pPr>
            <a:r>
              <a:rPr lang="en-US" dirty="0">
                <a:solidFill>
                  <a:srgbClr val="0070C0"/>
                </a:solidFill>
              </a:rPr>
              <a:t>   </a:t>
            </a:r>
            <a:r>
              <a:rPr lang="en-US" b="1" dirty="0">
                <a:solidFill>
                  <a:srgbClr val="0070C0"/>
                </a:solidFill>
              </a:rPr>
              <a:t>Solution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/>
              <a:t>Let </a:t>
            </a:r>
            <a:r>
              <a:rPr lang="en-US" i="1" dirty="0"/>
              <a:t>M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denote “</a:t>
            </a:r>
            <a:r>
              <a:rPr lang="en-US" i="1" dirty="0"/>
              <a:t>x</a:t>
            </a:r>
            <a:r>
              <a:rPr lang="en-US" dirty="0"/>
              <a:t> has visited Mexico” and </a:t>
            </a:r>
            <a:r>
              <a:rPr lang="en-US" i="1" dirty="0"/>
              <a:t>S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denote “</a:t>
            </a:r>
            <a:r>
              <a:rPr lang="en-US" i="1" dirty="0"/>
              <a:t>x</a:t>
            </a:r>
            <a:r>
              <a:rPr lang="en-US" dirty="0"/>
              <a:t> is a student in this class,”  and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U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be all people.</a:t>
            </a:r>
            <a:endParaRPr lang="en-US" dirty="0"/>
          </a:p>
          <a:p>
            <a:pPr marL="850392" lvl="1" indent="-457200">
              <a:buNone/>
            </a:pPr>
            <a:r>
              <a:rPr lang="en-US" dirty="0"/>
              <a:t>                      </a:t>
            </a:r>
            <a:r>
              <a:rPr lang="en-US" b="1" dirty="0">
                <a:sym typeface="Symbol"/>
              </a:rPr>
              <a:t></a:t>
            </a:r>
            <a:r>
              <a:rPr lang="en-US" b="1" i="1" dirty="0">
                <a:latin typeface="Cambria Math" pitchFamily="18" charset="0"/>
                <a:ea typeface="Cambria Math" pitchFamily="18" charset="0"/>
                <a:sym typeface="Symbol"/>
              </a:rPr>
              <a:t>x  (S(x) </a:t>
            </a:r>
            <a:r>
              <a:rPr lang="en-US" b="1" dirty="0">
                <a:latin typeface="Cambria Math"/>
                <a:ea typeface="Cambria Math"/>
                <a:sym typeface="Symbol"/>
              </a:rPr>
              <a:t>∧ </a:t>
            </a:r>
            <a:r>
              <a:rPr lang="en-US" b="1" i="1" dirty="0">
                <a:latin typeface="Cambria Math" pitchFamily="18" charset="0"/>
                <a:ea typeface="Cambria Math" pitchFamily="18" charset="0"/>
                <a:sym typeface="Symbol"/>
              </a:rPr>
              <a:t>M(x))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990033"/>
                </a:solidFill>
              </a:rPr>
              <a:t>“Every student in this class has visited Canada or Mexico.”</a:t>
            </a:r>
          </a:p>
          <a:p>
            <a:pPr marL="850392" lvl="1" indent="-457200">
              <a:buNone/>
            </a:pPr>
            <a:r>
              <a:rPr lang="en-US" dirty="0"/>
              <a:t>  </a:t>
            </a:r>
            <a:r>
              <a:rPr lang="en-US" b="1" dirty="0">
                <a:solidFill>
                  <a:srgbClr val="0070C0"/>
                </a:solidFill>
              </a:rPr>
              <a:t>Solution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/>
              <a:t>Add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denoting “</a:t>
            </a:r>
            <a:r>
              <a:rPr lang="en-US" i="1" dirty="0"/>
              <a:t>x</a:t>
            </a:r>
            <a:r>
              <a:rPr lang="en-US" dirty="0"/>
              <a:t> has visited Canada.”</a:t>
            </a:r>
          </a:p>
          <a:p>
            <a:pPr marL="850392" lvl="1" indent="-457200">
              <a:buNone/>
            </a:pP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                   </a:t>
            </a:r>
            <a:r>
              <a:rPr lang="en-US" b="1" i="1" dirty="0">
                <a:latin typeface="Cambria Math" pitchFamily="18" charset="0"/>
                <a:ea typeface="Cambria Math" pitchFamily="18" charset="0"/>
                <a:sym typeface="Symbol"/>
              </a:rPr>
              <a:t>x (S(x)</a:t>
            </a:r>
            <a:r>
              <a:rPr lang="en-US" b="1" i="1" dirty="0">
                <a:latin typeface="Cambria Math"/>
                <a:ea typeface="Cambria Math"/>
                <a:sym typeface="Symbol"/>
              </a:rPr>
              <a:t>→ (M(x)∨C(x)))</a:t>
            </a:r>
            <a:endParaRPr lang="en-US" b="1" i="1" dirty="0">
              <a:latin typeface="Cambria Math" pitchFamily="18" charset="0"/>
              <a:ea typeface="Cambria Math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Translating from English into Logical Expressions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76B594-3739-920F-AA8A-6A1E17C9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Domain: U = {Alice, Bob, Charlie}</a:t>
            </a:r>
          </a:p>
          <a:p>
            <a:pPr algn="l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Let's use: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F(x):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"x is a student"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J(x):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"x knows Java“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Solve: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1: "Everything is a student"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2: "Nothing is a student"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3: "All students know Java"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4: "Some students know Java"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22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76B594-3739-920F-AA8A-6A1E17C9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34440"/>
            <a:ext cx="8229600" cy="438912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Domain: U = {Alice, Bob, Charlie}</a:t>
            </a:r>
          </a:p>
          <a:p>
            <a:pPr algn="l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Let's use: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F(x):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"x is a student"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J(x):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"x knows Java“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Solve: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1: "Everything is a student"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This means: </a:t>
            </a:r>
            <a:r>
              <a:rPr lang="en-US" b="1" i="0" dirty="0">
                <a:solidFill>
                  <a:srgbClr val="0070C0"/>
                </a:solidFill>
                <a:effectLst/>
                <a:latin typeface="quote-cjk-patch"/>
              </a:rPr>
              <a:t>Alice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 is a student </a:t>
            </a:r>
            <a:r>
              <a:rPr lang="en-US" b="1" i="0" dirty="0">
                <a:solidFill>
                  <a:srgbClr val="0070C0"/>
                </a:solidFill>
                <a:effectLst/>
                <a:latin typeface="quote-cjk-patch"/>
              </a:rPr>
              <a:t>AND Bob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 is a student </a:t>
            </a:r>
            <a:r>
              <a:rPr lang="en-US" b="1" i="0" dirty="0">
                <a:solidFill>
                  <a:srgbClr val="0070C0"/>
                </a:solidFill>
                <a:effectLst/>
                <a:latin typeface="quote-cjk-patch"/>
              </a:rPr>
              <a:t>AND Charlie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 is a student.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b="1" i="0" dirty="0">
                <a:solidFill>
                  <a:srgbClr val="002060"/>
                </a:solidFill>
                <a:effectLst/>
                <a:latin typeface="quote-cjk-patch"/>
              </a:rPr>
              <a:t>Translation:</a:t>
            </a:r>
            <a:r>
              <a:rPr lang="en-US" b="0" i="0" dirty="0">
                <a:solidFill>
                  <a:srgbClr val="002060"/>
                </a:solidFill>
                <a:effectLst/>
                <a:latin typeface="quote-cjk-patch"/>
              </a:rPr>
              <a:t> ∀x F(x)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Literally: "For every person x, x is a student."</a:t>
            </a:r>
            <a:endParaRPr lang="en-US" b="0" i="0" dirty="0">
              <a:solidFill>
                <a:srgbClr val="0070C0"/>
              </a:solidFill>
              <a:effectLst/>
              <a:latin typeface="quote-cjk-patch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17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76B594-3739-920F-AA8A-6A1E17C9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8220"/>
            <a:ext cx="8229600" cy="48615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2: "Nothing is a student“</a:t>
            </a:r>
          </a:p>
          <a:p>
            <a:pPr algn="l"/>
            <a:r>
              <a:rPr lang="en-US" b="0" i="0" dirty="0">
                <a:solidFill>
                  <a:srgbClr val="990033"/>
                </a:solidFill>
                <a:effectLst/>
                <a:latin typeface="quote-cjk-patch"/>
              </a:rPr>
              <a:t>This means: </a:t>
            </a:r>
            <a:r>
              <a:rPr lang="en-US" b="1" i="0" dirty="0">
                <a:solidFill>
                  <a:srgbClr val="990033"/>
                </a:solidFill>
                <a:effectLst/>
                <a:latin typeface="quote-cjk-patch"/>
              </a:rPr>
              <a:t>No one</a:t>
            </a:r>
            <a:r>
              <a:rPr lang="en-US" b="0" i="0" dirty="0">
                <a:solidFill>
                  <a:srgbClr val="990033"/>
                </a:solidFill>
                <a:effectLst/>
                <a:latin typeface="quote-cjk-patch"/>
              </a:rPr>
              <a:t> is a student.</a:t>
            </a:r>
          </a:p>
          <a:p>
            <a:r>
              <a:rPr lang="en-US" b="1" i="0" dirty="0">
                <a:solidFill>
                  <a:srgbClr val="990033"/>
                </a:solidFill>
                <a:effectLst/>
                <a:latin typeface="quote-cjk-patch"/>
              </a:rPr>
              <a:t>Wrong translation:</a:t>
            </a:r>
            <a:r>
              <a:rPr lang="en-US" b="0" i="0" dirty="0">
                <a:solidFill>
                  <a:srgbClr val="990033"/>
                </a:solidFill>
                <a:effectLst/>
                <a:latin typeface="quote-cjk-patch"/>
              </a:rPr>
              <a:t> ¬∀x F(x)</a:t>
            </a:r>
            <a:br>
              <a:rPr lang="en-US" b="0" i="0" dirty="0">
                <a:solidFill>
                  <a:srgbClr val="990033"/>
                </a:solidFill>
                <a:effectLst/>
                <a:latin typeface="quote-cjk-patch"/>
              </a:rPr>
            </a:br>
            <a:r>
              <a:rPr lang="en-US" b="0" i="1" dirty="0">
                <a:solidFill>
                  <a:srgbClr val="990033"/>
                </a:solidFill>
                <a:effectLst/>
                <a:latin typeface="quote-cjk-patch"/>
              </a:rPr>
              <a:t>(This means "Not everything is a student" → "At least one is not a student")</a:t>
            </a:r>
            <a:endParaRPr lang="en-US" b="0" i="0" dirty="0">
              <a:solidFill>
                <a:srgbClr val="990033"/>
              </a:solidFill>
              <a:effectLst/>
              <a:latin typeface="quote-cjk-patch"/>
            </a:endParaRPr>
          </a:p>
          <a:p>
            <a:pPr algn="l"/>
            <a:r>
              <a:rPr lang="en-US" b="1" i="0" dirty="0">
                <a:solidFill>
                  <a:srgbClr val="002060"/>
                </a:solidFill>
                <a:effectLst/>
                <a:latin typeface="quote-cjk-patch"/>
              </a:rPr>
              <a:t>Correct translation:</a:t>
            </a:r>
            <a:r>
              <a:rPr lang="en-US" b="0" i="0" dirty="0">
                <a:solidFill>
                  <a:srgbClr val="002060"/>
                </a:solidFill>
                <a:effectLst/>
                <a:latin typeface="quote-cjk-patch"/>
              </a:rPr>
              <a:t> ¬∃x F(x)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/>
            </a:r>
            <a:b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</a:b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"There does NOT exist a person who is a student."</a:t>
            </a:r>
            <a:endParaRPr lang="en-US" b="0" i="0" dirty="0">
              <a:solidFill>
                <a:srgbClr val="0070C0"/>
              </a:solidFill>
              <a:effectLst/>
              <a:latin typeface="quote-cjk-patch"/>
            </a:endParaRPr>
          </a:p>
          <a:p>
            <a:pPr algn="l"/>
            <a:r>
              <a:rPr lang="en-US" b="1" i="0" dirty="0">
                <a:solidFill>
                  <a:srgbClr val="002060"/>
                </a:solidFill>
                <a:effectLst/>
                <a:latin typeface="quote-cjk-patch"/>
              </a:rPr>
              <a:t>Also correct:</a:t>
            </a:r>
            <a:r>
              <a:rPr lang="en-US" b="0" i="0" dirty="0">
                <a:solidFill>
                  <a:srgbClr val="002060"/>
                </a:solidFill>
                <a:effectLst/>
                <a:latin typeface="quote-cjk-patch"/>
              </a:rPr>
              <a:t> ∀x ¬F(x)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/>
            </a:r>
            <a:b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</a:b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"Every person is NOT a student."</a:t>
            </a:r>
            <a:endParaRPr lang="en-US" b="0" i="0" dirty="0">
              <a:solidFill>
                <a:srgbClr val="0070C0"/>
              </a:solidFill>
              <a:effectLst/>
              <a:latin typeface="quote-cjk-patch"/>
            </a:endParaRPr>
          </a:p>
          <a:p>
            <a:pPr algn="l"/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>These two are equivalent: ¬∃x F(x) ≡ ∀x ¬F(x)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975559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76B594-3739-920F-AA8A-6A1E17C9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09778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3: "All students know Java“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quote-cjk-patch"/>
              </a:rPr>
              <a:t>Translation:</a:t>
            </a:r>
            <a:r>
              <a:rPr lang="en-US" b="0" i="0" dirty="0">
                <a:solidFill>
                  <a:srgbClr val="002060"/>
                </a:solidFill>
                <a:effectLst/>
                <a:latin typeface="quote-cjk-patch"/>
              </a:rPr>
              <a:t> ∀x (F(x) → J(x))</a:t>
            </a:r>
            <a:r>
              <a:rPr lang="en-US" dirty="0">
                <a:solidFill>
                  <a:srgbClr val="0070C0"/>
                </a:solidFill>
              </a:rPr>
              <a:t/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Literally: "For every person x, IF x is a student, THEN x knows Java.“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>
              <a:solidFill>
                <a:srgbClr val="0070C0"/>
              </a:solidFill>
              <a:latin typeface="quote-cjk-patch"/>
            </a:endParaRPr>
          </a:p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4: "Some students know Java"</a:t>
            </a:r>
          </a:p>
          <a:p>
            <a:pPr algn="l"/>
            <a:r>
              <a:rPr lang="en-US" b="1" i="0" dirty="0">
                <a:solidFill>
                  <a:srgbClr val="002060"/>
                </a:solidFill>
                <a:effectLst/>
                <a:latin typeface="quote-cjk-patch"/>
              </a:rPr>
              <a:t>Translation:</a:t>
            </a:r>
            <a:r>
              <a:rPr lang="en-US" b="0" i="0" dirty="0">
                <a:solidFill>
                  <a:srgbClr val="002060"/>
                </a:solidFill>
                <a:effectLst/>
                <a:latin typeface="quote-cjk-patch"/>
              </a:rPr>
              <a:t> ∃x (F(x) ∧ J(x))</a:t>
            </a:r>
            <a: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  <a:t/>
            </a:r>
            <a:br>
              <a:rPr lang="en-US" b="0" i="0" dirty="0">
                <a:solidFill>
                  <a:srgbClr val="0070C0"/>
                </a:solidFill>
                <a:effectLst/>
                <a:latin typeface="quote-cjk-patch"/>
              </a:rPr>
            </a:br>
            <a:r>
              <a:rPr lang="en-US" b="0" i="1" dirty="0">
                <a:solidFill>
                  <a:srgbClr val="0070C0"/>
                </a:solidFill>
                <a:effectLst/>
                <a:latin typeface="quote-cjk-patch"/>
              </a:rPr>
              <a:t>Literally: "There exists a person x such that x is a student AND x knows Java.“</a:t>
            </a:r>
          </a:p>
          <a:p>
            <a:pPr algn="l"/>
            <a:endParaRPr lang="en-US" i="1" dirty="0">
              <a:solidFill>
                <a:srgbClr val="0070C0"/>
              </a:solidFill>
              <a:latin typeface="quote-cjk-patch"/>
            </a:endParaRPr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C00000"/>
                </a:solidFill>
                <a:effectLst/>
                <a:latin typeface="quote-cjk-patch"/>
              </a:rPr>
              <a:t>NOTE:</a:t>
            </a:r>
            <a:br>
              <a:rPr lang="en-US" sz="3000" b="1" i="1" dirty="0">
                <a:solidFill>
                  <a:srgbClr val="C00000"/>
                </a:solidFill>
                <a:effectLst/>
                <a:latin typeface="quote-cjk-patch"/>
              </a:rPr>
            </a:br>
            <a:r>
              <a:rPr lang="en-US" sz="3000" b="1" i="1" dirty="0">
                <a:solidFill>
                  <a:srgbClr val="002060"/>
                </a:solidFill>
                <a:effectLst/>
                <a:latin typeface="quote-cjk-patch"/>
              </a:rPr>
              <a:t>→ with ∀ </a:t>
            </a:r>
            <a:r>
              <a:rPr lang="en-US" sz="3000" i="1" dirty="0">
                <a:solidFill>
                  <a:srgbClr val="002060"/>
                </a:solidFill>
                <a:effectLst/>
                <a:latin typeface="quote-cjk-patch"/>
              </a:rPr>
              <a:t>for "all F are..."</a:t>
            </a:r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002060"/>
                </a:solidFill>
                <a:effectLst/>
                <a:latin typeface="quote-cjk-patch"/>
              </a:rPr>
              <a:t>∧ with ∃ </a:t>
            </a:r>
            <a:r>
              <a:rPr lang="en-US" sz="3000" i="1" dirty="0">
                <a:solidFill>
                  <a:srgbClr val="002060"/>
                </a:solidFill>
                <a:effectLst/>
                <a:latin typeface="quote-cjk-patch"/>
              </a:rPr>
              <a:t>for "some F are..."</a:t>
            </a:r>
            <a:endParaRPr lang="en-US" sz="3000" i="0" dirty="0">
              <a:solidFill>
                <a:srgbClr val="002060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0C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42479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8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neg \forall x P(x) \equiv \exists x \neg P(x)$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neg \exists x P(x) \equiv \forall  x \neg P(x)$&#10;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41701</TotalTime>
  <Words>1670</Words>
  <Application>Microsoft Office PowerPoint</Application>
  <PresentationFormat>On-screen Show (4:3)</PresentationFormat>
  <Paragraphs>330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Cambria Math</vt:lpstr>
      <vt:lpstr>quote-cjk-patch</vt:lpstr>
      <vt:lpstr>Menlo</vt:lpstr>
      <vt:lpstr>KaTeX_Main</vt:lpstr>
      <vt:lpstr>Constantia</vt:lpstr>
      <vt:lpstr>Arial Unicode MS</vt:lpstr>
      <vt:lpstr>Symbol</vt:lpstr>
      <vt:lpstr>Calibri</vt:lpstr>
      <vt:lpstr>Wingdings 2</vt:lpstr>
      <vt:lpstr>Wingdings</vt:lpstr>
      <vt:lpstr>Arial</vt:lpstr>
      <vt:lpstr>Flow</vt:lpstr>
      <vt:lpstr>The Foundations: Logic and Proofs</vt:lpstr>
      <vt:lpstr>Predicates and Quantifiers</vt:lpstr>
      <vt:lpstr>PowerPoint Presentation</vt:lpstr>
      <vt:lpstr>PowerPoint Presentation</vt:lpstr>
      <vt:lpstr>PowerPoint Presentation</vt:lpstr>
      <vt:lpstr>PowerPoint Presentation</vt:lpstr>
      <vt:lpstr>Propositional Functions</vt:lpstr>
      <vt:lpstr>Examples of Propositional Functions</vt:lpstr>
      <vt:lpstr>What is a Truth Set?</vt:lpstr>
      <vt:lpstr>PowerPoint Presentation</vt:lpstr>
      <vt:lpstr>Compound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of Quantifiers</vt:lpstr>
      <vt:lpstr>Precedence of Quantifiers</vt:lpstr>
      <vt:lpstr>Translating from English to Logic</vt:lpstr>
      <vt:lpstr>Translating from English to Logic</vt:lpstr>
      <vt:lpstr>Equivalences in Predicate Logic</vt:lpstr>
      <vt:lpstr>Thinking about Quantifiers as Conjunctions and Disjunctions</vt:lpstr>
      <vt:lpstr>Negating Quantified Expressions</vt:lpstr>
      <vt:lpstr>De Morgan’s Laws for Quantifiers</vt:lpstr>
      <vt:lpstr>Translation from English to Logic</vt:lpstr>
      <vt:lpstr>Translating from English into Logical Expressions</vt:lpstr>
      <vt:lpstr>PowerPoint Presentation</vt:lpstr>
      <vt:lpstr>PowerPoint Presentation</vt:lpstr>
      <vt:lpstr>PowerPoint Presentation</vt:lpstr>
    </vt:vector>
  </TitlesOfParts>
  <Company>Monmouth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Richard Scherl</dc:creator>
  <cp:lastModifiedBy>Dureshahwar Waseem</cp:lastModifiedBy>
  <cp:revision>2027</cp:revision>
  <dcterms:created xsi:type="dcterms:W3CDTF">2011-03-27T19:09:13Z</dcterms:created>
  <dcterms:modified xsi:type="dcterms:W3CDTF">2026-01-22T06:18:56Z</dcterms:modified>
</cp:coreProperties>
</file>