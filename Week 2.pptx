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828" r:id="rId1"/>
  </p:sldMasterIdLst>
  <p:sldIdLst>
    <p:sldId id="256" r:id="rId2"/>
    <p:sldId id="282" r:id="rId3"/>
    <p:sldId id="315" r:id="rId4"/>
    <p:sldId id="258" r:id="rId5"/>
    <p:sldId id="284" r:id="rId6"/>
    <p:sldId id="285" r:id="rId7"/>
    <p:sldId id="286" r:id="rId8"/>
    <p:sldId id="259" r:id="rId9"/>
    <p:sldId id="263" r:id="rId10"/>
    <p:sldId id="266" r:id="rId11"/>
    <p:sldId id="270" r:id="rId12"/>
    <p:sldId id="271" r:id="rId13"/>
    <p:sldId id="288" r:id="rId14"/>
    <p:sldId id="287" r:id="rId15"/>
    <p:sldId id="289" r:id="rId16"/>
    <p:sldId id="277" r:id="rId17"/>
    <p:sldId id="275" r:id="rId18"/>
    <p:sldId id="276" r:id="rId19"/>
    <p:sldId id="317" r:id="rId20"/>
    <p:sldId id="278" r:id="rId21"/>
    <p:sldId id="293" r:id="rId22"/>
    <p:sldId id="294" r:id="rId23"/>
    <p:sldId id="292" r:id="rId24"/>
    <p:sldId id="281" r:id="rId25"/>
    <p:sldId id="295" r:id="rId26"/>
    <p:sldId id="296" r:id="rId27"/>
    <p:sldId id="297" r:id="rId28"/>
    <p:sldId id="298" r:id="rId29"/>
    <p:sldId id="300" r:id="rId30"/>
    <p:sldId id="302" r:id="rId31"/>
    <p:sldId id="305" r:id="rId32"/>
  </p:sldIdLst>
  <p:sldSz cx="9144000" cy="6858000" type="screen4x3"/>
  <p:notesSz cx="6858000" cy="9144000"/>
  <p:embeddedFontLst>
    <p:embeddedFont>
      <p:font typeface="Cambria Math" panose="02040503050406030204" pitchFamily="18" charset="0"/>
      <p:regular r:id="rId33"/>
    </p:embeddedFont>
    <p:embeddedFont>
      <p:font typeface="Wingdings 2" panose="05020102010507070707" pitchFamily="18" charset="2"/>
      <p:regular r:id="rId34"/>
    </p:embeddedFont>
    <p:embeddedFont>
      <p:font typeface="Calibri" panose="020F0502020204030204" pitchFamily="34" charset="0"/>
      <p:regular r:id="rId35"/>
      <p:bold r:id="rId36"/>
      <p:italic r:id="rId37"/>
      <p:boldItalic r:id="rId38"/>
    </p:embeddedFont>
    <p:embeddedFont>
      <p:font typeface="Constantia" panose="02030602050306030303" pitchFamily="18" charset="0"/>
      <p:regular r:id="rId39"/>
      <p:bold r:id="rId40"/>
      <p:italic r:id="rId41"/>
      <p:boldItalic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87" autoAdjust="0"/>
    <p:restoredTop sz="94660"/>
  </p:normalViewPr>
  <p:slideViewPr>
    <p:cSldViewPr>
      <p:cViewPr varScale="1">
        <p:scale>
          <a:sx n="63" d="100"/>
          <a:sy n="63" d="100"/>
        </p:scale>
        <p:origin x="1376" y="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D15220D-0BB5-4C71-B862-812B075D02FE}" type="datetimeFigureOut">
              <a:rPr lang="en-US" smtClean="0"/>
              <a:pPr/>
              <a:t>1/13/2026</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9CA217EF-0505-4C33-BB20-8A8DF2039023}"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D15220D-0BB5-4C71-B862-812B075D02FE}" type="datetimeFigureOut">
              <a:rPr lang="en-US" smtClean="0"/>
              <a:pPr/>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3D15220D-0BB5-4C71-B862-812B075D02FE}" type="datetimeFigureOut">
              <a:rPr lang="en-US" smtClean="0"/>
              <a:pPr/>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A217EF-0505-4C33-BB20-8A8DF2039023}"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3D15220D-0BB5-4C71-B862-812B075D02FE}" type="datetimeFigureOut">
              <a:rPr lang="en-US" smtClean="0"/>
              <a:pPr/>
              <a:t>1/13/2026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3D15220D-0BB5-4C71-B862-812B075D02FE}" type="datetimeFigureOut">
              <a:rPr lang="en-US" smtClean="0"/>
              <a:pPr/>
              <a:t>1/13/2026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3D15220D-0BB5-4C71-B862-812B075D02FE}" type="datetimeFigureOut">
              <a:rPr lang="en-US" smtClean="0"/>
              <a:pPr/>
              <a:t>1/13/2026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15220D-0BB5-4C71-B862-812B075D02FE}" type="datetimeFigureOut">
              <a:rPr lang="en-US" smtClean="0"/>
              <a:pPr/>
              <a:t>1/13/2026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3D15220D-0BB5-4C71-B862-812B075D02FE}" type="datetimeFigureOut">
              <a:rPr lang="en-US" smtClean="0"/>
              <a:pPr/>
              <a:t>1/13/2026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3D15220D-0BB5-4C71-B862-812B075D02FE}" type="datetimeFigureOut">
              <a:rPr lang="en-US" smtClean="0"/>
              <a:pPr/>
              <a:t>1/13/2026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9CA217EF-0505-4C33-BB20-8A8DF2039023}"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D15220D-0BB5-4C71-B862-812B075D02FE}" type="datetimeFigureOut">
              <a:rPr lang="en-US" smtClean="0"/>
              <a:pPr/>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D15220D-0BB5-4C71-B862-812B075D02FE}" type="datetimeFigureOut">
              <a:rPr lang="en-US" smtClean="0"/>
              <a:pPr/>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3D15220D-0BB5-4C71-B862-812B075D02FE}" type="datetimeFigureOut">
              <a:rPr lang="en-US" smtClean="0"/>
              <a:pPr/>
              <a:t>1/13/2026</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9CA217EF-0505-4C33-BB20-8A8DF2039023}"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The Foundations: Logic and Proofs</a:t>
            </a:r>
            <a:endParaRPr lang="en-US" dirty="0"/>
          </a:p>
        </p:txBody>
      </p:sp>
      <p:sp>
        <p:nvSpPr>
          <p:cNvPr id="3" name="Subtitle 2"/>
          <p:cNvSpPr>
            <a:spLocks noGrp="1"/>
          </p:cNvSpPr>
          <p:nvPr>
            <p:ph type="subTitle" idx="1"/>
          </p:nvPr>
        </p:nvSpPr>
        <p:spPr/>
        <p:txBody>
          <a:bodyPr/>
          <a:lstStyle/>
          <a:p>
            <a:r>
              <a:rPr lang="en-US" dirty="0" smtClean="0"/>
              <a:t>Chapter </a:t>
            </a:r>
            <a:r>
              <a:rPr lang="en-US" dirty="0">
                <a:latin typeface="Cambria Math" pitchFamily="18" charset="0"/>
                <a:ea typeface="Cambria Math" pitchFamily="18" charset="0"/>
              </a:rPr>
              <a:t>2</a:t>
            </a:r>
            <a:r>
              <a:rPr lang="en-US" dirty="0" smtClean="0"/>
              <a:t>, Part I: Propositional Logic</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Chapter Summary</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Propositional Logic</a:t>
            </a:r>
          </a:p>
          <a:p>
            <a:pPr lvl="1"/>
            <a:r>
              <a:rPr lang="en-US" dirty="0" smtClean="0"/>
              <a:t>The Language of Propositions</a:t>
            </a:r>
          </a:p>
          <a:p>
            <a:pPr lvl="1"/>
            <a:r>
              <a:rPr lang="en-US" dirty="0" smtClean="0"/>
              <a:t>Applications</a:t>
            </a:r>
          </a:p>
          <a:p>
            <a:pPr lvl="1"/>
            <a:r>
              <a:rPr lang="en-US" dirty="0" smtClean="0"/>
              <a:t>Logical Equivalences</a:t>
            </a:r>
          </a:p>
          <a:p>
            <a:r>
              <a:rPr lang="en-US" dirty="0" smtClean="0"/>
              <a:t>Predicate Logic</a:t>
            </a:r>
          </a:p>
          <a:p>
            <a:pPr lvl="1"/>
            <a:r>
              <a:rPr lang="en-US" dirty="0" smtClean="0"/>
              <a:t>The Language of Quantifiers</a:t>
            </a:r>
          </a:p>
          <a:p>
            <a:pPr lvl="1"/>
            <a:r>
              <a:rPr lang="en-US" dirty="0" smtClean="0"/>
              <a:t>Logical Equivalences</a:t>
            </a:r>
          </a:p>
          <a:p>
            <a:pPr lvl="1"/>
            <a:r>
              <a:rPr lang="en-US" dirty="0" smtClean="0"/>
              <a:t>Nested Quantifiers</a:t>
            </a:r>
          </a:p>
          <a:p>
            <a:r>
              <a:rPr lang="en-US" dirty="0" smtClean="0"/>
              <a:t>Proofs</a:t>
            </a:r>
          </a:p>
          <a:p>
            <a:pPr lvl="1"/>
            <a:r>
              <a:rPr lang="en-US" dirty="0" smtClean="0"/>
              <a:t>Rules of Inference</a:t>
            </a:r>
          </a:p>
          <a:p>
            <a:pPr lvl="1"/>
            <a:r>
              <a:rPr lang="en-US" dirty="0" smtClean="0"/>
              <a:t>Proof Methods</a:t>
            </a:r>
          </a:p>
          <a:p>
            <a:pPr lvl="1"/>
            <a:r>
              <a:rPr lang="en-US" dirty="0" smtClean="0"/>
              <a:t>Proof Strategy</a:t>
            </a:r>
          </a:p>
          <a:p>
            <a:endParaRPr lang="en-US" dirty="0" smtClean="0"/>
          </a:p>
          <a:p>
            <a:pPr lvl="1">
              <a:buNone/>
            </a:pPr>
            <a:endParaRPr lang="en-US" dirty="0" smtClean="0"/>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Propositional Logic Summary</a:t>
            </a:r>
            <a:endParaRPr lang="en-US" dirty="0"/>
          </a:p>
        </p:txBody>
      </p:sp>
      <p:sp>
        <p:nvSpPr>
          <p:cNvPr id="3" name="Content Placeholder 2"/>
          <p:cNvSpPr>
            <a:spLocks noGrp="1"/>
          </p:cNvSpPr>
          <p:nvPr>
            <p:ph idx="1"/>
          </p:nvPr>
        </p:nvSpPr>
        <p:spPr/>
        <p:txBody>
          <a:bodyPr>
            <a:normAutofit/>
          </a:bodyPr>
          <a:lstStyle/>
          <a:p>
            <a:r>
              <a:rPr lang="en-US" dirty="0" smtClean="0"/>
              <a:t>The Language of Propositions</a:t>
            </a:r>
          </a:p>
          <a:p>
            <a:pPr lvl="1"/>
            <a:r>
              <a:rPr lang="en-US" dirty="0" smtClean="0"/>
              <a:t>Connectives</a:t>
            </a:r>
          </a:p>
          <a:p>
            <a:pPr lvl="1"/>
            <a:r>
              <a:rPr lang="en-US" dirty="0" smtClean="0"/>
              <a:t>Truth Values</a:t>
            </a:r>
          </a:p>
          <a:p>
            <a:pPr lvl="1"/>
            <a:r>
              <a:rPr lang="en-US" dirty="0" smtClean="0"/>
              <a:t>Truth Tables</a:t>
            </a:r>
          </a:p>
          <a:p>
            <a:r>
              <a:rPr lang="en-US" dirty="0" smtClean="0"/>
              <a:t>Applications</a:t>
            </a:r>
          </a:p>
          <a:p>
            <a:pPr lvl="1"/>
            <a:r>
              <a:rPr lang="en-US" dirty="0" smtClean="0"/>
              <a:t>Translating English Sentences</a:t>
            </a:r>
          </a:p>
          <a:p>
            <a:pPr lvl="1"/>
            <a:r>
              <a:rPr lang="en-US" dirty="0" smtClean="0"/>
              <a:t>System Specifications</a:t>
            </a:r>
          </a:p>
          <a:p>
            <a:pPr lvl="1"/>
            <a:r>
              <a:rPr lang="en-US" dirty="0" smtClean="0"/>
              <a:t>Logic Circuits </a:t>
            </a:r>
          </a:p>
          <a:p>
            <a:endParaRPr lang="en-US" dirty="0" smtClean="0"/>
          </a:p>
          <a:p>
            <a:endParaRPr lang="en-US" dirty="0" smtClean="0"/>
          </a:p>
          <a:p>
            <a:pPr lvl="1">
              <a:buNone/>
            </a:pPr>
            <a:endParaRPr lang="en-US" dirty="0" smtClean="0"/>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Propositional Logic</a:t>
            </a:r>
            <a:endParaRPr lang="en-US" dirty="0"/>
          </a:p>
        </p:txBody>
      </p:sp>
      <p:sp>
        <p:nvSpPr>
          <p:cNvPr id="3" name="Subtitle 2"/>
          <p:cNvSpPr>
            <a:spLocks noGrp="1"/>
          </p:cNvSpPr>
          <p:nvPr>
            <p:ph type="subTitle" idx="1"/>
          </p:nvPr>
        </p:nvSpPr>
        <p:spPr/>
        <p:txBody>
          <a:bodyPr/>
          <a:lstStyle/>
          <a:p>
            <a:r>
              <a:rPr lang="en-US" dirty="0" smtClean="0"/>
              <a:t>Section 2.1</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Section Summary</a:t>
            </a:r>
            <a:endParaRPr lang="en-US" dirty="0"/>
          </a:p>
        </p:txBody>
      </p:sp>
      <p:sp>
        <p:nvSpPr>
          <p:cNvPr id="3" name="Content Placeholder 2"/>
          <p:cNvSpPr>
            <a:spLocks noGrp="1"/>
          </p:cNvSpPr>
          <p:nvPr>
            <p:ph idx="1"/>
          </p:nvPr>
        </p:nvSpPr>
        <p:spPr/>
        <p:txBody>
          <a:bodyPr>
            <a:normAutofit/>
          </a:bodyPr>
          <a:lstStyle/>
          <a:p>
            <a:r>
              <a:rPr lang="en-US" dirty="0" smtClean="0"/>
              <a:t>Propositions</a:t>
            </a:r>
          </a:p>
          <a:p>
            <a:r>
              <a:rPr lang="en-US" dirty="0" smtClean="0"/>
              <a:t>Connectives</a:t>
            </a:r>
          </a:p>
          <a:p>
            <a:pPr lvl="1"/>
            <a:r>
              <a:rPr lang="en-US" dirty="0" smtClean="0"/>
              <a:t>Negation</a:t>
            </a:r>
          </a:p>
          <a:p>
            <a:pPr lvl="1"/>
            <a:r>
              <a:rPr lang="en-US" dirty="0" smtClean="0"/>
              <a:t>Conjunction</a:t>
            </a:r>
          </a:p>
          <a:p>
            <a:pPr lvl="1"/>
            <a:r>
              <a:rPr lang="en-US" dirty="0" smtClean="0"/>
              <a:t>Disjunction</a:t>
            </a:r>
          </a:p>
          <a:p>
            <a:pPr lvl="1"/>
            <a:r>
              <a:rPr lang="en-US" dirty="0" smtClean="0"/>
              <a:t>Implication; </a:t>
            </a:r>
            <a:r>
              <a:rPr lang="en-US" dirty="0" err="1" smtClean="0"/>
              <a:t>contrapositive</a:t>
            </a:r>
            <a:r>
              <a:rPr lang="en-US" dirty="0" smtClean="0"/>
              <a:t>, inverse, converse</a:t>
            </a:r>
          </a:p>
          <a:p>
            <a:pPr lvl="1"/>
            <a:r>
              <a:rPr lang="en-US" dirty="0" err="1" smtClean="0"/>
              <a:t>Biconditional</a:t>
            </a:r>
            <a:endParaRPr lang="en-US" dirty="0" smtClean="0"/>
          </a:p>
          <a:p>
            <a:r>
              <a:rPr lang="en-US" dirty="0" smtClean="0"/>
              <a:t>Truth Tables</a:t>
            </a:r>
          </a:p>
          <a:p>
            <a:endParaRPr lang="en-US" dirty="0" smtClean="0"/>
          </a:p>
          <a:p>
            <a:pPr lvl="1">
              <a:buNone/>
            </a:pPr>
            <a:endParaRPr lang="en-US" dirty="0" smtClean="0"/>
          </a:p>
          <a:p>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Propositions</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A </a:t>
            </a:r>
            <a:r>
              <a:rPr lang="en-US" i="1" dirty="0" smtClean="0"/>
              <a:t>proposition</a:t>
            </a:r>
            <a:r>
              <a:rPr lang="en-US" dirty="0" smtClean="0"/>
              <a:t> is a declarative sentence that is either true or false.</a:t>
            </a:r>
          </a:p>
          <a:p>
            <a:r>
              <a:rPr lang="en-US" dirty="0" smtClean="0"/>
              <a:t>Examples of propositions:</a:t>
            </a:r>
          </a:p>
          <a:p>
            <a:pPr marL="880110" lvl="1" indent="-514350">
              <a:buFont typeface="+mj-lt"/>
              <a:buAutoNum type="alphaLcParenR"/>
            </a:pPr>
            <a:r>
              <a:rPr lang="en-US" dirty="0" smtClean="0"/>
              <a:t>The Moon is made of green cheese.</a:t>
            </a:r>
          </a:p>
          <a:p>
            <a:pPr marL="880110" lvl="1" indent="-514350">
              <a:buFont typeface="+mj-lt"/>
              <a:buAutoNum type="alphaLcParenR"/>
            </a:pPr>
            <a:r>
              <a:rPr lang="en-US" dirty="0" smtClean="0"/>
              <a:t>Trenton is the capital of New Jersey.</a:t>
            </a:r>
          </a:p>
          <a:p>
            <a:pPr marL="880110" lvl="1" indent="-514350">
              <a:buFont typeface="+mj-lt"/>
              <a:buAutoNum type="alphaLcParenR"/>
            </a:pPr>
            <a:r>
              <a:rPr lang="en-US" dirty="0" smtClean="0"/>
              <a:t>Toronto is the capital of Canada.</a:t>
            </a:r>
          </a:p>
          <a:p>
            <a:pPr marL="880110" lvl="1" indent="-514350">
              <a:buFont typeface="+mj-lt"/>
              <a:buAutoNum type="alphaLcParenR"/>
            </a:pPr>
            <a:r>
              <a:rPr lang="en-US" dirty="0" smtClean="0">
                <a:latin typeface="Cambria Math" pitchFamily="18" charset="0"/>
                <a:ea typeface="Cambria Math" pitchFamily="18" charset="0"/>
              </a:rPr>
              <a:t>1</a:t>
            </a:r>
            <a:r>
              <a:rPr lang="en-US" dirty="0" smtClean="0"/>
              <a:t> + </a:t>
            </a:r>
            <a:r>
              <a:rPr lang="en-US" dirty="0" smtClean="0">
                <a:latin typeface="Cambria Math" pitchFamily="18" charset="0"/>
                <a:ea typeface="Cambria Math" pitchFamily="18" charset="0"/>
              </a:rPr>
              <a:t>0</a:t>
            </a:r>
            <a:r>
              <a:rPr lang="en-US" dirty="0" smtClean="0"/>
              <a:t> = </a:t>
            </a:r>
            <a:r>
              <a:rPr lang="en-US" dirty="0" smtClean="0">
                <a:latin typeface="Cambria Math" pitchFamily="18" charset="0"/>
                <a:ea typeface="Cambria Math" pitchFamily="18" charset="0"/>
              </a:rPr>
              <a:t>1</a:t>
            </a:r>
          </a:p>
          <a:p>
            <a:pPr marL="880110" lvl="1" indent="-514350">
              <a:buFont typeface="+mj-lt"/>
              <a:buAutoNum type="alphaLcParenR"/>
            </a:pPr>
            <a:r>
              <a:rPr lang="en-US" dirty="0" smtClean="0">
                <a:latin typeface="Cambria Math" pitchFamily="18" charset="0"/>
                <a:ea typeface="Cambria Math" pitchFamily="18" charset="0"/>
              </a:rPr>
              <a:t>0</a:t>
            </a:r>
            <a:r>
              <a:rPr lang="en-US" dirty="0" smtClean="0"/>
              <a:t> + </a:t>
            </a:r>
            <a:r>
              <a:rPr lang="en-US" dirty="0" smtClean="0">
                <a:latin typeface="Cambria Math" pitchFamily="18" charset="0"/>
                <a:ea typeface="Cambria Math" pitchFamily="18" charset="0"/>
              </a:rPr>
              <a:t>0</a:t>
            </a:r>
            <a:r>
              <a:rPr lang="en-US" dirty="0" smtClean="0"/>
              <a:t> = </a:t>
            </a:r>
            <a:r>
              <a:rPr lang="en-US" dirty="0" smtClean="0">
                <a:latin typeface="Cambria Math" pitchFamily="18" charset="0"/>
                <a:ea typeface="Cambria Math" pitchFamily="18" charset="0"/>
              </a:rPr>
              <a:t>2</a:t>
            </a:r>
          </a:p>
          <a:p>
            <a:r>
              <a:rPr lang="en-US" dirty="0" smtClean="0"/>
              <a:t>Examples that are not propositions.</a:t>
            </a:r>
          </a:p>
          <a:p>
            <a:pPr marL="880110" lvl="1" indent="-514350">
              <a:buFont typeface="+mj-lt"/>
              <a:buAutoNum type="alphaLcParenR"/>
            </a:pPr>
            <a:r>
              <a:rPr lang="en-US" dirty="0" smtClean="0"/>
              <a:t>Sit down!</a:t>
            </a:r>
          </a:p>
          <a:p>
            <a:pPr marL="880110" lvl="1" indent="-514350">
              <a:buFont typeface="+mj-lt"/>
              <a:buAutoNum type="alphaLcParenR"/>
            </a:pPr>
            <a:r>
              <a:rPr lang="en-US" dirty="0" smtClean="0"/>
              <a:t>What time is it?</a:t>
            </a:r>
          </a:p>
          <a:p>
            <a:pPr marL="880110" lvl="1" indent="-514350">
              <a:buFont typeface="+mj-lt"/>
              <a:buAutoNum type="alphaLcParenR"/>
            </a:pPr>
            <a:r>
              <a:rPr lang="en-US" i="1" dirty="0" smtClean="0"/>
              <a:t>x</a:t>
            </a:r>
            <a:r>
              <a:rPr lang="en-US" dirty="0" smtClean="0"/>
              <a:t> + 1 = 2</a:t>
            </a:r>
          </a:p>
          <a:p>
            <a:pPr marL="880110" lvl="1" indent="-514350">
              <a:buFont typeface="+mj-lt"/>
              <a:buAutoNum type="alphaLcParenR"/>
            </a:pPr>
            <a:r>
              <a:rPr lang="en-US" i="1" dirty="0" smtClean="0"/>
              <a:t>x</a:t>
            </a:r>
            <a:r>
              <a:rPr lang="en-US" dirty="0" smtClean="0"/>
              <a:t> + </a:t>
            </a:r>
            <a:r>
              <a:rPr lang="en-US" i="1" dirty="0" smtClean="0"/>
              <a:t>y </a:t>
            </a:r>
            <a:r>
              <a:rPr lang="en-US" dirty="0" smtClean="0"/>
              <a:t>= </a:t>
            </a:r>
            <a:r>
              <a:rPr lang="en-US" i="1" dirty="0" smtClean="0"/>
              <a:t>z</a:t>
            </a:r>
          </a:p>
          <a:p>
            <a:endParaRPr lang="en-US" dirty="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Propositional Logic</a:t>
            </a:r>
            <a:endParaRPr lang="en-US" dirty="0"/>
          </a:p>
        </p:txBody>
      </p:sp>
      <p:sp>
        <p:nvSpPr>
          <p:cNvPr id="3" name="Content Placeholder 2"/>
          <p:cNvSpPr>
            <a:spLocks noGrp="1"/>
          </p:cNvSpPr>
          <p:nvPr>
            <p:ph idx="1"/>
          </p:nvPr>
        </p:nvSpPr>
        <p:spPr/>
        <p:txBody>
          <a:bodyPr>
            <a:normAutofit lnSpcReduction="10000"/>
          </a:bodyPr>
          <a:lstStyle/>
          <a:p>
            <a:r>
              <a:rPr lang="en-US" dirty="0" smtClean="0"/>
              <a:t>Constructing Propositions</a:t>
            </a:r>
          </a:p>
          <a:p>
            <a:pPr lvl="1"/>
            <a:r>
              <a:rPr lang="en-US" dirty="0" smtClean="0"/>
              <a:t>Propositional Variables: </a:t>
            </a:r>
            <a:r>
              <a:rPr lang="en-US" i="1" dirty="0" smtClean="0"/>
              <a:t>p</a:t>
            </a:r>
            <a:r>
              <a:rPr lang="en-US" dirty="0" smtClean="0"/>
              <a:t>, </a:t>
            </a:r>
            <a:r>
              <a:rPr lang="en-US" i="1" dirty="0" smtClean="0"/>
              <a:t>q, r</a:t>
            </a:r>
            <a:r>
              <a:rPr lang="en-US" dirty="0" smtClean="0"/>
              <a:t>, </a:t>
            </a:r>
            <a:r>
              <a:rPr lang="en-US" i="1" dirty="0" smtClean="0"/>
              <a:t>s</a:t>
            </a:r>
            <a:r>
              <a:rPr lang="en-US" dirty="0" smtClean="0"/>
              <a:t>, …</a:t>
            </a:r>
          </a:p>
          <a:p>
            <a:pPr lvl="1"/>
            <a:r>
              <a:rPr lang="en-US" dirty="0" smtClean="0"/>
              <a:t>The proposition that is always true is denoted by </a:t>
            </a:r>
            <a:r>
              <a:rPr lang="en-US" b="1" dirty="0" smtClean="0"/>
              <a:t>T</a:t>
            </a:r>
            <a:r>
              <a:rPr lang="en-US" dirty="0" smtClean="0"/>
              <a:t> and the proposition that is always false is denoted by </a:t>
            </a:r>
            <a:r>
              <a:rPr lang="en-US" b="1" dirty="0" smtClean="0"/>
              <a:t>F</a:t>
            </a:r>
            <a:r>
              <a:rPr lang="en-US" dirty="0" smtClean="0"/>
              <a:t>.</a:t>
            </a:r>
          </a:p>
          <a:p>
            <a:pPr lvl="1"/>
            <a:r>
              <a:rPr lang="en-US" dirty="0" smtClean="0"/>
              <a:t>Compound Propositions; constructed from logical connectives and other propositions</a:t>
            </a:r>
          </a:p>
          <a:p>
            <a:pPr lvl="2"/>
            <a:r>
              <a:rPr lang="en-US" dirty="0" smtClean="0"/>
              <a:t>Negation </a:t>
            </a:r>
            <a:r>
              <a:rPr lang="en-US" dirty="0" smtClean="0">
                <a:latin typeface="Cambria Math"/>
                <a:ea typeface="Cambria Math"/>
              </a:rPr>
              <a:t>¬</a:t>
            </a:r>
            <a:endParaRPr lang="en-US" dirty="0" smtClean="0"/>
          </a:p>
          <a:p>
            <a:pPr lvl="2"/>
            <a:r>
              <a:rPr lang="en-US" dirty="0" smtClean="0"/>
              <a:t>Conjunction </a:t>
            </a:r>
            <a:r>
              <a:rPr lang="en-US" dirty="0" smtClean="0">
                <a:latin typeface="Cambria Math" pitchFamily="18" charset="0"/>
                <a:ea typeface="Cambria Math" pitchFamily="18" charset="0"/>
              </a:rPr>
              <a:t>∧</a:t>
            </a:r>
            <a:endParaRPr lang="en-US" dirty="0" smtClean="0"/>
          </a:p>
          <a:p>
            <a:pPr lvl="2"/>
            <a:r>
              <a:rPr lang="en-US" dirty="0" smtClean="0"/>
              <a:t>Disjunction </a:t>
            </a:r>
            <a:r>
              <a:rPr lang="en-US" dirty="0" smtClean="0">
                <a:latin typeface="Cambria Math" pitchFamily="18" charset="0"/>
                <a:ea typeface="Cambria Math" pitchFamily="18" charset="0"/>
              </a:rPr>
              <a:t>∨</a:t>
            </a:r>
            <a:endParaRPr lang="en-US" dirty="0" smtClean="0"/>
          </a:p>
          <a:p>
            <a:pPr lvl="2"/>
            <a:r>
              <a:rPr lang="en-US" dirty="0" smtClean="0"/>
              <a:t>Implication </a:t>
            </a:r>
            <a:r>
              <a:rPr lang="en-US" sz="2400" dirty="0" smtClean="0">
                <a:latin typeface="Cambria Math"/>
                <a:ea typeface="Cambria Math"/>
              </a:rPr>
              <a:t>→</a:t>
            </a:r>
            <a:endParaRPr lang="en-US" dirty="0" smtClean="0"/>
          </a:p>
          <a:p>
            <a:pPr lvl="2"/>
            <a:r>
              <a:rPr lang="en-US" dirty="0" err="1" smtClean="0"/>
              <a:t>Biconditional</a:t>
            </a:r>
            <a:r>
              <a:rPr lang="en-US" dirty="0" smtClean="0"/>
              <a:t> </a:t>
            </a:r>
            <a:r>
              <a:rPr lang="en-US" sz="2400" dirty="0" smtClean="0">
                <a:latin typeface="Cambria Math"/>
                <a:ea typeface="Cambria Math"/>
              </a:rPr>
              <a:t>↔</a:t>
            </a:r>
            <a:endParaRPr lang="en-US" dirty="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Compound Propositions: Negation</a:t>
            </a:r>
            <a:endParaRPr lang="en-US" dirty="0"/>
          </a:p>
        </p:txBody>
      </p:sp>
      <p:sp>
        <p:nvSpPr>
          <p:cNvPr id="3" name="Content Placeholder 2"/>
          <p:cNvSpPr>
            <a:spLocks noGrp="1"/>
          </p:cNvSpPr>
          <p:nvPr>
            <p:ph idx="1"/>
          </p:nvPr>
        </p:nvSpPr>
        <p:spPr/>
        <p:txBody>
          <a:bodyPr/>
          <a:lstStyle/>
          <a:p>
            <a:pPr marL="274320" lvl="1" indent="-274320">
              <a:buClr>
                <a:schemeClr val="accent3"/>
              </a:buClr>
              <a:buSzPct val="95000"/>
            </a:pPr>
            <a:r>
              <a:rPr lang="en-US" dirty="0" smtClean="0"/>
              <a:t>The </a:t>
            </a:r>
            <a:r>
              <a:rPr lang="en-US" i="1" dirty="0" smtClean="0"/>
              <a:t>negation</a:t>
            </a:r>
            <a:r>
              <a:rPr lang="en-US" dirty="0" smtClean="0"/>
              <a:t> of a proposition  </a:t>
            </a:r>
            <a:r>
              <a:rPr lang="en-US" i="1" dirty="0" smtClean="0">
                <a:latin typeface="Cambria Math" pitchFamily="18" charset="0"/>
                <a:ea typeface="Cambria Math" pitchFamily="18" charset="0"/>
              </a:rPr>
              <a:t>p</a:t>
            </a:r>
            <a:r>
              <a:rPr lang="en-US" dirty="0" smtClean="0"/>
              <a:t>  is  denoted by  </a:t>
            </a:r>
            <a:r>
              <a:rPr lang="en-US" dirty="0" smtClean="0">
                <a:latin typeface="Cambria Math"/>
                <a:ea typeface="Cambria Math"/>
              </a:rPr>
              <a:t>¬</a:t>
            </a:r>
            <a:r>
              <a:rPr lang="en-US" i="1" dirty="0" smtClean="0">
                <a:latin typeface="Cambria Math" pitchFamily="18" charset="0"/>
                <a:ea typeface="Cambria Math" pitchFamily="18" charset="0"/>
              </a:rPr>
              <a:t>p</a:t>
            </a:r>
            <a:r>
              <a:rPr lang="en-US" dirty="0" smtClean="0"/>
              <a:t>  and has this truth table:</a:t>
            </a:r>
          </a:p>
          <a:p>
            <a:pPr marL="274320" lvl="1" indent="-274320">
              <a:buClr>
                <a:schemeClr val="accent3"/>
              </a:buClr>
              <a:buSzPct val="95000"/>
            </a:pPr>
            <a:endParaRPr lang="en-US" dirty="0" smtClean="0"/>
          </a:p>
          <a:p>
            <a:pPr marL="274320" lvl="1" indent="-274320">
              <a:buClr>
                <a:schemeClr val="accent3"/>
              </a:buClr>
              <a:buSzPct val="95000"/>
            </a:pPr>
            <a:endParaRPr lang="en-US" dirty="0" smtClean="0"/>
          </a:p>
          <a:p>
            <a:endParaRPr lang="en-US" b="1" dirty="0" smtClean="0"/>
          </a:p>
          <a:p>
            <a:endParaRPr lang="en-US" b="1" dirty="0" smtClean="0"/>
          </a:p>
          <a:p>
            <a:r>
              <a:rPr lang="en-US" b="1" dirty="0" smtClean="0"/>
              <a:t>Example</a:t>
            </a:r>
            <a:r>
              <a:rPr lang="en-US" dirty="0" smtClean="0"/>
              <a:t>: If </a:t>
            </a:r>
            <a:r>
              <a:rPr lang="en-US" i="1" dirty="0" smtClean="0">
                <a:latin typeface="Cambria Math" pitchFamily="18" charset="0"/>
                <a:ea typeface="Cambria Math" pitchFamily="18" charset="0"/>
              </a:rPr>
              <a:t>p</a:t>
            </a:r>
            <a:r>
              <a:rPr lang="en-US" dirty="0" smtClean="0"/>
              <a:t>   denotes “The earth is round.”, then </a:t>
            </a:r>
            <a:r>
              <a:rPr lang="en-US" dirty="0" smtClean="0">
                <a:latin typeface="Cambria Math"/>
                <a:ea typeface="Cambria Math"/>
              </a:rPr>
              <a:t>¬</a:t>
            </a:r>
            <a:r>
              <a:rPr lang="en-US" i="1" dirty="0" smtClean="0">
                <a:latin typeface="Cambria Math" pitchFamily="18" charset="0"/>
                <a:ea typeface="Cambria Math" pitchFamily="18" charset="0"/>
              </a:rPr>
              <a:t>p</a:t>
            </a:r>
            <a:r>
              <a:rPr lang="en-US" dirty="0" smtClean="0"/>
              <a:t>     denotes “It is not the case that the earth is round,” or more simply “The earth is not round.”  </a:t>
            </a:r>
          </a:p>
        </p:txBody>
      </p:sp>
      <p:graphicFrame>
        <p:nvGraphicFramePr>
          <p:cNvPr id="6" name="Content Placeholder 3"/>
          <p:cNvGraphicFramePr>
            <a:graphicFrameLocks/>
          </p:cNvGraphicFramePr>
          <p:nvPr/>
        </p:nvGraphicFramePr>
        <p:xfrm>
          <a:off x="1828800" y="2971800"/>
          <a:ext cx="5638800" cy="111252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20000"/>
                    </a:ext>
                  </a:extLst>
                </a:gridCol>
                <a:gridCol w="2819400">
                  <a:extLst>
                    <a:ext uri="{9D8B030D-6E8A-4147-A177-3AD203B41FA5}">
                      <a16:colId xmlns:a16="http://schemas.microsoft.com/office/drawing/2014/main" val="20001"/>
                    </a:ext>
                  </a:extLst>
                </a:gridCol>
              </a:tblGrid>
              <a:tr h="370840">
                <a:tc>
                  <a:txBody>
                    <a:bodyPr/>
                    <a:lstStyle/>
                    <a:p>
                      <a:r>
                        <a:rPr lang="en-US" b="0" i="1" dirty="0" smtClean="0">
                          <a:latin typeface="Cambria Math" pitchFamily="18" charset="0"/>
                          <a:ea typeface="Cambria Math" pitchFamily="18" charset="0"/>
                        </a:rPr>
                        <a:t>p</a:t>
                      </a:r>
                      <a:endParaRPr lang="en-US" b="0" i="1" dirty="0">
                        <a:latin typeface="Cambria Math" pitchFamily="18" charset="0"/>
                        <a:ea typeface="Cambria Math" pitchFamily="18" charset="0"/>
                      </a:endParaRPr>
                    </a:p>
                  </a:txBody>
                  <a:tcPr/>
                </a:tc>
                <a:tc>
                  <a:txBody>
                    <a:bodyPr/>
                    <a:lstStyle/>
                    <a:p>
                      <a:r>
                        <a:rPr lang="en-US" dirty="0" smtClean="0">
                          <a:latin typeface="Cambria Math"/>
                          <a:ea typeface="Cambria Math"/>
                        </a:rPr>
                        <a:t>¬</a:t>
                      </a:r>
                      <a:r>
                        <a:rPr lang="en-US" i="1" dirty="0" smtClean="0">
                          <a:latin typeface="Cambria Math" pitchFamily="18" charset="0"/>
                          <a:ea typeface="Cambria Math" pitchFamily="18" charset="0"/>
                        </a:rPr>
                        <a:t>p</a:t>
                      </a:r>
                      <a:r>
                        <a:rPr lang="en-US" dirty="0" smtClean="0"/>
                        <a:t> </a:t>
                      </a:r>
                      <a:endParaRPr lang="en-US" dirty="0"/>
                    </a:p>
                  </a:txBody>
                  <a:tcPr/>
                </a:tc>
                <a:extLst>
                  <a:ext uri="{0D108BD9-81ED-4DB2-BD59-A6C34878D82A}">
                    <a16:rowId xmlns:a16="http://schemas.microsoft.com/office/drawing/2014/main" val="10000"/>
                  </a:ext>
                </a:extLst>
              </a:tr>
              <a:tr h="370840">
                <a:tc>
                  <a:txBody>
                    <a:bodyPr/>
                    <a:lstStyle/>
                    <a:p>
                      <a:r>
                        <a:rPr lang="en-US" dirty="0" smtClean="0"/>
                        <a:t>T</a:t>
                      </a:r>
                      <a:endParaRPr lang="en-US" dirty="0"/>
                    </a:p>
                  </a:txBody>
                  <a:tcPr/>
                </a:tc>
                <a:tc>
                  <a:txBody>
                    <a:bodyPr/>
                    <a:lstStyle/>
                    <a:p>
                      <a:r>
                        <a:rPr lang="en-US" dirty="0" smtClean="0"/>
                        <a:t>F</a:t>
                      </a:r>
                      <a:endParaRPr lang="en-US" dirty="0"/>
                    </a:p>
                  </a:txBody>
                  <a:tcPr/>
                </a:tc>
                <a:extLst>
                  <a:ext uri="{0D108BD9-81ED-4DB2-BD59-A6C34878D82A}">
                    <a16:rowId xmlns:a16="http://schemas.microsoft.com/office/drawing/2014/main" val="10001"/>
                  </a:ext>
                </a:extLst>
              </a:tr>
              <a:tr h="370840">
                <a:tc>
                  <a:txBody>
                    <a:bodyPr/>
                    <a:lstStyle/>
                    <a:p>
                      <a:r>
                        <a:rPr lang="en-US" dirty="0" smtClean="0"/>
                        <a:t>F</a:t>
                      </a:r>
                      <a:endParaRPr lang="en-US" dirty="0"/>
                    </a:p>
                  </a:txBody>
                  <a:tcPr/>
                </a:tc>
                <a:tc>
                  <a:txBody>
                    <a:bodyPr/>
                    <a:lstStyle/>
                    <a:p>
                      <a:r>
                        <a:rPr lang="en-US" dirty="0" smtClean="0"/>
                        <a:t>T</a:t>
                      </a:r>
                      <a:endParaRPr lang="en-US" dirty="0"/>
                    </a:p>
                  </a:txBody>
                  <a:tcPr/>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438912"/>
          </a:xfrm>
        </p:spPr>
        <p:txBody>
          <a:bodyPr>
            <a:normAutofit fontScale="90000"/>
          </a:bodyPr>
          <a:lstStyle/>
          <a:p>
            <a:r>
              <a:rPr lang="en-US" dirty="0" smtClean="0"/>
              <a:t>Conjunction</a:t>
            </a:r>
            <a:endParaRPr lang="en-US" dirty="0"/>
          </a:p>
        </p:txBody>
      </p:sp>
      <p:sp>
        <p:nvSpPr>
          <p:cNvPr id="3" name="Content Placeholder 2"/>
          <p:cNvSpPr>
            <a:spLocks noGrp="1"/>
          </p:cNvSpPr>
          <p:nvPr>
            <p:ph idx="1"/>
          </p:nvPr>
        </p:nvSpPr>
        <p:spPr>
          <a:xfrm>
            <a:off x="426720" y="1371600"/>
            <a:ext cx="8229600" cy="5029200"/>
          </a:xfrm>
        </p:spPr>
        <p:txBody>
          <a:bodyPr>
            <a:normAutofit fontScale="92500" lnSpcReduction="10000"/>
          </a:bodyPr>
          <a:lstStyle/>
          <a:p>
            <a:r>
              <a:rPr lang="en-US" dirty="0" smtClean="0"/>
              <a:t>The </a:t>
            </a:r>
            <a:r>
              <a:rPr lang="en-US" i="1" dirty="0" smtClean="0"/>
              <a:t>conjunction</a:t>
            </a:r>
            <a:r>
              <a:rPr lang="en-US" dirty="0" smtClean="0"/>
              <a:t> of propositions  </a:t>
            </a:r>
            <a:r>
              <a:rPr lang="en-US" i="1" dirty="0" smtClean="0">
                <a:latin typeface="Cambria Math" pitchFamily="18" charset="0"/>
                <a:ea typeface="Cambria Math" pitchFamily="18" charset="0"/>
              </a:rPr>
              <a:t>p</a:t>
            </a:r>
            <a:r>
              <a:rPr lang="en-US" dirty="0" smtClean="0"/>
              <a:t>  </a:t>
            </a:r>
            <a:r>
              <a:rPr lang="en-US" b="1" dirty="0" smtClean="0"/>
              <a:t>and</a:t>
            </a:r>
            <a:r>
              <a:rPr lang="en-US" dirty="0" smtClean="0"/>
              <a:t>  </a:t>
            </a:r>
            <a:r>
              <a:rPr lang="en-US" i="1" dirty="0" smtClean="0">
                <a:latin typeface="Cambria Math" pitchFamily="18" charset="0"/>
                <a:ea typeface="Cambria Math" pitchFamily="18" charset="0"/>
              </a:rPr>
              <a:t>q</a:t>
            </a:r>
            <a:r>
              <a:rPr lang="en-US" dirty="0" smtClean="0"/>
              <a:t>  is denoted by </a:t>
            </a:r>
            <a:r>
              <a:rPr lang="en-US" i="1" dirty="0" smtClean="0">
                <a:latin typeface="Cambria Math" pitchFamily="18" charset="0"/>
                <a:ea typeface="Cambria Math" pitchFamily="18" charset="0"/>
              </a:rPr>
              <a:t>p </a:t>
            </a:r>
            <a:r>
              <a:rPr lang="en-US" dirty="0" smtClean="0">
                <a:latin typeface="Cambria Math" pitchFamily="18" charset="0"/>
                <a:ea typeface="Cambria Math" pitchFamily="18" charset="0"/>
              </a:rPr>
              <a:t>∧ </a:t>
            </a:r>
            <a:r>
              <a:rPr lang="en-US" i="1" dirty="0" smtClean="0">
                <a:latin typeface="Cambria Math" pitchFamily="18" charset="0"/>
                <a:ea typeface="Cambria Math" pitchFamily="18" charset="0"/>
              </a:rPr>
              <a:t>q  </a:t>
            </a:r>
            <a:r>
              <a:rPr lang="en-US" dirty="0" smtClean="0"/>
              <a:t>and has this truth table</a:t>
            </a:r>
            <a:r>
              <a:rPr lang="en-US" dirty="0" smtClean="0"/>
              <a:t>:</a:t>
            </a:r>
          </a:p>
          <a:p>
            <a:r>
              <a:rPr lang="en-US" b="1" dirty="0"/>
              <a:t>p ∧ q is true only when </a:t>
            </a:r>
            <a:r>
              <a:rPr lang="en-US" b="1" dirty="0" smtClean="0"/>
              <a:t>Both </a:t>
            </a:r>
            <a:r>
              <a:rPr lang="en-US" b="1" dirty="0"/>
              <a:t>p and q are true</a:t>
            </a:r>
            <a:endParaRPr lang="en-US" dirty="0"/>
          </a:p>
          <a:p>
            <a:r>
              <a:rPr lang="en-US" dirty="0"/>
              <a:t>If </a:t>
            </a:r>
            <a:r>
              <a:rPr lang="en-US" b="1" dirty="0"/>
              <a:t>either one is false</a:t>
            </a:r>
            <a:r>
              <a:rPr lang="en-US" dirty="0"/>
              <a:t>, the conjunction is </a:t>
            </a:r>
            <a:r>
              <a:rPr lang="en-US" b="1" dirty="0"/>
              <a:t>false</a:t>
            </a:r>
            <a:endParaRPr lang="en-US" dirty="0"/>
          </a:p>
          <a:p>
            <a:endParaRPr lang="en-US" dirty="0" smtClean="0"/>
          </a:p>
          <a:p>
            <a:endParaRPr lang="en-US" dirty="0" smtClean="0"/>
          </a:p>
          <a:p>
            <a:endParaRPr lang="en-US" dirty="0" smtClean="0"/>
          </a:p>
          <a:p>
            <a:endParaRPr lang="en-US" dirty="0" smtClean="0"/>
          </a:p>
          <a:p>
            <a:endParaRPr lang="en-US" dirty="0" smtClean="0"/>
          </a:p>
          <a:p>
            <a:endParaRPr lang="en-US" b="1" dirty="0" smtClean="0"/>
          </a:p>
          <a:p>
            <a:r>
              <a:rPr lang="en-US" b="1" dirty="0" smtClean="0"/>
              <a:t>Example</a:t>
            </a:r>
            <a:r>
              <a:rPr lang="en-US" dirty="0" smtClean="0"/>
              <a:t>:  If </a:t>
            </a:r>
            <a:r>
              <a:rPr lang="en-US" i="1" dirty="0" smtClean="0">
                <a:latin typeface="Cambria Math" pitchFamily="18" charset="0"/>
                <a:ea typeface="Cambria Math" pitchFamily="18" charset="0"/>
              </a:rPr>
              <a:t>p</a:t>
            </a:r>
            <a:r>
              <a:rPr lang="en-US" dirty="0" smtClean="0"/>
              <a:t>  denotes “I am at home.” and </a:t>
            </a:r>
            <a:r>
              <a:rPr lang="en-US" i="1" dirty="0" smtClean="0">
                <a:latin typeface="Cambria Math" pitchFamily="18" charset="0"/>
                <a:ea typeface="Cambria Math" pitchFamily="18" charset="0"/>
              </a:rPr>
              <a:t>q</a:t>
            </a:r>
            <a:r>
              <a:rPr lang="en-US" dirty="0" smtClean="0"/>
              <a:t>  denotes “It is raining.” then </a:t>
            </a:r>
            <a:r>
              <a:rPr lang="en-US" i="1" dirty="0" smtClean="0">
                <a:latin typeface="Cambria Math" pitchFamily="18" charset="0"/>
                <a:ea typeface="Cambria Math" pitchFamily="18" charset="0"/>
              </a:rPr>
              <a:t>p </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q</a:t>
            </a:r>
            <a:r>
              <a:rPr lang="en-US" dirty="0" smtClean="0"/>
              <a:t>   denotes “I am at home and it is raining.”</a:t>
            </a:r>
          </a:p>
        </p:txBody>
      </p:sp>
      <p:graphicFrame>
        <p:nvGraphicFramePr>
          <p:cNvPr id="10" name="Content Placeholder 3"/>
          <p:cNvGraphicFramePr>
            <a:graphicFrameLocks/>
          </p:cNvGraphicFramePr>
          <p:nvPr>
            <p:extLst>
              <p:ext uri="{D42A27DB-BD31-4B8C-83A1-F6EECF244321}">
                <p14:modId xmlns:p14="http://schemas.microsoft.com/office/powerpoint/2010/main" val="1149734719"/>
              </p:ext>
            </p:extLst>
          </p:nvPr>
        </p:nvGraphicFramePr>
        <p:xfrm>
          <a:off x="1295400" y="3200400"/>
          <a:ext cx="6096000" cy="18288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04800">
                <a:tc>
                  <a:txBody>
                    <a:bodyPr/>
                    <a:lstStyle/>
                    <a:p>
                      <a:r>
                        <a:rPr lang="en-US" i="1" dirty="0" smtClean="0">
                          <a:latin typeface="Cambria Math" pitchFamily="18" charset="0"/>
                          <a:ea typeface="Cambria Math" pitchFamily="18" charset="0"/>
                        </a:rPr>
                        <a:t>p</a:t>
                      </a:r>
                      <a:endParaRPr lang="en-US" dirty="0"/>
                    </a:p>
                  </a:txBody>
                  <a:tcPr marL="91441" marR="91441"/>
                </a:tc>
                <a:tc>
                  <a:txBody>
                    <a:bodyPr/>
                    <a:lstStyle/>
                    <a:p>
                      <a:r>
                        <a:rPr lang="en-US" i="1" dirty="0" smtClean="0">
                          <a:latin typeface="Cambria Math" pitchFamily="18" charset="0"/>
                          <a:ea typeface="Cambria Math" pitchFamily="18" charset="0"/>
                        </a:rPr>
                        <a:t>q</a:t>
                      </a:r>
                      <a:endParaRPr lang="en-US" dirty="0"/>
                    </a:p>
                  </a:txBody>
                  <a:tcPr marL="91441" marR="91441"/>
                </a:tc>
                <a:tc>
                  <a:txBody>
                    <a:bodyPr/>
                    <a:lstStyle/>
                    <a:p>
                      <a:r>
                        <a:rPr lang="en-US" i="1" baseline="0" dirty="0" smtClean="0">
                          <a:latin typeface="Cambria Math" pitchFamily="18" charset="0"/>
                          <a:ea typeface="Cambria Math" pitchFamily="18" charset="0"/>
                        </a:rPr>
                        <a:t>p </a:t>
                      </a:r>
                      <a:r>
                        <a:rPr lang="en-US" dirty="0" smtClean="0">
                          <a:latin typeface="Cambria Math" pitchFamily="18" charset="0"/>
                          <a:ea typeface="Cambria Math" pitchFamily="18" charset="0"/>
                        </a:rPr>
                        <a:t>∧ </a:t>
                      </a:r>
                      <a:r>
                        <a:rPr lang="en-US" i="1" dirty="0" smtClean="0">
                          <a:latin typeface="Cambria Math" pitchFamily="18" charset="0"/>
                          <a:ea typeface="Cambria Math" pitchFamily="18" charset="0"/>
                        </a:rPr>
                        <a:t>q </a:t>
                      </a:r>
                      <a:endParaRPr lang="en-US" dirty="0"/>
                    </a:p>
                  </a:txBody>
                  <a:tcPr marL="91441" marR="91441"/>
                </a:tc>
                <a:extLst>
                  <a:ext uri="{0D108BD9-81ED-4DB2-BD59-A6C34878D82A}">
                    <a16:rowId xmlns:a16="http://schemas.microsoft.com/office/drawing/2014/main" val="10000"/>
                  </a:ext>
                </a:extLst>
              </a:tr>
              <a:tr h="304800">
                <a:tc>
                  <a:txBody>
                    <a:bodyPr/>
                    <a:lstStyle/>
                    <a:p>
                      <a:r>
                        <a:rPr lang="en-US" dirty="0" smtClean="0"/>
                        <a:t>T</a:t>
                      </a:r>
                      <a:endParaRPr lang="en-US" dirty="0"/>
                    </a:p>
                  </a:txBody>
                  <a:tcPr marL="91441" marR="91441"/>
                </a:tc>
                <a:tc>
                  <a:txBody>
                    <a:bodyPr/>
                    <a:lstStyle/>
                    <a:p>
                      <a:r>
                        <a:rPr lang="en-US" dirty="0" smtClean="0"/>
                        <a:t>T</a:t>
                      </a:r>
                      <a:endParaRPr lang="en-US" dirty="0"/>
                    </a:p>
                  </a:txBody>
                  <a:tcPr marL="91441" marR="91441"/>
                </a:tc>
                <a:tc>
                  <a:txBody>
                    <a:bodyPr/>
                    <a:lstStyle/>
                    <a:p>
                      <a:r>
                        <a:rPr lang="en-US" dirty="0" smtClean="0"/>
                        <a:t>T</a:t>
                      </a:r>
                      <a:endParaRPr lang="en-US" dirty="0"/>
                    </a:p>
                  </a:txBody>
                  <a:tcPr marL="91441" marR="91441"/>
                </a:tc>
                <a:extLst>
                  <a:ext uri="{0D108BD9-81ED-4DB2-BD59-A6C34878D82A}">
                    <a16:rowId xmlns:a16="http://schemas.microsoft.com/office/drawing/2014/main" val="10001"/>
                  </a:ext>
                </a:extLst>
              </a:tr>
              <a:tr h="304800">
                <a:tc>
                  <a:txBody>
                    <a:bodyPr/>
                    <a:lstStyle/>
                    <a:p>
                      <a:r>
                        <a:rPr lang="en-US" dirty="0" smtClean="0"/>
                        <a:t>T</a:t>
                      </a:r>
                      <a:endParaRPr lang="en-US" dirty="0"/>
                    </a:p>
                  </a:txBody>
                  <a:tcPr marL="91441" marR="91441"/>
                </a:tc>
                <a:tc>
                  <a:txBody>
                    <a:bodyPr/>
                    <a:lstStyle/>
                    <a:p>
                      <a:r>
                        <a:rPr lang="en-US" dirty="0" smtClean="0"/>
                        <a:t>F</a:t>
                      </a:r>
                      <a:endParaRPr lang="en-US" dirty="0"/>
                    </a:p>
                  </a:txBody>
                  <a:tcPr marL="91441" marR="91441"/>
                </a:tc>
                <a:tc>
                  <a:txBody>
                    <a:bodyPr/>
                    <a:lstStyle/>
                    <a:p>
                      <a:r>
                        <a:rPr lang="en-US" dirty="0" smtClean="0"/>
                        <a:t>F</a:t>
                      </a:r>
                      <a:endParaRPr lang="en-US" dirty="0"/>
                    </a:p>
                  </a:txBody>
                  <a:tcPr marL="91441" marR="91441"/>
                </a:tc>
                <a:extLst>
                  <a:ext uri="{0D108BD9-81ED-4DB2-BD59-A6C34878D82A}">
                    <a16:rowId xmlns:a16="http://schemas.microsoft.com/office/drawing/2014/main" val="10002"/>
                  </a:ext>
                </a:extLst>
              </a:tr>
              <a:tr h="304800">
                <a:tc>
                  <a:txBody>
                    <a:bodyPr/>
                    <a:lstStyle/>
                    <a:p>
                      <a:r>
                        <a:rPr lang="en-US" dirty="0" smtClean="0"/>
                        <a:t>F</a:t>
                      </a:r>
                      <a:endParaRPr lang="en-US" dirty="0"/>
                    </a:p>
                  </a:txBody>
                  <a:tcPr marL="91441" marR="91441"/>
                </a:tc>
                <a:tc>
                  <a:txBody>
                    <a:bodyPr/>
                    <a:lstStyle/>
                    <a:p>
                      <a:r>
                        <a:rPr lang="en-US" dirty="0" smtClean="0"/>
                        <a:t>T</a:t>
                      </a:r>
                      <a:endParaRPr lang="en-US" dirty="0"/>
                    </a:p>
                  </a:txBody>
                  <a:tcPr marL="91441" marR="91441"/>
                </a:tc>
                <a:tc>
                  <a:txBody>
                    <a:bodyPr/>
                    <a:lstStyle/>
                    <a:p>
                      <a:r>
                        <a:rPr lang="en-US" dirty="0" smtClean="0"/>
                        <a:t>F</a:t>
                      </a:r>
                      <a:endParaRPr lang="en-US" dirty="0"/>
                    </a:p>
                  </a:txBody>
                  <a:tcPr marL="91441" marR="91441"/>
                </a:tc>
                <a:extLst>
                  <a:ext uri="{0D108BD9-81ED-4DB2-BD59-A6C34878D82A}">
                    <a16:rowId xmlns:a16="http://schemas.microsoft.com/office/drawing/2014/main" val="10003"/>
                  </a:ext>
                </a:extLst>
              </a:tr>
              <a:tr h="304800">
                <a:tc>
                  <a:txBody>
                    <a:bodyPr/>
                    <a:lstStyle/>
                    <a:p>
                      <a:r>
                        <a:rPr lang="en-US" dirty="0" smtClean="0"/>
                        <a:t>F</a:t>
                      </a:r>
                      <a:endParaRPr lang="en-US" dirty="0"/>
                    </a:p>
                  </a:txBody>
                  <a:tcPr marL="91441" marR="91441"/>
                </a:tc>
                <a:tc>
                  <a:txBody>
                    <a:bodyPr/>
                    <a:lstStyle/>
                    <a:p>
                      <a:r>
                        <a:rPr lang="en-US" dirty="0" smtClean="0"/>
                        <a:t>F</a:t>
                      </a:r>
                      <a:endParaRPr lang="en-US" dirty="0"/>
                    </a:p>
                  </a:txBody>
                  <a:tcPr marL="91441" marR="91441"/>
                </a:tc>
                <a:tc>
                  <a:txBody>
                    <a:bodyPr/>
                    <a:lstStyle/>
                    <a:p>
                      <a:r>
                        <a:rPr lang="en-US" dirty="0" smtClean="0"/>
                        <a:t>F</a:t>
                      </a:r>
                      <a:endParaRPr lang="en-US" dirty="0"/>
                    </a:p>
                  </a:txBody>
                  <a:tcPr marL="91441" marR="91441"/>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120" y="533400"/>
            <a:ext cx="8229600" cy="591312"/>
          </a:xfrm>
        </p:spPr>
        <p:txBody>
          <a:bodyPr>
            <a:normAutofit fontScale="90000"/>
          </a:bodyPr>
          <a:lstStyle/>
          <a:p>
            <a:r>
              <a:rPr lang="en-US" dirty="0" smtClean="0"/>
              <a:t>Disjunction</a:t>
            </a:r>
            <a:endParaRPr lang="en-US" dirty="0"/>
          </a:p>
        </p:txBody>
      </p:sp>
      <p:sp>
        <p:nvSpPr>
          <p:cNvPr id="3" name="Content Placeholder 2"/>
          <p:cNvSpPr>
            <a:spLocks noGrp="1"/>
          </p:cNvSpPr>
          <p:nvPr>
            <p:ph idx="1"/>
          </p:nvPr>
        </p:nvSpPr>
        <p:spPr>
          <a:xfrm>
            <a:off x="482600" y="1371600"/>
            <a:ext cx="8229600" cy="4693920"/>
          </a:xfrm>
        </p:spPr>
        <p:txBody>
          <a:bodyPr>
            <a:noAutofit/>
          </a:bodyPr>
          <a:lstStyle/>
          <a:p>
            <a:r>
              <a:rPr lang="en-US" sz="2200" dirty="0" smtClean="0"/>
              <a:t>The </a:t>
            </a:r>
            <a:r>
              <a:rPr lang="en-US" sz="2200" i="1" dirty="0" smtClean="0"/>
              <a:t>disjunction</a:t>
            </a:r>
            <a:r>
              <a:rPr lang="en-US" sz="2200" dirty="0" smtClean="0"/>
              <a:t> of propositions  </a:t>
            </a:r>
            <a:r>
              <a:rPr lang="en-US" sz="2200" i="1" dirty="0" smtClean="0">
                <a:latin typeface="Cambria Math" pitchFamily="18" charset="0"/>
                <a:ea typeface="Cambria Math" pitchFamily="18" charset="0"/>
              </a:rPr>
              <a:t>p</a:t>
            </a:r>
            <a:r>
              <a:rPr lang="en-US" sz="2200" dirty="0" smtClean="0"/>
              <a:t>  and </a:t>
            </a:r>
            <a:r>
              <a:rPr lang="en-US" sz="2200" i="1" dirty="0" smtClean="0">
                <a:latin typeface="Cambria Math" pitchFamily="18" charset="0"/>
                <a:ea typeface="Cambria Math" pitchFamily="18" charset="0"/>
              </a:rPr>
              <a:t>q</a:t>
            </a:r>
            <a:r>
              <a:rPr lang="en-US" sz="2200" dirty="0" smtClean="0"/>
              <a:t>   is denoted by  </a:t>
            </a:r>
            <a:r>
              <a:rPr lang="en-US" sz="2200" i="1" dirty="0" smtClean="0">
                <a:latin typeface="Cambria Math" pitchFamily="18" charset="0"/>
                <a:ea typeface="Cambria Math" pitchFamily="18" charset="0"/>
              </a:rPr>
              <a:t>p </a:t>
            </a:r>
            <a:r>
              <a:rPr lang="en-US" sz="2200" dirty="0" smtClean="0">
                <a:latin typeface="Cambria Math" pitchFamily="18" charset="0"/>
                <a:ea typeface="Cambria Math" pitchFamily="18" charset="0"/>
              </a:rPr>
              <a:t>∨</a:t>
            </a:r>
            <a:r>
              <a:rPr lang="en-US" sz="2200" i="1" dirty="0" smtClean="0">
                <a:latin typeface="Cambria Math" pitchFamily="18" charset="0"/>
                <a:ea typeface="Cambria Math" pitchFamily="18" charset="0"/>
              </a:rPr>
              <a:t>q</a:t>
            </a:r>
            <a:r>
              <a:rPr lang="en-US" sz="2200" dirty="0" smtClean="0"/>
              <a:t> </a:t>
            </a:r>
            <a:r>
              <a:rPr lang="en-US" sz="2200" dirty="0" smtClean="0"/>
              <a:t>and</a:t>
            </a:r>
            <a:r>
              <a:rPr lang="en-US" sz="2200" dirty="0" smtClean="0"/>
              <a:t> </a:t>
            </a:r>
            <a:r>
              <a:rPr lang="en-US" sz="2200" dirty="0"/>
              <a:t>read as </a:t>
            </a:r>
            <a:r>
              <a:rPr lang="en-US" sz="2200" b="1" i="1" dirty="0"/>
              <a:t>“p or </a:t>
            </a:r>
            <a:r>
              <a:rPr lang="en-US" sz="2200" b="1" i="1" dirty="0" smtClean="0"/>
              <a:t>q”. </a:t>
            </a:r>
            <a:r>
              <a:rPr lang="en-US" sz="2200" dirty="0" smtClean="0"/>
              <a:t>It</a:t>
            </a:r>
            <a:r>
              <a:rPr lang="en-US" sz="2200" b="1" dirty="0" smtClean="0"/>
              <a:t> </a:t>
            </a:r>
            <a:r>
              <a:rPr lang="en-US" sz="2200" dirty="0" smtClean="0"/>
              <a:t> </a:t>
            </a:r>
            <a:r>
              <a:rPr lang="en-US" sz="2200" dirty="0" smtClean="0"/>
              <a:t>has </a:t>
            </a:r>
            <a:r>
              <a:rPr lang="en-US" sz="2200" dirty="0"/>
              <a:t>a</a:t>
            </a:r>
            <a:r>
              <a:rPr lang="en-US" sz="2200" dirty="0" smtClean="0"/>
              <a:t> </a:t>
            </a:r>
            <a:r>
              <a:rPr lang="en-US" sz="2200" dirty="0" smtClean="0"/>
              <a:t>truth </a:t>
            </a:r>
            <a:r>
              <a:rPr lang="en-US" sz="2200" dirty="0" smtClean="0"/>
              <a:t>table:</a:t>
            </a:r>
          </a:p>
          <a:p>
            <a:r>
              <a:rPr lang="en-US" altLang="en-US" sz="2200" b="1" dirty="0" smtClean="0">
                <a:latin typeface="Arial" panose="020B0604020202020204" pitchFamily="34" charset="0"/>
              </a:rPr>
              <a:t>p </a:t>
            </a:r>
            <a:r>
              <a:rPr lang="en-US" altLang="en-US" sz="2200" b="1" dirty="0">
                <a:latin typeface="Arial" panose="020B0604020202020204" pitchFamily="34" charset="0"/>
              </a:rPr>
              <a:t>∨ q </a:t>
            </a:r>
            <a:r>
              <a:rPr lang="en-US" altLang="en-US" sz="2200" dirty="0">
                <a:latin typeface="Arial" panose="020B0604020202020204" pitchFamily="34" charset="0"/>
              </a:rPr>
              <a:t>is true if at least one of</a:t>
            </a:r>
            <a:r>
              <a:rPr lang="en-US" altLang="en-US" sz="2200" b="1" dirty="0">
                <a:latin typeface="Arial" panose="020B0604020202020204" pitchFamily="34" charset="0"/>
              </a:rPr>
              <a:t> </a:t>
            </a:r>
            <a:r>
              <a:rPr lang="en-US" altLang="en-US" sz="2200" b="1" i="1" dirty="0">
                <a:latin typeface="Arial" panose="020B0604020202020204" pitchFamily="34" charset="0"/>
              </a:rPr>
              <a:t>p</a:t>
            </a:r>
            <a:r>
              <a:rPr lang="en-US" altLang="en-US" sz="2200" b="1" dirty="0">
                <a:latin typeface="Arial" panose="020B0604020202020204" pitchFamily="34" charset="0"/>
              </a:rPr>
              <a:t> or </a:t>
            </a:r>
            <a:r>
              <a:rPr lang="en-US" altLang="en-US" sz="2200" b="1" i="1" dirty="0">
                <a:latin typeface="Arial" panose="020B0604020202020204" pitchFamily="34" charset="0"/>
              </a:rPr>
              <a:t>q</a:t>
            </a:r>
            <a:r>
              <a:rPr lang="en-US" altLang="en-US" sz="2200" b="1" dirty="0">
                <a:latin typeface="Arial" panose="020B0604020202020204" pitchFamily="34" charset="0"/>
              </a:rPr>
              <a:t> </a:t>
            </a:r>
            <a:r>
              <a:rPr lang="en-US" altLang="en-US" sz="2200" dirty="0">
                <a:latin typeface="Arial" panose="020B0604020202020204" pitchFamily="34" charset="0"/>
              </a:rPr>
              <a:t>is </a:t>
            </a:r>
            <a:r>
              <a:rPr lang="en-US" altLang="en-US" sz="2200" dirty="0" smtClean="0">
                <a:latin typeface="Arial" panose="020B0604020202020204" pitchFamily="34" charset="0"/>
              </a:rPr>
              <a:t>true.</a:t>
            </a:r>
          </a:p>
          <a:p>
            <a:r>
              <a:rPr lang="en-US" altLang="en-US" sz="2200" dirty="0" smtClean="0">
                <a:latin typeface="Arial" panose="020B0604020202020204" pitchFamily="34" charset="0"/>
              </a:rPr>
              <a:t>It </a:t>
            </a:r>
            <a:r>
              <a:rPr lang="en-US" altLang="en-US" sz="2200" dirty="0">
                <a:latin typeface="Arial" panose="020B0604020202020204" pitchFamily="34" charset="0"/>
              </a:rPr>
              <a:t>is false only when both </a:t>
            </a:r>
            <a:r>
              <a:rPr lang="en-US" altLang="en-US" sz="2200" b="1" i="1" dirty="0">
                <a:latin typeface="Arial" panose="020B0604020202020204" pitchFamily="34" charset="0"/>
              </a:rPr>
              <a:t>p and q </a:t>
            </a:r>
            <a:r>
              <a:rPr lang="en-US" altLang="en-US" sz="2200" dirty="0">
                <a:latin typeface="Arial" panose="020B0604020202020204" pitchFamily="34" charset="0"/>
              </a:rPr>
              <a:t>are </a:t>
            </a:r>
            <a:r>
              <a:rPr lang="en-US" altLang="en-US" sz="2200" dirty="0" smtClean="0">
                <a:latin typeface="Arial" panose="020B0604020202020204" pitchFamily="34" charset="0"/>
              </a:rPr>
              <a:t>false.</a:t>
            </a:r>
            <a:endParaRPr lang="en-US" altLang="en-US" sz="2200" dirty="0">
              <a:latin typeface="Arial" panose="020B0604020202020204" pitchFamily="34" charset="0"/>
            </a:endParaRPr>
          </a:p>
          <a:p>
            <a:endParaRPr lang="en-US" sz="2200" dirty="0" smtClean="0"/>
          </a:p>
          <a:p>
            <a:endParaRPr lang="en-US" sz="2200" dirty="0" smtClean="0"/>
          </a:p>
          <a:p>
            <a:endParaRPr lang="en-US" sz="2200" dirty="0" smtClean="0"/>
          </a:p>
          <a:p>
            <a:endParaRPr lang="en-US" sz="2200" dirty="0" smtClean="0"/>
          </a:p>
          <a:p>
            <a:endParaRPr lang="en-US" sz="2200" dirty="0" smtClean="0"/>
          </a:p>
          <a:p>
            <a:pPr marL="0" indent="0">
              <a:buNone/>
            </a:pPr>
            <a:endParaRPr lang="en-US" sz="2200" b="1" dirty="0" smtClean="0"/>
          </a:p>
          <a:p>
            <a:r>
              <a:rPr lang="en-US" sz="2200" b="1" dirty="0" smtClean="0"/>
              <a:t>Example</a:t>
            </a:r>
            <a:r>
              <a:rPr lang="en-US" sz="2200" dirty="0" smtClean="0"/>
              <a:t>:  If </a:t>
            </a:r>
            <a:r>
              <a:rPr lang="en-US" sz="2200" b="1" i="1" dirty="0" smtClean="0">
                <a:latin typeface="Cambria Math" pitchFamily="18" charset="0"/>
                <a:ea typeface="Cambria Math" pitchFamily="18" charset="0"/>
              </a:rPr>
              <a:t>p</a:t>
            </a:r>
            <a:r>
              <a:rPr lang="en-US" sz="2200" dirty="0" smtClean="0"/>
              <a:t>  denotes “I am at home.” and </a:t>
            </a:r>
            <a:r>
              <a:rPr lang="en-US" sz="2200" b="1" i="1" dirty="0" smtClean="0">
                <a:latin typeface="Cambria Math" pitchFamily="18" charset="0"/>
                <a:ea typeface="Cambria Math" pitchFamily="18" charset="0"/>
              </a:rPr>
              <a:t>q</a:t>
            </a:r>
            <a:r>
              <a:rPr lang="en-US" sz="2200" dirty="0" smtClean="0"/>
              <a:t>  denotes “It is raining.” then </a:t>
            </a:r>
            <a:r>
              <a:rPr lang="en-US" sz="2200" b="1" i="1" dirty="0" smtClean="0">
                <a:latin typeface="Cambria Math" pitchFamily="18" charset="0"/>
                <a:ea typeface="Cambria Math" pitchFamily="18" charset="0"/>
              </a:rPr>
              <a:t>p </a:t>
            </a:r>
            <a:r>
              <a:rPr lang="en-US" sz="2200" b="1" dirty="0" smtClean="0">
                <a:latin typeface="Cambria Math" pitchFamily="18" charset="0"/>
                <a:ea typeface="Cambria Math" pitchFamily="18" charset="0"/>
              </a:rPr>
              <a:t>∨</a:t>
            </a:r>
            <a:r>
              <a:rPr lang="en-US" sz="2200" b="1" i="1" dirty="0" smtClean="0">
                <a:latin typeface="Cambria Math" pitchFamily="18" charset="0"/>
                <a:ea typeface="Cambria Math" pitchFamily="18" charset="0"/>
              </a:rPr>
              <a:t>q</a:t>
            </a:r>
            <a:r>
              <a:rPr lang="en-US" sz="2200" dirty="0" smtClean="0"/>
              <a:t> denotes “I am at home or it is raining.”</a:t>
            </a:r>
          </a:p>
        </p:txBody>
      </p:sp>
      <p:graphicFrame>
        <p:nvGraphicFramePr>
          <p:cNvPr id="12" name="Content Placeholder 3"/>
          <p:cNvGraphicFramePr>
            <a:graphicFrameLocks/>
          </p:cNvGraphicFramePr>
          <p:nvPr/>
        </p:nvGraphicFramePr>
        <p:xfrm>
          <a:off x="1524000" y="3124200"/>
          <a:ext cx="5638800" cy="1828800"/>
        </p:xfrm>
        <a:graphic>
          <a:graphicData uri="http://schemas.openxmlformats.org/drawingml/2006/table">
            <a:tbl>
              <a:tblPr firstRow="1" bandRow="1">
                <a:tableStyleId>{5C22544A-7EE6-4342-B048-85BDC9FD1C3A}</a:tableStyleId>
              </a:tblPr>
              <a:tblGrid>
                <a:gridCol w="1879600">
                  <a:extLst>
                    <a:ext uri="{9D8B030D-6E8A-4147-A177-3AD203B41FA5}">
                      <a16:colId xmlns:a16="http://schemas.microsoft.com/office/drawing/2014/main" val="20000"/>
                    </a:ext>
                  </a:extLst>
                </a:gridCol>
                <a:gridCol w="1879600">
                  <a:extLst>
                    <a:ext uri="{9D8B030D-6E8A-4147-A177-3AD203B41FA5}">
                      <a16:colId xmlns:a16="http://schemas.microsoft.com/office/drawing/2014/main" val="20001"/>
                    </a:ext>
                  </a:extLst>
                </a:gridCol>
                <a:gridCol w="1879600">
                  <a:extLst>
                    <a:ext uri="{9D8B030D-6E8A-4147-A177-3AD203B41FA5}">
                      <a16:colId xmlns:a16="http://schemas.microsoft.com/office/drawing/2014/main" val="20002"/>
                    </a:ext>
                  </a:extLst>
                </a:gridCol>
              </a:tblGrid>
              <a:tr h="213360">
                <a:tc>
                  <a:txBody>
                    <a:bodyPr/>
                    <a:lstStyle/>
                    <a:p>
                      <a:r>
                        <a:rPr lang="en-US" i="1" dirty="0" smtClean="0">
                          <a:latin typeface="Cambria Math" pitchFamily="18" charset="0"/>
                          <a:ea typeface="Cambria Math" pitchFamily="18" charset="0"/>
                        </a:rPr>
                        <a:t>p</a:t>
                      </a:r>
                      <a:endParaRPr lang="en-US" dirty="0"/>
                    </a:p>
                  </a:txBody>
                  <a:tcPr marL="91441" marR="91441"/>
                </a:tc>
                <a:tc>
                  <a:txBody>
                    <a:bodyPr/>
                    <a:lstStyle/>
                    <a:p>
                      <a:r>
                        <a:rPr lang="en-US" i="1" dirty="0" smtClean="0">
                          <a:latin typeface="Cambria Math" pitchFamily="18" charset="0"/>
                          <a:ea typeface="Cambria Math" pitchFamily="18" charset="0"/>
                        </a:rPr>
                        <a:t>q</a:t>
                      </a:r>
                      <a:r>
                        <a:rPr lang="en-US" dirty="0" smtClean="0"/>
                        <a:t> </a:t>
                      </a:r>
                      <a:endParaRPr lang="en-US" dirty="0"/>
                    </a:p>
                  </a:txBody>
                  <a:tcPr marL="91441" marR="91441"/>
                </a:tc>
                <a:tc>
                  <a:txBody>
                    <a:bodyPr/>
                    <a:lstStyle/>
                    <a:p>
                      <a:r>
                        <a:rPr lang="en-US" i="1" dirty="0" smtClean="0">
                          <a:latin typeface="Cambria Math" pitchFamily="18" charset="0"/>
                          <a:ea typeface="Cambria Math" pitchFamily="18" charset="0"/>
                        </a:rPr>
                        <a:t>p </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q</a:t>
                      </a:r>
                      <a:endParaRPr lang="en-US" dirty="0"/>
                    </a:p>
                  </a:txBody>
                  <a:tcPr marL="91441" marR="91441"/>
                </a:tc>
                <a:extLst>
                  <a:ext uri="{0D108BD9-81ED-4DB2-BD59-A6C34878D82A}">
                    <a16:rowId xmlns:a16="http://schemas.microsoft.com/office/drawing/2014/main" val="10000"/>
                  </a:ext>
                </a:extLst>
              </a:tr>
              <a:tr h="304800">
                <a:tc>
                  <a:txBody>
                    <a:bodyPr/>
                    <a:lstStyle/>
                    <a:p>
                      <a:r>
                        <a:rPr lang="en-US" dirty="0" smtClean="0"/>
                        <a:t>T</a:t>
                      </a:r>
                      <a:endParaRPr lang="en-US" dirty="0"/>
                    </a:p>
                  </a:txBody>
                  <a:tcPr marL="91441" marR="91441"/>
                </a:tc>
                <a:tc>
                  <a:txBody>
                    <a:bodyPr/>
                    <a:lstStyle/>
                    <a:p>
                      <a:r>
                        <a:rPr lang="en-US" dirty="0" smtClean="0"/>
                        <a:t>T</a:t>
                      </a:r>
                      <a:endParaRPr lang="en-US" dirty="0"/>
                    </a:p>
                  </a:txBody>
                  <a:tcPr marL="91441" marR="91441"/>
                </a:tc>
                <a:tc>
                  <a:txBody>
                    <a:bodyPr/>
                    <a:lstStyle/>
                    <a:p>
                      <a:r>
                        <a:rPr lang="en-US" dirty="0" smtClean="0"/>
                        <a:t>T</a:t>
                      </a:r>
                      <a:endParaRPr lang="en-US" dirty="0"/>
                    </a:p>
                  </a:txBody>
                  <a:tcPr marL="91441" marR="91441"/>
                </a:tc>
                <a:extLst>
                  <a:ext uri="{0D108BD9-81ED-4DB2-BD59-A6C34878D82A}">
                    <a16:rowId xmlns:a16="http://schemas.microsoft.com/office/drawing/2014/main" val="10001"/>
                  </a:ext>
                </a:extLst>
              </a:tr>
              <a:tr h="304800">
                <a:tc>
                  <a:txBody>
                    <a:bodyPr/>
                    <a:lstStyle/>
                    <a:p>
                      <a:r>
                        <a:rPr lang="en-US" dirty="0" smtClean="0"/>
                        <a:t>T</a:t>
                      </a:r>
                      <a:endParaRPr lang="en-US" dirty="0"/>
                    </a:p>
                  </a:txBody>
                  <a:tcPr marL="91441" marR="91441"/>
                </a:tc>
                <a:tc>
                  <a:txBody>
                    <a:bodyPr/>
                    <a:lstStyle/>
                    <a:p>
                      <a:r>
                        <a:rPr lang="en-US" dirty="0" smtClean="0"/>
                        <a:t>F</a:t>
                      </a:r>
                      <a:endParaRPr lang="en-US" dirty="0"/>
                    </a:p>
                  </a:txBody>
                  <a:tcPr marL="91441" marR="91441"/>
                </a:tc>
                <a:tc>
                  <a:txBody>
                    <a:bodyPr/>
                    <a:lstStyle/>
                    <a:p>
                      <a:r>
                        <a:rPr lang="en-US" dirty="0" smtClean="0"/>
                        <a:t>T</a:t>
                      </a:r>
                      <a:endParaRPr lang="en-US" dirty="0"/>
                    </a:p>
                  </a:txBody>
                  <a:tcPr marL="91441" marR="91441"/>
                </a:tc>
                <a:extLst>
                  <a:ext uri="{0D108BD9-81ED-4DB2-BD59-A6C34878D82A}">
                    <a16:rowId xmlns:a16="http://schemas.microsoft.com/office/drawing/2014/main" val="10002"/>
                  </a:ext>
                </a:extLst>
              </a:tr>
              <a:tr h="304800">
                <a:tc>
                  <a:txBody>
                    <a:bodyPr/>
                    <a:lstStyle/>
                    <a:p>
                      <a:r>
                        <a:rPr lang="en-US" dirty="0" smtClean="0"/>
                        <a:t>F</a:t>
                      </a:r>
                      <a:endParaRPr lang="en-US" dirty="0"/>
                    </a:p>
                  </a:txBody>
                  <a:tcPr marL="91441" marR="91441"/>
                </a:tc>
                <a:tc>
                  <a:txBody>
                    <a:bodyPr/>
                    <a:lstStyle/>
                    <a:p>
                      <a:r>
                        <a:rPr lang="en-US" dirty="0" smtClean="0"/>
                        <a:t>T</a:t>
                      </a:r>
                      <a:endParaRPr lang="en-US" dirty="0"/>
                    </a:p>
                  </a:txBody>
                  <a:tcPr marL="91441" marR="91441"/>
                </a:tc>
                <a:tc>
                  <a:txBody>
                    <a:bodyPr/>
                    <a:lstStyle/>
                    <a:p>
                      <a:r>
                        <a:rPr lang="en-US" dirty="0" smtClean="0"/>
                        <a:t>T</a:t>
                      </a:r>
                      <a:endParaRPr lang="en-US" dirty="0"/>
                    </a:p>
                  </a:txBody>
                  <a:tcPr marL="91441" marR="91441"/>
                </a:tc>
                <a:extLst>
                  <a:ext uri="{0D108BD9-81ED-4DB2-BD59-A6C34878D82A}">
                    <a16:rowId xmlns:a16="http://schemas.microsoft.com/office/drawing/2014/main" val="10003"/>
                  </a:ext>
                </a:extLst>
              </a:tr>
              <a:tr h="304800">
                <a:tc>
                  <a:txBody>
                    <a:bodyPr/>
                    <a:lstStyle/>
                    <a:p>
                      <a:r>
                        <a:rPr lang="en-US" dirty="0" smtClean="0"/>
                        <a:t>F</a:t>
                      </a:r>
                      <a:endParaRPr lang="en-US" dirty="0"/>
                    </a:p>
                  </a:txBody>
                  <a:tcPr marL="91441" marR="91441"/>
                </a:tc>
                <a:tc>
                  <a:txBody>
                    <a:bodyPr/>
                    <a:lstStyle/>
                    <a:p>
                      <a:r>
                        <a:rPr lang="en-US" dirty="0" smtClean="0"/>
                        <a:t>F</a:t>
                      </a:r>
                      <a:endParaRPr lang="en-US" dirty="0"/>
                    </a:p>
                  </a:txBody>
                  <a:tcPr marL="91441" marR="91441"/>
                </a:tc>
                <a:tc>
                  <a:txBody>
                    <a:bodyPr/>
                    <a:lstStyle/>
                    <a:p>
                      <a:r>
                        <a:rPr lang="en-US" dirty="0" smtClean="0"/>
                        <a:t>F</a:t>
                      </a:r>
                      <a:endParaRPr lang="en-US" dirty="0"/>
                    </a:p>
                  </a:txBody>
                  <a:tcPr marL="91441" marR="91441"/>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807720"/>
          </a:xfrm>
        </p:spPr>
        <p:txBody>
          <a:bodyPr>
            <a:normAutofit fontScale="90000"/>
          </a:bodyPr>
          <a:lstStyle/>
          <a:p>
            <a:r>
              <a:rPr lang="en-US" dirty="0" smtClean="0"/>
              <a:t/>
            </a:r>
            <a:br>
              <a:rPr lang="en-US" dirty="0" smtClean="0"/>
            </a:br>
            <a:r>
              <a:rPr lang="en-US" dirty="0" smtClean="0"/>
              <a:t>The Connective Or in English</a:t>
            </a:r>
            <a:endParaRPr lang="en-US" dirty="0"/>
          </a:p>
        </p:txBody>
      </p:sp>
      <p:sp>
        <p:nvSpPr>
          <p:cNvPr id="3" name="Content Placeholder 2"/>
          <p:cNvSpPr>
            <a:spLocks noGrp="1"/>
          </p:cNvSpPr>
          <p:nvPr>
            <p:ph idx="1"/>
          </p:nvPr>
        </p:nvSpPr>
        <p:spPr>
          <a:xfrm>
            <a:off x="304800" y="1600200"/>
            <a:ext cx="8229600" cy="4389120"/>
          </a:xfrm>
        </p:spPr>
        <p:txBody>
          <a:bodyPr/>
          <a:lstStyle/>
          <a:p>
            <a:r>
              <a:rPr lang="en-US" dirty="0" smtClean="0"/>
              <a:t>In English “or” has two distinct meanings.</a:t>
            </a:r>
          </a:p>
          <a:p>
            <a:pPr lvl="1"/>
            <a:r>
              <a:rPr lang="en-US" sz="1800" dirty="0" smtClean="0"/>
              <a:t>“</a:t>
            </a:r>
            <a:r>
              <a:rPr lang="en-US" sz="1800" dirty="0" smtClean="0"/>
              <a:t>Inclusive Or”  - In the sentence “Students who have taken </a:t>
            </a:r>
            <a:r>
              <a:rPr lang="en-US" sz="1800" b="1" dirty="0" smtClean="0"/>
              <a:t>CS</a:t>
            </a:r>
            <a:r>
              <a:rPr lang="en-US" sz="1800" b="1" dirty="0" smtClean="0">
                <a:latin typeface="Cambria Math" pitchFamily="18" charset="0"/>
                <a:ea typeface="Cambria Math" pitchFamily="18" charset="0"/>
              </a:rPr>
              <a:t>202</a:t>
            </a:r>
            <a:r>
              <a:rPr lang="en-US" sz="1800" dirty="0" smtClean="0">
                <a:latin typeface="Cambria Math" pitchFamily="18" charset="0"/>
                <a:ea typeface="Cambria Math" pitchFamily="18" charset="0"/>
              </a:rPr>
              <a:t> </a:t>
            </a:r>
            <a:r>
              <a:rPr lang="en-US" sz="1800" dirty="0" smtClean="0"/>
              <a:t>or </a:t>
            </a:r>
            <a:r>
              <a:rPr lang="en-US" sz="1800" b="1" dirty="0" smtClean="0"/>
              <a:t>Math</a:t>
            </a:r>
            <a:r>
              <a:rPr lang="en-US" sz="1800" b="1" dirty="0" smtClean="0">
                <a:latin typeface="Cambria Math" pitchFamily="18" charset="0"/>
                <a:ea typeface="Cambria Math" pitchFamily="18" charset="0"/>
              </a:rPr>
              <a:t>120</a:t>
            </a:r>
            <a:r>
              <a:rPr lang="en-US" sz="1800" dirty="0" smtClean="0"/>
              <a:t> may take this class,” we assume that students need to have taken one of the prerequisites, but may have taken both. This is the meaning of </a:t>
            </a:r>
            <a:r>
              <a:rPr lang="en-US" sz="1800" dirty="0" smtClean="0">
                <a:latin typeface="Cambria Math" pitchFamily="18" charset="0"/>
                <a:ea typeface="Cambria Math" pitchFamily="18" charset="0"/>
              </a:rPr>
              <a:t>disjunction. For </a:t>
            </a:r>
            <a:r>
              <a:rPr lang="en-US" sz="1800" i="1" dirty="0" smtClean="0">
                <a:latin typeface="Cambria Math" pitchFamily="18" charset="0"/>
                <a:ea typeface="Cambria Math" pitchFamily="18" charset="0"/>
              </a:rPr>
              <a:t>p </a:t>
            </a:r>
            <a:r>
              <a:rPr lang="en-US" sz="1800" dirty="0" smtClean="0">
                <a:latin typeface="Cambria Math"/>
                <a:ea typeface="Cambria Math"/>
              </a:rPr>
              <a:t>∨</a:t>
            </a:r>
            <a:r>
              <a:rPr lang="en-US" sz="1800" i="1" dirty="0" smtClean="0">
                <a:latin typeface="Cambria Math"/>
                <a:ea typeface="Cambria Math"/>
              </a:rPr>
              <a:t>q</a:t>
            </a:r>
            <a:r>
              <a:rPr lang="en-US" sz="1800" dirty="0" smtClean="0">
                <a:latin typeface="Cambria Math" pitchFamily="18" charset="0"/>
                <a:ea typeface="Cambria Math" pitchFamily="18" charset="0"/>
              </a:rPr>
              <a:t>  to be true, either one or both of </a:t>
            </a:r>
            <a:r>
              <a:rPr lang="en-US" sz="1800" i="1" dirty="0" smtClean="0">
                <a:latin typeface="Cambria Math" pitchFamily="18" charset="0"/>
                <a:ea typeface="Cambria Math" pitchFamily="18" charset="0"/>
              </a:rPr>
              <a:t>p</a:t>
            </a:r>
            <a:r>
              <a:rPr lang="en-US" sz="1800" dirty="0" smtClean="0">
                <a:latin typeface="Cambria Math" pitchFamily="18" charset="0"/>
                <a:ea typeface="Cambria Math" pitchFamily="18" charset="0"/>
              </a:rPr>
              <a:t> and </a:t>
            </a:r>
            <a:r>
              <a:rPr lang="en-US" sz="1800" i="1" dirty="0" smtClean="0">
                <a:latin typeface="Cambria Math" pitchFamily="18" charset="0"/>
                <a:ea typeface="Cambria Math" pitchFamily="18" charset="0"/>
              </a:rPr>
              <a:t>q </a:t>
            </a:r>
            <a:r>
              <a:rPr lang="en-US" sz="1800" dirty="0" smtClean="0">
                <a:latin typeface="Cambria Math" pitchFamily="18" charset="0"/>
                <a:ea typeface="Cambria Math" pitchFamily="18" charset="0"/>
              </a:rPr>
              <a:t>must be true.</a:t>
            </a:r>
            <a:endParaRPr lang="en-US" sz="1800" dirty="0" smtClean="0"/>
          </a:p>
          <a:p>
            <a:pPr lvl="1"/>
            <a:r>
              <a:rPr lang="en-US" sz="1800" dirty="0" smtClean="0"/>
              <a:t>“Exclusive Or”  - When reading the sentence “Soup or salad comes with this entrée,” we do not expect to be able to get both soup and salad. This is the meaning of Exclusive Or (</a:t>
            </a:r>
            <a:r>
              <a:rPr lang="en-US" sz="1800" dirty="0" err="1" smtClean="0"/>
              <a:t>Xor</a:t>
            </a:r>
            <a:r>
              <a:rPr lang="en-US" sz="1800" dirty="0" smtClean="0"/>
              <a:t>). In </a:t>
            </a:r>
            <a:r>
              <a:rPr lang="en-US" sz="1800" i="1" dirty="0" smtClean="0"/>
              <a:t>p</a:t>
            </a:r>
            <a:r>
              <a:rPr lang="en-US" sz="1800" dirty="0" smtClean="0">
                <a:latin typeface="Cambria Math"/>
                <a:ea typeface="Cambria Math"/>
              </a:rPr>
              <a:t> ⊕ </a:t>
            </a:r>
            <a:r>
              <a:rPr lang="en-US" sz="1800" i="1" dirty="0" smtClean="0">
                <a:latin typeface="Cambria Math"/>
                <a:ea typeface="Cambria Math"/>
              </a:rPr>
              <a:t>q , </a:t>
            </a:r>
            <a:r>
              <a:rPr lang="en-US" sz="1800" dirty="0" smtClean="0">
                <a:ea typeface="Cambria Math"/>
              </a:rPr>
              <a:t>one of </a:t>
            </a:r>
            <a:r>
              <a:rPr lang="en-US" sz="1800" i="1" dirty="0" smtClean="0">
                <a:ea typeface="Cambria Math"/>
              </a:rPr>
              <a:t>p</a:t>
            </a:r>
            <a:r>
              <a:rPr lang="en-US" sz="1800" dirty="0" smtClean="0">
                <a:ea typeface="Cambria Math"/>
              </a:rPr>
              <a:t> and </a:t>
            </a:r>
            <a:r>
              <a:rPr lang="en-US" sz="1800" i="1" dirty="0" smtClean="0">
                <a:ea typeface="Cambria Math"/>
              </a:rPr>
              <a:t>q</a:t>
            </a:r>
            <a:r>
              <a:rPr lang="en-US" sz="1800" dirty="0" smtClean="0">
                <a:ea typeface="Cambria Math"/>
              </a:rPr>
              <a:t> must be true</a:t>
            </a:r>
            <a:r>
              <a:rPr lang="en-US" sz="1800" dirty="0" smtClean="0">
                <a:latin typeface="Cambria Math"/>
                <a:ea typeface="Cambria Math"/>
              </a:rPr>
              <a:t>, but not both.  The truth table for ⊕ is:</a:t>
            </a:r>
            <a:endParaRPr lang="en-US" sz="1800" i="1" dirty="0" smtClean="0"/>
          </a:p>
          <a:p>
            <a:pPr lvl="1"/>
            <a:endParaRPr lang="en-US" sz="1800" dirty="0" smtClean="0"/>
          </a:p>
        </p:txBody>
      </p:sp>
      <p:graphicFrame>
        <p:nvGraphicFramePr>
          <p:cNvPr id="4" name="Content Placeholder 3"/>
          <p:cNvGraphicFramePr>
            <a:graphicFrameLocks/>
          </p:cNvGraphicFramePr>
          <p:nvPr>
            <p:extLst>
              <p:ext uri="{D42A27DB-BD31-4B8C-83A1-F6EECF244321}">
                <p14:modId xmlns:p14="http://schemas.microsoft.com/office/powerpoint/2010/main" val="1767033170"/>
              </p:ext>
            </p:extLst>
          </p:nvPr>
        </p:nvGraphicFramePr>
        <p:xfrm>
          <a:off x="2743200" y="4572000"/>
          <a:ext cx="4648200" cy="1828800"/>
        </p:xfrm>
        <a:graphic>
          <a:graphicData uri="http://schemas.openxmlformats.org/drawingml/2006/table">
            <a:tbl>
              <a:tblPr firstRow="1" bandRow="1">
                <a:tableStyleId>{5C22544A-7EE6-4342-B048-85BDC9FD1C3A}</a:tableStyleId>
              </a:tblPr>
              <a:tblGrid>
                <a:gridCol w="1549400">
                  <a:extLst>
                    <a:ext uri="{9D8B030D-6E8A-4147-A177-3AD203B41FA5}">
                      <a16:colId xmlns:a16="http://schemas.microsoft.com/office/drawing/2014/main" val="20000"/>
                    </a:ext>
                  </a:extLst>
                </a:gridCol>
                <a:gridCol w="1549400">
                  <a:extLst>
                    <a:ext uri="{9D8B030D-6E8A-4147-A177-3AD203B41FA5}">
                      <a16:colId xmlns:a16="http://schemas.microsoft.com/office/drawing/2014/main" val="20001"/>
                    </a:ext>
                  </a:extLst>
                </a:gridCol>
                <a:gridCol w="1549400">
                  <a:extLst>
                    <a:ext uri="{9D8B030D-6E8A-4147-A177-3AD203B41FA5}">
                      <a16:colId xmlns:a16="http://schemas.microsoft.com/office/drawing/2014/main" val="20002"/>
                    </a:ext>
                  </a:extLst>
                </a:gridCol>
              </a:tblGrid>
              <a:tr h="274320">
                <a:tc>
                  <a:txBody>
                    <a:bodyPr/>
                    <a:lstStyle/>
                    <a:p>
                      <a:r>
                        <a:rPr lang="en-US" i="1" dirty="0" smtClean="0">
                          <a:latin typeface="Cambria Math" pitchFamily="18" charset="0"/>
                          <a:ea typeface="Cambria Math" pitchFamily="18" charset="0"/>
                        </a:rPr>
                        <a:t>p </a:t>
                      </a:r>
                      <a:endParaRPr lang="en-US" dirty="0"/>
                    </a:p>
                  </a:txBody>
                  <a:tcPr marL="91441" marR="91441"/>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latin typeface="Cambria Math" pitchFamily="18" charset="0"/>
                          <a:ea typeface="Cambria Math" pitchFamily="18" charset="0"/>
                        </a:rPr>
                        <a:t>q</a:t>
                      </a:r>
                      <a:endParaRPr lang="en-US" dirty="0" smtClean="0"/>
                    </a:p>
                  </a:txBody>
                  <a:tcPr marL="91441" marR="91441"/>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latin typeface="Cambria Math" pitchFamily="18" charset="0"/>
                          <a:ea typeface="Cambria Math" pitchFamily="18" charset="0"/>
                        </a:rPr>
                        <a:t>p </a:t>
                      </a:r>
                      <a:r>
                        <a:rPr lang="en-US" i="0" dirty="0" smtClean="0">
                          <a:latin typeface="Cambria Math"/>
                          <a:ea typeface="Cambria Math"/>
                        </a:rPr>
                        <a:t>⊕</a:t>
                      </a:r>
                      <a:r>
                        <a:rPr lang="en-US" i="1" dirty="0" smtClean="0">
                          <a:latin typeface="Cambria Math" pitchFamily="18" charset="0"/>
                          <a:ea typeface="Cambria Math" pitchFamily="18" charset="0"/>
                        </a:rPr>
                        <a:t>q</a:t>
                      </a:r>
                      <a:endParaRPr lang="en-US" dirty="0" smtClean="0"/>
                    </a:p>
                  </a:txBody>
                  <a:tcPr marL="91441" marR="91441"/>
                </a:tc>
                <a:extLst>
                  <a:ext uri="{0D108BD9-81ED-4DB2-BD59-A6C34878D82A}">
                    <a16:rowId xmlns:a16="http://schemas.microsoft.com/office/drawing/2014/main" val="10000"/>
                  </a:ext>
                </a:extLst>
              </a:tr>
              <a:tr h="274320">
                <a:tc>
                  <a:txBody>
                    <a:bodyPr/>
                    <a:lstStyle/>
                    <a:p>
                      <a:r>
                        <a:rPr lang="en-US" dirty="0" smtClean="0"/>
                        <a:t>T</a:t>
                      </a:r>
                      <a:endParaRPr lang="en-US" dirty="0"/>
                    </a:p>
                  </a:txBody>
                  <a:tcPr marL="91441" marR="91441"/>
                </a:tc>
                <a:tc>
                  <a:txBody>
                    <a:bodyPr/>
                    <a:lstStyle/>
                    <a:p>
                      <a:r>
                        <a:rPr lang="en-US" dirty="0" smtClean="0"/>
                        <a:t>T</a:t>
                      </a:r>
                      <a:endParaRPr lang="en-US" dirty="0"/>
                    </a:p>
                  </a:txBody>
                  <a:tcPr marL="91441" marR="91441"/>
                </a:tc>
                <a:tc>
                  <a:txBody>
                    <a:bodyPr/>
                    <a:lstStyle/>
                    <a:p>
                      <a:r>
                        <a:rPr lang="en-US" dirty="0" smtClean="0"/>
                        <a:t>F</a:t>
                      </a:r>
                      <a:endParaRPr lang="en-US" dirty="0"/>
                    </a:p>
                  </a:txBody>
                  <a:tcPr marL="91441" marR="91441"/>
                </a:tc>
                <a:extLst>
                  <a:ext uri="{0D108BD9-81ED-4DB2-BD59-A6C34878D82A}">
                    <a16:rowId xmlns:a16="http://schemas.microsoft.com/office/drawing/2014/main" val="10001"/>
                  </a:ext>
                </a:extLst>
              </a:tr>
              <a:tr h="274320">
                <a:tc>
                  <a:txBody>
                    <a:bodyPr/>
                    <a:lstStyle/>
                    <a:p>
                      <a:r>
                        <a:rPr lang="en-US" dirty="0" smtClean="0"/>
                        <a:t>T</a:t>
                      </a:r>
                      <a:endParaRPr lang="en-US" dirty="0"/>
                    </a:p>
                  </a:txBody>
                  <a:tcPr marL="91441" marR="91441"/>
                </a:tc>
                <a:tc>
                  <a:txBody>
                    <a:bodyPr/>
                    <a:lstStyle/>
                    <a:p>
                      <a:r>
                        <a:rPr lang="en-US" dirty="0" smtClean="0"/>
                        <a:t>F</a:t>
                      </a:r>
                      <a:endParaRPr lang="en-US" dirty="0"/>
                    </a:p>
                  </a:txBody>
                  <a:tcPr marL="91441" marR="91441"/>
                </a:tc>
                <a:tc>
                  <a:txBody>
                    <a:bodyPr/>
                    <a:lstStyle/>
                    <a:p>
                      <a:r>
                        <a:rPr lang="en-US" dirty="0" smtClean="0"/>
                        <a:t>T</a:t>
                      </a:r>
                      <a:endParaRPr lang="en-US" dirty="0"/>
                    </a:p>
                  </a:txBody>
                  <a:tcPr marL="91441" marR="91441"/>
                </a:tc>
                <a:extLst>
                  <a:ext uri="{0D108BD9-81ED-4DB2-BD59-A6C34878D82A}">
                    <a16:rowId xmlns:a16="http://schemas.microsoft.com/office/drawing/2014/main" val="10002"/>
                  </a:ext>
                </a:extLst>
              </a:tr>
              <a:tr h="274320">
                <a:tc>
                  <a:txBody>
                    <a:bodyPr/>
                    <a:lstStyle/>
                    <a:p>
                      <a:r>
                        <a:rPr lang="en-US" dirty="0" smtClean="0"/>
                        <a:t>F</a:t>
                      </a:r>
                      <a:endParaRPr lang="en-US" dirty="0"/>
                    </a:p>
                  </a:txBody>
                  <a:tcPr marL="91441" marR="91441"/>
                </a:tc>
                <a:tc>
                  <a:txBody>
                    <a:bodyPr/>
                    <a:lstStyle/>
                    <a:p>
                      <a:r>
                        <a:rPr lang="en-US" dirty="0" smtClean="0"/>
                        <a:t>T</a:t>
                      </a:r>
                      <a:endParaRPr lang="en-US" dirty="0"/>
                    </a:p>
                  </a:txBody>
                  <a:tcPr marL="91441" marR="91441"/>
                </a:tc>
                <a:tc>
                  <a:txBody>
                    <a:bodyPr/>
                    <a:lstStyle/>
                    <a:p>
                      <a:r>
                        <a:rPr lang="en-US" dirty="0" smtClean="0"/>
                        <a:t>T</a:t>
                      </a:r>
                      <a:endParaRPr lang="en-US" dirty="0"/>
                    </a:p>
                  </a:txBody>
                  <a:tcPr marL="91441" marR="91441"/>
                </a:tc>
                <a:extLst>
                  <a:ext uri="{0D108BD9-81ED-4DB2-BD59-A6C34878D82A}">
                    <a16:rowId xmlns:a16="http://schemas.microsoft.com/office/drawing/2014/main" val="10003"/>
                  </a:ext>
                </a:extLst>
              </a:tr>
              <a:tr h="274320">
                <a:tc>
                  <a:txBody>
                    <a:bodyPr/>
                    <a:lstStyle/>
                    <a:p>
                      <a:r>
                        <a:rPr lang="en-US" dirty="0" smtClean="0"/>
                        <a:t>F</a:t>
                      </a:r>
                      <a:endParaRPr lang="en-US" dirty="0"/>
                    </a:p>
                  </a:txBody>
                  <a:tcPr marL="91441" marR="91441"/>
                </a:tc>
                <a:tc>
                  <a:txBody>
                    <a:bodyPr/>
                    <a:lstStyle/>
                    <a:p>
                      <a:r>
                        <a:rPr lang="en-US" dirty="0" smtClean="0"/>
                        <a:t>F</a:t>
                      </a:r>
                      <a:endParaRPr lang="en-US" dirty="0"/>
                    </a:p>
                  </a:txBody>
                  <a:tcPr marL="91441" marR="91441"/>
                </a:tc>
                <a:tc>
                  <a:txBody>
                    <a:bodyPr/>
                    <a:lstStyle/>
                    <a:p>
                      <a:r>
                        <a:rPr lang="en-US" dirty="0" smtClean="0"/>
                        <a:t>F</a:t>
                      </a:r>
                      <a:endParaRPr lang="en-US" dirty="0"/>
                    </a:p>
                  </a:txBody>
                  <a:tcPr marL="91441" marR="91441"/>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800" y="419100"/>
            <a:ext cx="8229600" cy="1143000"/>
          </a:xfrm>
        </p:spPr>
        <p:txBody>
          <a:bodyPr>
            <a:normAutofit/>
          </a:bodyPr>
          <a:lstStyle/>
          <a:p>
            <a:r>
              <a:rPr lang="en-US" dirty="0" smtClean="0"/>
              <a:t> Implication</a:t>
            </a:r>
            <a:endParaRPr lang="en-US" dirty="0"/>
          </a:p>
        </p:txBody>
      </p:sp>
      <p:sp>
        <p:nvSpPr>
          <p:cNvPr id="3" name="Content Placeholder 2"/>
          <p:cNvSpPr>
            <a:spLocks noGrp="1"/>
          </p:cNvSpPr>
          <p:nvPr>
            <p:ph idx="1"/>
          </p:nvPr>
        </p:nvSpPr>
        <p:spPr>
          <a:xfrm>
            <a:off x="396240" y="1577340"/>
            <a:ext cx="8229600" cy="5280660"/>
          </a:xfrm>
        </p:spPr>
        <p:txBody>
          <a:bodyPr>
            <a:normAutofit fontScale="92500" lnSpcReduction="20000"/>
          </a:bodyPr>
          <a:lstStyle/>
          <a:p>
            <a:r>
              <a:rPr lang="en-US" sz="2000" dirty="0" smtClean="0"/>
              <a:t>If </a:t>
            </a:r>
            <a:r>
              <a:rPr lang="en-US" sz="2000" b="1" i="1" dirty="0" smtClean="0">
                <a:latin typeface="Cambria Math" pitchFamily="18" charset="0"/>
                <a:ea typeface="Cambria Math" pitchFamily="18" charset="0"/>
              </a:rPr>
              <a:t>p</a:t>
            </a:r>
            <a:r>
              <a:rPr lang="en-US" sz="2000" dirty="0" smtClean="0"/>
              <a:t>  and </a:t>
            </a:r>
            <a:r>
              <a:rPr lang="en-US" sz="2000" b="1" i="1" dirty="0" smtClean="0">
                <a:latin typeface="Cambria Math" pitchFamily="18" charset="0"/>
                <a:ea typeface="Cambria Math" pitchFamily="18" charset="0"/>
              </a:rPr>
              <a:t>q</a:t>
            </a:r>
            <a:r>
              <a:rPr lang="en-US" sz="2000" dirty="0" smtClean="0"/>
              <a:t>  are propositions, then </a:t>
            </a:r>
            <a:r>
              <a:rPr lang="en-US" sz="2000" b="1" i="1" dirty="0" smtClean="0">
                <a:latin typeface="Cambria Math" pitchFamily="18" charset="0"/>
                <a:ea typeface="Cambria Math" pitchFamily="18" charset="0"/>
              </a:rPr>
              <a:t>p </a:t>
            </a:r>
            <a:r>
              <a:rPr lang="en-US" sz="2000" b="1" dirty="0" smtClean="0">
                <a:latin typeface="Cambria Math"/>
                <a:ea typeface="Cambria Math"/>
              </a:rPr>
              <a:t>→</a:t>
            </a:r>
            <a:r>
              <a:rPr lang="en-US" sz="2000" b="1" i="1" dirty="0" smtClean="0">
                <a:latin typeface="Cambria Math" pitchFamily="18" charset="0"/>
                <a:ea typeface="Cambria Math" pitchFamily="18" charset="0"/>
              </a:rPr>
              <a:t>q</a:t>
            </a:r>
            <a:r>
              <a:rPr lang="en-US" sz="2000" dirty="0" smtClean="0"/>
              <a:t> is a </a:t>
            </a:r>
            <a:r>
              <a:rPr lang="en-US" sz="2000" i="1" dirty="0" smtClean="0"/>
              <a:t>conditional statement </a:t>
            </a:r>
            <a:r>
              <a:rPr lang="en-US" sz="2000" dirty="0" smtClean="0"/>
              <a:t>or </a:t>
            </a:r>
            <a:r>
              <a:rPr lang="en-US" sz="2000" i="1" dirty="0" smtClean="0"/>
              <a:t>implication </a:t>
            </a:r>
            <a:r>
              <a:rPr lang="en-US" sz="2000" dirty="0" smtClean="0"/>
              <a:t> which is read as “</a:t>
            </a:r>
            <a:r>
              <a:rPr lang="en-US" sz="2000" b="1" dirty="0" smtClean="0"/>
              <a:t>if </a:t>
            </a:r>
            <a:r>
              <a:rPr lang="en-US" sz="2000" b="1" i="1" dirty="0" smtClean="0">
                <a:latin typeface="Cambria Math" pitchFamily="18" charset="0"/>
                <a:ea typeface="Cambria Math" pitchFamily="18" charset="0"/>
              </a:rPr>
              <a:t>p</a:t>
            </a:r>
            <a:r>
              <a:rPr lang="en-US" sz="2000" b="1" dirty="0" smtClean="0"/>
              <a:t>, then </a:t>
            </a:r>
            <a:r>
              <a:rPr lang="en-US" sz="2000" b="1" i="1" dirty="0" smtClean="0">
                <a:latin typeface="Cambria Math" pitchFamily="18" charset="0"/>
                <a:ea typeface="Cambria Math" pitchFamily="18" charset="0"/>
              </a:rPr>
              <a:t>q</a:t>
            </a:r>
            <a:r>
              <a:rPr lang="en-US" sz="2000" b="1" dirty="0" smtClean="0"/>
              <a:t> </a:t>
            </a:r>
            <a:r>
              <a:rPr lang="en-US" sz="2000" dirty="0" smtClean="0"/>
              <a:t>” and has this truth table</a:t>
            </a:r>
            <a:r>
              <a:rPr lang="en-US" sz="2000" dirty="0" smtClean="0"/>
              <a:t>:</a:t>
            </a:r>
          </a:p>
          <a:p>
            <a:r>
              <a:rPr lang="en-US" sz="2000" dirty="0"/>
              <a:t>Whenever </a:t>
            </a:r>
            <a:r>
              <a:rPr lang="en-US" sz="2000" b="1" dirty="0"/>
              <a:t>p is true</a:t>
            </a:r>
            <a:r>
              <a:rPr lang="en-US" sz="2000" dirty="0"/>
              <a:t>, </a:t>
            </a:r>
            <a:r>
              <a:rPr lang="en-US" sz="2000" b="1" dirty="0"/>
              <a:t>q must also be true</a:t>
            </a:r>
            <a:endParaRPr lang="en-US" sz="2000" dirty="0"/>
          </a:p>
          <a:p>
            <a:r>
              <a:rPr lang="en-US" sz="2000" dirty="0"/>
              <a:t>The only time the statement is </a:t>
            </a:r>
            <a:r>
              <a:rPr lang="en-US" sz="2000" b="1" dirty="0"/>
              <a:t>false</a:t>
            </a:r>
            <a:r>
              <a:rPr lang="en-US" sz="2000" dirty="0"/>
              <a:t> is when </a:t>
            </a:r>
            <a:r>
              <a:rPr lang="en-US" sz="2000" b="1" dirty="0"/>
              <a:t>p is true and q is false</a:t>
            </a:r>
            <a:endParaRPr lang="en-US" sz="2000" dirty="0"/>
          </a:p>
          <a:p>
            <a:endParaRPr lang="en-US" sz="2000" dirty="0" smtClean="0"/>
          </a:p>
          <a:p>
            <a:endParaRPr lang="en-US" sz="2000" dirty="0" smtClean="0"/>
          </a:p>
          <a:p>
            <a:endParaRPr lang="en-US" sz="2000" dirty="0" smtClean="0"/>
          </a:p>
          <a:p>
            <a:endParaRPr lang="en-US" sz="2000" dirty="0" smtClean="0"/>
          </a:p>
          <a:p>
            <a:endParaRPr lang="en-US" sz="2000" dirty="0" smtClean="0"/>
          </a:p>
          <a:p>
            <a:endParaRPr lang="en-US" sz="2000" dirty="0" smtClean="0"/>
          </a:p>
          <a:p>
            <a:endParaRPr lang="en-US" sz="2000" dirty="0" smtClean="0"/>
          </a:p>
          <a:p>
            <a:pPr marL="0" indent="0">
              <a:buNone/>
            </a:pPr>
            <a:endParaRPr lang="en-US" sz="2000" dirty="0"/>
          </a:p>
          <a:p>
            <a:pPr marL="0" indent="0">
              <a:buNone/>
            </a:pPr>
            <a:endParaRPr lang="en-US" sz="2000" dirty="0" smtClean="0"/>
          </a:p>
          <a:p>
            <a:r>
              <a:rPr lang="en-US" sz="2200" b="1" dirty="0" smtClean="0"/>
              <a:t>Example</a:t>
            </a:r>
            <a:r>
              <a:rPr lang="en-US" sz="2200" dirty="0" smtClean="0"/>
              <a:t>: If </a:t>
            </a:r>
            <a:r>
              <a:rPr lang="en-US" sz="2200" i="1" dirty="0" smtClean="0">
                <a:latin typeface="Cambria Math" pitchFamily="18" charset="0"/>
                <a:ea typeface="Cambria Math" pitchFamily="18" charset="0"/>
              </a:rPr>
              <a:t>p</a:t>
            </a:r>
            <a:r>
              <a:rPr lang="en-US" sz="2200" dirty="0" smtClean="0"/>
              <a:t>  denotes “I am at home.” and </a:t>
            </a:r>
            <a:r>
              <a:rPr lang="en-US" sz="2200" i="1" dirty="0" smtClean="0">
                <a:latin typeface="Cambria Math" pitchFamily="18" charset="0"/>
                <a:ea typeface="Cambria Math" pitchFamily="18" charset="0"/>
              </a:rPr>
              <a:t>q</a:t>
            </a:r>
            <a:r>
              <a:rPr lang="en-US" sz="2200" dirty="0" smtClean="0"/>
              <a:t>  denotes “It is raining.” then   </a:t>
            </a:r>
            <a:r>
              <a:rPr lang="en-US" sz="2200" i="1" dirty="0" smtClean="0">
                <a:latin typeface="Cambria Math" pitchFamily="18" charset="0"/>
                <a:ea typeface="Cambria Math" pitchFamily="18" charset="0"/>
              </a:rPr>
              <a:t>p </a:t>
            </a:r>
            <a:r>
              <a:rPr lang="en-US" sz="2200" dirty="0" smtClean="0">
                <a:latin typeface="Cambria Math"/>
                <a:ea typeface="Cambria Math"/>
              </a:rPr>
              <a:t>→</a:t>
            </a:r>
            <a:r>
              <a:rPr lang="en-US" sz="2200" i="1" dirty="0" smtClean="0">
                <a:latin typeface="Cambria Math" pitchFamily="18" charset="0"/>
                <a:ea typeface="Cambria Math" pitchFamily="18" charset="0"/>
              </a:rPr>
              <a:t>q</a:t>
            </a:r>
            <a:r>
              <a:rPr lang="en-US" sz="2200" dirty="0" smtClean="0"/>
              <a:t>  denotes “If I am at home then it is raining.” </a:t>
            </a:r>
          </a:p>
          <a:p>
            <a:r>
              <a:rPr lang="en-US" sz="2200" dirty="0" smtClean="0"/>
              <a:t>In </a:t>
            </a:r>
            <a:r>
              <a:rPr lang="en-US" sz="2200" i="1" dirty="0" smtClean="0">
                <a:latin typeface="Cambria Math" pitchFamily="18" charset="0"/>
                <a:ea typeface="Cambria Math" pitchFamily="18" charset="0"/>
              </a:rPr>
              <a:t>p </a:t>
            </a:r>
            <a:r>
              <a:rPr lang="en-US" sz="2200" dirty="0" smtClean="0">
                <a:latin typeface="Cambria Math"/>
                <a:ea typeface="Cambria Math"/>
              </a:rPr>
              <a:t>→</a:t>
            </a:r>
            <a:r>
              <a:rPr lang="en-US" sz="2200" i="1" dirty="0" smtClean="0">
                <a:latin typeface="Cambria Math" pitchFamily="18" charset="0"/>
                <a:ea typeface="Cambria Math" pitchFamily="18" charset="0"/>
              </a:rPr>
              <a:t>q</a:t>
            </a:r>
            <a:r>
              <a:rPr lang="en-US" sz="2200" dirty="0" smtClean="0"/>
              <a:t> , </a:t>
            </a:r>
            <a:r>
              <a:rPr lang="en-US" sz="2000" i="1" dirty="0" smtClean="0">
                <a:latin typeface="Cambria Math" pitchFamily="18" charset="0"/>
                <a:ea typeface="Cambria Math" pitchFamily="18" charset="0"/>
              </a:rPr>
              <a:t>p</a:t>
            </a:r>
            <a:r>
              <a:rPr lang="en-US" sz="2200" dirty="0" smtClean="0"/>
              <a:t>  is the </a:t>
            </a:r>
            <a:r>
              <a:rPr lang="en-US" sz="2200" i="1" dirty="0" smtClean="0"/>
              <a:t>hypothesis</a:t>
            </a:r>
            <a:r>
              <a:rPr lang="en-US" sz="2200" dirty="0" smtClean="0"/>
              <a:t> (</a:t>
            </a:r>
            <a:r>
              <a:rPr lang="en-US" sz="2200" i="1" dirty="0" smtClean="0"/>
              <a:t>antecedent</a:t>
            </a:r>
            <a:r>
              <a:rPr lang="en-US" sz="2200" dirty="0" smtClean="0"/>
              <a:t> or </a:t>
            </a:r>
            <a:r>
              <a:rPr lang="en-US" sz="2200" i="1" dirty="0" smtClean="0"/>
              <a:t>premise</a:t>
            </a:r>
            <a:r>
              <a:rPr lang="en-US" sz="2200" dirty="0" smtClean="0"/>
              <a:t>) and </a:t>
            </a:r>
            <a:r>
              <a:rPr lang="en-US" sz="2000" i="1" dirty="0" smtClean="0">
                <a:latin typeface="Cambria Math" pitchFamily="18" charset="0"/>
                <a:ea typeface="Cambria Math" pitchFamily="18" charset="0"/>
              </a:rPr>
              <a:t>q</a:t>
            </a:r>
            <a:r>
              <a:rPr lang="en-US" sz="2200" dirty="0" smtClean="0"/>
              <a:t>  is the </a:t>
            </a:r>
            <a:r>
              <a:rPr lang="en-US" sz="2200" i="1" dirty="0" smtClean="0"/>
              <a:t>conclusion</a:t>
            </a:r>
            <a:r>
              <a:rPr lang="en-US" sz="2200" dirty="0" smtClean="0"/>
              <a:t> (or </a:t>
            </a:r>
            <a:r>
              <a:rPr lang="en-US" sz="2200" i="1" dirty="0" smtClean="0"/>
              <a:t>consequence</a:t>
            </a:r>
            <a:r>
              <a:rPr lang="en-US" sz="2200" dirty="0" smtClean="0"/>
              <a:t>). </a:t>
            </a:r>
          </a:p>
          <a:p>
            <a:pPr lvl="1"/>
            <a:endParaRPr lang="en-US" sz="2000" dirty="0" smtClean="0"/>
          </a:p>
        </p:txBody>
      </p:sp>
      <p:graphicFrame>
        <p:nvGraphicFramePr>
          <p:cNvPr id="18" name="Content Placeholder 3"/>
          <p:cNvGraphicFramePr>
            <a:graphicFrameLocks/>
          </p:cNvGraphicFramePr>
          <p:nvPr>
            <p:extLst>
              <p:ext uri="{D42A27DB-BD31-4B8C-83A1-F6EECF244321}">
                <p14:modId xmlns:p14="http://schemas.microsoft.com/office/powerpoint/2010/main" val="332810931"/>
              </p:ext>
            </p:extLst>
          </p:nvPr>
        </p:nvGraphicFramePr>
        <p:xfrm>
          <a:off x="1920239" y="3124200"/>
          <a:ext cx="5181601" cy="1828800"/>
        </p:xfrm>
        <a:graphic>
          <a:graphicData uri="http://schemas.openxmlformats.org/drawingml/2006/table">
            <a:tbl>
              <a:tblPr firstRow="1" bandRow="1">
                <a:tableStyleId>{5C22544A-7EE6-4342-B048-85BDC9FD1C3A}</a:tableStyleId>
              </a:tblPr>
              <a:tblGrid>
                <a:gridCol w="1843903">
                  <a:extLst>
                    <a:ext uri="{9D8B030D-6E8A-4147-A177-3AD203B41FA5}">
                      <a16:colId xmlns:a16="http://schemas.microsoft.com/office/drawing/2014/main" val="20000"/>
                    </a:ext>
                  </a:extLst>
                </a:gridCol>
                <a:gridCol w="1843903">
                  <a:extLst>
                    <a:ext uri="{9D8B030D-6E8A-4147-A177-3AD203B41FA5}">
                      <a16:colId xmlns:a16="http://schemas.microsoft.com/office/drawing/2014/main" val="20001"/>
                    </a:ext>
                  </a:extLst>
                </a:gridCol>
                <a:gridCol w="1493795">
                  <a:extLst>
                    <a:ext uri="{9D8B030D-6E8A-4147-A177-3AD203B41FA5}">
                      <a16:colId xmlns:a16="http://schemas.microsoft.com/office/drawing/2014/main" val="20002"/>
                    </a:ext>
                  </a:extLst>
                </a:gridCol>
              </a:tblGrid>
              <a:tr h="350520">
                <a:tc>
                  <a:txBody>
                    <a:bodyPr/>
                    <a:lstStyle/>
                    <a:p>
                      <a:r>
                        <a:rPr lang="en-US" sz="1800" i="1" dirty="0" smtClean="0">
                          <a:latin typeface="Cambria Math" pitchFamily="18" charset="0"/>
                          <a:ea typeface="Cambria Math" pitchFamily="18" charset="0"/>
                        </a:rPr>
                        <a:t>p</a:t>
                      </a:r>
                      <a:r>
                        <a:rPr lang="en-US" sz="1800" dirty="0" smtClean="0"/>
                        <a:t> </a:t>
                      </a:r>
                      <a:endParaRPr lang="en-US" dirty="0"/>
                    </a:p>
                  </a:txBody>
                  <a:tcPr marL="91441" marR="91441"/>
                </a:tc>
                <a:tc>
                  <a:txBody>
                    <a:bodyPr/>
                    <a:lstStyle/>
                    <a:p>
                      <a:r>
                        <a:rPr lang="en-US" sz="1800" i="1" dirty="0" smtClean="0">
                          <a:latin typeface="Cambria Math" pitchFamily="18" charset="0"/>
                          <a:ea typeface="Cambria Math" pitchFamily="18" charset="0"/>
                        </a:rPr>
                        <a:t>q</a:t>
                      </a:r>
                      <a:endParaRPr lang="en-US" dirty="0"/>
                    </a:p>
                  </a:txBody>
                  <a:tcPr marL="91441" marR="91441"/>
                </a:tc>
                <a:tc>
                  <a:txBody>
                    <a:bodyPr/>
                    <a:lstStyle/>
                    <a:p>
                      <a:r>
                        <a:rPr lang="en-US" sz="1800" i="1" dirty="0" smtClean="0">
                          <a:latin typeface="Cambria Math" pitchFamily="18" charset="0"/>
                          <a:ea typeface="Cambria Math" pitchFamily="18" charset="0"/>
                        </a:rPr>
                        <a:t>p </a:t>
                      </a:r>
                      <a:r>
                        <a:rPr lang="en-US" sz="1800" dirty="0" smtClean="0">
                          <a:latin typeface="Cambria Math"/>
                          <a:ea typeface="Cambria Math"/>
                        </a:rPr>
                        <a:t>→</a:t>
                      </a:r>
                      <a:r>
                        <a:rPr lang="en-US" sz="1800" i="1" dirty="0" smtClean="0">
                          <a:latin typeface="Cambria Math" pitchFamily="18" charset="0"/>
                          <a:ea typeface="Cambria Math" pitchFamily="18" charset="0"/>
                        </a:rPr>
                        <a:t>q</a:t>
                      </a:r>
                      <a:endParaRPr lang="en-US" dirty="0"/>
                    </a:p>
                  </a:txBody>
                  <a:tcPr marL="91441" marR="91441"/>
                </a:tc>
                <a:extLst>
                  <a:ext uri="{0D108BD9-81ED-4DB2-BD59-A6C34878D82A}">
                    <a16:rowId xmlns:a16="http://schemas.microsoft.com/office/drawing/2014/main" val="10000"/>
                  </a:ext>
                </a:extLst>
              </a:tr>
              <a:tr h="350520">
                <a:tc>
                  <a:txBody>
                    <a:bodyPr/>
                    <a:lstStyle/>
                    <a:p>
                      <a:r>
                        <a:rPr lang="en-US" dirty="0" smtClean="0"/>
                        <a:t>T</a:t>
                      </a:r>
                      <a:endParaRPr lang="en-US" dirty="0"/>
                    </a:p>
                  </a:txBody>
                  <a:tcPr marL="91441" marR="91441"/>
                </a:tc>
                <a:tc>
                  <a:txBody>
                    <a:bodyPr/>
                    <a:lstStyle/>
                    <a:p>
                      <a:r>
                        <a:rPr lang="en-US" dirty="0" smtClean="0"/>
                        <a:t>T</a:t>
                      </a:r>
                      <a:endParaRPr lang="en-US" dirty="0"/>
                    </a:p>
                  </a:txBody>
                  <a:tcPr marL="91441" marR="91441"/>
                </a:tc>
                <a:tc>
                  <a:txBody>
                    <a:bodyPr/>
                    <a:lstStyle/>
                    <a:p>
                      <a:r>
                        <a:rPr lang="en-US" dirty="0" smtClean="0"/>
                        <a:t>T</a:t>
                      </a:r>
                      <a:endParaRPr lang="en-US" dirty="0"/>
                    </a:p>
                  </a:txBody>
                  <a:tcPr marL="91441" marR="91441"/>
                </a:tc>
                <a:extLst>
                  <a:ext uri="{0D108BD9-81ED-4DB2-BD59-A6C34878D82A}">
                    <a16:rowId xmlns:a16="http://schemas.microsoft.com/office/drawing/2014/main" val="10001"/>
                  </a:ext>
                </a:extLst>
              </a:tr>
              <a:tr h="350520">
                <a:tc>
                  <a:txBody>
                    <a:bodyPr/>
                    <a:lstStyle/>
                    <a:p>
                      <a:r>
                        <a:rPr lang="en-US" dirty="0" smtClean="0"/>
                        <a:t>T</a:t>
                      </a:r>
                      <a:endParaRPr lang="en-US" dirty="0"/>
                    </a:p>
                  </a:txBody>
                  <a:tcPr marL="91441" marR="91441"/>
                </a:tc>
                <a:tc>
                  <a:txBody>
                    <a:bodyPr/>
                    <a:lstStyle/>
                    <a:p>
                      <a:r>
                        <a:rPr lang="en-US" dirty="0" smtClean="0"/>
                        <a:t>F</a:t>
                      </a:r>
                      <a:endParaRPr lang="en-US" dirty="0"/>
                    </a:p>
                  </a:txBody>
                  <a:tcPr marL="91441" marR="91441"/>
                </a:tc>
                <a:tc>
                  <a:txBody>
                    <a:bodyPr/>
                    <a:lstStyle/>
                    <a:p>
                      <a:r>
                        <a:rPr lang="en-US" dirty="0" smtClean="0"/>
                        <a:t>F</a:t>
                      </a:r>
                      <a:endParaRPr lang="en-US" dirty="0"/>
                    </a:p>
                  </a:txBody>
                  <a:tcPr marL="91441" marR="91441"/>
                </a:tc>
                <a:extLst>
                  <a:ext uri="{0D108BD9-81ED-4DB2-BD59-A6C34878D82A}">
                    <a16:rowId xmlns:a16="http://schemas.microsoft.com/office/drawing/2014/main" val="10002"/>
                  </a:ext>
                </a:extLst>
              </a:tr>
              <a:tr h="350520">
                <a:tc>
                  <a:txBody>
                    <a:bodyPr/>
                    <a:lstStyle/>
                    <a:p>
                      <a:r>
                        <a:rPr lang="en-US" dirty="0" smtClean="0"/>
                        <a:t>F</a:t>
                      </a:r>
                      <a:endParaRPr lang="en-US" dirty="0"/>
                    </a:p>
                  </a:txBody>
                  <a:tcPr marL="91441" marR="91441"/>
                </a:tc>
                <a:tc>
                  <a:txBody>
                    <a:bodyPr/>
                    <a:lstStyle/>
                    <a:p>
                      <a:r>
                        <a:rPr lang="en-US" dirty="0" smtClean="0"/>
                        <a:t>T</a:t>
                      </a:r>
                      <a:endParaRPr lang="en-US" dirty="0"/>
                    </a:p>
                  </a:txBody>
                  <a:tcPr marL="91441" marR="91441"/>
                </a:tc>
                <a:tc>
                  <a:txBody>
                    <a:bodyPr/>
                    <a:lstStyle/>
                    <a:p>
                      <a:r>
                        <a:rPr lang="en-US" dirty="0" smtClean="0"/>
                        <a:t>T</a:t>
                      </a:r>
                      <a:endParaRPr lang="en-US" dirty="0"/>
                    </a:p>
                  </a:txBody>
                  <a:tcPr marL="91441" marR="91441"/>
                </a:tc>
                <a:extLst>
                  <a:ext uri="{0D108BD9-81ED-4DB2-BD59-A6C34878D82A}">
                    <a16:rowId xmlns:a16="http://schemas.microsoft.com/office/drawing/2014/main" val="10003"/>
                  </a:ext>
                </a:extLst>
              </a:tr>
              <a:tr h="350520">
                <a:tc>
                  <a:txBody>
                    <a:bodyPr/>
                    <a:lstStyle/>
                    <a:p>
                      <a:r>
                        <a:rPr lang="en-US" dirty="0" smtClean="0"/>
                        <a:t>F</a:t>
                      </a:r>
                      <a:endParaRPr lang="en-US" dirty="0"/>
                    </a:p>
                  </a:txBody>
                  <a:tcPr marL="91441" marR="91441"/>
                </a:tc>
                <a:tc>
                  <a:txBody>
                    <a:bodyPr/>
                    <a:lstStyle/>
                    <a:p>
                      <a:r>
                        <a:rPr lang="en-US" dirty="0" smtClean="0"/>
                        <a:t>F</a:t>
                      </a:r>
                      <a:endParaRPr lang="en-US" dirty="0"/>
                    </a:p>
                  </a:txBody>
                  <a:tcPr marL="91441" marR="91441"/>
                </a:tc>
                <a:tc>
                  <a:txBody>
                    <a:bodyPr/>
                    <a:lstStyle/>
                    <a:p>
                      <a:r>
                        <a:rPr lang="en-US" dirty="0" smtClean="0"/>
                        <a:t>T</a:t>
                      </a:r>
                      <a:endParaRPr lang="en-US" dirty="0"/>
                    </a:p>
                  </a:txBody>
                  <a:tcPr marL="91441" marR="91441"/>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96112"/>
          </a:xfrm>
        </p:spPr>
        <p:txBody>
          <a:bodyPr/>
          <a:lstStyle/>
          <a:p>
            <a:r>
              <a:rPr lang="en-US" dirty="0" smtClean="0"/>
              <a:t> Understanding Implication</a:t>
            </a:r>
            <a:endParaRPr lang="en-US" dirty="0"/>
          </a:p>
        </p:txBody>
      </p:sp>
      <p:sp>
        <p:nvSpPr>
          <p:cNvPr id="3" name="Content Placeholder 2"/>
          <p:cNvSpPr>
            <a:spLocks noGrp="1"/>
          </p:cNvSpPr>
          <p:nvPr>
            <p:ph idx="1"/>
          </p:nvPr>
        </p:nvSpPr>
        <p:spPr/>
        <p:txBody>
          <a:bodyPr>
            <a:normAutofit lnSpcReduction="10000"/>
          </a:bodyPr>
          <a:lstStyle/>
          <a:p>
            <a:pPr marL="274320" lvl="1" indent="-274320">
              <a:buClr>
                <a:schemeClr val="accent3"/>
              </a:buClr>
              <a:buSzPct val="95000"/>
            </a:pPr>
            <a:r>
              <a:rPr lang="en-US" sz="2600" dirty="0" smtClean="0"/>
              <a:t>In </a:t>
            </a:r>
            <a:r>
              <a:rPr lang="en-US" sz="2600" i="1" dirty="0" smtClean="0">
                <a:latin typeface="Cambria Math" pitchFamily="18" charset="0"/>
                <a:ea typeface="Cambria Math" pitchFamily="18" charset="0"/>
              </a:rPr>
              <a:t>p </a:t>
            </a:r>
            <a:r>
              <a:rPr lang="en-US" sz="2600" dirty="0" smtClean="0">
                <a:latin typeface="Cambria Math"/>
                <a:ea typeface="Cambria Math"/>
              </a:rPr>
              <a:t>→</a:t>
            </a:r>
            <a:r>
              <a:rPr lang="en-US" sz="2600" i="1" dirty="0" smtClean="0">
                <a:latin typeface="Cambria Math" pitchFamily="18" charset="0"/>
                <a:ea typeface="Cambria Math" pitchFamily="18" charset="0"/>
              </a:rPr>
              <a:t>q </a:t>
            </a:r>
            <a:r>
              <a:rPr lang="en-US" sz="2600" dirty="0" smtClean="0">
                <a:ea typeface="Cambria Math" pitchFamily="18" charset="0"/>
              </a:rPr>
              <a:t>there does not need to be any connection between the antecedent or the consequent</a:t>
            </a:r>
            <a:r>
              <a:rPr lang="en-US" sz="2600" dirty="0" smtClean="0">
                <a:latin typeface="Cambria Math" pitchFamily="18" charset="0"/>
                <a:ea typeface="Cambria Math" pitchFamily="18" charset="0"/>
              </a:rPr>
              <a:t>. The “meaning” of </a:t>
            </a:r>
            <a:r>
              <a:rPr lang="en-US" sz="2600" i="1" dirty="0" smtClean="0">
                <a:latin typeface="Cambria Math" pitchFamily="18" charset="0"/>
                <a:ea typeface="Cambria Math" pitchFamily="18" charset="0"/>
              </a:rPr>
              <a:t>p </a:t>
            </a:r>
            <a:r>
              <a:rPr lang="en-US" sz="2600" dirty="0" smtClean="0">
                <a:latin typeface="Cambria Math"/>
                <a:ea typeface="Cambria Math"/>
              </a:rPr>
              <a:t>→</a:t>
            </a:r>
            <a:r>
              <a:rPr lang="en-US" sz="2600" i="1" dirty="0" smtClean="0">
                <a:latin typeface="Cambria Math" pitchFamily="18" charset="0"/>
                <a:ea typeface="Cambria Math" pitchFamily="18" charset="0"/>
              </a:rPr>
              <a:t>q </a:t>
            </a:r>
            <a:r>
              <a:rPr lang="en-US" sz="2600" dirty="0" smtClean="0">
                <a:ea typeface="Cambria Math" pitchFamily="18" charset="0"/>
              </a:rPr>
              <a:t>depends only on the truth values of </a:t>
            </a:r>
            <a:r>
              <a:rPr lang="en-US" sz="2600" i="1" dirty="0" smtClean="0">
                <a:latin typeface="Cambria Math" pitchFamily="18" charset="0"/>
                <a:ea typeface="Cambria Math" pitchFamily="18" charset="0"/>
              </a:rPr>
              <a:t>p</a:t>
            </a:r>
            <a:r>
              <a:rPr lang="en-US" sz="2600" dirty="0" smtClean="0">
                <a:ea typeface="Cambria Math" pitchFamily="18" charset="0"/>
              </a:rPr>
              <a:t> and </a:t>
            </a:r>
            <a:r>
              <a:rPr lang="en-US" sz="2600" i="1" dirty="0" smtClean="0">
                <a:latin typeface="Cambria Math" pitchFamily="18" charset="0"/>
                <a:ea typeface="Cambria Math" pitchFamily="18" charset="0"/>
              </a:rPr>
              <a:t>q</a:t>
            </a:r>
            <a:r>
              <a:rPr lang="en-US" sz="2600" dirty="0" smtClean="0">
                <a:ea typeface="Cambria Math" pitchFamily="18" charset="0"/>
              </a:rPr>
              <a:t>. </a:t>
            </a:r>
            <a:endParaRPr lang="en-US" sz="2600" dirty="0" smtClean="0"/>
          </a:p>
          <a:p>
            <a:r>
              <a:rPr lang="en-US" dirty="0" smtClean="0"/>
              <a:t>These implications are perfectly fine, but would not be used in ordinary English.</a:t>
            </a:r>
          </a:p>
          <a:p>
            <a:pPr lvl="1"/>
            <a:r>
              <a:rPr lang="en-US" dirty="0" smtClean="0"/>
              <a:t>“If the moon is made of green cheese, then I have more money than Bill Gates. ”</a:t>
            </a:r>
          </a:p>
          <a:p>
            <a:pPr lvl="1"/>
            <a:r>
              <a:rPr lang="en-US" dirty="0" smtClean="0"/>
              <a:t> “If the moon is made of green cheese then I’m on welfare.”</a:t>
            </a:r>
          </a:p>
          <a:p>
            <a:pPr lvl="1"/>
            <a:r>
              <a:rPr lang="en-US" dirty="0" smtClean="0"/>
              <a:t>“If 1 + 1 = 3, then your grandma wears combat boots.”</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Understanding Implication (cont)</a:t>
            </a:r>
            <a:endParaRPr lang="en-US" dirty="0"/>
          </a:p>
        </p:txBody>
      </p:sp>
      <p:sp>
        <p:nvSpPr>
          <p:cNvPr id="3" name="Content Placeholder 2"/>
          <p:cNvSpPr>
            <a:spLocks noGrp="1"/>
          </p:cNvSpPr>
          <p:nvPr>
            <p:ph idx="1"/>
          </p:nvPr>
        </p:nvSpPr>
        <p:spPr/>
        <p:txBody>
          <a:bodyPr>
            <a:normAutofit lnSpcReduction="10000"/>
          </a:bodyPr>
          <a:lstStyle/>
          <a:p>
            <a:r>
              <a:rPr lang="en-US" dirty="0" smtClean="0"/>
              <a:t>One way to view the logical conditional is to think of an obligation or contract.</a:t>
            </a:r>
          </a:p>
          <a:p>
            <a:pPr lvl="1"/>
            <a:r>
              <a:rPr lang="en-US" dirty="0" smtClean="0"/>
              <a:t>“If I am elected, then I will lower taxes.”</a:t>
            </a:r>
          </a:p>
          <a:p>
            <a:pPr lvl="1"/>
            <a:r>
              <a:rPr lang="en-US" dirty="0" smtClean="0"/>
              <a:t>“If you get 100% on the final, then you will get an A.”</a:t>
            </a:r>
          </a:p>
          <a:p>
            <a:r>
              <a:rPr lang="en-US" dirty="0" smtClean="0"/>
              <a:t>If the politician is elected and does not lower taxes, then the voters can say that he or she has broken the campaign pledge. Something similar holds for the professor. This corresponds to the case where </a:t>
            </a:r>
            <a:r>
              <a:rPr lang="en-US" i="1" dirty="0" smtClean="0">
                <a:latin typeface="Cambria Math" pitchFamily="18" charset="0"/>
                <a:ea typeface="Cambria Math" pitchFamily="18" charset="0"/>
              </a:rPr>
              <a:t>p</a:t>
            </a:r>
            <a:r>
              <a:rPr lang="en-US" dirty="0" smtClean="0"/>
              <a:t> is true and </a:t>
            </a:r>
            <a:r>
              <a:rPr lang="en-US" i="1" dirty="0" smtClean="0">
                <a:latin typeface="Cambria Math" pitchFamily="18" charset="0"/>
                <a:ea typeface="Cambria Math" pitchFamily="18" charset="0"/>
              </a:rPr>
              <a:t>q</a:t>
            </a:r>
            <a:r>
              <a:rPr lang="en-US" dirty="0" smtClean="0"/>
              <a:t> is false. </a:t>
            </a:r>
          </a:p>
          <a:p>
            <a:pPr>
              <a:buNone/>
            </a:pPr>
            <a:endParaRPr lang="en-US" dirty="0" smtClean="0"/>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Different Ways of Expressing </a:t>
            </a:r>
            <a:r>
              <a:rPr lang="en-US" sz="5400" i="1" dirty="0" smtClean="0">
                <a:latin typeface="Cambria Math" pitchFamily="18" charset="0"/>
                <a:ea typeface="Cambria Math" pitchFamily="18" charset="0"/>
              </a:rPr>
              <a:t>p </a:t>
            </a:r>
            <a:r>
              <a:rPr lang="en-US" sz="5400" dirty="0" smtClean="0">
                <a:latin typeface="Cambria Math"/>
                <a:ea typeface="Cambria Math"/>
              </a:rPr>
              <a:t>→</a:t>
            </a:r>
            <a:r>
              <a:rPr lang="en-US" sz="5400" i="1" dirty="0" smtClean="0">
                <a:latin typeface="Cambria Math" pitchFamily="18" charset="0"/>
                <a:ea typeface="Cambria Math" pitchFamily="18" charset="0"/>
              </a:rPr>
              <a:t>q</a:t>
            </a:r>
            <a:r>
              <a:rPr lang="en-US" dirty="0" smtClean="0"/>
              <a:t>  </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dirty="0" smtClean="0"/>
              <a:t>    </a:t>
            </a:r>
          </a:p>
          <a:p>
            <a:pPr>
              <a:buNone/>
            </a:pPr>
            <a:r>
              <a:rPr lang="en-US" b="1" dirty="0" smtClean="0"/>
              <a:t>    if</a:t>
            </a:r>
            <a:r>
              <a:rPr lang="en-US" dirty="0" smtClean="0"/>
              <a:t> </a:t>
            </a:r>
            <a:r>
              <a:rPr lang="en-US" i="1" dirty="0" smtClean="0">
                <a:latin typeface="Cambria Math" pitchFamily="18" charset="0"/>
                <a:ea typeface="Cambria Math" pitchFamily="18" charset="0"/>
              </a:rPr>
              <a:t>p</a:t>
            </a:r>
            <a:r>
              <a:rPr lang="en-US" dirty="0" smtClean="0"/>
              <a:t>, </a:t>
            </a:r>
            <a:r>
              <a:rPr lang="en-US" b="1" dirty="0" smtClean="0"/>
              <a:t>then</a:t>
            </a:r>
            <a:r>
              <a:rPr lang="en-US" dirty="0" smtClean="0"/>
              <a:t> </a:t>
            </a:r>
            <a:r>
              <a:rPr lang="en-US" i="1" dirty="0" smtClean="0">
                <a:latin typeface="Cambria Math" pitchFamily="18" charset="0"/>
                <a:ea typeface="Cambria Math" pitchFamily="18" charset="0"/>
              </a:rPr>
              <a:t>q</a:t>
            </a:r>
            <a:r>
              <a:rPr lang="en-US" dirty="0" smtClean="0"/>
              <a:t>                     </a:t>
            </a:r>
            <a:r>
              <a:rPr lang="en-US" i="1" dirty="0" smtClean="0">
                <a:latin typeface="Cambria Math" pitchFamily="18" charset="0"/>
                <a:ea typeface="Cambria Math" pitchFamily="18" charset="0"/>
              </a:rPr>
              <a:t>p</a:t>
            </a:r>
            <a:r>
              <a:rPr lang="en-US" dirty="0" smtClean="0"/>
              <a:t> </a:t>
            </a:r>
            <a:r>
              <a:rPr lang="en-US" b="1" dirty="0" smtClean="0"/>
              <a:t>implies</a:t>
            </a:r>
            <a:r>
              <a:rPr lang="en-US" dirty="0" smtClean="0"/>
              <a:t> </a:t>
            </a:r>
            <a:r>
              <a:rPr lang="en-US" i="1" dirty="0" smtClean="0">
                <a:latin typeface="Cambria Math" pitchFamily="18" charset="0"/>
                <a:ea typeface="Cambria Math" pitchFamily="18" charset="0"/>
              </a:rPr>
              <a:t>q</a:t>
            </a:r>
            <a:r>
              <a:rPr lang="en-US" dirty="0" smtClean="0"/>
              <a:t> </a:t>
            </a:r>
          </a:p>
          <a:p>
            <a:pPr>
              <a:buNone/>
            </a:pPr>
            <a:r>
              <a:rPr lang="en-US" dirty="0" smtClean="0"/>
              <a:t>    </a:t>
            </a:r>
            <a:r>
              <a:rPr lang="en-US" b="1" dirty="0" smtClean="0"/>
              <a:t>if </a:t>
            </a:r>
            <a:r>
              <a:rPr lang="en-US" i="1" dirty="0" smtClean="0">
                <a:latin typeface="Cambria Math" pitchFamily="18" charset="0"/>
                <a:ea typeface="Cambria Math" pitchFamily="18" charset="0"/>
              </a:rPr>
              <a:t>p</a:t>
            </a:r>
            <a:r>
              <a:rPr lang="en-US" dirty="0" smtClean="0"/>
              <a:t>, </a:t>
            </a:r>
            <a:r>
              <a:rPr lang="en-US" i="1" dirty="0" smtClean="0">
                <a:latin typeface="Cambria Math" pitchFamily="18" charset="0"/>
                <a:ea typeface="Cambria Math" pitchFamily="18" charset="0"/>
              </a:rPr>
              <a:t>q</a:t>
            </a:r>
            <a:r>
              <a:rPr lang="en-US" dirty="0" smtClean="0"/>
              <a:t>                              </a:t>
            </a:r>
            <a:r>
              <a:rPr lang="en-US" i="1" dirty="0" smtClean="0">
                <a:latin typeface="Cambria Math" pitchFamily="18" charset="0"/>
                <a:ea typeface="Cambria Math" pitchFamily="18" charset="0"/>
              </a:rPr>
              <a:t>p</a:t>
            </a:r>
            <a:r>
              <a:rPr lang="en-US" dirty="0" smtClean="0"/>
              <a:t> </a:t>
            </a:r>
            <a:r>
              <a:rPr lang="en-US" b="1" dirty="0" smtClean="0"/>
              <a:t>only if </a:t>
            </a:r>
            <a:r>
              <a:rPr lang="en-US" i="1" dirty="0" smtClean="0">
                <a:latin typeface="Cambria Math" pitchFamily="18" charset="0"/>
                <a:ea typeface="Cambria Math" pitchFamily="18" charset="0"/>
              </a:rPr>
              <a:t>q</a:t>
            </a:r>
            <a:r>
              <a:rPr lang="en-US" dirty="0" smtClean="0"/>
              <a:t>         </a:t>
            </a:r>
          </a:p>
          <a:p>
            <a:pPr>
              <a:buNone/>
            </a:pPr>
            <a:r>
              <a:rPr lang="en-US" dirty="0" smtClean="0">
                <a:latin typeface="Cambria Math" pitchFamily="18" charset="0"/>
                <a:ea typeface="Cambria Math" pitchFamily="18" charset="0"/>
              </a:rPr>
              <a:t>     q</a:t>
            </a:r>
            <a:r>
              <a:rPr lang="en-US" dirty="0" smtClean="0"/>
              <a:t> </a:t>
            </a:r>
            <a:r>
              <a:rPr lang="en-US" b="1" dirty="0" smtClean="0"/>
              <a:t>unless </a:t>
            </a:r>
            <a:r>
              <a:rPr lang="en-US" dirty="0" smtClean="0"/>
              <a:t> </a:t>
            </a:r>
            <a:r>
              <a:rPr lang="en-US" i="1" dirty="0" smtClean="0">
                <a:latin typeface="Cambria Math" pitchFamily="18" charset="0"/>
                <a:ea typeface="Cambria Math" pitchFamily="18" charset="0"/>
              </a:rPr>
              <a:t>¬p</a:t>
            </a:r>
            <a:r>
              <a:rPr lang="en-US" dirty="0" smtClean="0"/>
              <a:t>                 </a:t>
            </a:r>
            <a:r>
              <a:rPr lang="en-US" i="1" dirty="0" smtClean="0">
                <a:latin typeface="Cambria Math" pitchFamily="18" charset="0"/>
                <a:ea typeface="Cambria Math" pitchFamily="18" charset="0"/>
              </a:rPr>
              <a:t>q</a:t>
            </a:r>
            <a:r>
              <a:rPr lang="en-US" dirty="0" smtClean="0"/>
              <a:t> </a:t>
            </a:r>
            <a:r>
              <a:rPr lang="en-US" b="1" dirty="0" smtClean="0"/>
              <a:t>when</a:t>
            </a:r>
            <a:r>
              <a:rPr lang="en-US" dirty="0" smtClean="0"/>
              <a:t> </a:t>
            </a:r>
            <a:r>
              <a:rPr lang="en-US" i="1" dirty="0" smtClean="0">
                <a:latin typeface="Cambria Math" pitchFamily="18" charset="0"/>
                <a:ea typeface="Cambria Math" pitchFamily="18" charset="0"/>
              </a:rPr>
              <a:t>p</a:t>
            </a:r>
            <a:endParaRPr lang="en-US" dirty="0" smtClean="0"/>
          </a:p>
          <a:p>
            <a:pPr>
              <a:buNone/>
            </a:pPr>
            <a:r>
              <a:rPr lang="en-US" dirty="0" smtClean="0"/>
              <a:t>    </a:t>
            </a:r>
            <a:r>
              <a:rPr lang="en-US" i="1" dirty="0" smtClean="0">
                <a:latin typeface="Cambria Math" pitchFamily="18" charset="0"/>
                <a:ea typeface="Cambria Math" pitchFamily="18" charset="0"/>
              </a:rPr>
              <a:t>q</a:t>
            </a:r>
            <a:r>
              <a:rPr lang="en-US" dirty="0" smtClean="0"/>
              <a:t> </a:t>
            </a:r>
            <a:r>
              <a:rPr lang="en-US" b="1" dirty="0" smtClean="0"/>
              <a:t>if</a:t>
            </a:r>
            <a:r>
              <a:rPr lang="en-US" dirty="0" smtClean="0"/>
              <a:t> </a:t>
            </a:r>
            <a:r>
              <a:rPr lang="en-US" i="1" dirty="0" smtClean="0">
                <a:latin typeface="Cambria Math" pitchFamily="18" charset="0"/>
                <a:ea typeface="Cambria Math" pitchFamily="18" charset="0"/>
              </a:rPr>
              <a:t>p                                     </a:t>
            </a:r>
            <a:endParaRPr lang="en-US" dirty="0" smtClean="0"/>
          </a:p>
          <a:p>
            <a:pPr>
              <a:buNone/>
            </a:pPr>
            <a:r>
              <a:rPr lang="en-US" dirty="0" smtClean="0"/>
              <a:t>    </a:t>
            </a:r>
            <a:r>
              <a:rPr lang="en-US" i="1" dirty="0" smtClean="0">
                <a:latin typeface="Cambria Math" pitchFamily="18" charset="0"/>
                <a:ea typeface="Cambria Math" pitchFamily="18" charset="0"/>
              </a:rPr>
              <a:t>q</a:t>
            </a:r>
            <a:r>
              <a:rPr lang="en-US" dirty="0" smtClean="0"/>
              <a:t> </a:t>
            </a:r>
            <a:r>
              <a:rPr lang="en-US" b="1" dirty="0" smtClean="0"/>
              <a:t>whenever</a:t>
            </a:r>
            <a:r>
              <a:rPr lang="en-US" dirty="0" smtClean="0"/>
              <a:t> </a:t>
            </a:r>
            <a:r>
              <a:rPr lang="en-US" i="1" dirty="0" smtClean="0">
                <a:latin typeface="Cambria Math" pitchFamily="18" charset="0"/>
                <a:ea typeface="Cambria Math" pitchFamily="18" charset="0"/>
              </a:rPr>
              <a:t>p</a:t>
            </a:r>
            <a:r>
              <a:rPr lang="en-US" dirty="0" smtClean="0"/>
              <a:t>         </a:t>
            </a:r>
            <a:r>
              <a:rPr lang="en-US" i="1" dirty="0" smtClean="0">
                <a:latin typeface="Cambria Math" pitchFamily="18" charset="0"/>
                <a:ea typeface="Cambria Math" pitchFamily="18" charset="0"/>
              </a:rPr>
              <a:t>        </a:t>
            </a:r>
            <a:r>
              <a:rPr lang="en-US" i="1" dirty="0" err="1" smtClean="0">
                <a:latin typeface="Cambria Math" pitchFamily="18" charset="0"/>
                <a:ea typeface="Cambria Math" pitchFamily="18" charset="0"/>
              </a:rPr>
              <a:t>p</a:t>
            </a:r>
            <a:r>
              <a:rPr lang="en-US" dirty="0" smtClean="0"/>
              <a:t> </a:t>
            </a:r>
            <a:r>
              <a:rPr lang="en-US" b="1" dirty="0" smtClean="0"/>
              <a:t>is sufficient for </a:t>
            </a:r>
            <a:r>
              <a:rPr lang="en-US" i="1" dirty="0" smtClean="0">
                <a:latin typeface="Cambria Math" pitchFamily="18" charset="0"/>
                <a:ea typeface="Cambria Math" pitchFamily="18" charset="0"/>
              </a:rPr>
              <a:t>q</a:t>
            </a:r>
            <a:r>
              <a:rPr lang="en-US" dirty="0" smtClean="0"/>
              <a:t> </a:t>
            </a:r>
          </a:p>
          <a:p>
            <a:pPr>
              <a:buNone/>
            </a:pPr>
            <a:r>
              <a:rPr lang="en-US" dirty="0" smtClean="0"/>
              <a:t>    </a:t>
            </a:r>
            <a:r>
              <a:rPr lang="en-US" i="1" dirty="0" smtClean="0">
                <a:latin typeface="Cambria Math" pitchFamily="18" charset="0"/>
                <a:ea typeface="Cambria Math" pitchFamily="18" charset="0"/>
              </a:rPr>
              <a:t>q</a:t>
            </a:r>
            <a:r>
              <a:rPr lang="en-US" dirty="0" smtClean="0"/>
              <a:t> </a:t>
            </a:r>
            <a:r>
              <a:rPr lang="en-US" b="1" dirty="0" smtClean="0"/>
              <a:t>follows from </a:t>
            </a:r>
            <a:r>
              <a:rPr lang="en-US" i="1" dirty="0" smtClean="0">
                <a:latin typeface="Cambria Math" pitchFamily="18" charset="0"/>
                <a:ea typeface="Cambria Math" pitchFamily="18" charset="0"/>
              </a:rPr>
              <a:t>p</a:t>
            </a:r>
            <a:r>
              <a:rPr lang="en-US" dirty="0" smtClean="0"/>
              <a:t>          </a:t>
            </a:r>
            <a:r>
              <a:rPr lang="en-US" i="1" dirty="0" smtClean="0">
                <a:latin typeface="Cambria Math" pitchFamily="18" charset="0"/>
                <a:ea typeface="Cambria Math" pitchFamily="18" charset="0"/>
              </a:rPr>
              <a:t>q</a:t>
            </a:r>
            <a:r>
              <a:rPr lang="en-US" dirty="0" smtClean="0"/>
              <a:t> </a:t>
            </a:r>
            <a:r>
              <a:rPr lang="en-US" b="1" dirty="0" smtClean="0"/>
              <a:t>is necessary for </a:t>
            </a:r>
            <a:r>
              <a:rPr lang="en-US" i="1" dirty="0" smtClean="0">
                <a:latin typeface="Cambria Math" pitchFamily="18" charset="0"/>
                <a:ea typeface="Cambria Math" pitchFamily="18" charset="0"/>
              </a:rPr>
              <a:t>p</a:t>
            </a:r>
          </a:p>
          <a:p>
            <a:pPr>
              <a:buNone/>
            </a:pPr>
            <a:endParaRPr lang="en-US" dirty="0" smtClean="0"/>
          </a:p>
          <a:p>
            <a:pPr>
              <a:buNone/>
            </a:pPr>
            <a:r>
              <a:rPr lang="en-US" dirty="0" smtClean="0"/>
              <a:t>     </a:t>
            </a:r>
            <a:r>
              <a:rPr lang="en-US" b="1" dirty="0" smtClean="0"/>
              <a:t>a necessary condition for </a:t>
            </a:r>
            <a:r>
              <a:rPr lang="en-US" i="1" dirty="0" smtClean="0">
                <a:latin typeface="Cambria Math" pitchFamily="18" charset="0"/>
                <a:ea typeface="Cambria Math" pitchFamily="18" charset="0"/>
              </a:rPr>
              <a:t>p</a:t>
            </a:r>
            <a:r>
              <a:rPr lang="en-US" dirty="0" smtClean="0"/>
              <a:t> </a:t>
            </a:r>
            <a:r>
              <a:rPr lang="en-US" b="1" dirty="0" smtClean="0"/>
              <a:t>is</a:t>
            </a:r>
            <a:r>
              <a:rPr lang="en-US" dirty="0" smtClean="0"/>
              <a:t> </a:t>
            </a:r>
            <a:r>
              <a:rPr lang="en-US" i="1" dirty="0" smtClean="0"/>
              <a:t>q</a:t>
            </a:r>
            <a:endParaRPr lang="en-US" dirty="0" smtClean="0"/>
          </a:p>
          <a:p>
            <a:pPr>
              <a:buNone/>
            </a:pPr>
            <a:r>
              <a:rPr lang="en-US" dirty="0" smtClean="0"/>
              <a:t>     </a:t>
            </a:r>
            <a:r>
              <a:rPr lang="en-US" b="1" dirty="0" smtClean="0"/>
              <a:t>a sufficient condition for </a:t>
            </a:r>
            <a:r>
              <a:rPr lang="en-US" i="1" dirty="0" smtClean="0">
                <a:latin typeface="Cambria Math" pitchFamily="18" charset="0"/>
                <a:ea typeface="Cambria Math" pitchFamily="18" charset="0"/>
              </a:rPr>
              <a:t>q</a:t>
            </a:r>
            <a:r>
              <a:rPr lang="en-US" dirty="0" smtClean="0"/>
              <a:t> </a:t>
            </a:r>
            <a:r>
              <a:rPr lang="en-US" b="1" dirty="0" smtClean="0"/>
              <a:t>is</a:t>
            </a:r>
            <a:r>
              <a:rPr lang="en-US" dirty="0" smtClean="0"/>
              <a:t> </a:t>
            </a:r>
            <a:r>
              <a:rPr lang="en-US" i="1" dirty="0" smtClean="0">
                <a:latin typeface="Cambria Math" pitchFamily="18" charset="0"/>
                <a:ea typeface="Cambria Math" pitchFamily="18" charset="0"/>
              </a:rPr>
              <a:t>p</a:t>
            </a:r>
            <a:endParaRPr lang="en-US" dirty="0" smtClean="0"/>
          </a:p>
          <a:p>
            <a:pPr>
              <a:buNone/>
            </a:pPr>
            <a:endParaRPr lang="en-US" dirty="0"/>
          </a:p>
        </p:txBody>
      </p:sp>
      <p:sp>
        <p:nvSpPr>
          <p:cNvPr id="6" name="Oval 5"/>
          <p:cNvSpPr/>
          <p:nvPr/>
        </p:nvSpPr>
        <p:spPr>
          <a:xfrm>
            <a:off x="533400" y="2514600"/>
            <a:ext cx="76200" cy="76200"/>
          </a:xfrm>
          <a:prstGeom prst="ellipse">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533400" y="2895600"/>
            <a:ext cx="76200" cy="76200"/>
          </a:xfrm>
          <a:prstGeom prst="ellipse">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533400" y="3352800"/>
            <a:ext cx="76200" cy="76200"/>
          </a:xfrm>
          <a:prstGeom prst="ellipse">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533400" y="3733800"/>
            <a:ext cx="76200" cy="76200"/>
          </a:xfrm>
          <a:prstGeom prst="ellipse">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533400" y="4114800"/>
            <a:ext cx="76200" cy="76200"/>
          </a:xfrm>
          <a:prstGeom prst="ellipse">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533400" y="4495800"/>
            <a:ext cx="76200" cy="76200"/>
          </a:xfrm>
          <a:prstGeom prst="ellipse">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533400" y="5334000"/>
            <a:ext cx="76200" cy="76200"/>
          </a:xfrm>
          <a:prstGeom prst="ellipse">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533400" y="5715000"/>
            <a:ext cx="76200" cy="76200"/>
          </a:xfrm>
          <a:prstGeom prst="ellipse">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3581400" y="2514600"/>
            <a:ext cx="76200" cy="76200"/>
          </a:xfrm>
          <a:prstGeom prst="ellipse">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3581400" y="3276600"/>
            <a:ext cx="76200" cy="76200"/>
          </a:xfrm>
          <a:prstGeom prst="ellipse">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3581400" y="4495800"/>
            <a:ext cx="76200" cy="76200"/>
          </a:xfrm>
          <a:prstGeom prst="ellipse">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3581400" y="4114800"/>
            <a:ext cx="76200" cy="76200"/>
          </a:xfrm>
          <a:prstGeom prst="ellipse">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3581400" y="2895600"/>
            <a:ext cx="76200" cy="76200"/>
          </a:xfrm>
          <a:prstGeom prst="ellipse">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Converse, </a:t>
            </a:r>
            <a:r>
              <a:rPr lang="en-US" sz="4000" dirty="0" err="1" smtClean="0"/>
              <a:t>Contrapositive</a:t>
            </a:r>
            <a:r>
              <a:rPr lang="en-US" sz="4000" dirty="0" smtClean="0"/>
              <a:t>, and Inverse</a:t>
            </a:r>
            <a:endParaRPr lang="en-US" sz="4000" dirty="0"/>
          </a:p>
        </p:txBody>
      </p:sp>
      <p:sp>
        <p:nvSpPr>
          <p:cNvPr id="3" name="Content Placeholder 2"/>
          <p:cNvSpPr>
            <a:spLocks noGrp="1"/>
          </p:cNvSpPr>
          <p:nvPr>
            <p:ph idx="1"/>
          </p:nvPr>
        </p:nvSpPr>
        <p:spPr/>
        <p:txBody>
          <a:bodyPr>
            <a:normAutofit fontScale="92500" lnSpcReduction="10000"/>
          </a:bodyPr>
          <a:lstStyle/>
          <a:p>
            <a:r>
              <a:rPr lang="en-US" dirty="0" smtClean="0"/>
              <a:t>From </a:t>
            </a:r>
            <a:r>
              <a:rPr lang="en-US" sz="2400" i="1" dirty="0" smtClean="0">
                <a:latin typeface="Cambria Math" pitchFamily="18" charset="0"/>
                <a:ea typeface="Cambria Math" pitchFamily="18" charset="0"/>
              </a:rPr>
              <a:t>p </a:t>
            </a:r>
            <a:r>
              <a:rPr lang="en-US" sz="2400" dirty="0" smtClean="0">
                <a:latin typeface="Cambria Math"/>
                <a:ea typeface="Cambria Math"/>
              </a:rPr>
              <a:t>→</a:t>
            </a:r>
            <a:r>
              <a:rPr lang="en-US" sz="2400" i="1" dirty="0" smtClean="0">
                <a:latin typeface="Cambria Math" pitchFamily="18" charset="0"/>
                <a:ea typeface="Cambria Math" pitchFamily="18" charset="0"/>
              </a:rPr>
              <a:t>q</a:t>
            </a:r>
            <a:r>
              <a:rPr lang="en-US" dirty="0" smtClean="0"/>
              <a:t>  we can form new conditional statements .</a:t>
            </a:r>
          </a:p>
          <a:p>
            <a:pPr lvl="1"/>
            <a:r>
              <a:rPr lang="en-US" dirty="0" smtClean="0"/>
              <a:t> </a:t>
            </a:r>
            <a:r>
              <a:rPr lang="en-US" i="1" dirty="0" smtClean="0">
                <a:latin typeface="Cambria Math" pitchFamily="18" charset="0"/>
                <a:ea typeface="Cambria Math" pitchFamily="18" charset="0"/>
              </a:rPr>
              <a:t>q </a:t>
            </a:r>
            <a:r>
              <a:rPr lang="en-US" dirty="0" smtClean="0">
                <a:latin typeface="Cambria Math"/>
                <a:ea typeface="Cambria Math"/>
              </a:rPr>
              <a:t>→</a:t>
            </a:r>
            <a:r>
              <a:rPr lang="en-US" i="1" dirty="0" smtClean="0">
                <a:latin typeface="Cambria Math" pitchFamily="18" charset="0"/>
                <a:ea typeface="Cambria Math" pitchFamily="18" charset="0"/>
              </a:rPr>
              <a:t>p</a:t>
            </a:r>
            <a:r>
              <a:rPr lang="en-US" dirty="0" smtClean="0"/>
              <a:t>            is the </a:t>
            </a:r>
            <a:r>
              <a:rPr lang="en-US" b="1" dirty="0" smtClean="0"/>
              <a:t>converse</a:t>
            </a:r>
            <a:r>
              <a:rPr lang="en-US" dirty="0" smtClean="0"/>
              <a:t> of </a:t>
            </a:r>
            <a:r>
              <a:rPr lang="en-US" i="1" dirty="0" smtClean="0">
                <a:latin typeface="Cambria Math" pitchFamily="18" charset="0"/>
                <a:ea typeface="Cambria Math" pitchFamily="18" charset="0"/>
              </a:rPr>
              <a:t>p </a:t>
            </a:r>
            <a:r>
              <a:rPr lang="en-US" dirty="0" smtClean="0">
                <a:latin typeface="Cambria Math"/>
                <a:ea typeface="Cambria Math"/>
              </a:rPr>
              <a:t>→</a:t>
            </a:r>
            <a:r>
              <a:rPr lang="en-US" i="1" dirty="0" smtClean="0">
                <a:latin typeface="Cambria Math" pitchFamily="18" charset="0"/>
                <a:ea typeface="Cambria Math" pitchFamily="18" charset="0"/>
              </a:rPr>
              <a:t>q</a:t>
            </a:r>
            <a:r>
              <a:rPr lang="en-US" dirty="0" smtClean="0"/>
              <a:t> </a:t>
            </a:r>
          </a:p>
          <a:p>
            <a:pPr lvl="1"/>
            <a:r>
              <a:rPr lang="en-US" dirty="0" smtClean="0"/>
              <a:t> </a:t>
            </a:r>
            <a:r>
              <a:rPr lang="en-US" dirty="0" smtClean="0">
                <a:latin typeface="Cambria Math"/>
                <a:ea typeface="Cambria Math"/>
              </a:rPr>
              <a:t>¬</a:t>
            </a:r>
            <a:r>
              <a:rPr lang="en-US" i="1" dirty="0" smtClean="0">
                <a:latin typeface="Cambria Math" pitchFamily="18" charset="0"/>
                <a:ea typeface="Cambria Math" pitchFamily="18" charset="0"/>
              </a:rPr>
              <a:t>q </a:t>
            </a:r>
            <a:r>
              <a:rPr lang="en-US" dirty="0" smtClean="0">
                <a:latin typeface="Cambria Math"/>
                <a:ea typeface="Cambria Math"/>
              </a:rPr>
              <a:t>→ ¬ </a:t>
            </a:r>
            <a:r>
              <a:rPr lang="en-US" i="1" dirty="0" smtClean="0">
                <a:latin typeface="Cambria Math" pitchFamily="18" charset="0"/>
                <a:ea typeface="Cambria Math" pitchFamily="18" charset="0"/>
              </a:rPr>
              <a:t>p</a:t>
            </a:r>
            <a:r>
              <a:rPr lang="en-US" dirty="0" smtClean="0"/>
              <a:t>    is the </a:t>
            </a:r>
            <a:r>
              <a:rPr lang="en-US" b="1" dirty="0" err="1" smtClean="0"/>
              <a:t>contrapositive</a:t>
            </a:r>
            <a:r>
              <a:rPr lang="en-US" dirty="0" smtClean="0"/>
              <a:t>  of </a:t>
            </a:r>
            <a:r>
              <a:rPr lang="en-US" i="1" dirty="0" smtClean="0">
                <a:latin typeface="Cambria Math" pitchFamily="18" charset="0"/>
                <a:ea typeface="Cambria Math" pitchFamily="18" charset="0"/>
              </a:rPr>
              <a:t>p </a:t>
            </a:r>
            <a:r>
              <a:rPr lang="en-US" dirty="0" smtClean="0">
                <a:latin typeface="Cambria Math"/>
                <a:ea typeface="Cambria Math"/>
              </a:rPr>
              <a:t>→</a:t>
            </a:r>
            <a:r>
              <a:rPr lang="en-US" i="1" dirty="0" smtClean="0">
                <a:latin typeface="Cambria Math" pitchFamily="18" charset="0"/>
                <a:ea typeface="Cambria Math" pitchFamily="18" charset="0"/>
              </a:rPr>
              <a:t>q</a:t>
            </a:r>
            <a:endParaRPr lang="en-US" dirty="0" smtClean="0"/>
          </a:p>
          <a:p>
            <a:pPr lvl="1"/>
            <a:r>
              <a:rPr lang="en-US" dirty="0" smtClean="0">
                <a:latin typeface="Cambria Math"/>
                <a:ea typeface="Cambria Math"/>
              </a:rPr>
              <a:t>¬ </a:t>
            </a:r>
            <a:r>
              <a:rPr lang="en-US" i="1" dirty="0" smtClean="0">
                <a:latin typeface="Cambria Math" pitchFamily="18" charset="0"/>
                <a:ea typeface="Cambria Math" pitchFamily="18" charset="0"/>
              </a:rPr>
              <a:t>p </a:t>
            </a:r>
            <a:r>
              <a:rPr lang="en-US" dirty="0" smtClean="0">
                <a:latin typeface="Cambria Math"/>
                <a:ea typeface="Cambria Math"/>
              </a:rPr>
              <a:t>→ ¬ </a:t>
            </a:r>
            <a:r>
              <a:rPr lang="en-US" i="1" dirty="0" smtClean="0">
                <a:latin typeface="Cambria Math" pitchFamily="18" charset="0"/>
                <a:ea typeface="Cambria Math" pitchFamily="18" charset="0"/>
              </a:rPr>
              <a:t>q</a:t>
            </a:r>
            <a:r>
              <a:rPr lang="en-US" dirty="0" smtClean="0"/>
              <a:t>     is the </a:t>
            </a:r>
            <a:r>
              <a:rPr lang="en-US" b="1" dirty="0" smtClean="0"/>
              <a:t>inverse</a:t>
            </a:r>
            <a:r>
              <a:rPr lang="en-US" dirty="0" smtClean="0"/>
              <a:t> of </a:t>
            </a:r>
            <a:r>
              <a:rPr lang="en-US" i="1" dirty="0" smtClean="0">
                <a:latin typeface="Cambria Math" pitchFamily="18" charset="0"/>
                <a:ea typeface="Cambria Math" pitchFamily="18" charset="0"/>
              </a:rPr>
              <a:t>p </a:t>
            </a:r>
            <a:r>
              <a:rPr lang="en-US" dirty="0" smtClean="0">
                <a:latin typeface="Cambria Math"/>
                <a:ea typeface="Cambria Math"/>
              </a:rPr>
              <a:t>→</a:t>
            </a:r>
            <a:r>
              <a:rPr lang="en-US" i="1" dirty="0" smtClean="0">
                <a:latin typeface="Cambria Math" pitchFamily="18" charset="0"/>
                <a:ea typeface="Cambria Math" pitchFamily="18" charset="0"/>
              </a:rPr>
              <a:t>q</a:t>
            </a:r>
            <a:endParaRPr lang="en-US" dirty="0" smtClean="0"/>
          </a:p>
          <a:p>
            <a:pPr>
              <a:buNone/>
            </a:pPr>
            <a:r>
              <a:rPr lang="en-US" b="1" dirty="0" smtClean="0"/>
              <a:t>   Example</a:t>
            </a:r>
            <a:r>
              <a:rPr lang="en-US" dirty="0" smtClean="0"/>
              <a:t>: Find the converse, inverse, and </a:t>
            </a:r>
            <a:r>
              <a:rPr lang="en-US" dirty="0" err="1" smtClean="0"/>
              <a:t>contrapositive</a:t>
            </a:r>
            <a:r>
              <a:rPr lang="en-US" dirty="0" smtClean="0"/>
              <a:t> of “It raining is a sufficient condition for my not going to town.”</a:t>
            </a:r>
          </a:p>
          <a:p>
            <a:pPr>
              <a:buNone/>
            </a:pPr>
            <a:r>
              <a:rPr lang="en-US" b="1" dirty="0" smtClean="0"/>
              <a:t>    Solution:</a:t>
            </a:r>
            <a:r>
              <a:rPr lang="en-US" dirty="0" smtClean="0"/>
              <a:t> </a:t>
            </a:r>
          </a:p>
          <a:p>
            <a:pPr lvl="1">
              <a:buNone/>
            </a:pPr>
            <a:r>
              <a:rPr lang="en-US" b="1" dirty="0" smtClean="0"/>
              <a:t>converse</a:t>
            </a:r>
            <a:r>
              <a:rPr lang="en-US" dirty="0" smtClean="0"/>
              <a:t>: If I do not go to town, then it is  raining.</a:t>
            </a:r>
          </a:p>
          <a:p>
            <a:pPr lvl="1">
              <a:buNone/>
            </a:pPr>
            <a:r>
              <a:rPr lang="en-US" b="1" dirty="0" smtClean="0"/>
              <a:t>inverse</a:t>
            </a:r>
            <a:r>
              <a:rPr lang="en-US" dirty="0" smtClean="0"/>
              <a:t>:  If it is not raining, then I will go to town.</a:t>
            </a:r>
          </a:p>
          <a:p>
            <a:pPr lvl="1">
              <a:buNone/>
            </a:pPr>
            <a:r>
              <a:rPr lang="en-US" b="1" dirty="0" err="1" smtClean="0"/>
              <a:t>contrapositive</a:t>
            </a:r>
            <a:r>
              <a:rPr lang="en-US" dirty="0" smtClean="0"/>
              <a:t>: If I go to town, then it is not raining.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91312"/>
          </a:xfrm>
        </p:spPr>
        <p:txBody>
          <a:bodyPr>
            <a:normAutofit fontScale="90000"/>
          </a:bodyPr>
          <a:lstStyle/>
          <a:p>
            <a:r>
              <a:rPr lang="en-US" dirty="0" err="1" smtClean="0"/>
              <a:t>Biconditional</a:t>
            </a:r>
            <a:endParaRPr lang="en-US" dirty="0"/>
          </a:p>
        </p:txBody>
      </p:sp>
      <p:sp>
        <p:nvSpPr>
          <p:cNvPr id="3" name="Content Placeholder 2"/>
          <p:cNvSpPr>
            <a:spLocks noGrp="1"/>
          </p:cNvSpPr>
          <p:nvPr>
            <p:ph idx="1"/>
          </p:nvPr>
        </p:nvSpPr>
        <p:spPr>
          <a:xfrm>
            <a:off x="381000" y="1447800"/>
            <a:ext cx="8229600" cy="4389120"/>
          </a:xfrm>
        </p:spPr>
        <p:txBody>
          <a:bodyPr/>
          <a:lstStyle/>
          <a:p>
            <a:r>
              <a:rPr lang="en-US" sz="2000" dirty="0" smtClean="0"/>
              <a:t>If </a:t>
            </a:r>
            <a:r>
              <a:rPr lang="en-US" sz="2000" i="1" dirty="0" smtClean="0">
                <a:latin typeface="Cambria Math" pitchFamily="18" charset="0"/>
                <a:ea typeface="Cambria Math" pitchFamily="18" charset="0"/>
              </a:rPr>
              <a:t>p</a:t>
            </a:r>
            <a:r>
              <a:rPr lang="en-US" sz="2000" dirty="0" smtClean="0"/>
              <a:t>  and </a:t>
            </a:r>
            <a:r>
              <a:rPr lang="en-US" sz="2000" i="1" dirty="0" smtClean="0">
                <a:latin typeface="Cambria Math" pitchFamily="18" charset="0"/>
                <a:ea typeface="Cambria Math" pitchFamily="18" charset="0"/>
              </a:rPr>
              <a:t>q</a:t>
            </a:r>
            <a:r>
              <a:rPr lang="en-US" sz="2000" dirty="0" smtClean="0"/>
              <a:t>  are propositions, then  we can form the </a:t>
            </a:r>
            <a:r>
              <a:rPr lang="en-US" sz="2000" i="1" dirty="0" err="1" smtClean="0"/>
              <a:t>biconditional</a:t>
            </a:r>
            <a:r>
              <a:rPr lang="en-US" sz="2000" i="1" dirty="0" smtClean="0"/>
              <a:t> </a:t>
            </a:r>
            <a:r>
              <a:rPr lang="en-US" sz="2000" dirty="0" smtClean="0"/>
              <a:t>proposition </a:t>
            </a:r>
            <a:r>
              <a:rPr lang="en-US" sz="2000" i="1" dirty="0" smtClean="0">
                <a:latin typeface="Cambria Math" pitchFamily="18" charset="0"/>
                <a:ea typeface="Cambria Math" pitchFamily="18" charset="0"/>
              </a:rPr>
              <a:t>p </a:t>
            </a:r>
            <a:r>
              <a:rPr lang="en-US" sz="2000" dirty="0" smtClean="0">
                <a:latin typeface="Cambria Math"/>
                <a:ea typeface="Cambria Math"/>
              </a:rPr>
              <a:t>↔</a:t>
            </a:r>
            <a:r>
              <a:rPr lang="en-US" sz="2000" i="1" dirty="0" smtClean="0">
                <a:latin typeface="Cambria Math" pitchFamily="18" charset="0"/>
                <a:ea typeface="Cambria Math" pitchFamily="18" charset="0"/>
              </a:rPr>
              <a:t>q</a:t>
            </a:r>
            <a:r>
              <a:rPr lang="en-US" sz="2000" dirty="0" smtClean="0"/>
              <a:t> , read as “</a:t>
            </a:r>
            <a:r>
              <a:rPr lang="en-US" sz="2000" i="1" dirty="0" smtClean="0">
                <a:latin typeface="Cambria Math" pitchFamily="18" charset="0"/>
                <a:ea typeface="Cambria Math" pitchFamily="18" charset="0"/>
              </a:rPr>
              <a:t>p</a:t>
            </a:r>
            <a:r>
              <a:rPr lang="en-US" sz="2000" dirty="0" smtClean="0"/>
              <a:t>  if and only if </a:t>
            </a:r>
            <a:r>
              <a:rPr lang="en-US" sz="2000" i="1" dirty="0" smtClean="0">
                <a:latin typeface="Cambria Math" pitchFamily="18" charset="0"/>
                <a:ea typeface="Cambria Math" pitchFamily="18" charset="0"/>
              </a:rPr>
              <a:t>q</a:t>
            </a:r>
            <a:r>
              <a:rPr lang="en-US" sz="2000" dirty="0" smtClean="0"/>
              <a:t> .” The  </a:t>
            </a:r>
            <a:r>
              <a:rPr lang="en-US" sz="2000" dirty="0" err="1" smtClean="0"/>
              <a:t>biconditional</a:t>
            </a:r>
            <a:r>
              <a:rPr lang="en-US" sz="2000" dirty="0" smtClean="0"/>
              <a:t>          </a:t>
            </a:r>
            <a:r>
              <a:rPr lang="en-US" sz="2000" i="1" dirty="0" smtClean="0">
                <a:latin typeface="Cambria Math" pitchFamily="18" charset="0"/>
                <a:ea typeface="Cambria Math" pitchFamily="18" charset="0"/>
              </a:rPr>
              <a:t>p </a:t>
            </a:r>
            <a:r>
              <a:rPr lang="en-US" sz="2000" dirty="0" smtClean="0">
                <a:latin typeface="Cambria Math"/>
                <a:ea typeface="Cambria Math"/>
              </a:rPr>
              <a:t>↔</a:t>
            </a:r>
            <a:r>
              <a:rPr lang="en-US" sz="2000" i="1" dirty="0" smtClean="0">
                <a:latin typeface="Cambria Math" pitchFamily="18" charset="0"/>
                <a:ea typeface="Cambria Math" pitchFamily="18" charset="0"/>
              </a:rPr>
              <a:t>q</a:t>
            </a:r>
            <a:r>
              <a:rPr lang="en-US" sz="2000" dirty="0" smtClean="0"/>
              <a:t>  denotes the proposition with this truth table:</a:t>
            </a:r>
          </a:p>
          <a:p>
            <a:endParaRPr lang="en-US" sz="2000" dirty="0" smtClean="0"/>
          </a:p>
          <a:p>
            <a:endParaRPr lang="en-US" sz="2000" dirty="0" smtClean="0"/>
          </a:p>
          <a:p>
            <a:endParaRPr lang="en-US" sz="2000" dirty="0" smtClean="0"/>
          </a:p>
          <a:p>
            <a:endParaRPr lang="en-US" sz="2000" dirty="0" smtClean="0"/>
          </a:p>
          <a:p>
            <a:endParaRPr lang="en-US" sz="2000" dirty="0" smtClean="0"/>
          </a:p>
          <a:p>
            <a:endParaRPr lang="en-US" sz="2000" dirty="0" smtClean="0"/>
          </a:p>
          <a:p>
            <a:r>
              <a:rPr lang="en-US" sz="2200" dirty="0" smtClean="0"/>
              <a:t> If </a:t>
            </a:r>
            <a:r>
              <a:rPr lang="en-US" sz="2200" i="1" dirty="0" smtClean="0">
                <a:latin typeface="Cambria Math" pitchFamily="18" charset="0"/>
                <a:ea typeface="Cambria Math" pitchFamily="18" charset="0"/>
              </a:rPr>
              <a:t>p</a:t>
            </a:r>
            <a:r>
              <a:rPr lang="en-US" sz="2200" dirty="0" smtClean="0"/>
              <a:t>  denotes “I am at home.” and </a:t>
            </a:r>
            <a:r>
              <a:rPr lang="en-US" sz="2200" i="1" dirty="0" smtClean="0">
                <a:latin typeface="Cambria Math" pitchFamily="18" charset="0"/>
                <a:ea typeface="Cambria Math" pitchFamily="18" charset="0"/>
              </a:rPr>
              <a:t>q</a:t>
            </a:r>
            <a:r>
              <a:rPr lang="en-US" sz="2200" dirty="0" smtClean="0"/>
              <a:t>   denotes “It is raining.” then       </a:t>
            </a:r>
            <a:r>
              <a:rPr lang="en-US" sz="2200" i="1" dirty="0" smtClean="0">
                <a:latin typeface="Cambria Math" pitchFamily="18" charset="0"/>
                <a:ea typeface="Cambria Math" pitchFamily="18" charset="0"/>
              </a:rPr>
              <a:t>p </a:t>
            </a:r>
            <a:r>
              <a:rPr lang="en-US" sz="2200" dirty="0" smtClean="0">
                <a:latin typeface="Cambria Math"/>
                <a:ea typeface="Cambria Math"/>
              </a:rPr>
              <a:t>↔</a:t>
            </a:r>
            <a:r>
              <a:rPr lang="en-US" sz="2200" i="1" dirty="0" smtClean="0">
                <a:latin typeface="Cambria Math" pitchFamily="18" charset="0"/>
                <a:ea typeface="Cambria Math" pitchFamily="18" charset="0"/>
              </a:rPr>
              <a:t>q</a:t>
            </a:r>
            <a:r>
              <a:rPr lang="en-US" sz="2200" dirty="0" smtClean="0"/>
              <a:t>   denotes “I am at home if and only if it is raining.”</a:t>
            </a:r>
          </a:p>
        </p:txBody>
      </p:sp>
      <p:graphicFrame>
        <p:nvGraphicFramePr>
          <p:cNvPr id="13" name="Content Placeholder 3"/>
          <p:cNvGraphicFramePr>
            <a:graphicFrameLocks/>
          </p:cNvGraphicFramePr>
          <p:nvPr>
            <p:extLst>
              <p:ext uri="{D42A27DB-BD31-4B8C-83A1-F6EECF244321}">
                <p14:modId xmlns:p14="http://schemas.microsoft.com/office/powerpoint/2010/main" val="1646842330"/>
              </p:ext>
            </p:extLst>
          </p:nvPr>
        </p:nvGraphicFramePr>
        <p:xfrm>
          <a:off x="1600200" y="2590800"/>
          <a:ext cx="5791200" cy="1828800"/>
        </p:xfrm>
        <a:graphic>
          <a:graphicData uri="http://schemas.openxmlformats.org/drawingml/2006/table">
            <a:tbl>
              <a:tblPr firstRow="1" bandRow="1">
                <a:tableStyleId>{5C22544A-7EE6-4342-B048-85BDC9FD1C3A}</a:tableStyleId>
              </a:tblPr>
              <a:tblGrid>
                <a:gridCol w="1930400">
                  <a:extLst>
                    <a:ext uri="{9D8B030D-6E8A-4147-A177-3AD203B41FA5}">
                      <a16:colId xmlns:a16="http://schemas.microsoft.com/office/drawing/2014/main" val="20000"/>
                    </a:ext>
                  </a:extLst>
                </a:gridCol>
                <a:gridCol w="1930400">
                  <a:extLst>
                    <a:ext uri="{9D8B030D-6E8A-4147-A177-3AD203B41FA5}">
                      <a16:colId xmlns:a16="http://schemas.microsoft.com/office/drawing/2014/main" val="20001"/>
                    </a:ext>
                  </a:extLst>
                </a:gridCol>
                <a:gridCol w="1930400">
                  <a:extLst>
                    <a:ext uri="{9D8B030D-6E8A-4147-A177-3AD203B41FA5}">
                      <a16:colId xmlns:a16="http://schemas.microsoft.com/office/drawing/2014/main" val="20002"/>
                    </a:ext>
                  </a:extLst>
                </a:gridCol>
              </a:tblGrid>
              <a:tr h="299720">
                <a:tc>
                  <a:txBody>
                    <a:bodyPr/>
                    <a:lstStyle/>
                    <a:p>
                      <a:r>
                        <a:rPr lang="en-US" sz="1800" i="1" dirty="0" smtClean="0">
                          <a:latin typeface="Cambria Math" pitchFamily="18" charset="0"/>
                          <a:ea typeface="Cambria Math" pitchFamily="18" charset="0"/>
                        </a:rPr>
                        <a:t>p</a:t>
                      </a:r>
                      <a:endParaRPr lang="en-US" dirty="0"/>
                    </a:p>
                  </a:txBody>
                  <a:tcPr marL="91441" marR="91441"/>
                </a:tc>
                <a:tc>
                  <a:txBody>
                    <a:bodyPr/>
                    <a:lstStyle/>
                    <a:p>
                      <a:r>
                        <a:rPr lang="en-US" sz="1800" i="1" dirty="0" smtClean="0">
                          <a:latin typeface="Cambria Math" pitchFamily="18" charset="0"/>
                          <a:ea typeface="Cambria Math" pitchFamily="18" charset="0"/>
                        </a:rPr>
                        <a:t>q</a:t>
                      </a:r>
                      <a:endParaRPr lang="en-US" dirty="0"/>
                    </a:p>
                  </a:txBody>
                  <a:tcPr marL="91441" marR="91441"/>
                </a:tc>
                <a:tc>
                  <a:txBody>
                    <a:bodyPr/>
                    <a:lstStyle/>
                    <a:p>
                      <a:r>
                        <a:rPr lang="en-US" sz="1800" i="1" dirty="0" smtClean="0">
                          <a:latin typeface="Cambria Math" pitchFamily="18" charset="0"/>
                          <a:ea typeface="Cambria Math" pitchFamily="18" charset="0"/>
                        </a:rPr>
                        <a:t>p </a:t>
                      </a:r>
                      <a:r>
                        <a:rPr lang="en-US" sz="1800" dirty="0" smtClean="0">
                          <a:latin typeface="Cambria Math"/>
                          <a:ea typeface="Cambria Math"/>
                        </a:rPr>
                        <a:t>↔</a:t>
                      </a:r>
                      <a:r>
                        <a:rPr lang="en-US" sz="1800" i="1" dirty="0" smtClean="0">
                          <a:latin typeface="Cambria Math" pitchFamily="18" charset="0"/>
                          <a:ea typeface="Cambria Math" pitchFamily="18" charset="0"/>
                        </a:rPr>
                        <a:t>q</a:t>
                      </a:r>
                      <a:r>
                        <a:rPr lang="en-US" sz="1800" dirty="0" smtClean="0"/>
                        <a:t> </a:t>
                      </a:r>
                      <a:endParaRPr lang="en-US" dirty="0"/>
                    </a:p>
                  </a:txBody>
                  <a:tcPr marL="91441" marR="91441"/>
                </a:tc>
                <a:extLst>
                  <a:ext uri="{0D108BD9-81ED-4DB2-BD59-A6C34878D82A}">
                    <a16:rowId xmlns:a16="http://schemas.microsoft.com/office/drawing/2014/main" val="10000"/>
                  </a:ext>
                </a:extLst>
              </a:tr>
              <a:tr h="299720">
                <a:tc>
                  <a:txBody>
                    <a:bodyPr/>
                    <a:lstStyle/>
                    <a:p>
                      <a:r>
                        <a:rPr lang="en-US" dirty="0" smtClean="0"/>
                        <a:t>T</a:t>
                      </a:r>
                      <a:endParaRPr lang="en-US" dirty="0"/>
                    </a:p>
                  </a:txBody>
                  <a:tcPr marL="91441" marR="91441"/>
                </a:tc>
                <a:tc>
                  <a:txBody>
                    <a:bodyPr/>
                    <a:lstStyle/>
                    <a:p>
                      <a:r>
                        <a:rPr lang="en-US" dirty="0" smtClean="0"/>
                        <a:t>T</a:t>
                      </a:r>
                      <a:endParaRPr lang="en-US" dirty="0"/>
                    </a:p>
                  </a:txBody>
                  <a:tcPr marL="91441" marR="91441"/>
                </a:tc>
                <a:tc>
                  <a:txBody>
                    <a:bodyPr/>
                    <a:lstStyle/>
                    <a:p>
                      <a:r>
                        <a:rPr lang="en-US" dirty="0" smtClean="0"/>
                        <a:t>T</a:t>
                      </a:r>
                      <a:endParaRPr lang="en-US" dirty="0"/>
                    </a:p>
                  </a:txBody>
                  <a:tcPr marL="91441" marR="91441"/>
                </a:tc>
                <a:extLst>
                  <a:ext uri="{0D108BD9-81ED-4DB2-BD59-A6C34878D82A}">
                    <a16:rowId xmlns:a16="http://schemas.microsoft.com/office/drawing/2014/main" val="10001"/>
                  </a:ext>
                </a:extLst>
              </a:tr>
              <a:tr h="299720">
                <a:tc>
                  <a:txBody>
                    <a:bodyPr/>
                    <a:lstStyle/>
                    <a:p>
                      <a:r>
                        <a:rPr lang="en-US" dirty="0" smtClean="0"/>
                        <a:t>T</a:t>
                      </a:r>
                      <a:endParaRPr lang="en-US" dirty="0"/>
                    </a:p>
                  </a:txBody>
                  <a:tcPr marL="91441" marR="91441"/>
                </a:tc>
                <a:tc>
                  <a:txBody>
                    <a:bodyPr/>
                    <a:lstStyle/>
                    <a:p>
                      <a:r>
                        <a:rPr lang="en-US" dirty="0" smtClean="0"/>
                        <a:t>F</a:t>
                      </a:r>
                      <a:endParaRPr lang="en-US" dirty="0"/>
                    </a:p>
                  </a:txBody>
                  <a:tcPr marL="91441" marR="91441"/>
                </a:tc>
                <a:tc>
                  <a:txBody>
                    <a:bodyPr/>
                    <a:lstStyle/>
                    <a:p>
                      <a:r>
                        <a:rPr lang="en-US" dirty="0" smtClean="0"/>
                        <a:t>F</a:t>
                      </a:r>
                      <a:endParaRPr lang="en-US" dirty="0"/>
                    </a:p>
                  </a:txBody>
                  <a:tcPr marL="91441" marR="91441"/>
                </a:tc>
                <a:extLst>
                  <a:ext uri="{0D108BD9-81ED-4DB2-BD59-A6C34878D82A}">
                    <a16:rowId xmlns:a16="http://schemas.microsoft.com/office/drawing/2014/main" val="10002"/>
                  </a:ext>
                </a:extLst>
              </a:tr>
              <a:tr h="299720">
                <a:tc>
                  <a:txBody>
                    <a:bodyPr/>
                    <a:lstStyle/>
                    <a:p>
                      <a:r>
                        <a:rPr lang="en-US" dirty="0" smtClean="0"/>
                        <a:t>F</a:t>
                      </a:r>
                      <a:endParaRPr lang="en-US" dirty="0"/>
                    </a:p>
                  </a:txBody>
                  <a:tcPr marL="91441" marR="91441"/>
                </a:tc>
                <a:tc>
                  <a:txBody>
                    <a:bodyPr/>
                    <a:lstStyle/>
                    <a:p>
                      <a:r>
                        <a:rPr lang="en-US" dirty="0" smtClean="0"/>
                        <a:t>T</a:t>
                      </a:r>
                      <a:endParaRPr lang="en-US" dirty="0"/>
                    </a:p>
                  </a:txBody>
                  <a:tcPr marL="91441" marR="91441"/>
                </a:tc>
                <a:tc>
                  <a:txBody>
                    <a:bodyPr/>
                    <a:lstStyle/>
                    <a:p>
                      <a:r>
                        <a:rPr lang="en-US" dirty="0" smtClean="0"/>
                        <a:t>F</a:t>
                      </a:r>
                      <a:endParaRPr lang="en-US" dirty="0"/>
                    </a:p>
                  </a:txBody>
                  <a:tcPr marL="91441" marR="91441"/>
                </a:tc>
                <a:extLst>
                  <a:ext uri="{0D108BD9-81ED-4DB2-BD59-A6C34878D82A}">
                    <a16:rowId xmlns:a16="http://schemas.microsoft.com/office/drawing/2014/main" val="10003"/>
                  </a:ext>
                </a:extLst>
              </a:tr>
              <a:tr h="299720">
                <a:tc>
                  <a:txBody>
                    <a:bodyPr/>
                    <a:lstStyle/>
                    <a:p>
                      <a:r>
                        <a:rPr lang="en-US" dirty="0" smtClean="0"/>
                        <a:t>F</a:t>
                      </a:r>
                      <a:endParaRPr lang="en-US" dirty="0"/>
                    </a:p>
                  </a:txBody>
                  <a:tcPr marL="91441" marR="91441"/>
                </a:tc>
                <a:tc>
                  <a:txBody>
                    <a:bodyPr/>
                    <a:lstStyle/>
                    <a:p>
                      <a:r>
                        <a:rPr lang="en-US" dirty="0" smtClean="0"/>
                        <a:t>F</a:t>
                      </a:r>
                      <a:endParaRPr lang="en-US" dirty="0"/>
                    </a:p>
                  </a:txBody>
                  <a:tcPr marL="91441" marR="91441"/>
                </a:tc>
                <a:tc>
                  <a:txBody>
                    <a:bodyPr/>
                    <a:lstStyle/>
                    <a:p>
                      <a:r>
                        <a:rPr lang="en-US" dirty="0" smtClean="0"/>
                        <a:t>T</a:t>
                      </a:r>
                      <a:endParaRPr lang="en-US" dirty="0"/>
                    </a:p>
                  </a:txBody>
                  <a:tcPr marL="91441" marR="91441"/>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Expressing the </a:t>
            </a:r>
            <a:r>
              <a:rPr lang="en-US" dirty="0" err="1" smtClean="0"/>
              <a:t>Biconditional</a:t>
            </a:r>
            <a:endParaRPr lang="en-US" dirty="0"/>
          </a:p>
        </p:txBody>
      </p:sp>
      <p:sp>
        <p:nvSpPr>
          <p:cNvPr id="3" name="Content Placeholder 2"/>
          <p:cNvSpPr>
            <a:spLocks noGrp="1"/>
          </p:cNvSpPr>
          <p:nvPr>
            <p:ph idx="1"/>
          </p:nvPr>
        </p:nvSpPr>
        <p:spPr/>
        <p:txBody>
          <a:bodyPr/>
          <a:lstStyle/>
          <a:p>
            <a:r>
              <a:rPr lang="en-US" dirty="0" smtClean="0"/>
              <a:t>Some alternative ways “</a:t>
            </a:r>
            <a:r>
              <a:rPr lang="en-US" i="1" dirty="0" smtClean="0"/>
              <a:t>p</a:t>
            </a:r>
            <a:r>
              <a:rPr lang="en-US" dirty="0" smtClean="0"/>
              <a:t> if and only if </a:t>
            </a:r>
            <a:r>
              <a:rPr lang="en-US" i="1" dirty="0" smtClean="0"/>
              <a:t>q</a:t>
            </a:r>
            <a:r>
              <a:rPr lang="en-US" dirty="0" smtClean="0"/>
              <a:t>” is expressed in English:</a:t>
            </a:r>
          </a:p>
          <a:p>
            <a:pPr>
              <a:buNone/>
            </a:pPr>
            <a:endParaRPr lang="en-US" dirty="0" smtClean="0"/>
          </a:p>
          <a:p>
            <a:pPr lvl="1"/>
            <a:r>
              <a:rPr lang="en-US" dirty="0" smtClean="0"/>
              <a:t>  </a:t>
            </a:r>
            <a:r>
              <a:rPr lang="en-US" i="1" dirty="0" smtClean="0"/>
              <a:t>p</a:t>
            </a:r>
            <a:r>
              <a:rPr lang="en-US" dirty="0" smtClean="0"/>
              <a:t> </a:t>
            </a:r>
            <a:r>
              <a:rPr lang="en-US" b="1" dirty="0" smtClean="0"/>
              <a:t>is necessary and sufficient for </a:t>
            </a:r>
            <a:r>
              <a:rPr lang="en-US" i="1" dirty="0" smtClean="0"/>
              <a:t>q</a:t>
            </a:r>
            <a:endParaRPr lang="en-US" dirty="0" smtClean="0"/>
          </a:p>
          <a:p>
            <a:pPr lvl="1"/>
            <a:r>
              <a:rPr lang="en-US" dirty="0" smtClean="0"/>
              <a:t>  </a:t>
            </a:r>
            <a:r>
              <a:rPr lang="en-US" b="1" dirty="0" smtClean="0"/>
              <a:t>if</a:t>
            </a:r>
            <a:r>
              <a:rPr lang="en-US" dirty="0" smtClean="0"/>
              <a:t> </a:t>
            </a:r>
            <a:r>
              <a:rPr lang="en-US" i="1" dirty="0" smtClean="0"/>
              <a:t>p</a:t>
            </a:r>
            <a:r>
              <a:rPr lang="en-US" dirty="0" smtClean="0"/>
              <a:t> </a:t>
            </a:r>
            <a:r>
              <a:rPr lang="en-US" b="1" dirty="0" smtClean="0"/>
              <a:t>then</a:t>
            </a:r>
            <a:r>
              <a:rPr lang="en-US" dirty="0" smtClean="0"/>
              <a:t> </a:t>
            </a:r>
            <a:r>
              <a:rPr lang="en-US" i="1" dirty="0" smtClean="0"/>
              <a:t>q</a:t>
            </a:r>
            <a:r>
              <a:rPr lang="en-US" dirty="0" smtClean="0"/>
              <a:t> , </a:t>
            </a:r>
            <a:r>
              <a:rPr lang="en-US" b="1" dirty="0" smtClean="0"/>
              <a:t>and conversely</a:t>
            </a:r>
          </a:p>
          <a:p>
            <a:pPr lvl="1"/>
            <a:r>
              <a:rPr lang="en-US" dirty="0" smtClean="0"/>
              <a:t>  </a:t>
            </a:r>
            <a:r>
              <a:rPr lang="en-US" i="1" dirty="0" smtClean="0"/>
              <a:t>p</a:t>
            </a:r>
            <a:r>
              <a:rPr lang="en-US" dirty="0" smtClean="0"/>
              <a:t> </a:t>
            </a:r>
            <a:r>
              <a:rPr lang="en-US" b="1" dirty="0" smtClean="0"/>
              <a:t>if</a:t>
            </a:r>
            <a:r>
              <a:rPr lang="en-US" dirty="0" smtClean="0"/>
              <a:t> </a:t>
            </a:r>
            <a:r>
              <a:rPr lang="en-US" i="1" dirty="0" smtClean="0"/>
              <a:t>q</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Truth Tables For Compound Propositions</a:t>
            </a:r>
            <a:endParaRPr lang="en-US" dirty="0"/>
          </a:p>
        </p:txBody>
      </p:sp>
      <p:sp>
        <p:nvSpPr>
          <p:cNvPr id="3" name="Content Placeholder 2"/>
          <p:cNvSpPr>
            <a:spLocks noGrp="1"/>
          </p:cNvSpPr>
          <p:nvPr>
            <p:ph idx="1"/>
          </p:nvPr>
        </p:nvSpPr>
        <p:spPr/>
        <p:txBody>
          <a:bodyPr>
            <a:normAutofit lnSpcReduction="10000"/>
          </a:bodyPr>
          <a:lstStyle/>
          <a:p>
            <a:r>
              <a:rPr lang="en-US" dirty="0" smtClean="0"/>
              <a:t>Construction of a truth table:</a:t>
            </a:r>
          </a:p>
          <a:p>
            <a:r>
              <a:rPr lang="en-US" dirty="0" smtClean="0"/>
              <a:t>Rows</a:t>
            </a:r>
          </a:p>
          <a:p>
            <a:pPr lvl="1"/>
            <a:r>
              <a:rPr lang="en-US" dirty="0" smtClean="0"/>
              <a:t> Need a row for every possible combination of values  for the  atomic propositions.</a:t>
            </a:r>
          </a:p>
          <a:p>
            <a:r>
              <a:rPr lang="en-US" dirty="0" smtClean="0"/>
              <a:t>Columns</a:t>
            </a:r>
          </a:p>
          <a:p>
            <a:pPr lvl="1"/>
            <a:r>
              <a:rPr lang="en-US" dirty="0" smtClean="0"/>
              <a:t>Need a column for the compound proposition (usually at far right)</a:t>
            </a:r>
          </a:p>
          <a:p>
            <a:pPr lvl="1"/>
            <a:r>
              <a:rPr lang="en-US" dirty="0" smtClean="0"/>
              <a:t>Need a column for the truth value of each expression that occurs in the compound proposition as it is built up.</a:t>
            </a:r>
          </a:p>
          <a:p>
            <a:pPr lvl="2"/>
            <a:r>
              <a:rPr lang="en-US" dirty="0" smtClean="0"/>
              <a:t>This includes the atomic propositions </a:t>
            </a: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Example Truth Table</a:t>
            </a:r>
            <a:endParaRPr lang="en-US" dirty="0"/>
          </a:p>
        </p:txBody>
      </p:sp>
      <p:sp>
        <p:nvSpPr>
          <p:cNvPr id="3" name="Content Placeholder 2"/>
          <p:cNvSpPr>
            <a:spLocks noGrp="1"/>
          </p:cNvSpPr>
          <p:nvPr>
            <p:ph idx="1"/>
          </p:nvPr>
        </p:nvSpPr>
        <p:spPr/>
        <p:txBody>
          <a:bodyPr/>
          <a:lstStyle/>
          <a:p>
            <a:r>
              <a:rPr lang="en-US" dirty="0" smtClean="0"/>
              <a:t>Construct a truth table for  </a:t>
            </a:r>
            <a:endParaRPr lang="en-US" dirty="0"/>
          </a:p>
        </p:txBody>
      </p:sp>
      <p:pic>
        <p:nvPicPr>
          <p:cNvPr id="4" name="Picture 3" descr="addin_tmp.png"/>
          <p:cNvPicPr>
            <a:picLocks noChangeAspect="1"/>
          </p:cNvPicPr>
          <p:nvPr>
            <p:custDataLst>
              <p:tags r:id="rId1"/>
            </p:custDataLst>
          </p:nvPr>
        </p:nvPicPr>
        <p:blipFill>
          <a:blip r:embed="rId3" cstate="print"/>
          <a:stretch>
            <a:fillRect/>
          </a:stretch>
        </p:blipFill>
        <p:spPr>
          <a:xfrm>
            <a:off x="5105400" y="2057400"/>
            <a:ext cx="1820228" cy="302895"/>
          </a:xfrm>
          <a:prstGeom prst="rect">
            <a:avLst/>
          </a:prstGeom>
        </p:spPr>
      </p:pic>
      <p:graphicFrame>
        <p:nvGraphicFramePr>
          <p:cNvPr id="9" name="Table 8"/>
          <p:cNvGraphicFramePr>
            <a:graphicFrameLocks noGrp="1"/>
          </p:cNvGraphicFramePr>
          <p:nvPr/>
        </p:nvGraphicFramePr>
        <p:xfrm>
          <a:off x="914400" y="2590800"/>
          <a:ext cx="7467600" cy="3337560"/>
        </p:xfrm>
        <a:graphic>
          <a:graphicData uri="http://schemas.openxmlformats.org/drawingml/2006/table">
            <a:tbl>
              <a:tblPr firstRow="1" bandRow="1">
                <a:tableStyleId>{5C22544A-7EE6-4342-B048-85BDC9FD1C3A}</a:tableStyleId>
              </a:tblPr>
              <a:tblGrid>
                <a:gridCol w="1244600">
                  <a:extLst>
                    <a:ext uri="{9D8B030D-6E8A-4147-A177-3AD203B41FA5}">
                      <a16:colId xmlns:a16="http://schemas.microsoft.com/office/drawing/2014/main" val="20000"/>
                    </a:ext>
                  </a:extLst>
                </a:gridCol>
                <a:gridCol w="1244600">
                  <a:extLst>
                    <a:ext uri="{9D8B030D-6E8A-4147-A177-3AD203B41FA5}">
                      <a16:colId xmlns:a16="http://schemas.microsoft.com/office/drawing/2014/main" val="20001"/>
                    </a:ext>
                  </a:extLst>
                </a:gridCol>
                <a:gridCol w="1244600">
                  <a:extLst>
                    <a:ext uri="{9D8B030D-6E8A-4147-A177-3AD203B41FA5}">
                      <a16:colId xmlns:a16="http://schemas.microsoft.com/office/drawing/2014/main" val="20002"/>
                    </a:ext>
                  </a:extLst>
                </a:gridCol>
                <a:gridCol w="1244600">
                  <a:extLst>
                    <a:ext uri="{9D8B030D-6E8A-4147-A177-3AD203B41FA5}">
                      <a16:colId xmlns:a16="http://schemas.microsoft.com/office/drawing/2014/main" val="20003"/>
                    </a:ext>
                  </a:extLst>
                </a:gridCol>
                <a:gridCol w="1244600">
                  <a:extLst>
                    <a:ext uri="{9D8B030D-6E8A-4147-A177-3AD203B41FA5}">
                      <a16:colId xmlns:a16="http://schemas.microsoft.com/office/drawing/2014/main" val="20004"/>
                    </a:ext>
                  </a:extLst>
                </a:gridCol>
                <a:gridCol w="1244600">
                  <a:extLst>
                    <a:ext uri="{9D8B030D-6E8A-4147-A177-3AD203B41FA5}">
                      <a16:colId xmlns:a16="http://schemas.microsoft.com/office/drawing/2014/main" val="20005"/>
                    </a:ext>
                  </a:extLst>
                </a:gridCol>
              </a:tblGrid>
              <a:tr h="370840">
                <a:tc>
                  <a:txBody>
                    <a:bodyPr/>
                    <a:lstStyle/>
                    <a:p>
                      <a:r>
                        <a:rPr lang="en-US" dirty="0" smtClean="0"/>
                        <a:t>p</a:t>
                      </a:r>
                      <a:endParaRPr lang="en-US" dirty="0"/>
                    </a:p>
                  </a:txBody>
                  <a:tcPr/>
                </a:tc>
                <a:tc>
                  <a:txBody>
                    <a:bodyPr/>
                    <a:lstStyle/>
                    <a:p>
                      <a:r>
                        <a:rPr lang="en-US" dirty="0" smtClean="0"/>
                        <a:t>q</a:t>
                      </a:r>
                      <a:endParaRPr lang="en-US" dirty="0"/>
                    </a:p>
                  </a:txBody>
                  <a:tcPr/>
                </a:tc>
                <a:tc>
                  <a:txBody>
                    <a:bodyPr/>
                    <a:lstStyle/>
                    <a:p>
                      <a:r>
                        <a:rPr lang="en-US" dirty="0" smtClean="0"/>
                        <a:t>r</a:t>
                      </a:r>
                      <a:endParaRPr lang="en-US" dirty="0"/>
                    </a:p>
                  </a:txBody>
                  <a:tcPr/>
                </a:tc>
                <a:tc>
                  <a:txBody>
                    <a:bodyPr/>
                    <a:lstStyle/>
                    <a:p>
                      <a:r>
                        <a:rPr lang="en-US" dirty="0" smtClean="0">
                          <a:latin typeface="Cambria Math"/>
                          <a:ea typeface="Cambria Math"/>
                          <a:sym typeface="Symbol"/>
                        </a:rPr>
                        <a:t></a:t>
                      </a:r>
                      <a:r>
                        <a:rPr lang="en-US" dirty="0" smtClean="0">
                          <a:latin typeface="Cambria Math"/>
                          <a:ea typeface="Cambria Math"/>
                        </a:rPr>
                        <a:t>r</a:t>
                      </a:r>
                      <a:endParaRPr lang="en-US" dirty="0"/>
                    </a:p>
                  </a:txBody>
                  <a:tcPr/>
                </a:tc>
                <a:tc>
                  <a:txBody>
                    <a:bodyPr/>
                    <a:lstStyle/>
                    <a:p>
                      <a:r>
                        <a:rPr lang="en-US" dirty="0" smtClean="0">
                          <a:latin typeface="+mn-lt"/>
                          <a:ea typeface="+mn-ea"/>
                        </a:rPr>
                        <a:t>p </a:t>
                      </a:r>
                      <a:r>
                        <a:rPr lang="en-US" dirty="0" smtClean="0">
                          <a:latin typeface="Cambria Math"/>
                          <a:ea typeface="Cambria Math"/>
                          <a:sym typeface="Symbol"/>
                        </a:rPr>
                        <a:t> </a:t>
                      </a:r>
                      <a:r>
                        <a:rPr lang="en-US" dirty="0" smtClean="0">
                          <a:latin typeface="Cambria Math"/>
                          <a:ea typeface="Cambria Math"/>
                        </a:rPr>
                        <a:t>q</a:t>
                      </a:r>
                      <a:endParaRPr lang="en-US" dirty="0"/>
                    </a:p>
                  </a:txBody>
                  <a:tcPr/>
                </a:tc>
                <a:tc>
                  <a:txBody>
                    <a:bodyPr/>
                    <a:lstStyle/>
                    <a:p>
                      <a:r>
                        <a:rPr lang="en-US" dirty="0" smtClean="0">
                          <a:latin typeface="+mn-lt"/>
                          <a:ea typeface="+mn-ea"/>
                        </a:rPr>
                        <a:t>p </a:t>
                      </a:r>
                      <a:r>
                        <a:rPr lang="en-US" dirty="0" smtClean="0">
                          <a:latin typeface="Cambria Math"/>
                          <a:ea typeface="Cambria Math"/>
                          <a:sym typeface="Symbol"/>
                        </a:rPr>
                        <a:t> </a:t>
                      </a:r>
                      <a:r>
                        <a:rPr lang="en-US" dirty="0" smtClean="0">
                          <a:latin typeface="Cambria Math"/>
                          <a:ea typeface="Cambria Math"/>
                        </a:rPr>
                        <a:t>q → </a:t>
                      </a:r>
                      <a:r>
                        <a:rPr lang="en-US" dirty="0" smtClean="0">
                          <a:latin typeface="Cambria Math"/>
                          <a:ea typeface="Cambria Math"/>
                          <a:sym typeface="Symbol"/>
                        </a:rPr>
                        <a:t></a:t>
                      </a:r>
                      <a:r>
                        <a:rPr lang="en-US" dirty="0" smtClean="0">
                          <a:latin typeface="Cambria Math"/>
                          <a:ea typeface="Cambria Math"/>
                        </a:rPr>
                        <a:t>r</a:t>
                      </a:r>
                      <a:endParaRPr lang="en-US" dirty="0"/>
                    </a:p>
                  </a:txBody>
                  <a:tcPr/>
                </a:tc>
                <a:extLst>
                  <a:ext uri="{0D108BD9-81ED-4DB2-BD59-A6C34878D82A}">
                    <a16:rowId xmlns:a16="http://schemas.microsoft.com/office/drawing/2014/main" val="10000"/>
                  </a:ext>
                </a:extLst>
              </a:tr>
              <a:tr h="370840">
                <a:tc>
                  <a:txBody>
                    <a:bodyPr/>
                    <a:lstStyle/>
                    <a:p>
                      <a:r>
                        <a:rPr lang="en-US" dirty="0" smtClean="0"/>
                        <a:t>T</a:t>
                      </a:r>
                      <a:endParaRPr lang="en-US" dirty="0"/>
                    </a:p>
                  </a:txBody>
                  <a:tcPr/>
                </a:tc>
                <a:tc>
                  <a:txBody>
                    <a:bodyPr/>
                    <a:lstStyle/>
                    <a:p>
                      <a:r>
                        <a:rPr lang="en-US" dirty="0" smtClean="0"/>
                        <a:t>T</a:t>
                      </a:r>
                      <a:endParaRPr lang="en-US" dirty="0"/>
                    </a:p>
                  </a:txBody>
                  <a:tcPr/>
                </a:tc>
                <a:tc>
                  <a:txBody>
                    <a:bodyPr/>
                    <a:lstStyle/>
                    <a:p>
                      <a:r>
                        <a:rPr lang="en-US" dirty="0" smtClean="0"/>
                        <a:t>T</a:t>
                      </a:r>
                      <a:endParaRPr lang="en-US" dirty="0"/>
                    </a:p>
                  </a:txBody>
                  <a:tcPr/>
                </a:tc>
                <a:tc>
                  <a:txBody>
                    <a:bodyPr/>
                    <a:lstStyle/>
                    <a:p>
                      <a:r>
                        <a:rPr lang="en-US" dirty="0" smtClean="0"/>
                        <a:t>F</a:t>
                      </a:r>
                      <a:endParaRPr lang="en-US" dirty="0"/>
                    </a:p>
                  </a:txBody>
                  <a:tcPr/>
                </a:tc>
                <a:tc>
                  <a:txBody>
                    <a:bodyPr/>
                    <a:lstStyle/>
                    <a:p>
                      <a:r>
                        <a:rPr lang="en-US" dirty="0" smtClean="0"/>
                        <a:t>T</a:t>
                      </a:r>
                      <a:endParaRPr lang="en-US" dirty="0"/>
                    </a:p>
                  </a:txBody>
                  <a:tcPr/>
                </a:tc>
                <a:tc>
                  <a:txBody>
                    <a:bodyPr/>
                    <a:lstStyle/>
                    <a:p>
                      <a:r>
                        <a:rPr lang="en-US" dirty="0" smtClean="0"/>
                        <a:t>F</a:t>
                      </a:r>
                      <a:endParaRPr lang="en-US" dirty="0"/>
                    </a:p>
                  </a:txBody>
                  <a:tcPr/>
                </a:tc>
                <a:extLst>
                  <a:ext uri="{0D108BD9-81ED-4DB2-BD59-A6C34878D82A}">
                    <a16:rowId xmlns:a16="http://schemas.microsoft.com/office/drawing/2014/main" val="10001"/>
                  </a:ext>
                </a:extLst>
              </a:tr>
              <a:tr h="370840">
                <a:tc>
                  <a:txBody>
                    <a:bodyPr/>
                    <a:lstStyle/>
                    <a:p>
                      <a:r>
                        <a:rPr lang="en-US" dirty="0" smtClean="0"/>
                        <a:t>T</a:t>
                      </a:r>
                      <a:endParaRPr lang="en-US" dirty="0"/>
                    </a:p>
                  </a:txBody>
                  <a:tcPr/>
                </a:tc>
                <a:tc>
                  <a:txBody>
                    <a:bodyPr/>
                    <a:lstStyle/>
                    <a:p>
                      <a:r>
                        <a:rPr lang="en-US" dirty="0" smtClean="0"/>
                        <a:t>T</a:t>
                      </a:r>
                      <a:endParaRPr lang="en-US" dirty="0"/>
                    </a:p>
                  </a:txBody>
                  <a:tcPr/>
                </a:tc>
                <a:tc>
                  <a:txBody>
                    <a:bodyPr/>
                    <a:lstStyle/>
                    <a:p>
                      <a:r>
                        <a:rPr lang="en-US" dirty="0" smtClean="0"/>
                        <a:t>F</a:t>
                      </a:r>
                      <a:endParaRPr lang="en-US" dirty="0"/>
                    </a:p>
                  </a:txBody>
                  <a:tcPr/>
                </a:tc>
                <a:tc>
                  <a:txBody>
                    <a:bodyPr/>
                    <a:lstStyle/>
                    <a:p>
                      <a:r>
                        <a:rPr lang="en-US" dirty="0" smtClean="0"/>
                        <a:t>T</a:t>
                      </a:r>
                      <a:endParaRPr lang="en-US" dirty="0"/>
                    </a:p>
                  </a:txBody>
                  <a:tcPr/>
                </a:tc>
                <a:tc>
                  <a:txBody>
                    <a:bodyPr/>
                    <a:lstStyle/>
                    <a:p>
                      <a:r>
                        <a:rPr lang="en-US" dirty="0" smtClean="0"/>
                        <a:t>T</a:t>
                      </a:r>
                      <a:endParaRPr lang="en-US" dirty="0"/>
                    </a:p>
                  </a:txBody>
                  <a:tcPr/>
                </a:tc>
                <a:tc>
                  <a:txBody>
                    <a:bodyPr/>
                    <a:lstStyle/>
                    <a:p>
                      <a:r>
                        <a:rPr lang="en-US" dirty="0" smtClean="0"/>
                        <a:t>T</a:t>
                      </a:r>
                      <a:endParaRPr lang="en-US" dirty="0"/>
                    </a:p>
                  </a:txBody>
                  <a:tcPr/>
                </a:tc>
                <a:extLst>
                  <a:ext uri="{0D108BD9-81ED-4DB2-BD59-A6C34878D82A}">
                    <a16:rowId xmlns:a16="http://schemas.microsoft.com/office/drawing/2014/main" val="10002"/>
                  </a:ext>
                </a:extLst>
              </a:tr>
              <a:tr h="370840">
                <a:tc>
                  <a:txBody>
                    <a:bodyPr/>
                    <a:lstStyle/>
                    <a:p>
                      <a:r>
                        <a:rPr lang="en-US" dirty="0" smtClean="0"/>
                        <a:t>T </a:t>
                      </a:r>
                      <a:endParaRPr lang="en-US" dirty="0"/>
                    </a:p>
                  </a:txBody>
                  <a:tcPr/>
                </a:tc>
                <a:tc>
                  <a:txBody>
                    <a:bodyPr/>
                    <a:lstStyle/>
                    <a:p>
                      <a:r>
                        <a:rPr lang="en-US" dirty="0" smtClean="0"/>
                        <a:t>F</a:t>
                      </a:r>
                      <a:endParaRPr lang="en-US" dirty="0"/>
                    </a:p>
                  </a:txBody>
                  <a:tcPr/>
                </a:tc>
                <a:tc>
                  <a:txBody>
                    <a:bodyPr/>
                    <a:lstStyle/>
                    <a:p>
                      <a:r>
                        <a:rPr lang="en-US" dirty="0" smtClean="0"/>
                        <a:t>T</a:t>
                      </a:r>
                      <a:endParaRPr lang="en-US" dirty="0"/>
                    </a:p>
                  </a:txBody>
                  <a:tcPr/>
                </a:tc>
                <a:tc>
                  <a:txBody>
                    <a:bodyPr/>
                    <a:lstStyle/>
                    <a:p>
                      <a:r>
                        <a:rPr lang="en-US" dirty="0" smtClean="0"/>
                        <a:t>F</a:t>
                      </a:r>
                      <a:endParaRPr lang="en-US" dirty="0"/>
                    </a:p>
                  </a:txBody>
                  <a:tcPr/>
                </a:tc>
                <a:tc>
                  <a:txBody>
                    <a:bodyPr/>
                    <a:lstStyle/>
                    <a:p>
                      <a:r>
                        <a:rPr lang="en-US" dirty="0" smtClean="0"/>
                        <a:t>T</a:t>
                      </a:r>
                      <a:endParaRPr lang="en-US" dirty="0"/>
                    </a:p>
                  </a:txBody>
                  <a:tcPr/>
                </a:tc>
                <a:tc>
                  <a:txBody>
                    <a:bodyPr/>
                    <a:lstStyle/>
                    <a:p>
                      <a:r>
                        <a:rPr lang="en-US" dirty="0" smtClean="0"/>
                        <a:t>F</a:t>
                      </a:r>
                      <a:endParaRPr lang="en-US" dirty="0"/>
                    </a:p>
                  </a:txBody>
                  <a:tcPr/>
                </a:tc>
                <a:extLst>
                  <a:ext uri="{0D108BD9-81ED-4DB2-BD59-A6C34878D82A}">
                    <a16:rowId xmlns:a16="http://schemas.microsoft.com/office/drawing/2014/main" val="10003"/>
                  </a:ext>
                </a:extLst>
              </a:tr>
              <a:tr h="370840">
                <a:tc>
                  <a:txBody>
                    <a:bodyPr/>
                    <a:lstStyle/>
                    <a:p>
                      <a:r>
                        <a:rPr lang="en-US" dirty="0" smtClean="0"/>
                        <a:t>T</a:t>
                      </a:r>
                      <a:endParaRPr lang="en-US" dirty="0"/>
                    </a:p>
                  </a:txBody>
                  <a:tcPr/>
                </a:tc>
                <a:tc>
                  <a:txBody>
                    <a:bodyPr/>
                    <a:lstStyle/>
                    <a:p>
                      <a:r>
                        <a:rPr lang="en-US" dirty="0" smtClean="0"/>
                        <a:t>F</a:t>
                      </a:r>
                      <a:endParaRPr lang="en-US" dirty="0"/>
                    </a:p>
                  </a:txBody>
                  <a:tcPr/>
                </a:tc>
                <a:tc>
                  <a:txBody>
                    <a:bodyPr/>
                    <a:lstStyle/>
                    <a:p>
                      <a:r>
                        <a:rPr lang="en-US" dirty="0" smtClean="0"/>
                        <a:t>F</a:t>
                      </a:r>
                      <a:endParaRPr lang="en-US" dirty="0"/>
                    </a:p>
                  </a:txBody>
                  <a:tcPr/>
                </a:tc>
                <a:tc>
                  <a:txBody>
                    <a:bodyPr/>
                    <a:lstStyle/>
                    <a:p>
                      <a:r>
                        <a:rPr lang="en-US" dirty="0" smtClean="0"/>
                        <a:t>T</a:t>
                      </a:r>
                      <a:endParaRPr lang="en-US" dirty="0"/>
                    </a:p>
                  </a:txBody>
                  <a:tcPr/>
                </a:tc>
                <a:tc>
                  <a:txBody>
                    <a:bodyPr/>
                    <a:lstStyle/>
                    <a:p>
                      <a:r>
                        <a:rPr lang="en-US" dirty="0" smtClean="0"/>
                        <a:t>T</a:t>
                      </a:r>
                      <a:endParaRPr lang="en-US" dirty="0"/>
                    </a:p>
                  </a:txBody>
                  <a:tcPr/>
                </a:tc>
                <a:tc>
                  <a:txBody>
                    <a:bodyPr/>
                    <a:lstStyle/>
                    <a:p>
                      <a:r>
                        <a:rPr lang="en-US" dirty="0" smtClean="0"/>
                        <a:t>T</a:t>
                      </a:r>
                      <a:endParaRPr lang="en-US" dirty="0"/>
                    </a:p>
                  </a:txBody>
                  <a:tcPr/>
                </a:tc>
                <a:extLst>
                  <a:ext uri="{0D108BD9-81ED-4DB2-BD59-A6C34878D82A}">
                    <a16:rowId xmlns:a16="http://schemas.microsoft.com/office/drawing/2014/main" val="10004"/>
                  </a:ext>
                </a:extLst>
              </a:tr>
              <a:tr h="370840">
                <a:tc>
                  <a:txBody>
                    <a:bodyPr/>
                    <a:lstStyle/>
                    <a:p>
                      <a:r>
                        <a:rPr lang="en-US" dirty="0" smtClean="0"/>
                        <a:t>F</a:t>
                      </a:r>
                      <a:endParaRPr lang="en-US" dirty="0"/>
                    </a:p>
                  </a:txBody>
                  <a:tcPr/>
                </a:tc>
                <a:tc>
                  <a:txBody>
                    <a:bodyPr/>
                    <a:lstStyle/>
                    <a:p>
                      <a:r>
                        <a:rPr lang="en-US" dirty="0" smtClean="0"/>
                        <a:t>T</a:t>
                      </a:r>
                      <a:endParaRPr lang="en-US" dirty="0"/>
                    </a:p>
                  </a:txBody>
                  <a:tcPr/>
                </a:tc>
                <a:tc>
                  <a:txBody>
                    <a:bodyPr/>
                    <a:lstStyle/>
                    <a:p>
                      <a:r>
                        <a:rPr lang="en-US" dirty="0" smtClean="0"/>
                        <a:t>T</a:t>
                      </a:r>
                      <a:endParaRPr lang="en-US" dirty="0"/>
                    </a:p>
                  </a:txBody>
                  <a:tcPr/>
                </a:tc>
                <a:tc>
                  <a:txBody>
                    <a:bodyPr/>
                    <a:lstStyle/>
                    <a:p>
                      <a:r>
                        <a:rPr lang="en-US" dirty="0" smtClean="0"/>
                        <a:t>F</a:t>
                      </a:r>
                      <a:endParaRPr lang="en-US" dirty="0"/>
                    </a:p>
                  </a:txBody>
                  <a:tcPr/>
                </a:tc>
                <a:tc>
                  <a:txBody>
                    <a:bodyPr/>
                    <a:lstStyle/>
                    <a:p>
                      <a:r>
                        <a:rPr lang="en-US" dirty="0" smtClean="0"/>
                        <a:t>T</a:t>
                      </a:r>
                      <a:endParaRPr lang="en-US" dirty="0"/>
                    </a:p>
                  </a:txBody>
                  <a:tcPr/>
                </a:tc>
                <a:tc>
                  <a:txBody>
                    <a:bodyPr/>
                    <a:lstStyle/>
                    <a:p>
                      <a:r>
                        <a:rPr lang="en-US" dirty="0" smtClean="0"/>
                        <a:t>F</a:t>
                      </a:r>
                      <a:endParaRPr lang="en-US" dirty="0"/>
                    </a:p>
                  </a:txBody>
                  <a:tcPr/>
                </a:tc>
                <a:extLst>
                  <a:ext uri="{0D108BD9-81ED-4DB2-BD59-A6C34878D82A}">
                    <a16:rowId xmlns:a16="http://schemas.microsoft.com/office/drawing/2014/main" val="10005"/>
                  </a:ext>
                </a:extLst>
              </a:tr>
              <a:tr h="370840">
                <a:tc>
                  <a:txBody>
                    <a:bodyPr/>
                    <a:lstStyle/>
                    <a:p>
                      <a:r>
                        <a:rPr lang="en-US" dirty="0" smtClean="0"/>
                        <a:t>F</a:t>
                      </a:r>
                      <a:endParaRPr lang="en-US" dirty="0"/>
                    </a:p>
                  </a:txBody>
                  <a:tcPr/>
                </a:tc>
                <a:tc>
                  <a:txBody>
                    <a:bodyPr/>
                    <a:lstStyle/>
                    <a:p>
                      <a:r>
                        <a:rPr lang="en-US" dirty="0" smtClean="0"/>
                        <a:t>T</a:t>
                      </a:r>
                      <a:endParaRPr lang="en-US" dirty="0"/>
                    </a:p>
                  </a:txBody>
                  <a:tcPr/>
                </a:tc>
                <a:tc>
                  <a:txBody>
                    <a:bodyPr/>
                    <a:lstStyle/>
                    <a:p>
                      <a:r>
                        <a:rPr lang="en-US" dirty="0" smtClean="0"/>
                        <a:t>F</a:t>
                      </a:r>
                      <a:endParaRPr lang="en-US" dirty="0"/>
                    </a:p>
                  </a:txBody>
                  <a:tcPr/>
                </a:tc>
                <a:tc>
                  <a:txBody>
                    <a:bodyPr/>
                    <a:lstStyle/>
                    <a:p>
                      <a:r>
                        <a:rPr lang="en-US" dirty="0" smtClean="0"/>
                        <a:t>T</a:t>
                      </a:r>
                      <a:endParaRPr lang="en-US" dirty="0"/>
                    </a:p>
                  </a:txBody>
                  <a:tcPr/>
                </a:tc>
                <a:tc>
                  <a:txBody>
                    <a:bodyPr/>
                    <a:lstStyle/>
                    <a:p>
                      <a:r>
                        <a:rPr lang="en-US" dirty="0" smtClean="0"/>
                        <a:t>T</a:t>
                      </a:r>
                      <a:endParaRPr lang="en-US" dirty="0"/>
                    </a:p>
                  </a:txBody>
                  <a:tcPr/>
                </a:tc>
                <a:tc>
                  <a:txBody>
                    <a:bodyPr/>
                    <a:lstStyle/>
                    <a:p>
                      <a:r>
                        <a:rPr lang="en-US" dirty="0" smtClean="0"/>
                        <a:t>T</a:t>
                      </a:r>
                      <a:endParaRPr lang="en-US" dirty="0"/>
                    </a:p>
                  </a:txBody>
                  <a:tcPr/>
                </a:tc>
                <a:extLst>
                  <a:ext uri="{0D108BD9-81ED-4DB2-BD59-A6C34878D82A}">
                    <a16:rowId xmlns:a16="http://schemas.microsoft.com/office/drawing/2014/main" val="10006"/>
                  </a:ext>
                </a:extLst>
              </a:tr>
              <a:tr h="370840">
                <a:tc>
                  <a:txBody>
                    <a:bodyPr/>
                    <a:lstStyle/>
                    <a:p>
                      <a:r>
                        <a:rPr lang="en-US" dirty="0" smtClean="0"/>
                        <a:t>F</a:t>
                      </a:r>
                      <a:endParaRPr lang="en-US" dirty="0"/>
                    </a:p>
                  </a:txBody>
                  <a:tcPr/>
                </a:tc>
                <a:tc>
                  <a:txBody>
                    <a:bodyPr/>
                    <a:lstStyle/>
                    <a:p>
                      <a:r>
                        <a:rPr lang="en-US" dirty="0" smtClean="0"/>
                        <a:t>F</a:t>
                      </a:r>
                      <a:endParaRPr lang="en-US" dirty="0"/>
                    </a:p>
                  </a:txBody>
                  <a:tcPr/>
                </a:tc>
                <a:tc>
                  <a:txBody>
                    <a:bodyPr/>
                    <a:lstStyle/>
                    <a:p>
                      <a:r>
                        <a:rPr lang="en-US" dirty="0" smtClean="0"/>
                        <a:t>T</a:t>
                      </a:r>
                      <a:endParaRPr lang="en-US" dirty="0"/>
                    </a:p>
                  </a:txBody>
                  <a:tcPr/>
                </a:tc>
                <a:tc>
                  <a:txBody>
                    <a:bodyPr/>
                    <a:lstStyle/>
                    <a:p>
                      <a:r>
                        <a:rPr lang="en-US" dirty="0" smtClean="0"/>
                        <a:t>F</a:t>
                      </a:r>
                      <a:endParaRPr lang="en-US" dirty="0"/>
                    </a:p>
                  </a:txBody>
                  <a:tcPr/>
                </a:tc>
                <a:tc>
                  <a:txBody>
                    <a:bodyPr/>
                    <a:lstStyle/>
                    <a:p>
                      <a:r>
                        <a:rPr lang="en-US" dirty="0" smtClean="0"/>
                        <a:t>F</a:t>
                      </a:r>
                      <a:endParaRPr lang="en-US" dirty="0"/>
                    </a:p>
                  </a:txBody>
                  <a:tcPr/>
                </a:tc>
                <a:tc>
                  <a:txBody>
                    <a:bodyPr/>
                    <a:lstStyle/>
                    <a:p>
                      <a:r>
                        <a:rPr lang="en-US" dirty="0" smtClean="0"/>
                        <a:t>T</a:t>
                      </a:r>
                      <a:endParaRPr lang="en-US" dirty="0"/>
                    </a:p>
                  </a:txBody>
                  <a:tcPr/>
                </a:tc>
                <a:extLst>
                  <a:ext uri="{0D108BD9-81ED-4DB2-BD59-A6C34878D82A}">
                    <a16:rowId xmlns:a16="http://schemas.microsoft.com/office/drawing/2014/main" val="10007"/>
                  </a:ext>
                </a:extLst>
              </a:tr>
              <a:tr h="370840">
                <a:tc>
                  <a:txBody>
                    <a:bodyPr/>
                    <a:lstStyle/>
                    <a:p>
                      <a:r>
                        <a:rPr lang="en-US" dirty="0" smtClean="0"/>
                        <a:t>F</a:t>
                      </a:r>
                      <a:endParaRPr lang="en-US" dirty="0"/>
                    </a:p>
                  </a:txBody>
                  <a:tcPr/>
                </a:tc>
                <a:tc>
                  <a:txBody>
                    <a:bodyPr/>
                    <a:lstStyle/>
                    <a:p>
                      <a:r>
                        <a:rPr lang="en-US" dirty="0" smtClean="0"/>
                        <a:t>F</a:t>
                      </a:r>
                      <a:endParaRPr lang="en-US" dirty="0"/>
                    </a:p>
                  </a:txBody>
                  <a:tcPr/>
                </a:tc>
                <a:tc>
                  <a:txBody>
                    <a:bodyPr/>
                    <a:lstStyle/>
                    <a:p>
                      <a:r>
                        <a:rPr lang="en-US" dirty="0" smtClean="0"/>
                        <a:t>F</a:t>
                      </a:r>
                      <a:endParaRPr lang="en-US" dirty="0"/>
                    </a:p>
                  </a:txBody>
                  <a:tcPr/>
                </a:tc>
                <a:tc>
                  <a:txBody>
                    <a:bodyPr/>
                    <a:lstStyle/>
                    <a:p>
                      <a:r>
                        <a:rPr lang="en-US" dirty="0" smtClean="0"/>
                        <a:t>T</a:t>
                      </a:r>
                      <a:endParaRPr lang="en-US" dirty="0"/>
                    </a:p>
                  </a:txBody>
                  <a:tcPr/>
                </a:tc>
                <a:tc>
                  <a:txBody>
                    <a:bodyPr/>
                    <a:lstStyle/>
                    <a:p>
                      <a:r>
                        <a:rPr lang="en-US" dirty="0" smtClean="0"/>
                        <a:t>F</a:t>
                      </a:r>
                      <a:endParaRPr lang="en-US" dirty="0"/>
                    </a:p>
                  </a:txBody>
                  <a:tcPr/>
                </a:tc>
                <a:tc>
                  <a:txBody>
                    <a:bodyPr/>
                    <a:lstStyle/>
                    <a:p>
                      <a:r>
                        <a:rPr lang="en-US" dirty="0" smtClean="0"/>
                        <a:t>T</a:t>
                      </a:r>
                      <a:endParaRPr lang="en-US" dirty="0"/>
                    </a:p>
                  </a:txBody>
                  <a:tcPr/>
                </a:tc>
                <a:extLst>
                  <a:ext uri="{0D108BD9-81ED-4DB2-BD59-A6C34878D82A}">
                    <a16:rowId xmlns:a16="http://schemas.microsoft.com/office/drawing/2014/main" val="10008"/>
                  </a:ext>
                </a:extLst>
              </a:tr>
            </a:tbl>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Equivalent Propositions</a:t>
            </a:r>
            <a:endParaRPr lang="en-US" dirty="0"/>
          </a:p>
        </p:txBody>
      </p:sp>
      <p:sp>
        <p:nvSpPr>
          <p:cNvPr id="3" name="Content Placeholder 2"/>
          <p:cNvSpPr>
            <a:spLocks noGrp="1"/>
          </p:cNvSpPr>
          <p:nvPr>
            <p:ph idx="1"/>
          </p:nvPr>
        </p:nvSpPr>
        <p:spPr/>
        <p:txBody>
          <a:bodyPr/>
          <a:lstStyle/>
          <a:p>
            <a:r>
              <a:rPr lang="en-US" dirty="0" smtClean="0"/>
              <a:t>Two propositions are </a:t>
            </a:r>
            <a:r>
              <a:rPr lang="en-US" b="1" dirty="0" smtClean="0"/>
              <a:t>e</a:t>
            </a:r>
            <a:r>
              <a:rPr lang="en-US" i="1" dirty="0" smtClean="0"/>
              <a:t>quivalent</a:t>
            </a:r>
            <a:r>
              <a:rPr lang="en-US" b="1" dirty="0" smtClean="0"/>
              <a:t> </a:t>
            </a:r>
            <a:r>
              <a:rPr lang="en-US" dirty="0" smtClean="0"/>
              <a:t>if they always have the same truth value.</a:t>
            </a:r>
            <a:endParaRPr lang="en-US" b="1" dirty="0" smtClean="0"/>
          </a:p>
          <a:p>
            <a:r>
              <a:rPr lang="en-US" b="1" dirty="0" smtClean="0"/>
              <a:t>Example</a:t>
            </a:r>
            <a:r>
              <a:rPr lang="en-US" dirty="0" smtClean="0"/>
              <a:t>: Show using a truth table that the conditional is equivalent to the </a:t>
            </a:r>
            <a:r>
              <a:rPr lang="en-US" dirty="0" err="1" smtClean="0"/>
              <a:t>contrapositive</a:t>
            </a:r>
            <a:r>
              <a:rPr lang="en-US" dirty="0" smtClean="0"/>
              <a:t>.</a:t>
            </a:r>
          </a:p>
          <a:p>
            <a:pPr>
              <a:buNone/>
            </a:pPr>
            <a:r>
              <a:rPr lang="en-US" dirty="0" smtClean="0"/>
              <a:t>   </a:t>
            </a:r>
            <a:r>
              <a:rPr lang="en-US" b="1" dirty="0" smtClean="0"/>
              <a:t>Solution:</a:t>
            </a:r>
            <a:r>
              <a:rPr lang="en-US" dirty="0" smtClean="0"/>
              <a:t> </a:t>
            </a:r>
            <a:endParaRPr lang="en-US" dirty="0"/>
          </a:p>
        </p:txBody>
      </p:sp>
      <p:graphicFrame>
        <p:nvGraphicFramePr>
          <p:cNvPr id="4" name="Table 3"/>
          <p:cNvGraphicFramePr>
            <a:graphicFrameLocks noGrp="1"/>
          </p:cNvGraphicFramePr>
          <p:nvPr/>
        </p:nvGraphicFramePr>
        <p:xfrm>
          <a:off x="838200" y="4343400"/>
          <a:ext cx="7315200" cy="184912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gridCol w="1219200">
                  <a:extLst>
                    <a:ext uri="{9D8B030D-6E8A-4147-A177-3AD203B41FA5}">
                      <a16:colId xmlns:a16="http://schemas.microsoft.com/office/drawing/2014/main" val="20005"/>
                    </a:ext>
                  </a:extLst>
                </a:gridCol>
              </a:tblGrid>
              <a:tr h="1524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i="1" dirty="0" smtClean="0">
                          <a:latin typeface="Cambria Math" pitchFamily="18" charset="0"/>
                          <a:ea typeface="Cambria Math" pitchFamily="18" charset="0"/>
                        </a:rPr>
                        <a:t>p</a:t>
                      </a:r>
                      <a:endParaRPr lang="en-US"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i="1" dirty="0" smtClean="0">
                          <a:latin typeface="Cambria Math" pitchFamily="18" charset="0"/>
                          <a:ea typeface="Cambria Math" pitchFamily="18" charset="0"/>
                        </a:rPr>
                        <a:t>q</a:t>
                      </a:r>
                      <a:endParaRPr lang="en-US" dirty="0" smtClean="0"/>
                    </a:p>
                  </a:txBody>
                  <a:tcPr/>
                </a:tc>
                <a:tc>
                  <a:txBody>
                    <a:bodyPr/>
                    <a:lstStyle/>
                    <a:p>
                      <a:r>
                        <a:rPr lang="en-US" dirty="0" smtClean="0">
                          <a:latin typeface="Cambria Math"/>
                          <a:ea typeface="Cambria Math"/>
                        </a:rPr>
                        <a:t>¬ </a:t>
                      </a:r>
                      <a:r>
                        <a:rPr lang="en-US" i="1" dirty="0" smtClean="0">
                          <a:latin typeface="Cambria Math" pitchFamily="18" charset="0"/>
                          <a:ea typeface="Cambria Math" pitchFamily="18" charset="0"/>
                        </a:rPr>
                        <a:t>p</a:t>
                      </a:r>
                      <a:endParaRPr lang="en-US" dirty="0"/>
                    </a:p>
                  </a:txBody>
                  <a:tcPr/>
                </a:tc>
                <a:tc>
                  <a:txBody>
                    <a:bodyPr/>
                    <a:lstStyle/>
                    <a:p>
                      <a:r>
                        <a:rPr lang="en-US" dirty="0" smtClean="0">
                          <a:latin typeface="Cambria Math"/>
                          <a:ea typeface="Cambria Math"/>
                        </a:rPr>
                        <a:t>¬ </a:t>
                      </a:r>
                      <a:r>
                        <a:rPr lang="en-US" i="1" dirty="0" smtClean="0">
                          <a:latin typeface="Cambria Math" pitchFamily="18" charset="0"/>
                          <a:ea typeface="Cambria Math" pitchFamily="18" charset="0"/>
                        </a:rPr>
                        <a:t>q</a:t>
                      </a:r>
                      <a:endParaRPr lang="en-US" dirty="0"/>
                    </a:p>
                  </a:txBody>
                  <a:tcPr/>
                </a:tc>
                <a:tc>
                  <a:txBody>
                    <a:bodyPr/>
                    <a:lstStyle/>
                    <a:p>
                      <a:r>
                        <a:rPr lang="en-US" sz="1800" i="1" dirty="0" smtClean="0">
                          <a:latin typeface="Cambria Math" pitchFamily="18" charset="0"/>
                          <a:ea typeface="Cambria Math" pitchFamily="18" charset="0"/>
                        </a:rPr>
                        <a:t>p </a:t>
                      </a:r>
                      <a:r>
                        <a:rPr lang="en-US" sz="1800" dirty="0" smtClean="0">
                          <a:latin typeface="Cambria Math"/>
                          <a:ea typeface="Cambria Math"/>
                        </a:rPr>
                        <a:t>→</a:t>
                      </a:r>
                      <a:r>
                        <a:rPr lang="en-US" sz="1800" i="1" dirty="0" smtClean="0">
                          <a:latin typeface="Cambria Math" pitchFamily="18" charset="0"/>
                          <a:ea typeface="Cambria Math" pitchFamily="18" charset="0"/>
                        </a:rPr>
                        <a:t>q</a:t>
                      </a:r>
                      <a:r>
                        <a:rPr lang="en-US" dirty="0" smtClean="0"/>
                        <a:t> </a:t>
                      </a:r>
                      <a:endParaRPr lang="en-US" dirty="0"/>
                    </a:p>
                  </a:txBody>
                  <a:tcPr/>
                </a:tc>
                <a:tc>
                  <a:txBody>
                    <a:bodyPr/>
                    <a:lstStyle/>
                    <a:p>
                      <a:r>
                        <a:rPr lang="en-US" dirty="0" smtClean="0">
                          <a:latin typeface="Cambria Math"/>
                          <a:ea typeface="Cambria Math"/>
                        </a:rPr>
                        <a:t>¬</a:t>
                      </a:r>
                      <a:r>
                        <a:rPr lang="en-US" i="1" dirty="0" smtClean="0">
                          <a:latin typeface="Cambria Math" pitchFamily="18" charset="0"/>
                          <a:ea typeface="Cambria Math" pitchFamily="18" charset="0"/>
                        </a:rPr>
                        <a:t>q </a:t>
                      </a:r>
                      <a:r>
                        <a:rPr lang="en-US" dirty="0" smtClean="0">
                          <a:latin typeface="Cambria Math"/>
                          <a:ea typeface="Cambria Math"/>
                        </a:rPr>
                        <a:t>→ ¬ </a:t>
                      </a:r>
                      <a:r>
                        <a:rPr lang="en-US" i="1" dirty="0" smtClean="0">
                          <a:latin typeface="Cambria Math" pitchFamily="18" charset="0"/>
                          <a:ea typeface="Cambria Math" pitchFamily="18" charset="0"/>
                        </a:rPr>
                        <a:t>p</a:t>
                      </a:r>
                      <a:r>
                        <a:rPr lang="en-US" dirty="0" smtClean="0"/>
                        <a:t> </a:t>
                      </a:r>
                      <a:endParaRPr lang="en-US" dirty="0"/>
                    </a:p>
                  </a:txBody>
                  <a:tcPr/>
                </a:tc>
                <a:extLst>
                  <a:ext uri="{0D108BD9-81ED-4DB2-BD59-A6C34878D82A}">
                    <a16:rowId xmlns:a16="http://schemas.microsoft.com/office/drawing/2014/main" val="10000"/>
                  </a:ext>
                </a:extLst>
              </a:tr>
              <a:tr h="370840">
                <a:tc>
                  <a:txBody>
                    <a:bodyPr/>
                    <a:lstStyle/>
                    <a:p>
                      <a:r>
                        <a:rPr lang="en-US" dirty="0" smtClean="0"/>
                        <a:t>T</a:t>
                      </a:r>
                      <a:endParaRPr lang="en-US" dirty="0"/>
                    </a:p>
                  </a:txBody>
                  <a:tcPr/>
                </a:tc>
                <a:tc>
                  <a:txBody>
                    <a:bodyPr/>
                    <a:lstStyle/>
                    <a:p>
                      <a:r>
                        <a:rPr lang="en-US" dirty="0" smtClean="0"/>
                        <a:t>T</a:t>
                      </a:r>
                      <a:endParaRPr lang="en-US" dirty="0"/>
                    </a:p>
                  </a:txBody>
                  <a:tcPr/>
                </a:tc>
                <a:tc>
                  <a:txBody>
                    <a:bodyPr/>
                    <a:lstStyle/>
                    <a:p>
                      <a:r>
                        <a:rPr lang="en-US" dirty="0" smtClean="0"/>
                        <a:t>F</a:t>
                      </a:r>
                      <a:endParaRPr lang="en-US" dirty="0"/>
                    </a:p>
                  </a:txBody>
                  <a:tcPr/>
                </a:tc>
                <a:tc>
                  <a:txBody>
                    <a:bodyPr/>
                    <a:lstStyle/>
                    <a:p>
                      <a:r>
                        <a:rPr lang="en-US" dirty="0" smtClean="0"/>
                        <a:t>F</a:t>
                      </a:r>
                      <a:endParaRPr lang="en-US" dirty="0"/>
                    </a:p>
                  </a:txBody>
                  <a:tcPr/>
                </a:tc>
                <a:tc>
                  <a:txBody>
                    <a:bodyPr/>
                    <a:lstStyle/>
                    <a:p>
                      <a:r>
                        <a:rPr lang="en-US" dirty="0" smtClean="0"/>
                        <a:t>T</a:t>
                      </a:r>
                      <a:endParaRPr lang="en-US" dirty="0"/>
                    </a:p>
                  </a:txBody>
                  <a:tcPr/>
                </a:tc>
                <a:tc>
                  <a:txBody>
                    <a:bodyPr/>
                    <a:lstStyle/>
                    <a:p>
                      <a:r>
                        <a:rPr lang="en-US" dirty="0" smtClean="0"/>
                        <a:t>T</a:t>
                      </a:r>
                      <a:endParaRPr lang="en-US" dirty="0"/>
                    </a:p>
                  </a:txBody>
                  <a:tcPr/>
                </a:tc>
                <a:extLst>
                  <a:ext uri="{0D108BD9-81ED-4DB2-BD59-A6C34878D82A}">
                    <a16:rowId xmlns:a16="http://schemas.microsoft.com/office/drawing/2014/main" val="10001"/>
                  </a:ext>
                </a:extLst>
              </a:tr>
              <a:tr h="370840">
                <a:tc>
                  <a:txBody>
                    <a:bodyPr/>
                    <a:lstStyle/>
                    <a:p>
                      <a:r>
                        <a:rPr lang="en-US" dirty="0" smtClean="0"/>
                        <a:t>T</a:t>
                      </a:r>
                      <a:endParaRPr lang="en-US" dirty="0"/>
                    </a:p>
                  </a:txBody>
                  <a:tcPr/>
                </a:tc>
                <a:tc>
                  <a:txBody>
                    <a:bodyPr/>
                    <a:lstStyle/>
                    <a:p>
                      <a:r>
                        <a:rPr lang="en-US" dirty="0" smtClean="0"/>
                        <a:t>F</a:t>
                      </a:r>
                      <a:endParaRPr lang="en-US" dirty="0"/>
                    </a:p>
                  </a:txBody>
                  <a:tcPr/>
                </a:tc>
                <a:tc>
                  <a:txBody>
                    <a:bodyPr/>
                    <a:lstStyle/>
                    <a:p>
                      <a:r>
                        <a:rPr lang="en-US" dirty="0" smtClean="0"/>
                        <a:t>F</a:t>
                      </a:r>
                      <a:endParaRPr lang="en-US" dirty="0"/>
                    </a:p>
                  </a:txBody>
                  <a:tcPr/>
                </a:tc>
                <a:tc>
                  <a:txBody>
                    <a:bodyPr/>
                    <a:lstStyle/>
                    <a:p>
                      <a:r>
                        <a:rPr lang="en-US" dirty="0" smtClean="0"/>
                        <a:t>T</a:t>
                      </a:r>
                      <a:endParaRPr lang="en-US" dirty="0"/>
                    </a:p>
                  </a:txBody>
                  <a:tcPr/>
                </a:tc>
                <a:tc>
                  <a:txBody>
                    <a:bodyPr/>
                    <a:lstStyle/>
                    <a:p>
                      <a:r>
                        <a:rPr lang="en-US" dirty="0" smtClean="0"/>
                        <a:t>F</a:t>
                      </a:r>
                      <a:endParaRPr lang="en-US" dirty="0"/>
                    </a:p>
                  </a:txBody>
                  <a:tcPr/>
                </a:tc>
                <a:tc>
                  <a:txBody>
                    <a:bodyPr/>
                    <a:lstStyle/>
                    <a:p>
                      <a:r>
                        <a:rPr lang="en-US" dirty="0" smtClean="0"/>
                        <a:t>F</a:t>
                      </a:r>
                      <a:endParaRPr lang="en-US" dirty="0"/>
                    </a:p>
                  </a:txBody>
                  <a:tcPr/>
                </a:tc>
                <a:extLst>
                  <a:ext uri="{0D108BD9-81ED-4DB2-BD59-A6C34878D82A}">
                    <a16:rowId xmlns:a16="http://schemas.microsoft.com/office/drawing/2014/main" val="10002"/>
                  </a:ext>
                </a:extLst>
              </a:tr>
              <a:tr h="370840">
                <a:tc>
                  <a:txBody>
                    <a:bodyPr/>
                    <a:lstStyle/>
                    <a:p>
                      <a:r>
                        <a:rPr lang="en-US" dirty="0" smtClean="0"/>
                        <a:t>F</a:t>
                      </a:r>
                      <a:endParaRPr lang="en-US" dirty="0"/>
                    </a:p>
                  </a:txBody>
                  <a:tcPr/>
                </a:tc>
                <a:tc>
                  <a:txBody>
                    <a:bodyPr/>
                    <a:lstStyle/>
                    <a:p>
                      <a:r>
                        <a:rPr lang="en-US" dirty="0" smtClean="0"/>
                        <a:t>T</a:t>
                      </a:r>
                      <a:endParaRPr lang="en-US" dirty="0"/>
                    </a:p>
                  </a:txBody>
                  <a:tcPr/>
                </a:tc>
                <a:tc>
                  <a:txBody>
                    <a:bodyPr/>
                    <a:lstStyle/>
                    <a:p>
                      <a:r>
                        <a:rPr lang="en-US" dirty="0" smtClean="0"/>
                        <a:t>T</a:t>
                      </a:r>
                      <a:endParaRPr lang="en-US" dirty="0"/>
                    </a:p>
                  </a:txBody>
                  <a:tcPr/>
                </a:tc>
                <a:tc>
                  <a:txBody>
                    <a:bodyPr/>
                    <a:lstStyle/>
                    <a:p>
                      <a:r>
                        <a:rPr lang="en-US" dirty="0" smtClean="0"/>
                        <a:t>F</a:t>
                      </a:r>
                      <a:endParaRPr lang="en-US" dirty="0"/>
                    </a:p>
                  </a:txBody>
                  <a:tcPr/>
                </a:tc>
                <a:tc>
                  <a:txBody>
                    <a:bodyPr/>
                    <a:lstStyle/>
                    <a:p>
                      <a:r>
                        <a:rPr lang="en-US" dirty="0" smtClean="0"/>
                        <a:t>T</a:t>
                      </a:r>
                      <a:endParaRPr lang="en-US" dirty="0"/>
                    </a:p>
                  </a:txBody>
                  <a:tcPr/>
                </a:tc>
                <a:tc>
                  <a:txBody>
                    <a:bodyPr/>
                    <a:lstStyle/>
                    <a:p>
                      <a:r>
                        <a:rPr lang="en-US" dirty="0" smtClean="0"/>
                        <a:t>T</a:t>
                      </a:r>
                      <a:endParaRPr lang="en-US" dirty="0"/>
                    </a:p>
                  </a:txBody>
                  <a:tcPr/>
                </a:tc>
                <a:extLst>
                  <a:ext uri="{0D108BD9-81ED-4DB2-BD59-A6C34878D82A}">
                    <a16:rowId xmlns:a16="http://schemas.microsoft.com/office/drawing/2014/main" val="10003"/>
                  </a:ext>
                </a:extLst>
              </a:tr>
              <a:tr h="370840">
                <a:tc>
                  <a:txBody>
                    <a:bodyPr/>
                    <a:lstStyle/>
                    <a:p>
                      <a:r>
                        <a:rPr lang="en-US" dirty="0" smtClean="0"/>
                        <a:t>F</a:t>
                      </a:r>
                      <a:endParaRPr lang="en-US" dirty="0"/>
                    </a:p>
                  </a:txBody>
                  <a:tcPr/>
                </a:tc>
                <a:tc>
                  <a:txBody>
                    <a:bodyPr/>
                    <a:lstStyle/>
                    <a:p>
                      <a:r>
                        <a:rPr lang="en-US" dirty="0" smtClean="0"/>
                        <a:t>F</a:t>
                      </a:r>
                      <a:endParaRPr lang="en-US" dirty="0"/>
                    </a:p>
                  </a:txBody>
                  <a:tcPr/>
                </a:tc>
                <a:tc>
                  <a:txBody>
                    <a:bodyPr/>
                    <a:lstStyle/>
                    <a:p>
                      <a:r>
                        <a:rPr lang="en-US" dirty="0" smtClean="0"/>
                        <a:t>T</a:t>
                      </a:r>
                      <a:endParaRPr lang="en-US" dirty="0"/>
                    </a:p>
                  </a:txBody>
                  <a:tcPr/>
                </a:tc>
                <a:tc>
                  <a:txBody>
                    <a:bodyPr/>
                    <a:lstStyle/>
                    <a:p>
                      <a:r>
                        <a:rPr lang="en-US" dirty="0" smtClean="0"/>
                        <a:t>T</a:t>
                      </a:r>
                      <a:endParaRPr lang="en-US" dirty="0"/>
                    </a:p>
                  </a:txBody>
                  <a:tcPr/>
                </a:tc>
                <a:tc>
                  <a:txBody>
                    <a:bodyPr/>
                    <a:lstStyle/>
                    <a:p>
                      <a:r>
                        <a:rPr lang="en-US" dirty="0" smtClean="0"/>
                        <a:t>T</a:t>
                      </a:r>
                      <a:endParaRPr lang="en-US" dirty="0"/>
                    </a:p>
                  </a:txBody>
                  <a:tcPr/>
                </a:tc>
                <a:tc>
                  <a:txBody>
                    <a:bodyPr/>
                    <a:lstStyle/>
                    <a:p>
                      <a:r>
                        <a:rPr lang="en-US" dirty="0" smtClean="0"/>
                        <a:t>T</a:t>
                      </a:r>
                      <a:endParaRPr lang="en-US" dirty="0"/>
                    </a:p>
                  </a:txBody>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Using a Truth Table to Show  Non-Equivalence</a:t>
            </a:r>
            <a:endParaRPr lang="en-US" dirty="0"/>
          </a:p>
        </p:txBody>
      </p:sp>
      <p:sp>
        <p:nvSpPr>
          <p:cNvPr id="3" name="Content Placeholder 2"/>
          <p:cNvSpPr>
            <a:spLocks noGrp="1"/>
          </p:cNvSpPr>
          <p:nvPr>
            <p:ph idx="1"/>
          </p:nvPr>
        </p:nvSpPr>
        <p:spPr/>
        <p:txBody>
          <a:bodyPr/>
          <a:lstStyle/>
          <a:p>
            <a:pPr>
              <a:buNone/>
            </a:pPr>
            <a:r>
              <a:rPr lang="en-US" b="1" dirty="0" smtClean="0"/>
              <a:t>  Example</a:t>
            </a:r>
            <a:r>
              <a:rPr lang="en-US" dirty="0" smtClean="0"/>
              <a:t>: Show using truth tables that neither  the converse nor inverse of an implication are not equivalent to the implication.</a:t>
            </a:r>
          </a:p>
          <a:p>
            <a:pPr>
              <a:buNone/>
            </a:pPr>
            <a:r>
              <a:rPr lang="en-US" dirty="0" smtClean="0"/>
              <a:t>   </a:t>
            </a:r>
            <a:r>
              <a:rPr lang="en-US" b="1" dirty="0" smtClean="0"/>
              <a:t>Solution:</a:t>
            </a:r>
            <a:r>
              <a:rPr lang="en-US" dirty="0" smtClean="0"/>
              <a:t> </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4087195500"/>
              </p:ext>
            </p:extLst>
          </p:nvPr>
        </p:nvGraphicFramePr>
        <p:xfrm>
          <a:off x="533401" y="3733800"/>
          <a:ext cx="8458198" cy="1940560"/>
        </p:xfrm>
        <a:graphic>
          <a:graphicData uri="http://schemas.openxmlformats.org/drawingml/2006/table">
            <a:tbl>
              <a:tblPr firstRow="1" bandRow="1">
                <a:tableStyleId>{5C22544A-7EE6-4342-B048-85BDC9FD1C3A}</a:tableStyleId>
              </a:tblPr>
              <a:tblGrid>
                <a:gridCol w="1208314">
                  <a:extLst>
                    <a:ext uri="{9D8B030D-6E8A-4147-A177-3AD203B41FA5}">
                      <a16:colId xmlns:a16="http://schemas.microsoft.com/office/drawing/2014/main" val="20000"/>
                    </a:ext>
                  </a:extLst>
                </a:gridCol>
                <a:gridCol w="1208314">
                  <a:extLst>
                    <a:ext uri="{9D8B030D-6E8A-4147-A177-3AD203B41FA5}">
                      <a16:colId xmlns:a16="http://schemas.microsoft.com/office/drawing/2014/main" val="20001"/>
                    </a:ext>
                  </a:extLst>
                </a:gridCol>
                <a:gridCol w="1208314">
                  <a:extLst>
                    <a:ext uri="{9D8B030D-6E8A-4147-A177-3AD203B41FA5}">
                      <a16:colId xmlns:a16="http://schemas.microsoft.com/office/drawing/2014/main" val="20002"/>
                    </a:ext>
                  </a:extLst>
                </a:gridCol>
                <a:gridCol w="1208314">
                  <a:extLst>
                    <a:ext uri="{9D8B030D-6E8A-4147-A177-3AD203B41FA5}">
                      <a16:colId xmlns:a16="http://schemas.microsoft.com/office/drawing/2014/main" val="20003"/>
                    </a:ext>
                  </a:extLst>
                </a:gridCol>
                <a:gridCol w="1208314">
                  <a:extLst>
                    <a:ext uri="{9D8B030D-6E8A-4147-A177-3AD203B41FA5}">
                      <a16:colId xmlns:a16="http://schemas.microsoft.com/office/drawing/2014/main" val="20004"/>
                    </a:ext>
                  </a:extLst>
                </a:gridCol>
                <a:gridCol w="1208314">
                  <a:extLst>
                    <a:ext uri="{9D8B030D-6E8A-4147-A177-3AD203B41FA5}">
                      <a16:colId xmlns:a16="http://schemas.microsoft.com/office/drawing/2014/main" val="20005"/>
                    </a:ext>
                  </a:extLst>
                </a:gridCol>
                <a:gridCol w="1208314">
                  <a:extLst>
                    <a:ext uri="{9D8B030D-6E8A-4147-A177-3AD203B41FA5}">
                      <a16:colId xmlns:a16="http://schemas.microsoft.com/office/drawing/2014/main" val="20006"/>
                    </a:ext>
                  </a:extLst>
                </a:gridCol>
              </a:tblGrid>
              <a:tr h="4572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i="1" dirty="0" smtClean="0">
                          <a:latin typeface="Cambria Math" pitchFamily="18" charset="0"/>
                          <a:ea typeface="Cambria Math" pitchFamily="18" charset="0"/>
                        </a:rPr>
                        <a:t>p</a:t>
                      </a:r>
                      <a:endParaRPr lang="en-US"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i="1" dirty="0" smtClean="0">
                          <a:latin typeface="Cambria Math" pitchFamily="18" charset="0"/>
                          <a:ea typeface="Cambria Math" pitchFamily="18" charset="0"/>
                        </a:rPr>
                        <a:t>q</a:t>
                      </a:r>
                      <a:endParaRPr lang="en-US" dirty="0" smtClean="0"/>
                    </a:p>
                  </a:txBody>
                  <a:tcPr/>
                </a:tc>
                <a:tc>
                  <a:txBody>
                    <a:bodyPr/>
                    <a:lstStyle/>
                    <a:p>
                      <a:r>
                        <a:rPr lang="en-US" dirty="0" smtClean="0">
                          <a:latin typeface="Cambria Math"/>
                          <a:ea typeface="Cambria Math"/>
                        </a:rPr>
                        <a:t>¬ </a:t>
                      </a:r>
                      <a:r>
                        <a:rPr lang="en-US" i="1" dirty="0" smtClean="0">
                          <a:latin typeface="Cambria Math" pitchFamily="18" charset="0"/>
                          <a:ea typeface="Cambria Math" pitchFamily="18" charset="0"/>
                        </a:rPr>
                        <a:t>p</a:t>
                      </a:r>
                      <a:endParaRPr lang="en-US" dirty="0"/>
                    </a:p>
                  </a:txBody>
                  <a:tcPr/>
                </a:tc>
                <a:tc>
                  <a:txBody>
                    <a:bodyPr/>
                    <a:lstStyle/>
                    <a:p>
                      <a:r>
                        <a:rPr lang="en-US" dirty="0" smtClean="0">
                          <a:latin typeface="Cambria Math"/>
                          <a:ea typeface="Cambria Math"/>
                        </a:rPr>
                        <a:t>¬ </a:t>
                      </a:r>
                      <a:r>
                        <a:rPr lang="en-US" i="1" dirty="0" smtClean="0">
                          <a:latin typeface="Cambria Math" pitchFamily="18" charset="0"/>
                          <a:ea typeface="Cambria Math" pitchFamily="18" charset="0"/>
                        </a:rPr>
                        <a:t>q</a:t>
                      </a:r>
                      <a:endParaRPr lang="en-US" dirty="0"/>
                    </a:p>
                  </a:txBody>
                  <a:tcPr/>
                </a:tc>
                <a:tc>
                  <a:txBody>
                    <a:bodyPr/>
                    <a:lstStyle/>
                    <a:p>
                      <a:r>
                        <a:rPr lang="en-US" sz="1800" i="1" dirty="0" smtClean="0">
                          <a:latin typeface="Cambria Math" pitchFamily="18" charset="0"/>
                          <a:ea typeface="Cambria Math" pitchFamily="18" charset="0"/>
                        </a:rPr>
                        <a:t>p </a:t>
                      </a:r>
                      <a:r>
                        <a:rPr lang="en-US" sz="1800" dirty="0" smtClean="0">
                          <a:latin typeface="Cambria Math"/>
                          <a:ea typeface="Cambria Math"/>
                        </a:rPr>
                        <a:t>→</a:t>
                      </a:r>
                      <a:r>
                        <a:rPr lang="en-US" sz="1800" i="1" dirty="0" smtClean="0">
                          <a:latin typeface="Cambria Math" pitchFamily="18" charset="0"/>
                          <a:ea typeface="Cambria Math" pitchFamily="18" charset="0"/>
                        </a:rPr>
                        <a:t>q</a:t>
                      </a:r>
                      <a:r>
                        <a:rPr lang="en-US" dirty="0" smtClean="0"/>
                        <a:t> </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Cambria Math"/>
                          <a:ea typeface="Cambria Math"/>
                        </a:rPr>
                        <a:t>¬ </a:t>
                      </a:r>
                      <a:r>
                        <a:rPr lang="en-US" i="1" dirty="0" smtClean="0">
                          <a:latin typeface="Cambria Math" pitchFamily="18" charset="0"/>
                          <a:ea typeface="Cambria Math" pitchFamily="18" charset="0"/>
                        </a:rPr>
                        <a:t>p </a:t>
                      </a:r>
                      <a:r>
                        <a:rPr lang="en-US" sz="1800" dirty="0" smtClean="0">
                          <a:latin typeface="Cambria Math"/>
                          <a:ea typeface="Cambria Math"/>
                        </a:rPr>
                        <a:t>→ </a:t>
                      </a:r>
                      <a:r>
                        <a:rPr lang="en-US" dirty="0" smtClean="0">
                          <a:latin typeface="Cambria Math"/>
                          <a:ea typeface="Cambria Math"/>
                        </a:rPr>
                        <a:t>¬ </a:t>
                      </a:r>
                      <a:r>
                        <a:rPr lang="en-US" i="1" dirty="0" smtClean="0">
                          <a:latin typeface="Cambria Math" pitchFamily="18" charset="0"/>
                          <a:ea typeface="Cambria Math" pitchFamily="18" charset="0"/>
                        </a:rPr>
                        <a:t>q</a:t>
                      </a:r>
                      <a:endParaRPr lang="en-US" dirty="0" smtClean="0"/>
                    </a:p>
                  </a:txBody>
                  <a:tcPr/>
                </a:tc>
                <a:tc>
                  <a:txBody>
                    <a:bodyPr/>
                    <a:lstStyle/>
                    <a:p>
                      <a:r>
                        <a:rPr lang="en-US" i="1" dirty="0" smtClean="0">
                          <a:latin typeface="Cambria Math" pitchFamily="18" charset="0"/>
                          <a:ea typeface="Cambria Math" pitchFamily="18" charset="0"/>
                        </a:rPr>
                        <a:t>q </a:t>
                      </a:r>
                      <a:r>
                        <a:rPr lang="en-US" dirty="0" smtClean="0">
                          <a:latin typeface="Cambria Math"/>
                          <a:ea typeface="Cambria Math"/>
                        </a:rPr>
                        <a:t>→ </a:t>
                      </a:r>
                      <a:r>
                        <a:rPr lang="en-US" i="1" dirty="0" smtClean="0">
                          <a:latin typeface="Cambria Math" pitchFamily="18" charset="0"/>
                          <a:ea typeface="Cambria Math" pitchFamily="18" charset="0"/>
                        </a:rPr>
                        <a:t>p</a:t>
                      </a:r>
                      <a:r>
                        <a:rPr lang="en-US" dirty="0" smtClean="0"/>
                        <a:t> </a:t>
                      </a:r>
                      <a:endParaRPr lang="en-US" dirty="0"/>
                    </a:p>
                  </a:txBody>
                  <a:tcPr/>
                </a:tc>
                <a:extLst>
                  <a:ext uri="{0D108BD9-81ED-4DB2-BD59-A6C34878D82A}">
                    <a16:rowId xmlns:a16="http://schemas.microsoft.com/office/drawing/2014/main" val="10000"/>
                  </a:ext>
                </a:extLst>
              </a:tr>
              <a:tr h="370840">
                <a:tc>
                  <a:txBody>
                    <a:bodyPr/>
                    <a:lstStyle/>
                    <a:p>
                      <a:r>
                        <a:rPr lang="en-US" dirty="0" smtClean="0"/>
                        <a:t>T</a:t>
                      </a:r>
                      <a:endParaRPr lang="en-US" dirty="0"/>
                    </a:p>
                  </a:txBody>
                  <a:tcPr/>
                </a:tc>
                <a:tc>
                  <a:txBody>
                    <a:bodyPr/>
                    <a:lstStyle/>
                    <a:p>
                      <a:r>
                        <a:rPr lang="en-US" dirty="0" smtClean="0"/>
                        <a:t>T</a:t>
                      </a:r>
                      <a:endParaRPr lang="en-US" dirty="0"/>
                    </a:p>
                  </a:txBody>
                  <a:tcPr/>
                </a:tc>
                <a:tc>
                  <a:txBody>
                    <a:bodyPr/>
                    <a:lstStyle/>
                    <a:p>
                      <a:r>
                        <a:rPr lang="en-US" dirty="0" smtClean="0"/>
                        <a:t>F</a:t>
                      </a:r>
                      <a:endParaRPr lang="en-US" dirty="0"/>
                    </a:p>
                  </a:txBody>
                  <a:tcPr/>
                </a:tc>
                <a:tc>
                  <a:txBody>
                    <a:bodyPr/>
                    <a:lstStyle/>
                    <a:p>
                      <a:r>
                        <a:rPr lang="en-US" dirty="0" smtClean="0"/>
                        <a:t>F</a:t>
                      </a:r>
                      <a:endParaRPr lang="en-US" dirty="0"/>
                    </a:p>
                  </a:txBody>
                  <a:tcPr/>
                </a:tc>
                <a:tc>
                  <a:txBody>
                    <a:bodyPr/>
                    <a:lstStyle/>
                    <a:p>
                      <a:r>
                        <a:rPr lang="en-US" dirty="0" smtClean="0"/>
                        <a:t>T</a:t>
                      </a:r>
                      <a:endParaRPr lang="en-US" dirty="0"/>
                    </a:p>
                  </a:txBody>
                  <a:tcPr/>
                </a:tc>
                <a:tc>
                  <a:txBody>
                    <a:bodyPr/>
                    <a:lstStyle/>
                    <a:p>
                      <a:r>
                        <a:rPr lang="en-US" dirty="0" smtClean="0"/>
                        <a:t>T</a:t>
                      </a:r>
                      <a:endParaRPr lang="en-US" dirty="0"/>
                    </a:p>
                  </a:txBody>
                  <a:tcPr/>
                </a:tc>
                <a:tc>
                  <a:txBody>
                    <a:bodyPr/>
                    <a:lstStyle/>
                    <a:p>
                      <a:r>
                        <a:rPr lang="en-US" dirty="0" smtClean="0"/>
                        <a:t>T</a:t>
                      </a:r>
                      <a:endParaRPr lang="en-US" dirty="0"/>
                    </a:p>
                  </a:txBody>
                  <a:tcPr/>
                </a:tc>
                <a:extLst>
                  <a:ext uri="{0D108BD9-81ED-4DB2-BD59-A6C34878D82A}">
                    <a16:rowId xmlns:a16="http://schemas.microsoft.com/office/drawing/2014/main" val="10001"/>
                  </a:ext>
                </a:extLst>
              </a:tr>
              <a:tr h="370840">
                <a:tc>
                  <a:txBody>
                    <a:bodyPr/>
                    <a:lstStyle/>
                    <a:p>
                      <a:r>
                        <a:rPr lang="en-US" dirty="0" smtClean="0"/>
                        <a:t>T</a:t>
                      </a:r>
                      <a:endParaRPr lang="en-US" dirty="0"/>
                    </a:p>
                  </a:txBody>
                  <a:tcPr/>
                </a:tc>
                <a:tc>
                  <a:txBody>
                    <a:bodyPr/>
                    <a:lstStyle/>
                    <a:p>
                      <a:r>
                        <a:rPr lang="en-US" dirty="0" smtClean="0"/>
                        <a:t>F</a:t>
                      </a:r>
                      <a:endParaRPr lang="en-US" dirty="0"/>
                    </a:p>
                  </a:txBody>
                  <a:tcPr/>
                </a:tc>
                <a:tc>
                  <a:txBody>
                    <a:bodyPr/>
                    <a:lstStyle/>
                    <a:p>
                      <a:r>
                        <a:rPr lang="en-US" dirty="0" smtClean="0"/>
                        <a:t>F</a:t>
                      </a:r>
                      <a:endParaRPr lang="en-US" dirty="0"/>
                    </a:p>
                  </a:txBody>
                  <a:tcPr/>
                </a:tc>
                <a:tc>
                  <a:txBody>
                    <a:bodyPr/>
                    <a:lstStyle/>
                    <a:p>
                      <a:r>
                        <a:rPr lang="en-US" dirty="0" smtClean="0"/>
                        <a:t>T</a:t>
                      </a:r>
                      <a:endParaRPr lang="en-US" dirty="0"/>
                    </a:p>
                  </a:txBody>
                  <a:tcPr/>
                </a:tc>
                <a:tc>
                  <a:txBody>
                    <a:bodyPr/>
                    <a:lstStyle/>
                    <a:p>
                      <a:r>
                        <a:rPr lang="en-US" dirty="0" smtClean="0"/>
                        <a:t>F</a:t>
                      </a:r>
                      <a:endParaRPr lang="en-US" dirty="0"/>
                    </a:p>
                  </a:txBody>
                  <a:tcPr/>
                </a:tc>
                <a:tc>
                  <a:txBody>
                    <a:bodyPr/>
                    <a:lstStyle/>
                    <a:p>
                      <a:r>
                        <a:rPr lang="en-US" dirty="0" smtClean="0"/>
                        <a:t>T</a:t>
                      </a:r>
                      <a:endParaRPr lang="en-US" dirty="0"/>
                    </a:p>
                  </a:txBody>
                  <a:tcPr/>
                </a:tc>
                <a:tc>
                  <a:txBody>
                    <a:bodyPr/>
                    <a:lstStyle/>
                    <a:p>
                      <a:r>
                        <a:rPr lang="en-US" dirty="0" smtClean="0"/>
                        <a:t>T</a:t>
                      </a:r>
                      <a:endParaRPr lang="en-US" dirty="0"/>
                    </a:p>
                  </a:txBody>
                  <a:tcPr/>
                </a:tc>
                <a:extLst>
                  <a:ext uri="{0D108BD9-81ED-4DB2-BD59-A6C34878D82A}">
                    <a16:rowId xmlns:a16="http://schemas.microsoft.com/office/drawing/2014/main" val="10002"/>
                  </a:ext>
                </a:extLst>
              </a:tr>
              <a:tr h="370840">
                <a:tc>
                  <a:txBody>
                    <a:bodyPr/>
                    <a:lstStyle/>
                    <a:p>
                      <a:r>
                        <a:rPr lang="en-US" dirty="0" smtClean="0"/>
                        <a:t>F</a:t>
                      </a:r>
                      <a:endParaRPr lang="en-US" dirty="0"/>
                    </a:p>
                  </a:txBody>
                  <a:tcPr/>
                </a:tc>
                <a:tc>
                  <a:txBody>
                    <a:bodyPr/>
                    <a:lstStyle/>
                    <a:p>
                      <a:r>
                        <a:rPr lang="en-US" dirty="0" smtClean="0"/>
                        <a:t>T</a:t>
                      </a:r>
                      <a:endParaRPr lang="en-US" dirty="0"/>
                    </a:p>
                  </a:txBody>
                  <a:tcPr/>
                </a:tc>
                <a:tc>
                  <a:txBody>
                    <a:bodyPr/>
                    <a:lstStyle/>
                    <a:p>
                      <a:r>
                        <a:rPr lang="en-US" dirty="0" smtClean="0"/>
                        <a:t>T</a:t>
                      </a:r>
                      <a:endParaRPr lang="en-US" dirty="0"/>
                    </a:p>
                  </a:txBody>
                  <a:tcPr/>
                </a:tc>
                <a:tc>
                  <a:txBody>
                    <a:bodyPr/>
                    <a:lstStyle/>
                    <a:p>
                      <a:r>
                        <a:rPr lang="en-US" dirty="0" smtClean="0"/>
                        <a:t>F</a:t>
                      </a:r>
                      <a:endParaRPr lang="en-US" dirty="0"/>
                    </a:p>
                  </a:txBody>
                  <a:tcPr/>
                </a:tc>
                <a:tc>
                  <a:txBody>
                    <a:bodyPr/>
                    <a:lstStyle/>
                    <a:p>
                      <a:r>
                        <a:rPr lang="en-US" dirty="0" smtClean="0"/>
                        <a:t>T</a:t>
                      </a:r>
                      <a:endParaRPr lang="en-US" dirty="0"/>
                    </a:p>
                  </a:txBody>
                  <a:tcPr/>
                </a:tc>
                <a:tc>
                  <a:txBody>
                    <a:bodyPr/>
                    <a:lstStyle/>
                    <a:p>
                      <a:r>
                        <a:rPr lang="en-US" dirty="0" smtClean="0"/>
                        <a:t>F</a:t>
                      </a:r>
                      <a:endParaRPr lang="en-US" dirty="0"/>
                    </a:p>
                  </a:txBody>
                  <a:tcPr/>
                </a:tc>
                <a:tc>
                  <a:txBody>
                    <a:bodyPr/>
                    <a:lstStyle/>
                    <a:p>
                      <a:r>
                        <a:rPr lang="en-US" dirty="0" smtClean="0"/>
                        <a:t>F</a:t>
                      </a:r>
                      <a:endParaRPr lang="en-US" dirty="0"/>
                    </a:p>
                  </a:txBody>
                  <a:tcPr/>
                </a:tc>
                <a:extLst>
                  <a:ext uri="{0D108BD9-81ED-4DB2-BD59-A6C34878D82A}">
                    <a16:rowId xmlns:a16="http://schemas.microsoft.com/office/drawing/2014/main" val="10003"/>
                  </a:ext>
                </a:extLst>
              </a:tr>
              <a:tr h="370840">
                <a:tc>
                  <a:txBody>
                    <a:bodyPr/>
                    <a:lstStyle/>
                    <a:p>
                      <a:r>
                        <a:rPr lang="en-US" dirty="0" smtClean="0"/>
                        <a:t>F</a:t>
                      </a:r>
                      <a:endParaRPr lang="en-US" dirty="0"/>
                    </a:p>
                  </a:txBody>
                  <a:tcPr/>
                </a:tc>
                <a:tc>
                  <a:txBody>
                    <a:bodyPr/>
                    <a:lstStyle/>
                    <a:p>
                      <a:r>
                        <a:rPr lang="en-US" dirty="0" smtClean="0"/>
                        <a:t>F</a:t>
                      </a:r>
                      <a:endParaRPr lang="en-US" dirty="0"/>
                    </a:p>
                  </a:txBody>
                  <a:tcPr/>
                </a:tc>
                <a:tc>
                  <a:txBody>
                    <a:bodyPr/>
                    <a:lstStyle/>
                    <a:p>
                      <a:r>
                        <a:rPr lang="en-US" dirty="0" smtClean="0"/>
                        <a:t>T</a:t>
                      </a:r>
                      <a:endParaRPr lang="en-US" dirty="0"/>
                    </a:p>
                  </a:txBody>
                  <a:tcPr/>
                </a:tc>
                <a:tc>
                  <a:txBody>
                    <a:bodyPr/>
                    <a:lstStyle/>
                    <a:p>
                      <a:r>
                        <a:rPr lang="en-US" dirty="0" smtClean="0"/>
                        <a:t>T</a:t>
                      </a:r>
                      <a:endParaRPr lang="en-US" dirty="0"/>
                    </a:p>
                  </a:txBody>
                  <a:tcPr/>
                </a:tc>
                <a:tc>
                  <a:txBody>
                    <a:bodyPr/>
                    <a:lstStyle/>
                    <a:p>
                      <a:r>
                        <a:rPr lang="en-US" dirty="0" smtClean="0"/>
                        <a:t>T</a:t>
                      </a:r>
                      <a:endParaRPr lang="en-US" dirty="0"/>
                    </a:p>
                  </a:txBody>
                  <a:tcPr/>
                </a:tc>
                <a:tc>
                  <a:txBody>
                    <a:bodyPr/>
                    <a:lstStyle/>
                    <a:p>
                      <a:r>
                        <a:rPr lang="en-US" dirty="0" smtClean="0"/>
                        <a:t>T</a:t>
                      </a:r>
                      <a:endParaRPr lang="en-US" dirty="0"/>
                    </a:p>
                  </a:txBody>
                  <a:tcPr/>
                </a:tc>
                <a:tc>
                  <a:txBody>
                    <a:bodyPr/>
                    <a:lstStyle/>
                    <a:p>
                      <a:r>
                        <a:rPr lang="en-US" dirty="0" smtClean="0"/>
                        <a:t>T</a:t>
                      </a:r>
                      <a:endParaRPr lang="en-US" dirty="0"/>
                    </a:p>
                  </a:txBody>
                  <a:tcPr/>
                </a:tc>
                <a:extLst>
                  <a:ext uri="{0D108BD9-81ED-4DB2-BD59-A6C34878D82A}">
                    <a16:rowId xmlns:a16="http://schemas.microsoft.com/office/drawing/2014/main" val="10004"/>
                  </a:ext>
                </a:extLst>
              </a:tr>
            </a:tbl>
          </a:graphicData>
        </a:graphic>
      </p:graphicFrame>
      <p:sp>
        <p:nvSpPr>
          <p:cNvPr id="5" name="Rectangle 4"/>
          <p:cNvSpPr/>
          <p:nvPr/>
        </p:nvSpPr>
        <p:spPr>
          <a:xfrm>
            <a:off x="5410200" y="4572000"/>
            <a:ext cx="35814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a:t>
            </a:r>
            <a:endParaRPr lang="en-US" dirty="0"/>
          </a:p>
        </p:txBody>
      </p:sp>
      <p:sp>
        <p:nvSpPr>
          <p:cNvPr id="3" name="Content Placeholder 2"/>
          <p:cNvSpPr>
            <a:spLocks noGrp="1"/>
          </p:cNvSpPr>
          <p:nvPr>
            <p:ph idx="1"/>
          </p:nvPr>
        </p:nvSpPr>
        <p:spPr/>
        <p:txBody>
          <a:bodyPr>
            <a:normAutofit/>
          </a:bodyPr>
          <a:lstStyle/>
          <a:p>
            <a:r>
              <a:rPr lang="en-US" dirty="0" smtClean="0"/>
              <a:t>How many rows are there in a truth table with </a:t>
            </a:r>
            <a:r>
              <a:rPr lang="en-US" i="1" dirty="0" smtClean="0"/>
              <a:t>n</a:t>
            </a:r>
            <a:r>
              <a:rPr lang="en-US" dirty="0" smtClean="0"/>
              <a:t> propositional variables?</a:t>
            </a:r>
          </a:p>
          <a:p>
            <a:pPr>
              <a:buNone/>
            </a:pPr>
            <a:endParaRPr lang="en-US" b="1" dirty="0" smtClean="0"/>
          </a:p>
          <a:p>
            <a:pPr>
              <a:buNone/>
            </a:pPr>
            <a:r>
              <a:rPr lang="en-US" b="1" dirty="0" smtClean="0"/>
              <a:t>    Solution</a:t>
            </a:r>
            <a:r>
              <a:rPr lang="en-US" dirty="0" smtClean="0"/>
              <a:t>:  </a:t>
            </a:r>
            <a:r>
              <a:rPr lang="en-US" dirty="0" smtClean="0">
                <a:latin typeface="Cambria Math" pitchFamily="18" charset="0"/>
                <a:ea typeface="Cambria Math" pitchFamily="18" charset="0"/>
              </a:rPr>
              <a:t>2</a:t>
            </a:r>
            <a:r>
              <a:rPr lang="en-US" baseline="30000" dirty="0" smtClean="0">
                <a:latin typeface="Cambria Math" pitchFamily="18" charset="0"/>
                <a:ea typeface="Cambria Math" pitchFamily="18" charset="0"/>
              </a:rPr>
              <a:t>n  </a:t>
            </a:r>
            <a:r>
              <a:rPr lang="en-US" dirty="0" smtClean="0">
                <a:latin typeface="Cambria Math" pitchFamily="18" charset="0"/>
                <a:ea typeface="Cambria Math" pitchFamily="18" charset="0"/>
              </a:rPr>
              <a:t> We will see how to do this in Chapter 6.</a:t>
            </a:r>
          </a:p>
          <a:p>
            <a:endParaRPr lang="en-US" dirty="0" smtClean="0"/>
          </a:p>
          <a:p>
            <a:r>
              <a:rPr lang="en-US" dirty="0" smtClean="0"/>
              <a:t>Note that this means that with n propositional variables, we can construct </a:t>
            </a:r>
            <a:r>
              <a:rPr lang="en-US" dirty="0" smtClean="0">
                <a:latin typeface="Cambria Math" pitchFamily="18" charset="0"/>
                <a:ea typeface="Cambria Math" pitchFamily="18" charset="0"/>
              </a:rPr>
              <a:t>2</a:t>
            </a:r>
            <a:r>
              <a:rPr lang="en-US" baseline="30000" dirty="0" smtClean="0">
                <a:latin typeface="Cambria Math" pitchFamily="18" charset="0"/>
                <a:ea typeface="Cambria Math" pitchFamily="18" charset="0"/>
              </a:rPr>
              <a:t>n    </a:t>
            </a:r>
            <a:r>
              <a:rPr lang="en-US" dirty="0" smtClean="0">
                <a:latin typeface="Cambria Math" pitchFamily="18" charset="0"/>
                <a:ea typeface="Cambria Math" pitchFamily="18" charset="0"/>
              </a:rPr>
              <a:t> distinct (i.e., not equivalent) propositions. </a:t>
            </a:r>
            <a:endParaRPr lang="en-US" dirty="0" smtClean="0"/>
          </a:p>
          <a:p>
            <a:pPr>
              <a:buNone/>
            </a:pPr>
            <a:r>
              <a:rPr lang="en-US" dirty="0" smtClean="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Precedence of Logical Operators</a:t>
            </a:r>
            <a:endParaRPr lang="en-US" dirty="0"/>
          </a:p>
        </p:txBody>
      </p:sp>
      <p:graphicFrame>
        <p:nvGraphicFramePr>
          <p:cNvPr id="4" name="Content Placeholder 3"/>
          <p:cNvGraphicFramePr>
            <a:graphicFrameLocks noGrp="1"/>
          </p:cNvGraphicFramePr>
          <p:nvPr>
            <p:ph idx="1"/>
          </p:nvPr>
        </p:nvGraphicFramePr>
        <p:xfrm>
          <a:off x="2590800" y="2057400"/>
          <a:ext cx="4038600" cy="2011680"/>
        </p:xfrm>
        <a:graphic>
          <a:graphicData uri="http://schemas.openxmlformats.org/drawingml/2006/table">
            <a:tbl>
              <a:tblPr firstRow="1" bandRow="1">
                <a:tableStyleId>{5C22544A-7EE6-4342-B048-85BDC9FD1C3A}</a:tableStyleId>
              </a:tblPr>
              <a:tblGrid>
                <a:gridCol w="2019300">
                  <a:extLst>
                    <a:ext uri="{9D8B030D-6E8A-4147-A177-3AD203B41FA5}">
                      <a16:colId xmlns:a16="http://schemas.microsoft.com/office/drawing/2014/main" val="20000"/>
                    </a:ext>
                  </a:extLst>
                </a:gridCol>
                <a:gridCol w="2019300">
                  <a:extLst>
                    <a:ext uri="{9D8B030D-6E8A-4147-A177-3AD203B41FA5}">
                      <a16:colId xmlns:a16="http://schemas.microsoft.com/office/drawing/2014/main" val="20001"/>
                    </a:ext>
                  </a:extLst>
                </a:gridCol>
              </a:tblGrid>
              <a:tr h="360218">
                <a:tc>
                  <a:txBody>
                    <a:bodyPr/>
                    <a:lstStyle/>
                    <a:p>
                      <a:r>
                        <a:rPr lang="en-US" dirty="0" smtClean="0"/>
                        <a:t>Operator</a:t>
                      </a:r>
                      <a:endParaRPr lang="en-US" dirty="0"/>
                    </a:p>
                  </a:txBody>
                  <a:tcPr marL="91441" marR="91441"/>
                </a:tc>
                <a:tc>
                  <a:txBody>
                    <a:bodyPr/>
                    <a:lstStyle/>
                    <a:p>
                      <a:r>
                        <a:rPr lang="en-US" dirty="0" smtClean="0"/>
                        <a:t>Precedence</a:t>
                      </a:r>
                      <a:endParaRPr lang="en-US" dirty="0"/>
                    </a:p>
                  </a:txBody>
                  <a:tcPr marL="91441" marR="91441"/>
                </a:tc>
                <a:extLst>
                  <a:ext uri="{0D108BD9-81ED-4DB2-BD59-A6C34878D82A}">
                    <a16:rowId xmlns:a16="http://schemas.microsoft.com/office/drawing/2014/main" val="10000"/>
                  </a:ext>
                </a:extLst>
              </a:tr>
              <a:tr h="36021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sym typeface="Symbol"/>
                        </a:rPr>
                        <a:t></a:t>
                      </a:r>
                      <a:endParaRPr lang="en-US" b="1" dirty="0" smtClean="0"/>
                    </a:p>
                  </a:txBody>
                  <a:tcPr marL="91441" marR="91441"/>
                </a:tc>
                <a:tc>
                  <a:txBody>
                    <a:bodyPr/>
                    <a:lstStyle/>
                    <a:p>
                      <a:r>
                        <a:rPr lang="en-US" dirty="0" smtClean="0"/>
                        <a:t>1</a:t>
                      </a:r>
                      <a:endParaRPr lang="en-US" dirty="0"/>
                    </a:p>
                  </a:txBody>
                  <a:tcPr marL="91441" marR="91441"/>
                </a:tc>
                <a:extLst>
                  <a:ext uri="{0D108BD9-81ED-4DB2-BD59-A6C34878D82A}">
                    <a16:rowId xmlns:a16="http://schemas.microsoft.com/office/drawing/2014/main" val="10001"/>
                  </a:ext>
                </a:extLst>
              </a:tr>
              <a:tr h="630382">
                <a:tc>
                  <a:txBody>
                    <a:bodyPr/>
                    <a:lstStyle/>
                    <a:p>
                      <a:r>
                        <a:rPr lang="en-US" b="1" dirty="0" smtClean="0">
                          <a:sym typeface="Symbol"/>
                        </a:rPr>
                        <a:t>   </a:t>
                      </a:r>
                    </a:p>
                    <a:p>
                      <a:r>
                        <a:rPr lang="en-US" b="1" dirty="0" smtClean="0">
                          <a:sym typeface="Symbol"/>
                        </a:rPr>
                        <a:t> </a:t>
                      </a:r>
                      <a:endParaRPr lang="en-US" b="1" dirty="0"/>
                    </a:p>
                  </a:txBody>
                  <a:tcPr marL="91441" marR="91441"/>
                </a:tc>
                <a:tc>
                  <a:txBody>
                    <a:bodyPr/>
                    <a:lstStyle/>
                    <a:p>
                      <a:r>
                        <a:rPr lang="en-US" dirty="0" smtClean="0"/>
                        <a:t>2</a:t>
                      </a:r>
                    </a:p>
                    <a:p>
                      <a:r>
                        <a:rPr lang="en-US" dirty="0" smtClean="0"/>
                        <a:t>3</a:t>
                      </a:r>
                      <a:endParaRPr lang="en-US" dirty="0"/>
                    </a:p>
                  </a:txBody>
                  <a:tcPr marL="91441" marR="91441"/>
                </a:tc>
                <a:extLst>
                  <a:ext uri="{0D108BD9-81ED-4DB2-BD59-A6C34878D82A}">
                    <a16:rowId xmlns:a16="http://schemas.microsoft.com/office/drawing/2014/main" val="10002"/>
                  </a:ext>
                </a:extLst>
              </a:tr>
              <a:tr h="630382">
                <a:tc>
                  <a:txBody>
                    <a:bodyPr/>
                    <a:lstStyle/>
                    <a:p>
                      <a:r>
                        <a:rPr lang="en-US" b="1" dirty="0" smtClean="0">
                          <a:sym typeface="Symbol"/>
                        </a:rPr>
                        <a:t> </a:t>
                      </a:r>
                    </a:p>
                    <a:p>
                      <a:r>
                        <a:rPr lang="en-US" dirty="0" smtClean="0">
                          <a:sym typeface="Symbol"/>
                        </a:rPr>
                        <a:t> </a:t>
                      </a:r>
                      <a:endParaRPr lang="en-US" dirty="0"/>
                    </a:p>
                  </a:txBody>
                  <a:tcPr marL="91441" marR="91441"/>
                </a:tc>
                <a:tc>
                  <a:txBody>
                    <a:bodyPr/>
                    <a:lstStyle/>
                    <a:p>
                      <a:r>
                        <a:rPr lang="en-US" dirty="0" smtClean="0"/>
                        <a:t>4</a:t>
                      </a:r>
                    </a:p>
                    <a:p>
                      <a:r>
                        <a:rPr lang="en-US" dirty="0" smtClean="0"/>
                        <a:t>5</a:t>
                      </a:r>
                      <a:endParaRPr lang="en-US" dirty="0"/>
                    </a:p>
                  </a:txBody>
                  <a:tcPr marL="91441" marR="91441"/>
                </a:tc>
                <a:extLst>
                  <a:ext uri="{0D108BD9-81ED-4DB2-BD59-A6C34878D82A}">
                    <a16:rowId xmlns:a16="http://schemas.microsoft.com/office/drawing/2014/main" val="10003"/>
                  </a:ext>
                </a:extLst>
              </a:tr>
            </a:tbl>
          </a:graphicData>
        </a:graphic>
      </p:graphicFrame>
      <p:sp>
        <p:nvSpPr>
          <p:cNvPr id="5" name="TextBox 4"/>
          <p:cNvSpPr txBox="1"/>
          <p:nvPr/>
        </p:nvSpPr>
        <p:spPr>
          <a:xfrm>
            <a:off x="3505200" y="4800600"/>
            <a:ext cx="4343400" cy="369332"/>
          </a:xfrm>
          <a:prstGeom prst="rect">
            <a:avLst/>
          </a:prstGeom>
          <a:noFill/>
        </p:spPr>
        <p:txBody>
          <a:bodyPr wrap="square" rtlCol="0">
            <a:spAutoFit/>
          </a:bodyPr>
          <a:lstStyle/>
          <a:p>
            <a:endParaRPr lang="en-US" dirty="0"/>
          </a:p>
        </p:txBody>
      </p:sp>
      <p:sp>
        <p:nvSpPr>
          <p:cNvPr id="6" name="TextBox 5"/>
          <p:cNvSpPr txBox="1"/>
          <p:nvPr/>
        </p:nvSpPr>
        <p:spPr>
          <a:xfrm>
            <a:off x="1828800" y="4343400"/>
            <a:ext cx="5715000" cy="1938992"/>
          </a:xfrm>
          <a:prstGeom prst="rect">
            <a:avLst/>
          </a:prstGeom>
          <a:noFill/>
        </p:spPr>
        <p:txBody>
          <a:bodyPr wrap="square" rtlCol="0">
            <a:spAutoFit/>
          </a:bodyPr>
          <a:lstStyle/>
          <a:p>
            <a:r>
              <a:rPr lang="en-US" sz="2400" i="1" dirty="0" smtClean="0">
                <a:latin typeface="Cambria Math" pitchFamily="18" charset="0"/>
                <a:ea typeface="Cambria Math" pitchFamily="18" charset="0"/>
              </a:rPr>
              <a:t>p  </a:t>
            </a:r>
            <a:r>
              <a:rPr lang="en-US" sz="2400" b="1" dirty="0" smtClean="0">
                <a:latin typeface="Cambria Math" pitchFamily="18" charset="0"/>
                <a:ea typeface="Cambria Math" pitchFamily="18" charset="0"/>
                <a:sym typeface="Symbol"/>
              </a:rPr>
              <a:t></a:t>
            </a:r>
            <a:r>
              <a:rPr lang="en-US" sz="2400" i="1" dirty="0" smtClean="0">
                <a:latin typeface="Cambria Math" pitchFamily="18" charset="0"/>
                <a:ea typeface="Cambria Math" pitchFamily="18" charset="0"/>
                <a:sym typeface="Symbol"/>
              </a:rPr>
              <a:t>q </a:t>
            </a:r>
            <a:r>
              <a:rPr lang="en-US" sz="2400" b="1" i="1" dirty="0" smtClean="0">
                <a:latin typeface="Cambria Math" pitchFamily="18" charset="0"/>
                <a:ea typeface="Cambria Math" pitchFamily="18" charset="0"/>
                <a:sym typeface="Symbol"/>
              </a:rPr>
              <a:t>  </a:t>
            </a:r>
            <a:r>
              <a:rPr lang="en-US" sz="2400" i="1" dirty="0" smtClean="0">
                <a:latin typeface="Cambria Math" pitchFamily="18" charset="0"/>
                <a:ea typeface="Cambria Math" pitchFamily="18" charset="0"/>
                <a:sym typeface="Symbol"/>
              </a:rPr>
              <a:t>r   </a:t>
            </a:r>
            <a:r>
              <a:rPr lang="en-US" sz="2400" dirty="0" smtClean="0">
                <a:ea typeface="Cambria Math" pitchFamily="18" charset="0"/>
                <a:sym typeface="Symbol"/>
              </a:rPr>
              <a:t>is equivalent to</a:t>
            </a:r>
            <a:r>
              <a:rPr lang="en-US" sz="2400" dirty="0" smtClean="0">
                <a:ea typeface="Cambria Math" pitchFamily="18" charset="0"/>
              </a:rPr>
              <a:t> </a:t>
            </a:r>
            <a:r>
              <a:rPr lang="en-US" sz="2400" i="1" dirty="0" smtClean="0">
                <a:latin typeface="Cambria Math" pitchFamily="18" charset="0"/>
                <a:ea typeface="Cambria Math" pitchFamily="18" charset="0"/>
              </a:rPr>
              <a:t>(p  </a:t>
            </a:r>
            <a:r>
              <a:rPr lang="en-US" sz="2400" b="1" dirty="0" smtClean="0">
                <a:latin typeface="Cambria Math" pitchFamily="18" charset="0"/>
                <a:ea typeface="Cambria Math" pitchFamily="18" charset="0"/>
                <a:sym typeface="Symbol"/>
              </a:rPr>
              <a:t></a:t>
            </a:r>
            <a:r>
              <a:rPr lang="en-US" sz="2400" i="1" dirty="0" smtClean="0">
                <a:latin typeface="Cambria Math" pitchFamily="18" charset="0"/>
                <a:ea typeface="Cambria Math" pitchFamily="18" charset="0"/>
                <a:sym typeface="Symbol"/>
              </a:rPr>
              <a:t>q)</a:t>
            </a:r>
            <a:r>
              <a:rPr lang="en-US" sz="2400" b="1" i="1" dirty="0" smtClean="0">
                <a:latin typeface="Cambria Math" pitchFamily="18" charset="0"/>
                <a:ea typeface="Cambria Math" pitchFamily="18" charset="0"/>
                <a:sym typeface="Symbol"/>
              </a:rPr>
              <a:t>   </a:t>
            </a:r>
            <a:r>
              <a:rPr lang="en-US" sz="2400" i="1" dirty="0" smtClean="0">
                <a:latin typeface="Cambria Math" pitchFamily="18" charset="0"/>
                <a:ea typeface="Cambria Math" pitchFamily="18" charset="0"/>
                <a:sym typeface="Symbol"/>
              </a:rPr>
              <a:t>r</a:t>
            </a:r>
          </a:p>
          <a:p>
            <a:r>
              <a:rPr lang="en-US" sz="2400" dirty="0" smtClean="0">
                <a:ea typeface="Cambria Math" pitchFamily="18" charset="0"/>
                <a:sym typeface="Symbol"/>
              </a:rPr>
              <a:t>If the intended meaning is </a:t>
            </a:r>
            <a:r>
              <a:rPr lang="en-US" sz="2400" i="1" dirty="0" smtClean="0">
                <a:latin typeface="Cambria Math" pitchFamily="18" charset="0"/>
                <a:ea typeface="Cambria Math" pitchFamily="18" charset="0"/>
              </a:rPr>
              <a:t>p  </a:t>
            </a:r>
            <a:r>
              <a:rPr lang="en-US" sz="2400" b="1" dirty="0" smtClean="0">
                <a:latin typeface="Cambria Math" pitchFamily="18" charset="0"/>
                <a:ea typeface="Cambria Math" pitchFamily="18" charset="0"/>
                <a:sym typeface="Symbol"/>
              </a:rPr>
              <a:t>(</a:t>
            </a:r>
            <a:r>
              <a:rPr lang="en-US" sz="2400" i="1" dirty="0" smtClean="0">
                <a:latin typeface="Cambria Math" pitchFamily="18" charset="0"/>
                <a:ea typeface="Cambria Math" pitchFamily="18" charset="0"/>
                <a:sym typeface="Symbol"/>
              </a:rPr>
              <a:t>q </a:t>
            </a:r>
            <a:r>
              <a:rPr lang="en-US" sz="2400" b="1" i="1" dirty="0" smtClean="0">
                <a:latin typeface="Cambria Math" pitchFamily="18" charset="0"/>
                <a:ea typeface="Cambria Math" pitchFamily="18" charset="0"/>
                <a:sym typeface="Symbol"/>
              </a:rPr>
              <a:t>  </a:t>
            </a:r>
            <a:r>
              <a:rPr lang="en-US" sz="2400" i="1" dirty="0" smtClean="0">
                <a:latin typeface="Cambria Math" pitchFamily="18" charset="0"/>
                <a:ea typeface="Cambria Math" pitchFamily="18" charset="0"/>
                <a:sym typeface="Symbol"/>
              </a:rPr>
              <a:t>r )</a:t>
            </a:r>
          </a:p>
          <a:p>
            <a:r>
              <a:rPr lang="en-US" sz="2400" dirty="0" smtClean="0">
                <a:ea typeface="Cambria Math" pitchFamily="18" charset="0"/>
                <a:sym typeface="Symbol"/>
              </a:rPr>
              <a:t>then parentheses must be used.</a:t>
            </a:r>
          </a:p>
          <a:p>
            <a:endParaRPr lang="en-US" sz="2400" i="1" dirty="0" smtClean="0">
              <a:ea typeface="Cambria Math" pitchFamily="18" charset="0"/>
              <a:sym typeface="Symbol"/>
            </a:endParaRPr>
          </a:p>
          <a:p>
            <a:r>
              <a:rPr lang="en-US" sz="2400" i="1" dirty="0" smtClean="0">
                <a:ea typeface="Cambria Math" pitchFamily="18" charset="0"/>
                <a:sym typeface="Symbol"/>
              </a:rPr>
              <a:t>    </a:t>
            </a:r>
            <a:endParaRPr lang="en-US" sz="2400" i="1" dirty="0" smtClean="0">
              <a:ea typeface="Cambria Math" pitchFamily="18"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Applications of Propositional Logic</a:t>
            </a:r>
            <a:endParaRPr lang="en-US" dirty="0"/>
          </a:p>
        </p:txBody>
      </p:sp>
      <p:sp>
        <p:nvSpPr>
          <p:cNvPr id="3" name="Subtitle 2"/>
          <p:cNvSpPr>
            <a:spLocks noGrp="1"/>
          </p:cNvSpPr>
          <p:nvPr>
            <p:ph type="subTitle" idx="1"/>
          </p:nvPr>
        </p:nvSpPr>
        <p:spPr/>
        <p:txBody>
          <a:bodyPr/>
          <a:lstStyle/>
          <a:p>
            <a:r>
              <a:rPr lang="en-US" dirty="0" smtClean="0"/>
              <a:t>Section 2.2</a:t>
            </a:r>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Applications of Propositional Logic: Summary</a:t>
            </a:r>
            <a:endParaRPr lang="en-US" dirty="0"/>
          </a:p>
        </p:txBody>
      </p:sp>
      <p:sp>
        <p:nvSpPr>
          <p:cNvPr id="3" name="Content Placeholder 2"/>
          <p:cNvSpPr>
            <a:spLocks noGrp="1"/>
          </p:cNvSpPr>
          <p:nvPr>
            <p:ph idx="1"/>
          </p:nvPr>
        </p:nvSpPr>
        <p:spPr/>
        <p:txBody>
          <a:bodyPr/>
          <a:lstStyle/>
          <a:p>
            <a:r>
              <a:rPr lang="en-US" dirty="0" smtClean="0"/>
              <a:t>Translating English to Propositional Logic</a:t>
            </a:r>
          </a:p>
          <a:p>
            <a:r>
              <a:rPr lang="en-US" dirty="0" smtClean="0"/>
              <a:t>System Specifications</a:t>
            </a:r>
          </a:p>
          <a:p>
            <a:r>
              <a:rPr lang="en-US" dirty="0"/>
              <a:t>Logic Circuits </a:t>
            </a:r>
          </a:p>
          <a:p>
            <a:pPr marL="0" indent="0">
              <a:buNone/>
            </a:pPr>
            <a:endParaRPr lang="en-US" dirty="0" smtClean="0"/>
          </a:p>
          <a:p>
            <a:pPr marL="0" indent="0">
              <a:buNone/>
            </a:pPr>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Translating English Sentences</a:t>
            </a:r>
            <a:endParaRPr lang="en-US" dirty="0"/>
          </a:p>
        </p:txBody>
      </p:sp>
      <p:sp>
        <p:nvSpPr>
          <p:cNvPr id="3" name="Content Placeholder 2"/>
          <p:cNvSpPr>
            <a:spLocks noGrp="1"/>
          </p:cNvSpPr>
          <p:nvPr>
            <p:ph idx="1"/>
          </p:nvPr>
        </p:nvSpPr>
        <p:spPr/>
        <p:txBody>
          <a:bodyPr>
            <a:normAutofit/>
          </a:bodyPr>
          <a:lstStyle/>
          <a:p>
            <a:r>
              <a:rPr lang="en-US" dirty="0" smtClean="0"/>
              <a:t>Steps to convert an English sentence to a statement in propositional logic</a:t>
            </a:r>
          </a:p>
          <a:p>
            <a:pPr lvl="1"/>
            <a:r>
              <a:rPr lang="en-US" dirty="0" smtClean="0"/>
              <a:t>Identify atomic propositions and represent using propositional variables.</a:t>
            </a:r>
          </a:p>
          <a:p>
            <a:pPr lvl="1"/>
            <a:r>
              <a:rPr lang="en-US" dirty="0" smtClean="0"/>
              <a:t>Determine appropriate logical connectives</a:t>
            </a:r>
          </a:p>
          <a:p>
            <a:r>
              <a:rPr lang="en-US" b="1" dirty="0" smtClean="0"/>
              <a:t>“If I go to </a:t>
            </a:r>
            <a:r>
              <a:rPr lang="en-US" b="1" dirty="0" err="1" smtClean="0"/>
              <a:t>Harry’s</a:t>
            </a:r>
            <a:r>
              <a:rPr lang="en-US" b="1" dirty="0" smtClean="0"/>
              <a:t> or to the country, I will not go shopping.”</a:t>
            </a:r>
          </a:p>
          <a:p>
            <a:pPr lvl="1"/>
            <a:r>
              <a:rPr lang="en-US" b="1" i="1" dirty="0" smtClean="0">
                <a:solidFill>
                  <a:srgbClr val="00B0F0"/>
                </a:solidFill>
              </a:rPr>
              <a:t>p</a:t>
            </a:r>
            <a:r>
              <a:rPr lang="en-US" b="1" dirty="0" smtClean="0">
                <a:solidFill>
                  <a:srgbClr val="00B0F0"/>
                </a:solidFill>
              </a:rPr>
              <a:t>:</a:t>
            </a:r>
            <a:r>
              <a:rPr lang="en-US" dirty="0" smtClean="0"/>
              <a:t> I go to </a:t>
            </a:r>
            <a:r>
              <a:rPr lang="en-US" dirty="0" err="1" smtClean="0"/>
              <a:t>Harry’s</a:t>
            </a:r>
            <a:endParaRPr lang="en-US" dirty="0" smtClean="0"/>
          </a:p>
          <a:p>
            <a:pPr lvl="1"/>
            <a:r>
              <a:rPr lang="en-US" b="1" dirty="0" smtClean="0">
                <a:solidFill>
                  <a:srgbClr val="00B0F0"/>
                </a:solidFill>
              </a:rPr>
              <a:t>q:</a:t>
            </a:r>
            <a:r>
              <a:rPr lang="en-US" dirty="0" smtClean="0"/>
              <a:t> I go to the country.</a:t>
            </a:r>
          </a:p>
          <a:p>
            <a:pPr lvl="1"/>
            <a:r>
              <a:rPr lang="en-US" b="1" i="1" dirty="0" smtClean="0">
                <a:solidFill>
                  <a:srgbClr val="00B0F0"/>
                </a:solidFill>
              </a:rPr>
              <a:t>r</a:t>
            </a:r>
            <a:r>
              <a:rPr lang="en-US" b="1" dirty="0" smtClean="0">
                <a:solidFill>
                  <a:srgbClr val="00B0F0"/>
                </a:solidFill>
              </a:rPr>
              <a:t>:</a:t>
            </a:r>
            <a:r>
              <a:rPr lang="en-US" dirty="0" smtClean="0"/>
              <a:t>  I will go shopping.</a:t>
            </a:r>
          </a:p>
          <a:p>
            <a:pPr lvl="1"/>
            <a:endParaRPr lang="en-US" b="1" dirty="0" smtClean="0"/>
          </a:p>
          <a:p>
            <a:pPr lvl="1">
              <a:buNone/>
            </a:pPr>
            <a:endParaRPr lang="en-US" b="1" dirty="0"/>
          </a:p>
        </p:txBody>
      </p:sp>
      <p:pic>
        <p:nvPicPr>
          <p:cNvPr id="5" name="Picture 4" descr="addin_tmp.png"/>
          <p:cNvPicPr>
            <a:picLocks noChangeAspect="1"/>
          </p:cNvPicPr>
          <p:nvPr>
            <p:custDataLst>
              <p:tags r:id="rId1"/>
            </p:custDataLst>
          </p:nvPr>
        </p:nvPicPr>
        <p:blipFill>
          <a:blip r:embed="rId3" cstate="print"/>
          <a:stretch>
            <a:fillRect/>
          </a:stretch>
        </p:blipFill>
        <p:spPr>
          <a:xfrm>
            <a:off x="5562600" y="5562600"/>
            <a:ext cx="2065973" cy="382905"/>
          </a:xfrm>
          <a:prstGeom prst="rect">
            <a:avLst/>
          </a:prstGeom>
        </p:spPr>
      </p:pic>
      <p:sp>
        <p:nvSpPr>
          <p:cNvPr id="7" name="TextBox 6"/>
          <p:cNvSpPr txBox="1"/>
          <p:nvPr/>
        </p:nvSpPr>
        <p:spPr>
          <a:xfrm>
            <a:off x="4876800" y="4419600"/>
            <a:ext cx="1676400" cy="381000"/>
          </a:xfrm>
          <a:prstGeom prst="rect">
            <a:avLst/>
          </a:prstGeom>
          <a:noFill/>
        </p:spPr>
        <p:txBody>
          <a:bodyPr wrap="square" rtlCol="0">
            <a:spAutoFit/>
          </a:bodyPr>
          <a:lstStyle/>
          <a:p>
            <a:endParaRPr lang="en-US" dirty="0"/>
          </a:p>
        </p:txBody>
      </p:sp>
      <p:sp>
        <p:nvSpPr>
          <p:cNvPr id="8" name="TextBox 7"/>
          <p:cNvSpPr txBox="1"/>
          <p:nvPr/>
        </p:nvSpPr>
        <p:spPr>
          <a:xfrm>
            <a:off x="5029200" y="4876800"/>
            <a:ext cx="3200400" cy="523220"/>
          </a:xfrm>
          <a:prstGeom prst="rect">
            <a:avLst/>
          </a:prstGeom>
          <a:noFill/>
        </p:spPr>
        <p:txBody>
          <a:bodyPr wrap="square" rtlCol="0">
            <a:spAutoFit/>
          </a:bodyPr>
          <a:lstStyle/>
          <a:p>
            <a:r>
              <a:rPr lang="en-US" sz="2800" dirty="0" smtClean="0"/>
              <a:t>If </a:t>
            </a:r>
            <a:r>
              <a:rPr lang="en-US" sz="2800" b="1" i="1" dirty="0" smtClean="0">
                <a:solidFill>
                  <a:srgbClr val="00B0F0"/>
                </a:solidFill>
              </a:rPr>
              <a:t>p</a:t>
            </a:r>
            <a:r>
              <a:rPr lang="en-US" sz="2800" dirty="0" smtClean="0"/>
              <a:t> or </a:t>
            </a:r>
            <a:r>
              <a:rPr lang="en-US" sz="2800" b="1" i="1" dirty="0" smtClean="0">
                <a:solidFill>
                  <a:srgbClr val="00B0F0"/>
                </a:solidFill>
              </a:rPr>
              <a:t>q</a:t>
            </a:r>
            <a:r>
              <a:rPr lang="en-US" sz="2800" dirty="0" smtClean="0"/>
              <a:t> then not </a:t>
            </a:r>
            <a:r>
              <a:rPr lang="en-US" sz="2800" b="1" i="1" dirty="0" smtClean="0">
                <a:solidFill>
                  <a:srgbClr val="00B0F0"/>
                </a:solidFill>
              </a:rPr>
              <a:t>r</a:t>
            </a:r>
            <a:r>
              <a:rPr lang="en-US" sz="2800" dirty="0" smtClean="0"/>
              <a:t>.</a:t>
            </a:r>
            <a:endParaRPr lang="en-US" sz="2800"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Example</a:t>
            </a:r>
            <a:endParaRPr lang="en-US" dirty="0"/>
          </a:p>
        </p:txBody>
      </p:sp>
      <p:sp>
        <p:nvSpPr>
          <p:cNvPr id="3" name="Content Placeholder 2"/>
          <p:cNvSpPr>
            <a:spLocks noGrp="1"/>
          </p:cNvSpPr>
          <p:nvPr>
            <p:ph idx="1"/>
          </p:nvPr>
        </p:nvSpPr>
        <p:spPr/>
        <p:txBody>
          <a:bodyPr/>
          <a:lstStyle/>
          <a:p>
            <a:pPr>
              <a:buNone/>
            </a:pPr>
            <a:r>
              <a:rPr lang="en-US" b="1" dirty="0" smtClean="0"/>
              <a:t>  Problem:</a:t>
            </a:r>
            <a:r>
              <a:rPr lang="en-US" dirty="0" smtClean="0"/>
              <a:t> Translate the following sentence into propositional logic:</a:t>
            </a:r>
          </a:p>
          <a:p>
            <a:pPr>
              <a:buNone/>
            </a:pPr>
            <a:r>
              <a:rPr lang="en-US" dirty="0" smtClean="0"/>
              <a:t> “You can access the Internet from campus only if you are a computer science major or you are not a freshman.”</a:t>
            </a:r>
          </a:p>
          <a:p>
            <a:pPr>
              <a:buNone/>
            </a:pPr>
            <a:r>
              <a:rPr lang="en-US" b="1" dirty="0" smtClean="0"/>
              <a:t>  One Solution</a:t>
            </a:r>
            <a:r>
              <a:rPr lang="en-US" dirty="0" smtClean="0"/>
              <a:t>: Let </a:t>
            </a:r>
            <a:r>
              <a:rPr lang="en-US" b="1" i="1" dirty="0" smtClean="0">
                <a:latin typeface="Cambria Math" pitchFamily="18" charset="0"/>
                <a:ea typeface="Cambria Math" pitchFamily="18" charset="0"/>
              </a:rPr>
              <a:t>a</a:t>
            </a:r>
            <a:r>
              <a:rPr lang="en-US" b="1" dirty="0" smtClean="0"/>
              <a:t>, </a:t>
            </a:r>
            <a:r>
              <a:rPr lang="en-US" b="1" i="1" dirty="0" smtClean="0">
                <a:latin typeface="Cambria Math" pitchFamily="18" charset="0"/>
                <a:ea typeface="Cambria Math" pitchFamily="18" charset="0"/>
              </a:rPr>
              <a:t>c</a:t>
            </a:r>
            <a:r>
              <a:rPr lang="en-US" b="1" dirty="0" smtClean="0"/>
              <a:t>, </a:t>
            </a:r>
            <a:r>
              <a:rPr lang="en-US" dirty="0" smtClean="0"/>
              <a:t>and </a:t>
            </a:r>
            <a:r>
              <a:rPr lang="en-US" b="1" i="1" dirty="0" smtClean="0">
                <a:latin typeface="Cambria Math" pitchFamily="18" charset="0"/>
                <a:ea typeface="Cambria Math" pitchFamily="18" charset="0"/>
              </a:rPr>
              <a:t>f</a:t>
            </a:r>
            <a:r>
              <a:rPr lang="en-US" b="1" dirty="0" smtClean="0"/>
              <a:t> </a:t>
            </a:r>
            <a:r>
              <a:rPr lang="en-US" dirty="0" smtClean="0"/>
              <a:t> represent respectively “You can access the internet from campus,” “You are a computer science major,” and “You are a freshman.”</a:t>
            </a:r>
          </a:p>
          <a:p>
            <a:pPr>
              <a:buNone/>
            </a:pPr>
            <a:r>
              <a:rPr lang="en-US" dirty="0" smtClean="0"/>
              <a:t>                  </a:t>
            </a:r>
            <a:r>
              <a:rPr lang="en-US" b="1" dirty="0" smtClean="0">
                <a:latin typeface="Cambria Math"/>
                <a:ea typeface="Cambria Math"/>
              </a:rPr>
              <a:t>a→ (c ∨ ¬ </a:t>
            </a:r>
            <a:r>
              <a:rPr lang="en-US" b="1" i="1" dirty="0" smtClean="0">
                <a:latin typeface="Cambria Math" pitchFamily="18" charset="0"/>
                <a:ea typeface="Cambria Math" pitchFamily="18" charset="0"/>
              </a:rPr>
              <a:t>f</a:t>
            </a:r>
            <a:r>
              <a:rPr lang="en-US" b="1" dirty="0" smtClean="0"/>
              <a:t> )</a:t>
            </a:r>
          </a:p>
          <a:p>
            <a:endParaRPr lang="en-US" dirty="0" smtClean="0"/>
          </a:p>
          <a:p>
            <a:pPr>
              <a:buNone/>
            </a:pPr>
            <a:endParaRPr lang="en-US" dirty="0" smtClean="0"/>
          </a:p>
          <a:p>
            <a:endParaRPr lang="en-US" dirty="0" smtClean="0"/>
          </a:p>
          <a:p>
            <a:endParaRPr lang="en-US" dirty="0" smtClean="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Specifications</a:t>
            </a:r>
            <a:endParaRPr lang="en-US" dirty="0"/>
          </a:p>
        </p:txBody>
      </p:sp>
      <p:sp>
        <p:nvSpPr>
          <p:cNvPr id="3" name="Content Placeholder 2"/>
          <p:cNvSpPr>
            <a:spLocks noGrp="1"/>
          </p:cNvSpPr>
          <p:nvPr>
            <p:ph idx="1"/>
          </p:nvPr>
        </p:nvSpPr>
        <p:spPr/>
        <p:txBody>
          <a:bodyPr/>
          <a:lstStyle/>
          <a:p>
            <a:r>
              <a:rPr lang="en-US" dirty="0" smtClean="0"/>
              <a:t>System and Software engineers take requirements in English and express them in a precise specification language based on logic.</a:t>
            </a:r>
          </a:p>
          <a:p>
            <a:pPr>
              <a:buNone/>
            </a:pPr>
            <a:r>
              <a:rPr lang="en-US" b="1" dirty="0" smtClean="0"/>
              <a:t>   Example</a:t>
            </a:r>
            <a:r>
              <a:rPr lang="en-US" dirty="0" smtClean="0"/>
              <a:t>: Express in propositional logic:</a:t>
            </a:r>
          </a:p>
          <a:p>
            <a:pPr>
              <a:buNone/>
            </a:pPr>
            <a:r>
              <a:rPr lang="en-US" dirty="0" smtClean="0"/>
              <a:t>  “The automated reply cannot be sent when the file system is full”</a:t>
            </a:r>
          </a:p>
          <a:p>
            <a:pPr>
              <a:buNone/>
            </a:pPr>
            <a:r>
              <a:rPr lang="en-US" dirty="0" smtClean="0"/>
              <a:t>    </a:t>
            </a:r>
            <a:r>
              <a:rPr lang="en-US" b="1" dirty="0" smtClean="0"/>
              <a:t>Solution</a:t>
            </a:r>
            <a:r>
              <a:rPr lang="en-US" dirty="0" smtClean="0"/>
              <a:t>: One possible solution: Let </a:t>
            </a:r>
            <a:r>
              <a:rPr lang="en-US" b="1" i="1" dirty="0" smtClean="0"/>
              <a:t>p</a:t>
            </a:r>
            <a:r>
              <a:rPr lang="en-US" dirty="0" smtClean="0"/>
              <a:t> denote “The automated reply can be sent” and </a:t>
            </a:r>
            <a:r>
              <a:rPr lang="en-US" b="1" i="1" dirty="0" smtClean="0"/>
              <a:t>q</a:t>
            </a:r>
            <a:r>
              <a:rPr lang="en-US" dirty="0" smtClean="0"/>
              <a:t> denote “The file system is full.”</a:t>
            </a:r>
            <a:r>
              <a:rPr lang="en-US" dirty="0" smtClean="0">
                <a:latin typeface="Cambria Math"/>
                <a:ea typeface="Cambria Math"/>
              </a:rPr>
              <a:t> </a:t>
            </a:r>
          </a:p>
          <a:p>
            <a:pPr>
              <a:buNone/>
            </a:pPr>
            <a:r>
              <a:rPr lang="en-US" b="1" dirty="0" smtClean="0">
                <a:latin typeface="Cambria Math"/>
                <a:ea typeface="Cambria Math"/>
              </a:rPr>
              <a:t>                              q→ ¬ </a:t>
            </a:r>
            <a:r>
              <a:rPr lang="en-US" b="1" i="1" dirty="0" smtClean="0">
                <a:latin typeface="Cambria Math" pitchFamily="18" charset="0"/>
                <a:ea typeface="Cambria Math" pitchFamily="18" charset="0"/>
              </a:rPr>
              <a:t>p</a:t>
            </a:r>
            <a:endParaRPr lang="en-US" b="1" dirty="0" smtClean="0"/>
          </a:p>
          <a:p>
            <a:pPr>
              <a:buNone/>
            </a:pPr>
            <a:endParaRPr lang="en-US" dirty="0" smtClean="0"/>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229600" cy="1143000"/>
          </a:xfrm>
        </p:spPr>
        <p:txBody>
          <a:bodyPr>
            <a:normAutofit fontScale="90000"/>
          </a:bodyPr>
          <a:lstStyle/>
          <a:p>
            <a:r>
              <a:rPr lang="en-US" dirty="0" smtClean="0"/>
              <a:t>Consistent System Specifications</a:t>
            </a:r>
            <a:endParaRPr lang="en-US" dirty="0"/>
          </a:p>
        </p:txBody>
      </p:sp>
      <p:sp>
        <p:nvSpPr>
          <p:cNvPr id="3" name="Content Placeholder 2"/>
          <p:cNvSpPr>
            <a:spLocks noGrp="1"/>
          </p:cNvSpPr>
          <p:nvPr>
            <p:ph idx="1"/>
          </p:nvPr>
        </p:nvSpPr>
        <p:spPr>
          <a:xfrm>
            <a:off x="0" y="1447800"/>
            <a:ext cx="8991600" cy="5334000"/>
          </a:xfrm>
        </p:spPr>
        <p:txBody>
          <a:bodyPr>
            <a:normAutofit fontScale="92500" lnSpcReduction="10000"/>
          </a:bodyPr>
          <a:lstStyle/>
          <a:p>
            <a:pPr>
              <a:buNone/>
            </a:pPr>
            <a:r>
              <a:rPr lang="en-US" dirty="0" smtClean="0"/>
              <a:t>   </a:t>
            </a:r>
            <a:r>
              <a:rPr lang="en-US" b="1" dirty="0" smtClean="0"/>
              <a:t>Definition</a:t>
            </a:r>
            <a:r>
              <a:rPr lang="en-US" dirty="0" smtClean="0"/>
              <a:t>: A list of propositions is </a:t>
            </a:r>
            <a:r>
              <a:rPr lang="en-US" i="1" dirty="0" smtClean="0"/>
              <a:t>consistent</a:t>
            </a:r>
            <a:r>
              <a:rPr lang="en-US" dirty="0" smtClean="0"/>
              <a:t> if it is possible to assign truth values to the proposition variables so that each proposition is true.</a:t>
            </a:r>
          </a:p>
          <a:p>
            <a:pPr>
              <a:buNone/>
            </a:pPr>
            <a:endParaRPr lang="en-US" dirty="0" smtClean="0"/>
          </a:p>
          <a:p>
            <a:pPr>
              <a:buNone/>
            </a:pPr>
            <a:r>
              <a:rPr lang="en-US" b="1" dirty="0" smtClean="0"/>
              <a:t>   Exercise</a:t>
            </a:r>
            <a:r>
              <a:rPr lang="en-US" dirty="0" smtClean="0"/>
              <a:t>: Are these specifications consistent?</a:t>
            </a:r>
          </a:p>
          <a:p>
            <a:pPr lvl="1"/>
            <a:r>
              <a:rPr lang="en-US" sz="1800" b="1" dirty="0" smtClean="0">
                <a:solidFill>
                  <a:srgbClr val="00B0F0"/>
                </a:solidFill>
              </a:rPr>
              <a:t>“The diagnostic message is  stored in the buffer or it is retransmitted.”</a:t>
            </a:r>
          </a:p>
          <a:p>
            <a:pPr lvl="1"/>
            <a:r>
              <a:rPr lang="en-US" sz="1800" b="1" dirty="0" smtClean="0">
                <a:solidFill>
                  <a:srgbClr val="00B0F0"/>
                </a:solidFill>
              </a:rPr>
              <a:t>“The diagnostic message is not stored in the buffer.”</a:t>
            </a:r>
          </a:p>
          <a:p>
            <a:pPr lvl="1"/>
            <a:r>
              <a:rPr lang="en-US" sz="1800" b="1" dirty="0" smtClean="0">
                <a:solidFill>
                  <a:srgbClr val="00B0F0"/>
                </a:solidFill>
              </a:rPr>
              <a:t>“If the diagnostic message is stored in the buffer, then it is retransmitted.”</a:t>
            </a:r>
          </a:p>
          <a:p>
            <a:pPr>
              <a:buNone/>
            </a:pPr>
            <a:r>
              <a:rPr lang="en-US" sz="2000" b="1" dirty="0" smtClean="0"/>
              <a:t>    </a:t>
            </a:r>
          </a:p>
          <a:p>
            <a:pPr>
              <a:buNone/>
            </a:pPr>
            <a:r>
              <a:rPr lang="en-US" sz="2000" b="1" dirty="0"/>
              <a:t> </a:t>
            </a:r>
            <a:r>
              <a:rPr lang="en-US" sz="2000" b="1" dirty="0" smtClean="0"/>
              <a:t>   </a:t>
            </a:r>
            <a:r>
              <a:rPr lang="en-US" sz="2200" b="1" dirty="0" smtClean="0"/>
              <a:t>Solution</a:t>
            </a:r>
            <a:r>
              <a:rPr lang="en-US" sz="2200" dirty="0" smtClean="0"/>
              <a:t>: Let </a:t>
            </a:r>
            <a:r>
              <a:rPr lang="en-US" sz="2200" b="1" i="1" dirty="0" smtClean="0"/>
              <a:t>p</a:t>
            </a:r>
            <a:r>
              <a:rPr lang="en-US" sz="2200" dirty="0" smtClean="0"/>
              <a:t> denote “The diagnostic message is stored in the buffer.” Let </a:t>
            </a:r>
            <a:r>
              <a:rPr lang="en-US" sz="2200" b="1" dirty="0" smtClean="0"/>
              <a:t>q</a:t>
            </a:r>
            <a:r>
              <a:rPr lang="en-US" sz="2200" dirty="0" smtClean="0"/>
              <a:t> denote “The diagnostic message is retransmitted” The specification can be written as:</a:t>
            </a:r>
            <a:r>
              <a:rPr lang="en-US" sz="2200" dirty="0" smtClean="0">
                <a:latin typeface="Cambria Math"/>
                <a:ea typeface="Cambria Math"/>
              </a:rPr>
              <a:t> </a:t>
            </a:r>
            <a:r>
              <a:rPr lang="en-US" sz="2200" b="1" dirty="0" smtClean="0">
                <a:latin typeface="Cambria Math"/>
                <a:ea typeface="Cambria Math"/>
              </a:rPr>
              <a:t>p ∨ </a:t>
            </a:r>
            <a:r>
              <a:rPr lang="en-US" sz="2200" b="1" i="1" dirty="0" smtClean="0">
                <a:latin typeface="Cambria Math" pitchFamily="18" charset="0"/>
                <a:ea typeface="Cambria Math" pitchFamily="18" charset="0"/>
              </a:rPr>
              <a:t>q</a:t>
            </a:r>
            <a:r>
              <a:rPr lang="en-US" sz="2200" b="1" dirty="0" smtClean="0">
                <a:latin typeface="Cambria Math"/>
                <a:ea typeface="Cambria Math"/>
              </a:rPr>
              <a:t>,  ¬</a:t>
            </a:r>
            <a:r>
              <a:rPr lang="en-US" sz="2200" b="1" i="1" dirty="0" smtClean="0">
                <a:latin typeface="Cambria Math" pitchFamily="18" charset="0"/>
                <a:ea typeface="Cambria Math" pitchFamily="18" charset="0"/>
              </a:rPr>
              <a:t>p,</a:t>
            </a:r>
            <a:r>
              <a:rPr lang="en-US" sz="2200" b="1" dirty="0" smtClean="0"/>
              <a:t>  </a:t>
            </a:r>
            <a:r>
              <a:rPr lang="en-US" sz="2200" b="1" i="1" dirty="0" smtClean="0">
                <a:latin typeface="Cambria Math"/>
                <a:ea typeface="Cambria Math"/>
              </a:rPr>
              <a:t>p → </a:t>
            </a:r>
            <a:r>
              <a:rPr lang="en-US" sz="2200" b="1" i="1" dirty="0">
                <a:latin typeface="Cambria Math"/>
                <a:ea typeface="Cambria Math"/>
              </a:rPr>
              <a:t>q</a:t>
            </a:r>
            <a:r>
              <a:rPr lang="en-US" sz="2200" b="1" dirty="0" smtClean="0"/>
              <a:t>.   </a:t>
            </a:r>
            <a:r>
              <a:rPr lang="en-US" sz="2200" dirty="0" smtClean="0"/>
              <a:t>When </a:t>
            </a:r>
            <a:r>
              <a:rPr lang="en-US" sz="2200" b="1" i="1" dirty="0" smtClean="0"/>
              <a:t>p</a:t>
            </a:r>
            <a:r>
              <a:rPr lang="en-US" sz="2200" dirty="0" smtClean="0"/>
              <a:t> is false and </a:t>
            </a:r>
            <a:r>
              <a:rPr lang="en-US" sz="2200" b="1" i="1" dirty="0" smtClean="0"/>
              <a:t>q</a:t>
            </a:r>
            <a:r>
              <a:rPr lang="en-US" sz="2200" dirty="0" smtClean="0"/>
              <a:t> is true all three statements are true. So the specification is consistent.</a:t>
            </a:r>
          </a:p>
          <a:p>
            <a:pPr>
              <a:buNone/>
            </a:pPr>
            <a:r>
              <a:rPr lang="en-US" sz="2200" dirty="0" smtClean="0"/>
              <a:t>    What if </a:t>
            </a:r>
            <a:r>
              <a:rPr lang="en-US" sz="2200" b="1" dirty="0" smtClean="0"/>
              <a:t>“</a:t>
            </a:r>
            <a:r>
              <a:rPr lang="en-US" sz="2200" dirty="0" smtClean="0"/>
              <a:t>The diagnostic message is not retransmitted is added.” </a:t>
            </a:r>
          </a:p>
          <a:p>
            <a:pPr>
              <a:buNone/>
            </a:pPr>
            <a:r>
              <a:rPr lang="en-US" sz="2200" b="1" dirty="0"/>
              <a:t> </a:t>
            </a:r>
            <a:r>
              <a:rPr lang="en-US" sz="2200" b="1" dirty="0" smtClean="0"/>
              <a:t>   Solution</a:t>
            </a:r>
            <a:r>
              <a:rPr lang="en-US" sz="2200" dirty="0" smtClean="0"/>
              <a:t>: Now we are adding </a:t>
            </a:r>
            <a:r>
              <a:rPr lang="en-US" sz="2200" b="1" dirty="0" smtClean="0">
                <a:latin typeface="Cambria Math"/>
                <a:ea typeface="Cambria Math"/>
              </a:rPr>
              <a:t>¬</a:t>
            </a:r>
            <a:r>
              <a:rPr lang="en-US" sz="2200" b="1" i="1" dirty="0" smtClean="0">
                <a:latin typeface="Cambria Math" pitchFamily="18" charset="0"/>
                <a:ea typeface="Cambria Math" pitchFamily="18" charset="0"/>
              </a:rPr>
              <a:t>q</a:t>
            </a:r>
            <a:r>
              <a:rPr lang="en-US" sz="2200" dirty="0" smtClean="0"/>
              <a:t> and there is no satisfying    assignment. So the specification is not consistent. </a:t>
            </a:r>
          </a:p>
          <a:p>
            <a:endParaRPr lang="en-US" sz="2200" dirty="0" smtClean="0"/>
          </a:p>
          <a:p>
            <a:endParaRPr 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43712"/>
          </a:xfrm>
        </p:spPr>
        <p:txBody>
          <a:bodyPr>
            <a:normAutofit fontScale="90000"/>
          </a:bodyPr>
          <a:lstStyle/>
          <a:p>
            <a:r>
              <a:rPr lang="en-US" dirty="0" smtClean="0"/>
              <a:t>Logic Circuits </a:t>
            </a:r>
            <a:br>
              <a:rPr lang="en-US" dirty="0" smtClean="0"/>
            </a:br>
            <a:endParaRPr lang="en-US" dirty="0"/>
          </a:p>
        </p:txBody>
      </p:sp>
      <p:sp>
        <p:nvSpPr>
          <p:cNvPr id="3" name="Content Placeholder 2"/>
          <p:cNvSpPr>
            <a:spLocks noGrp="1"/>
          </p:cNvSpPr>
          <p:nvPr>
            <p:ph idx="1"/>
          </p:nvPr>
        </p:nvSpPr>
        <p:spPr>
          <a:xfrm>
            <a:off x="457200" y="1015745"/>
            <a:ext cx="8229600" cy="5117211"/>
          </a:xfrm>
        </p:spPr>
        <p:txBody>
          <a:bodyPr>
            <a:normAutofit fontScale="85000" lnSpcReduction="10000"/>
          </a:bodyPr>
          <a:lstStyle/>
          <a:p>
            <a:r>
              <a:rPr lang="en-US" sz="2200" b="1" dirty="0" smtClean="0"/>
              <a:t>Electronic circuits</a:t>
            </a:r>
            <a:r>
              <a:rPr lang="en-US" sz="2200" dirty="0" smtClean="0"/>
              <a:t>; each input/output signal  can be viewed as a </a:t>
            </a:r>
            <a:r>
              <a:rPr lang="en-US" sz="2200" b="1" dirty="0" smtClean="0"/>
              <a:t>0</a:t>
            </a:r>
            <a:r>
              <a:rPr lang="en-US" sz="2200" dirty="0" smtClean="0"/>
              <a:t> or </a:t>
            </a:r>
            <a:r>
              <a:rPr lang="en-US" sz="2200" b="1" dirty="0" smtClean="0"/>
              <a:t>1. </a:t>
            </a:r>
          </a:p>
          <a:p>
            <a:pPr lvl="1"/>
            <a:r>
              <a:rPr lang="en-US" sz="2200" b="1" dirty="0" smtClean="0"/>
              <a:t>0</a:t>
            </a:r>
            <a:r>
              <a:rPr lang="en-US" sz="2200" dirty="0" smtClean="0"/>
              <a:t>    represents </a:t>
            </a:r>
            <a:r>
              <a:rPr lang="en-US" sz="2200" b="1" dirty="0" smtClean="0"/>
              <a:t>False</a:t>
            </a:r>
          </a:p>
          <a:p>
            <a:pPr lvl="1"/>
            <a:r>
              <a:rPr lang="en-US" sz="2200" b="1" dirty="0" smtClean="0"/>
              <a:t>1 </a:t>
            </a:r>
            <a:r>
              <a:rPr lang="en-US" sz="2200" dirty="0" smtClean="0"/>
              <a:t>   represents </a:t>
            </a:r>
            <a:r>
              <a:rPr lang="en-US" sz="2200" b="1" dirty="0" smtClean="0"/>
              <a:t>True</a:t>
            </a:r>
          </a:p>
          <a:p>
            <a:r>
              <a:rPr lang="en-US" sz="2200" dirty="0" smtClean="0"/>
              <a:t>Complicated circuits are constructed from three basic circuits called </a:t>
            </a:r>
            <a:r>
              <a:rPr lang="en-US" sz="2200" b="1" dirty="0" smtClean="0"/>
              <a:t>gates.</a:t>
            </a:r>
          </a:p>
          <a:p>
            <a:pPr>
              <a:buNone/>
            </a:pPr>
            <a:endParaRPr lang="en-US" sz="1600" dirty="0" smtClean="0"/>
          </a:p>
          <a:p>
            <a:pPr>
              <a:buNone/>
            </a:pPr>
            <a:endParaRPr lang="en-US" sz="1600" dirty="0"/>
          </a:p>
          <a:p>
            <a:pPr>
              <a:buNone/>
            </a:pPr>
            <a:endParaRPr lang="en-US" sz="1600" dirty="0" smtClean="0"/>
          </a:p>
          <a:p>
            <a:pPr>
              <a:buNone/>
            </a:pPr>
            <a:endParaRPr lang="en-US" sz="1600" dirty="0" smtClean="0"/>
          </a:p>
          <a:p>
            <a:pPr lvl="1"/>
            <a:r>
              <a:rPr lang="en-US" sz="2200" dirty="0" smtClean="0"/>
              <a:t>The inverter  (</a:t>
            </a:r>
            <a:r>
              <a:rPr lang="en-US" sz="2200" b="1" dirty="0" smtClean="0"/>
              <a:t>NOT gate</a:t>
            </a:r>
            <a:r>
              <a:rPr lang="en-US" sz="2200" dirty="0" smtClean="0"/>
              <a:t>) takes an input bit and produces the negation of that bit.</a:t>
            </a:r>
          </a:p>
          <a:p>
            <a:pPr lvl="1"/>
            <a:r>
              <a:rPr lang="en-US" sz="2200" dirty="0" smtClean="0"/>
              <a:t>The </a:t>
            </a:r>
            <a:r>
              <a:rPr lang="en-US" sz="2200" b="1" dirty="0" smtClean="0"/>
              <a:t>OR gate </a:t>
            </a:r>
            <a:r>
              <a:rPr lang="en-US" sz="2200" dirty="0" smtClean="0"/>
              <a:t>takes two input bits and produces the value equivalent to the disjunction of the two bits.</a:t>
            </a:r>
          </a:p>
          <a:p>
            <a:pPr lvl="1"/>
            <a:r>
              <a:rPr lang="en-US" sz="2200" dirty="0" smtClean="0"/>
              <a:t>The </a:t>
            </a:r>
            <a:r>
              <a:rPr lang="en-US" sz="2200" b="1" dirty="0" smtClean="0"/>
              <a:t>AND gate </a:t>
            </a:r>
            <a:r>
              <a:rPr lang="en-US" sz="2200" dirty="0" smtClean="0"/>
              <a:t>takes two input bits and produces the value equivalent to the conjunction of the two bits.</a:t>
            </a:r>
          </a:p>
          <a:p>
            <a:r>
              <a:rPr lang="en-US" sz="2200" dirty="0" smtClean="0"/>
              <a:t>More complicated </a:t>
            </a:r>
            <a:r>
              <a:rPr lang="en-US" sz="2200" b="1" dirty="0" smtClean="0"/>
              <a:t>digital circuits </a:t>
            </a:r>
            <a:r>
              <a:rPr lang="en-US" sz="2200" dirty="0" smtClean="0"/>
              <a:t>can be constructed by combining these </a:t>
            </a:r>
            <a:r>
              <a:rPr lang="en-US" sz="2200" b="1" dirty="0" smtClean="0"/>
              <a:t>basic circuits  </a:t>
            </a:r>
            <a:r>
              <a:rPr lang="en-US" sz="2200" dirty="0" smtClean="0"/>
              <a:t>to produce the desired output given the input signals by building a circuit for each piece of the output expression and then combining them. For example:</a:t>
            </a:r>
          </a:p>
        </p:txBody>
      </p:sp>
      <p:pic>
        <p:nvPicPr>
          <p:cNvPr id="4" name="Picture 3" descr="new_figure_2_1.jpg"/>
          <p:cNvPicPr>
            <a:picLocks noChangeAspect="1"/>
          </p:cNvPicPr>
          <p:nvPr/>
        </p:nvPicPr>
        <p:blipFill>
          <a:blip r:embed="rId2" cstate="print"/>
          <a:stretch>
            <a:fillRect/>
          </a:stretch>
        </p:blipFill>
        <p:spPr>
          <a:xfrm>
            <a:off x="1676400" y="2514600"/>
            <a:ext cx="4210812" cy="543306"/>
          </a:xfrm>
          <a:prstGeom prst="rect">
            <a:avLst/>
          </a:prstGeom>
        </p:spPr>
      </p:pic>
      <p:pic>
        <p:nvPicPr>
          <p:cNvPr id="5" name="Picture 4" descr="new_figure_2_2.jpg"/>
          <p:cNvPicPr>
            <a:picLocks noChangeAspect="1"/>
          </p:cNvPicPr>
          <p:nvPr/>
        </p:nvPicPr>
        <p:blipFill>
          <a:blip r:embed="rId3" cstate="print"/>
          <a:stretch>
            <a:fillRect/>
          </a:stretch>
        </p:blipFill>
        <p:spPr>
          <a:xfrm>
            <a:off x="2743200" y="6132957"/>
            <a:ext cx="3016758" cy="688086"/>
          </a:xfrm>
          <a:prstGeom prst="rect">
            <a:avLst/>
          </a:prstGeom>
        </p:spPr>
      </p:pic>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p \vee q  \rightarrow \neg r$&#10;&#10;\end{document}"/>
  <p:tag name="IGUANATEXSIZE" val="30"/>
</p:tagLst>
</file>

<file path=ppt/tags/tag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p \vee q) \rightarrow \neg r$&#10;&#10;\end{document}"/>
  <p:tag name="IGUANATEXSIZE" val="30"/>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7728</TotalTime>
  <Words>2285</Words>
  <Application>Microsoft Office PowerPoint</Application>
  <PresentationFormat>On-screen Show (4:3)</PresentationFormat>
  <Paragraphs>454</Paragraphs>
  <Slides>31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Cambria Math</vt:lpstr>
      <vt:lpstr>Wingdings 2</vt:lpstr>
      <vt:lpstr>Calibri</vt:lpstr>
      <vt:lpstr>Constantia</vt:lpstr>
      <vt:lpstr>Symbol</vt:lpstr>
      <vt:lpstr>Flow</vt:lpstr>
      <vt:lpstr>The Foundations: Logic and Proofs</vt:lpstr>
      <vt:lpstr>Chapter Summary</vt:lpstr>
      <vt:lpstr>Propositional Logic Summary</vt:lpstr>
      <vt:lpstr>Propositional Logic</vt:lpstr>
      <vt:lpstr>Section Summary</vt:lpstr>
      <vt:lpstr>Propositions</vt:lpstr>
      <vt:lpstr>Propositional Logic</vt:lpstr>
      <vt:lpstr>Compound Propositions: Negation</vt:lpstr>
      <vt:lpstr>Conjunction</vt:lpstr>
      <vt:lpstr>Disjunction</vt:lpstr>
      <vt:lpstr> The Connective Or in English</vt:lpstr>
      <vt:lpstr> Implication</vt:lpstr>
      <vt:lpstr> Understanding Implication</vt:lpstr>
      <vt:lpstr>Understanding Implication (cont)</vt:lpstr>
      <vt:lpstr>Different Ways of Expressing p →q  </vt:lpstr>
      <vt:lpstr>Converse, Contrapositive, and Inverse</vt:lpstr>
      <vt:lpstr>Biconditional</vt:lpstr>
      <vt:lpstr>Expressing the Biconditional</vt:lpstr>
      <vt:lpstr>Truth Tables For Compound Propositions</vt:lpstr>
      <vt:lpstr>Example Truth Table</vt:lpstr>
      <vt:lpstr>Equivalent Propositions</vt:lpstr>
      <vt:lpstr>Using a Truth Table to Show  Non-Equivalence</vt:lpstr>
      <vt:lpstr>Problem</vt:lpstr>
      <vt:lpstr>Precedence of Logical Operators</vt:lpstr>
      <vt:lpstr>Applications of Propositional Logic</vt:lpstr>
      <vt:lpstr>Applications of Propositional Logic: Summary</vt:lpstr>
      <vt:lpstr>Translating English Sentences</vt:lpstr>
      <vt:lpstr>Example</vt:lpstr>
      <vt:lpstr>System Specifications</vt:lpstr>
      <vt:lpstr>Consistent System Specifications</vt:lpstr>
      <vt:lpstr>Logic Circuits  </vt:lpstr>
    </vt:vector>
  </TitlesOfParts>
  <Company>Monmouth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Foundations: Logic and Proofs</dc:title>
  <dc:creator>Richard Scherl</dc:creator>
  <cp:lastModifiedBy>Dureshahwar Waseem</cp:lastModifiedBy>
  <cp:revision>512</cp:revision>
  <dcterms:created xsi:type="dcterms:W3CDTF">2013-09-13T22:27:42Z</dcterms:created>
  <dcterms:modified xsi:type="dcterms:W3CDTF">2026-01-14T02:41:14Z</dcterms:modified>
</cp:coreProperties>
</file>