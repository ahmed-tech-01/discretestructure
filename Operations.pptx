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27" r:id="rId2"/>
    <p:sldId id="330" r:id="rId3"/>
    <p:sldId id="368" r:id="rId4"/>
    <p:sldId id="331" r:id="rId5"/>
    <p:sldId id="369" r:id="rId6"/>
    <p:sldId id="333" r:id="rId7"/>
    <p:sldId id="370" r:id="rId8"/>
    <p:sldId id="334" r:id="rId9"/>
    <p:sldId id="371" r:id="rId10"/>
    <p:sldId id="336" r:id="rId11"/>
    <p:sldId id="358" r:id="rId12"/>
    <p:sldId id="379" r:id="rId13"/>
    <p:sldId id="380" r:id="rId14"/>
    <p:sldId id="373" r:id="rId15"/>
    <p:sldId id="376" r:id="rId16"/>
    <p:sldId id="374" r:id="rId17"/>
    <p:sldId id="377" r:id="rId18"/>
    <p:sldId id="375" r:id="rId19"/>
    <p:sldId id="378" r:id="rId20"/>
  </p:sldIdLst>
  <p:sldSz cx="9144000" cy="6858000" type="screen4x3"/>
  <p:notesSz cx="7010400" cy="9296400"/>
  <p:embeddedFontLst>
    <p:embeddedFont>
      <p:font typeface="Cambria Math" panose="02040503050406030204" pitchFamily="18" charset="0"/>
      <p:regular r:id="rId23"/>
    </p:embeddedFont>
    <p:embeddedFont>
      <p:font typeface="Lucida Sans Unicode" panose="020B0602030504020204" pitchFamily="34" charset="0"/>
      <p:regular r:id="rId24"/>
    </p:embeddedFont>
    <p:embeddedFont>
      <p:font typeface="Wingdings 2" panose="05020102010507070707" pitchFamily="18" charset="2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onstantia" panose="02030602050306030303" pitchFamily="18" charset="0"/>
      <p:regular r:id="rId30"/>
      <p:bold r:id="rId31"/>
      <p:italic r:id="rId32"/>
      <p:boldItalic r:id="rId33"/>
    </p:embeddedFont>
    <p:embeddedFont>
      <p:font typeface="Trebuchet MS" panose="020B060302020202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63" d="100"/>
          <a:sy n="63" d="100"/>
        </p:scale>
        <p:origin x="14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C0FEF7AE-0C30-4EA7-B74D-470A9C33048D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2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10106763-8029-41BC-9E70-E644A94F0E8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A56D6F1B-26ED-417A-B5D8-8AED7AD37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15220D-0BB5-4C71-B862-812B075D02FE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76" y="1752600"/>
            <a:ext cx="5641848" cy="1828800"/>
          </a:xfrm>
        </p:spPr>
        <p:txBody>
          <a:bodyPr/>
          <a:lstStyle/>
          <a:p>
            <a:r>
              <a:rPr lang="en-US" dirty="0"/>
              <a:t>Set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i="1" dirty="0"/>
              <a:t>union</a:t>
            </a:r>
            <a:r>
              <a:rPr lang="en-US" dirty="0"/>
              <a:t> of the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b="1" i="1" dirty="0">
                <a:solidFill>
                  <a:srgbClr val="0070C0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∪ </a:t>
            </a:r>
            <a:r>
              <a:rPr lang="en-US" b="1" i="1" dirty="0">
                <a:solidFill>
                  <a:srgbClr val="0070C0"/>
                </a:solidFill>
                <a:ea typeface="Cambria Math"/>
              </a:rPr>
              <a:t>B</a:t>
            </a:r>
            <a:r>
              <a:rPr lang="en-US" i="1" dirty="0">
                <a:ea typeface="Cambria Math"/>
              </a:rPr>
              <a:t>,</a:t>
            </a:r>
            <a:r>
              <a:rPr lang="en-US" i="1" dirty="0"/>
              <a:t> </a:t>
            </a:r>
            <a:r>
              <a:rPr lang="en-US" dirty="0"/>
              <a:t> is the set: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What is  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1,2,3} 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∪ {3, 4, 5}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</a:t>
            </a:r>
            <a:r>
              <a:rPr lang="en-US" b="1" dirty="0"/>
              <a:t>Solution</a:t>
            </a:r>
            <a:r>
              <a:rPr lang="en-US" dirty="0"/>
              <a:t>: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1,2,3,4,5}</a:t>
            </a:r>
            <a:endParaRPr lang="en-US" dirty="0"/>
          </a:p>
          <a:p>
            <a:pPr>
              <a:buNone/>
            </a:pPr>
            <a:r>
              <a:rPr lang="en-US" dirty="0"/>
              <a:t>             </a:t>
            </a:r>
            <a:r>
              <a:rPr lang="en-US" sz="2400" dirty="0"/>
              <a:t>                                   </a:t>
            </a:r>
            <a:endParaRPr lang="en-US" dirty="0"/>
          </a:p>
          <a:p>
            <a:pPr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362200" y="2971800"/>
            <a:ext cx="3026093" cy="382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AE7E18-9658-F9DD-F921-1A088FF48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654" y="4438398"/>
            <a:ext cx="3943900" cy="224821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2C14D9-66D7-B506-3473-FB4ACBE442F5}"/>
              </a:ext>
            </a:extLst>
          </p:cNvPr>
          <p:cNvSpPr txBox="1"/>
          <p:nvPr/>
        </p:nvSpPr>
        <p:spPr>
          <a:xfrm>
            <a:off x="609600" y="1143000"/>
            <a:ext cx="7696200" cy="273215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4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UNION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REMARK:</a:t>
            </a:r>
            <a:endParaRPr sz="2400" dirty="0">
              <a:latin typeface="Times New Roman"/>
              <a:cs typeface="Times New Roman"/>
            </a:endParaRPr>
          </a:p>
          <a:p>
            <a:pPr marL="617855" marR="5080">
              <a:lnSpc>
                <a:spcPts val="2500"/>
              </a:lnSpc>
              <a:spcBef>
                <a:spcPts val="210"/>
              </a:spcBef>
              <a:tabLst>
                <a:tab pos="24841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1075055" marR="5080" indent="-457200">
              <a:lnSpc>
                <a:spcPts val="2500"/>
              </a:lnSpc>
              <a:spcBef>
                <a:spcPts val="210"/>
              </a:spcBef>
              <a:buFont typeface="+mj-lt"/>
              <a:buAutoNum type="arabicPeriod"/>
              <a:tabLst>
                <a:tab pos="2484120" algn="l"/>
              </a:tabLst>
            </a:pP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0070C0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 B = B </a:t>
            </a:r>
            <a:r>
              <a:rPr sz="2400" b="1" dirty="0">
                <a:solidFill>
                  <a:srgbClr val="0070C0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 A </a:t>
            </a:r>
            <a:r>
              <a:rPr sz="2400" dirty="0">
                <a:latin typeface="Times New Roman"/>
                <a:cs typeface="Times New Roman"/>
              </a:rPr>
              <a:t>that is union is commutative you can prove this very easily only by using definition.</a:t>
            </a:r>
            <a:endParaRPr lang="en-US" sz="2400" dirty="0">
              <a:latin typeface="Times New Roman"/>
              <a:cs typeface="Times New Roman"/>
            </a:endParaRPr>
          </a:p>
          <a:p>
            <a:pPr marL="1075055" marR="5080" indent="-457200">
              <a:lnSpc>
                <a:spcPts val="2500"/>
              </a:lnSpc>
              <a:spcBef>
                <a:spcPts val="210"/>
              </a:spcBef>
              <a:buFont typeface="+mj-lt"/>
              <a:buAutoNum type="arabicPeriod"/>
              <a:tabLst>
                <a:tab pos="24841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1075055" marR="5080" indent="-457200">
              <a:lnSpc>
                <a:spcPts val="2500"/>
              </a:lnSpc>
              <a:spcBef>
                <a:spcPts val="210"/>
              </a:spcBef>
              <a:buFont typeface="+mj-lt"/>
              <a:buAutoNum type="arabicPeriod"/>
              <a:tabLst>
                <a:tab pos="2484120" algn="l"/>
              </a:tabLst>
            </a:pPr>
            <a:r>
              <a:rPr sz="2400" b="1" dirty="0">
                <a:solidFill>
                  <a:srgbClr val="CC0099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CC0099"/>
                </a:solidFill>
                <a:latin typeface="Symbol"/>
                <a:cs typeface="Symbol"/>
              </a:rPr>
              <a:t></a:t>
            </a:r>
            <a:r>
              <a:rPr sz="2400" b="1" dirty="0">
                <a:solidFill>
                  <a:srgbClr val="CC0099"/>
                </a:solidFill>
                <a:latin typeface="Times New Roman"/>
                <a:cs typeface="Times New Roman"/>
              </a:rPr>
              <a:t> A </a:t>
            </a:r>
            <a:r>
              <a:rPr sz="2400" b="1" dirty="0">
                <a:solidFill>
                  <a:srgbClr val="CC0099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CC0099"/>
                </a:solidFill>
                <a:latin typeface="Times New Roman"/>
                <a:cs typeface="Times New Roman"/>
              </a:rPr>
              <a:t> B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C0099"/>
                </a:solidFill>
                <a:latin typeface="Times New Roman"/>
                <a:cs typeface="Times New Roman"/>
              </a:rPr>
              <a:t>B </a:t>
            </a:r>
            <a:r>
              <a:rPr sz="2400" b="1" dirty="0">
                <a:solidFill>
                  <a:srgbClr val="CC0099"/>
                </a:solidFill>
                <a:latin typeface="Symbol"/>
                <a:cs typeface="Symbol"/>
              </a:rPr>
              <a:t></a:t>
            </a:r>
            <a:r>
              <a:rPr sz="2400" b="1" dirty="0">
                <a:solidFill>
                  <a:srgbClr val="CC0099"/>
                </a:solidFill>
                <a:latin typeface="Times New Roman"/>
                <a:cs typeface="Times New Roman"/>
              </a:rPr>
              <a:t> A </a:t>
            </a:r>
            <a:r>
              <a:rPr sz="2400" b="1" dirty="0">
                <a:solidFill>
                  <a:srgbClr val="CC0099"/>
                </a:solidFill>
                <a:latin typeface="Symbol"/>
                <a:cs typeface="Symbol"/>
              </a:rPr>
              <a:t></a:t>
            </a:r>
            <a:r>
              <a:rPr sz="2400" b="1" dirty="0">
                <a:solidFill>
                  <a:srgbClr val="CC0099"/>
                </a:solidFill>
                <a:latin typeface="Times New Roman"/>
                <a:cs typeface="Times New Roman"/>
              </a:rPr>
              <a:t> B</a:t>
            </a:r>
          </a:p>
          <a:p>
            <a:pPr marL="617855">
              <a:lnSpc>
                <a:spcPts val="2525"/>
              </a:lnSpc>
            </a:pPr>
            <a:r>
              <a:rPr sz="2400" dirty="0">
                <a:latin typeface="Times New Roman"/>
                <a:cs typeface="Times New Roman"/>
              </a:rPr>
              <a:t>The above remark of subset is easily seen by the definition of union.</a:t>
            </a:r>
          </a:p>
        </p:txBody>
      </p:sp>
    </p:spTree>
    <p:extLst>
      <p:ext uri="{BB962C8B-B14F-4D97-AF65-F5344CB8AC3E}">
        <p14:creationId xmlns:p14="http://schemas.microsoft.com/office/powerpoint/2010/main" val="80641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b="1" dirty="0"/>
              <a:t>Definition</a:t>
            </a:r>
            <a:r>
              <a:rPr lang="en-US" dirty="0"/>
              <a:t>:  The </a:t>
            </a:r>
            <a:r>
              <a:rPr lang="en-US" i="1" dirty="0"/>
              <a:t>intersection</a:t>
            </a:r>
            <a:r>
              <a:rPr lang="en-US" dirty="0"/>
              <a:t> of sets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  </a:t>
            </a:r>
            <a:r>
              <a:rPr lang="en-US" b="1" i="1" dirty="0">
                <a:solidFill>
                  <a:srgbClr val="0070C0"/>
                </a:solidFill>
                <a:ea typeface="Cambria Math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∩ </a:t>
            </a:r>
            <a:r>
              <a:rPr lang="en-US" b="1" i="1" dirty="0">
                <a:solidFill>
                  <a:srgbClr val="0070C0"/>
                </a:solidFill>
                <a:ea typeface="Cambria Math"/>
              </a:rPr>
              <a:t>B,</a:t>
            </a:r>
            <a:r>
              <a:rPr lang="en-US" b="1" dirty="0">
                <a:solidFill>
                  <a:srgbClr val="0070C0"/>
                </a:solidFill>
              </a:rPr>
              <a:t>  </a:t>
            </a:r>
            <a:r>
              <a:rPr lang="en-US" dirty="0"/>
              <a:t>is</a:t>
            </a:r>
          </a:p>
          <a:p>
            <a:endParaRPr lang="en-US" dirty="0"/>
          </a:p>
          <a:p>
            <a:r>
              <a:rPr lang="en-US" dirty="0"/>
              <a:t>Note if the intersection is empty, then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 are said to be </a:t>
            </a:r>
            <a:r>
              <a:rPr lang="en-US" i="1" dirty="0"/>
              <a:t>disjoint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r>
              <a:rPr lang="en-US" dirty="0"/>
              <a:t>: What is?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{1,2,3} ∩ {3,4,5} ? 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  {3}</a:t>
            </a:r>
          </a:p>
          <a:p>
            <a:r>
              <a:rPr lang="en-US" b="1" dirty="0" err="1"/>
              <a:t>Example:</a:t>
            </a:r>
            <a:r>
              <a:rPr lang="en-US" dirty="0" err="1"/>
              <a:t>What</a:t>
            </a:r>
            <a:r>
              <a:rPr lang="en-US" dirty="0"/>
              <a:t> is?  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          {1,2,3} ∩ {4,5,6} ?    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 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dirty="0">
                <a:latin typeface="Cambria Math"/>
                <a:ea typeface="Cambria Math"/>
              </a:rPr>
              <a:t>∅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514600" y="2819400"/>
            <a:ext cx="3026093" cy="382905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5715000" y="4724400"/>
            <a:ext cx="3429000" cy="1447800"/>
            <a:chOff x="5715000" y="4724400"/>
            <a:chExt cx="3429000" cy="1447800"/>
          </a:xfrm>
        </p:grpSpPr>
        <p:sp>
          <p:nvSpPr>
            <p:cNvPr id="23" name="Oval 22"/>
            <p:cNvSpPr/>
            <p:nvPr/>
          </p:nvSpPr>
          <p:spPr>
            <a:xfrm>
              <a:off x="6934200" y="5105400"/>
              <a:ext cx="533400" cy="83820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0"/>
            <p:cNvGrpSpPr/>
            <p:nvPr/>
          </p:nvGrpSpPr>
          <p:grpSpPr>
            <a:xfrm>
              <a:off x="5715000" y="4724400"/>
              <a:ext cx="2971800" cy="1447800"/>
              <a:chOff x="5715000" y="4724400"/>
              <a:chExt cx="2971800" cy="1447800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5715000" y="4724400"/>
                <a:ext cx="2971800" cy="1447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19"/>
              <p:cNvGrpSpPr/>
              <p:nvPr/>
            </p:nvGrpSpPr>
            <p:grpSpPr>
              <a:xfrm>
                <a:off x="6248400" y="5029200"/>
                <a:ext cx="1905000" cy="990600"/>
                <a:chOff x="6248400" y="5029200"/>
                <a:chExt cx="1905000" cy="990600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62484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6934200" y="5029200"/>
                  <a:ext cx="1219200" cy="9906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" name="Group 21"/>
            <p:cNvGrpSpPr/>
            <p:nvPr/>
          </p:nvGrpSpPr>
          <p:grpSpPr>
            <a:xfrm>
              <a:off x="6400800" y="4800600"/>
              <a:ext cx="2743200" cy="826532"/>
              <a:chOff x="6400800" y="4800600"/>
              <a:chExt cx="2743200" cy="826532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8305800" y="48006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U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400800" y="51816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A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7620000" y="52578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B</a:t>
                </a:r>
              </a:p>
            </p:txBody>
          </p:sp>
        </p:grpSp>
      </p:grpSp>
      <p:sp>
        <p:nvSpPr>
          <p:cNvPr id="16" name="TextBox 15"/>
          <p:cNvSpPr txBox="1"/>
          <p:nvPr/>
        </p:nvSpPr>
        <p:spPr>
          <a:xfrm>
            <a:off x="6172200" y="42672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Venn Diagram</a:t>
            </a:r>
            <a:r>
              <a:rPr lang="en-US" dirty="0">
                <a:latin typeface="Cambria Math"/>
                <a:ea typeface="Cambria Math"/>
              </a:rPr>
              <a:t>  for </a:t>
            </a:r>
            <a:r>
              <a:rPr lang="en-US" i="1" dirty="0">
                <a:ea typeface="Cambria Math"/>
              </a:rPr>
              <a:t>A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∩</a:t>
            </a:r>
            <a:r>
              <a:rPr lang="en-US" i="1" dirty="0">
                <a:ea typeface="Cambria Math"/>
              </a:rPr>
              <a:t>B</a:t>
            </a:r>
            <a:r>
              <a:rPr lang="en-US" dirty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CAA0DB3B-A66C-5633-5584-5374D95070ED}"/>
              </a:ext>
            </a:extLst>
          </p:cNvPr>
          <p:cNvSpPr txBox="1"/>
          <p:nvPr/>
        </p:nvSpPr>
        <p:spPr>
          <a:xfrm>
            <a:off x="-685800" y="914400"/>
            <a:ext cx="8458200" cy="19454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01470">
              <a:spcBef>
                <a:spcPts val="110"/>
              </a:spcBef>
              <a:tabLst>
                <a:tab pos="1918970" algn="l"/>
              </a:tabLst>
            </a:pPr>
            <a:r>
              <a:rPr lang="en-US" sz="245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INTERSECTION REMARKS:</a:t>
            </a:r>
            <a:endParaRPr lang="en-US" sz="2450" dirty="0">
              <a:latin typeface="Times New Roman"/>
              <a:cs typeface="Times New Roman"/>
            </a:endParaRPr>
          </a:p>
          <a:p>
            <a:pPr marL="1918970" indent="-3175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1918970" algn="l"/>
              </a:tabLst>
            </a:pPr>
            <a:endParaRPr lang="en-US" sz="2450" dirty="0">
              <a:latin typeface="Times New Roman"/>
              <a:cs typeface="Times New Roman"/>
            </a:endParaRPr>
          </a:p>
          <a:p>
            <a:pPr marL="1918970" indent="-3175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1918970" algn="l"/>
              </a:tabLst>
            </a:pPr>
            <a:r>
              <a:rPr sz="2450" b="1" dirty="0">
                <a:solidFill>
                  <a:srgbClr val="0070C0"/>
                </a:solidFill>
                <a:latin typeface="Times New Roman"/>
                <a:cs typeface="Times New Roman"/>
              </a:rPr>
              <a:t>A </a:t>
            </a:r>
            <a:r>
              <a:rPr sz="2450" b="1" dirty="0">
                <a:solidFill>
                  <a:srgbClr val="0070C0"/>
                </a:solidFill>
                <a:latin typeface="Symbol"/>
                <a:cs typeface="Symbol"/>
              </a:rPr>
              <a:t></a:t>
            </a:r>
            <a:r>
              <a:rPr sz="2450" b="1" dirty="0">
                <a:solidFill>
                  <a:srgbClr val="0070C0"/>
                </a:solidFill>
                <a:latin typeface="Times New Roman"/>
                <a:cs typeface="Times New Roman"/>
              </a:rPr>
              <a:t> B = B </a:t>
            </a:r>
            <a:r>
              <a:rPr sz="2450" b="1" dirty="0">
                <a:solidFill>
                  <a:srgbClr val="0070C0"/>
                </a:solidFill>
                <a:latin typeface="Symbol"/>
                <a:cs typeface="Symbol"/>
              </a:rPr>
              <a:t></a:t>
            </a:r>
            <a:r>
              <a:rPr sz="2450" b="1" dirty="0">
                <a:solidFill>
                  <a:srgbClr val="0070C0"/>
                </a:solidFill>
                <a:latin typeface="Times New Roman"/>
                <a:cs typeface="Times New Roman"/>
              </a:rPr>
              <a:t> A</a:t>
            </a:r>
          </a:p>
          <a:p>
            <a:pPr marL="1918970" indent="-317500">
              <a:lnSpc>
                <a:spcPct val="100000"/>
              </a:lnSpc>
              <a:spcBef>
                <a:spcPts val="85"/>
              </a:spcBef>
              <a:buAutoNum type="arabicPeriod"/>
              <a:tabLst>
                <a:tab pos="1918970" algn="l"/>
                <a:tab pos="3189605" algn="l"/>
                <a:tab pos="3878579" algn="l"/>
              </a:tabLst>
            </a:pPr>
            <a:r>
              <a:rPr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A </a:t>
            </a:r>
            <a:r>
              <a:rPr sz="2450" b="1" dirty="0">
                <a:solidFill>
                  <a:srgbClr val="CC0099"/>
                </a:solidFill>
                <a:latin typeface="Symbol"/>
                <a:cs typeface="Symbol"/>
              </a:rPr>
              <a:t></a:t>
            </a:r>
            <a:r>
              <a:rPr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 B </a:t>
            </a:r>
            <a:r>
              <a:rPr sz="2450" b="1" dirty="0">
                <a:solidFill>
                  <a:srgbClr val="CC0099"/>
                </a:solidFill>
                <a:latin typeface="Symbol"/>
                <a:cs typeface="Symbol"/>
              </a:rPr>
              <a:t></a:t>
            </a:r>
            <a:r>
              <a:rPr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 A</a:t>
            </a:r>
            <a:r>
              <a:rPr lang="en-US"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and	</a:t>
            </a:r>
            <a:r>
              <a:rPr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A </a:t>
            </a:r>
            <a:r>
              <a:rPr sz="2450" b="1" dirty="0">
                <a:solidFill>
                  <a:srgbClr val="CC0099"/>
                </a:solidFill>
                <a:latin typeface="Symbol"/>
                <a:cs typeface="Symbol"/>
              </a:rPr>
              <a:t></a:t>
            </a:r>
            <a:r>
              <a:rPr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 B </a:t>
            </a:r>
            <a:r>
              <a:rPr sz="2450" b="1" dirty="0">
                <a:solidFill>
                  <a:srgbClr val="CC0099"/>
                </a:solidFill>
                <a:latin typeface="Symbol"/>
                <a:cs typeface="Symbol"/>
              </a:rPr>
              <a:t></a:t>
            </a:r>
            <a:r>
              <a:rPr sz="2450" b="1" dirty="0">
                <a:solidFill>
                  <a:srgbClr val="CC0099"/>
                </a:solidFill>
                <a:latin typeface="Times New Roman"/>
                <a:cs typeface="Times New Roman"/>
              </a:rPr>
              <a:t> B</a:t>
            </a:r>
          </a:p>
          <a:p>
            <a:pPr marL="1918970" indent="-317500">
              <a:lnSpc>
                <a:spcPts val="2910"/>
              </a:lnSpc>
              <a:spcBef>
                <a:spcPts val="60"/>
              </a:spcBef>
              <a:buAutoNum type="arabicPeriod"/>
              <a:tabLst>
                <a:tab pos="1918970" algn="l"/>
              </a:tabLst>
            </a:pPr>
            <a:r>
              <a:rPr sz="2450" b="1" dirty="0">
                <a:solidFill>
                  <a:srgbClr val="7030A0"/>
                </a:solidFill>
                <a:latin typeface="Times New Roman"/>
                <a:cs typeface="Times New Roman"/>
              </a:rPr>
              <a:t>If A </a:t>
            </a:r>
            <a:r>
              <a:rPr sz="2450" b="1" dirty="0">
                <a:solidFill>
                  <a:srgbClr val="7030A0"/>
                </a:solidFill>
                <a:latin typeface="Symbol"/>
                <a:cs typeface="Symbol"/>
              </a:rPr>
              <a:t></a:t>
            </a:r>
            <a:r>
              <a:rPr sz="2450" b="1" dirty="0">
                <a:solidFill>
                  <a:srgbClr val="7030A0"/>
                </a:solidFill>
                <a:latin typeface="Times New Roman"/>
                <a:cs typeface="Times New Roman"/>
              </a:rPr>
              <a:t> B = </a:t>
            </a:r>
            <a:r>
              <a:rPr sz="2450" b="1" dirty="0">
                <a:solidFill>
                  <a:srgbClr val="7030A0"/>
                </a:solidFill>
                <a:latin typeface="Symbol"/>
                <a:cs typeface="Symbol"/>
              </a:rPr>
              <a:t></a:t>
            </a:r>
            <a:r>
              <a:rPr sz="2450" b="1" dirty="0">
                <a:solidFill>
                  <a:srgbClr val="7030A0"/>
                </a:solidFill>
                <a:latin typeface="Times New Roman"/>
                <a:cs typeface="Times New Roman"/>
              </a:rPr>
              <a:t>, then A &amp; B are called disjoint sets</a:t>
            </a:r>
            <a:r>
              <a:rPr sz="245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073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65" y="247412"/>
            <a:ext cx="8229600" cy="1143000"/>
          </a:xfrm>
        </p:spPr>
        <p:txBody>
          <a:bodyPr/>
          <a:lstStyle/>
          <a:p>
            <a:r>
              <a:rPr lang="en-US" dirty="0"/>
              <a:t>Complement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5456"/>
            <a:ext cx="82296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  Definition</a:t>
            </a:r>
            <a:r>
              <a:rPr lang="en-US" dirty="0"/>
              <a:t>: If </a:t>
            </a:r>
            <a:r>
              <a:rPr lang="en-US" i="1" dirty="0"/>
              <a:t>A</a:t>
            </a:r>
            <a:r>
              <a:rPr lang="en-US" dirty="0"/>
              <a:t> is a set, then the complement of the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(with respect to </a:t>
            </a:r>
            <a:r>
              <a:rPr lang="en-US" i="1" dirty="0">
                <a:ea typeface="Cambria Math" pitchFamily="18" charset="0"/>
              </a:rPr>
              <a:t>U</a:t>
            </a:r>
            <a:r>
              <a:rPr lang="en-US" dirty="0"/>
              <a:t>), denoted by </a:t>
            </a:r>
            <a:r>
              <a:rPr lang="en-US" b="1" i="1" dirty="0">
                <a:solidFill>
                  <a:srgbClr val="0070C0"/>
                </a:solidFill>
              </a:rPr>
              <a:t>Ā</a:t>
            </a:r>
            <a:r>
              <a:rPr lang="en-US" b="1" dirty="0">
                <a:solidFill>
                  <a:srgbClr val="0070C0"/>
                </a:solidFill>
              </a:rPr>
              <a:t> is the set  </a:t>
            </a:r>
            <a:r>
              <a:rPr lang="en-US" b="1" i="1" dirty="0">
                <a:solidFill>
                  <a:srgbClr val="0070C0"/>
                </a:solidFill>
                <a:ea typeface="Cambria Math" pitchFamily="18" charset="0"/>
              </a:rPr>
              <a:t>U</a:t>
            </a:r>
            <a:r>
              <a:rPr lang="en-US" b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 - </a:t>
            </a:r>
            <a:r>
              <a:rPr lang="en-US" b="1" i="1" dirty="0">
                <a:solidFill>
                  <a:srgbClr val="0070C0"/>
                </a:solidFill>
                <a:ea typeface="Cambria Math" pitchFamily="18" charset="0"/>
              </a:rPr>
              <a:t>A</a:t>
            </a:r>
          </a:p>
          <a:p>
            <a:pPr>
              <a:buNone/>
            </a:pPr>
            <a:r>
              <a:rPr lang="en-US" dirty="0"/>
              <a:t>                       </a:t>
            </a:r>
            <a:r>
              <a:rPr lang="en-US" i="1" dirty="0">
                <a:ea typeface="Cambria Math" pitchFamily="18" charset="0"/>
              </a:rPr>
              <a:t>Ā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∈ </a:t>
            </a:r>
            <a:r>
              <a:rPr lang="en-US" i="1" dirty="0">
                <a:ea typeface="Cambria Math"/>
              </a:rPr>
              <a:t>U</a:t>
            </a:r>
            <a:r>
              <a:rPr lang="en-US" dirty="0">
                <a:latin typeface="Cambria Math"/>
                <a:ea typeface="Cambria Math"/>
              </a:rPr>
              <a:t> 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 </a:t>
            </a:r>
            <a:r>
              <a:rPr lang="en-US" i="1" dirty="0"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}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en-US" dirty="0"/>
              <a:t>  (The complement of A is sometimes denoted by </a:t>
            </a:r>
            <a:r>
              <a:rPr lang="en-US" i="1" dirty="0"/>
              <a:t>A</a:t>
            </a:r>
            <a:r>
              <a:rPr lang="en-US" i="1" baseline="30000" dirty="0"/>
              <a:t>c </a:t>
            </a:r>
            <a:r>
              <a:rPr lang="en-US" i="1" dirty="0"/>
              <a:t>.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b="1" dirty="0"/>
              <a:t>  Example</a:t>
            </a:r>
            <a:r>
              <a:rPr lang="en-US" dirty="0"/>
              <a:t>: If </a:t>
            </a:r>
            <a:r>
              <a:rPr lang="en-US" i="1" dirty="0"/>
              <a:t>U</a:t>
            </a:r>
            <a:r>
              <a:rPr lang="en-US" dirty="0"/>
              <a:t> is the positive integers less than 100, what is the complement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/>
                <a:ea typeface="Cambria Math"/>
              </a:rPr>
              <a:t> 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&gt; 70} </a:t>
            </a:r>
          </a:p>
          <a:p>
            <a:pPr>
              <a:buNone/>
            </a:pPr>
            <a:r>
              <a:rPr lang="en-US" dirty="0">
                <a:latin typeface="Cambria Math"/>
                <a:ea typeface="Cambria Math"/>
              </a:rPr>
              <a:t>            Solution: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|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≤ 70} </a:t>
            </a:r>
          </a:p>
          <a:p>
            <a:pPr marL="76200">
              <a:lnSpc>
                <a:spcPct val="100000"/>
              </a:lnSpc>
              <a:spcBef>
                <a:spcPts val="990"/>
              </a:spcBef>
              <a:tabLst>
                <a:tab pos="532765" algn="l"/>
                <a:tab pos="2820035" algn="l"/>
              </a:tabLst>
            </a:pPr>
            <a:r>
              <a:rPr lang="en-US" sz="2800" b="1" dirty="0"/>
              <a:t> Example 2</a:t>
            </a:r>
            <a:r>
              <a:rPr lang="en-US" sz="2800" dirty="0"/>
              <a:t>: </a:t>
            </a:r>
          </a:p>
          <a:p>
            <a:pPr marL="76200">
              <a:lnSpc>
                <a:spcPct val="100000"/>
              </a:lnSpc>
              <a:spcBef>
                <a:spcPts val="990"/>
              </a:spcBef>
              <a:tabLst>
                <a:tab pos="532765" algn="l"/>
                <a:tab pos="282003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U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=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{a,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b,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c,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d,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e, f,</a:t>
            </a:r>
            <a:r>
              <a:rPr lang="en-US" sz="2800" spc="20" dirty="0">
                <a:latin typeface="Times New Roman"/>
                <a:cs typeface="Times New Roman"/>
              </a:rPr>
              <a:t> </a:t>
            </a:r>
            <a:r>
              <a:rPr lang="en-US" sz="2800" spc="-25" dirty="0">
                <a:latin typeface="Times New Roman"/>
                <a:cs typeface="Times New Roman"/>
              </a:rPr>
              <a:t>g],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</a:p>
          <a:p>
            <a:pPr marL="76200">
              <a:lnSpc>
                <a:spcPct val="100000"/>
              </a:lnSpc>
              <a:spcBef>
                <a:spcPts val="990"/>
              </a:spcBef>
              <a:tabLst>
                <a:tab pos="532765" algn="l"/>
                <a:tab pos="282003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A</a:t>
            </a:r>
            <a:r>
              <a:rPr lang="en-US" sz="2800" spc="-1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=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{a,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c,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e,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lang="en-US" sz="2800" spc="-25" dirty="0">
                <a:latin typeface="Times New Roman"/>
                <a:cs typeface="Times New Roman"/>
              </a:rPr>
              <a:t>g}</a:t>
            </a:r>
            <a:endParaRPr lang="en-US" sz="2800" dirty="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010"/>
              </a:spcBef>
              <a:tabLst>
                <a:tab pos="990600" algn="l"/>
                <a:tab pos="2478405" algn="l"/>
              </a:tabLst>
            </a:pPr>
            <a:r>
              <a:rPr lang="en-US" sz="2800" spc="-20" dirty="0">
                <a:latin typeface="Times New Roman"/>
                <a:cs typeface="Times New Roman"/>
              </a:rPr>
              <a:t>Then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  <a:r>
              <a:rPr lang="en-US" sz="2800" b="1" dirty="0">
                <a:latin typeface="Times New Roman"/>
                <a:cs typeface="Times New Roman"/>
              </a:rPr>
              <a:t>A</a:t>
            </a:r>
            <a:r>
              <a:rPr lang="en-US" sz="2800" b="1" baseline="25462" dirty="0">
                <a:latin typeface="Times New Roman"/>
                <a:cs typeface="Times New Roman"/>
              </a:rPr>
              <a:t>c</a:t>
            </a:r>
            <a:r>
              <a:rPr lang="en-US" sz="2800" b="1" spc="202" baseline="25462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=</a:t>
            </a:r>
            <a:r>
              <a:rPr lang="en-US" sz="2800" b="1" spc="-10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{b,</a:t>
            </a:r>
            <a:r>
              <a:rPr lang="en-US" sz="2800" b="1" spc="-5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d,</a:t>
            </a:r>
            <a:r>
              <a:rPr lang="en-US" sz="2800" b="1" spc="-10" dirty="0">
                <a:latin typeface="Times New Roman"/>
                <a:cs typeface="Times New Roman"/>
              </a:rPr>
              <a:t> </a:t>
            </a:r>
            <a:r>
              <a:rPr lang="en-US" sz="2800" b="1" spc="-25" dirty="0">
                <a:latin typeface="Times New Roman"/>
                <a:cs typeface="Times New Roman"/>
              </a:rPr>
              <a:t>f}</a:t>
            </a:r>
            <a:r>
              <a:rPr lang="en-US" sz="2800" b="1" dirty="0">
                <a:latin typeface="Times New Roman"/>
                <a:cs typeface="Times New Roman"/>
              </a:rPr>
              <a:t>	</a:t>
            </a:r>
            <a:endParaRPr lang="en-US" dirty="0">
              <a:latin typeface="Cambria Math"/>
              <a:ea typeface="Cambria Math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5562600" y="5029200"/>
            <a:ext cx="3733800" cy="1676400"/>
            <a:chOff x="5562600" y="4495800"/>
            <a:chExt cx="3733800" cy="1676400"/>
          </a:xfrm>
        </p:grpSpPr>
        <p:grpSp>
          <p:nvGrpSpPr>
            <p:cNvPr id="27" name="Group 19"/>
            <p:cNvGrpSpPr/>
            <p:nvPr/>
          </p:nvGrpSpPr>
          <p:grpSpPr>
            <a:xfrm>
              <a:off x="5562600" y="4724400"/>
              <a:ext cx="2971800" cy="1447800"/>
              <a:chOff x="5562600" y="4724400"/>
              <a:chExt cx="2971800" cy="144780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5562600" y="4724400"/>
                <a:ext cx="2971800" cy="14478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096000" y="5029200"/>
                <a:ext cx="1219200" cy="9906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62484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58200" y="44958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U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257800" y="47244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Venn Diagram for Complement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8800" y="5410200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ea typeface="Cambria Math" pitchFamily="18" charset="0"/>
              </a:rPr>
              <a:t>Ā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CAA0DB3B-A66C-5633-5584-5374D95070ED}"/>
              </a:ext>
            </a:extLst>
          </p:cNvPr>
          <p:cNvSpPr txBox="1"/>
          <p:nvPr/>
        </p:nvSpPr>
        <p:spPr>
          <a:xfrm>
            <a:off x="-533400" y="685800"/>
            <a:ext cx="8458200" cy="23275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01470">
              <a:spcBef>
                <a:spcPts val="110"/>
              </a:spcBef>
              <a:tabLst>
                <a:tab pos="1918970" algn="l"/>
              </a:tabLst>
            </a:pPr>
            <a:r>
              <a:rPr lang="en-US" sz="245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COMPLEMENT REMARKS:</a:t>
            </a:r>
            <a:endParaRPr lang="en-US" sz="2450" dirty="0">
              <a:latin typeface="Times New Roman"/>
              <a:cs typeface="Times New Roman"/>
            </a:endParaRPr>
          </a:p>
          <a:p>
            <a:pPr marL="1918970" indent="-3175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1918970" algn="l"/>
              </a:tabLst>
            </a:pPr>
            <a:endParaRPr lang="en-US" sz="2450" dirty="0">
              <a:latin typeface="Times New Roman"/>
              <a:cs typeface="Times New Roman"/>
            </a:endParaRPr>
          </a:p>
          <a:p>
            <a:pPr marL="1887855" indent="-30861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88785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baseline="37581" dirty="0">
                <a:latin typeface="Times New Roman"/>
                <a:cs typeface="Times New Roman"/>
              </a:rPr>
              <a:t>c </a:t>
            </a:r>
            <a:r>
              <a:rPr lang="en-US" sz="2400" dirty="0">
                <a:latin typeface="Times New Roman"/>
                <a:cs typeface="Times New Roman"/>
              </a:rPr>
              <a:t>= U – A</a:t>
            </a:r>
          </a:p>
          <a:p>
            <a:pPr marL="1887855" indent="-30861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188785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dirty="0">
                <a:latin typeface="Symbol"/>
                <a:cs typeface="Symbol"/>
              </a:rPr>
              <a:t></a:t>
            </a:r>
            <a:r>
              <a:rPr lang="en-US" sz="2400" dirty="0">
                <a:latin typeface="Times New Roman"/>
                <a:cs typeface="Times New Roman"/>
              </a:rPr>
              <a:t> A</a:t>
            </a:r>
            <a:r>
              <a:rPr lang="en-US" sz="2400" baseline="37581" dirty="0">
                <a:latin typeface="Times New Roman"/>
                <a:cs typeface="Times New Roman"/>
              </a:rPr>
              <a:t>c </a:t>
            </a:r>
            <a:r>
              <a:rPr lang="en-US" sz="2400" dirty="0">
                <a:latin typeface="Times New Roman"/>
                <a:cs typeface="Times New Roman"/>
              </a:rPr>
              <a:t>= </a:t>
            </a:r>
            <a:r>
              <a:rPr lang="en-US" sz="2400" dirty="0">
                <a:latin typeface="Symbol"/>
                <a:cs typeface="Symbol"/>
              </a:rPr>
              <a:t></a:t>
            </a:r>
          </a:p>
          <a:p>
            <a:pPr marL="1939289" indent="-360045">
              <a:lnSpc>
                <a:spcPts val="3020"/>
              </a:lnSpc>
              <a:spcBef>
                <a:spcPts val="55"/>
              </a:spcBef>
              <a:buFont typeface="Times New Roman"/>
              <a:buAutoNum type="arabicPeriod"/>
              <a:tabLst>
                <a:tab pos="1939289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dirty="0">
                <a:latin typeface="Symbol"/>
                <a:cs typeface="Symbol"/>
              </a:rPr>
              <a:t></a:t>
            </a:r>
            <a:r>
              <a:rPr lang="en-US" sz="2400" dirty="0">
                <a:latin typeface="Times New Roman"/>
                <a:cs typeface="Times New Roman"/>
              </a:rPr>
              <a:t> A</a:t>
            </a:r>
            <a:r>
              <a:rPr lang="en-US" sz="2400" baseline="39215" dirty="0">
                <a:latin typeface="Times New Roman"/>
                <a:cs typeface="Times New Roman"/>
              </a:rPr>
              <a:t>c </a:t>
            </a:r>
            <a:r>
              <a:rPr lang="en-US" sz="2400" dirty="0">
                <a:latin typeface="Times New Roman"/>
                <a:cs typeface="Times New Roman"/>
              </a:rPr>
              <a:t>= U</a:t>
            </a:r>
          </a:p>
          <a:p>
            <a:pPr marL="1918970" indent="-317500">
              <a:lnSpc>
                <a:spcPts val="2910"/>
              </a:lnSpc>
              <a:spcBef>
                <a:spcPts val="60"/>
              </a:spcBef>
              <a:buAutoNum type="arabicPeriod"/>
              <a:tabLst>
                <a:tab pos="1918970" algn="l"/>
              </a:tabLst>
            </a:pPr>
            <a:endParaRPr sz="24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882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Let 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</a:t>
            </a:r>
            <a:r>
              <a:rPr lang="en-US" dirty="0"/>
              <a:t> be sets. The </a:t>
            </a:r>
            <a:r>
              <a:rPr lang="en-US" i="1" dirty="0"/>
              <a:t>difference</a:t>
            </a:r>
            <a:r>
              <a:rPr lang="en-US" dirty="0"/>
              <a:t> of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denoted by </a:t>
            </a:r>
            <a:r>
              <a:rPr lang="en-US" i="1" dirty="0"/>
              <a:t>A</a:t>
            </a:r>
            <a:r>
              <a:rPr lang="en-US" dirty="0"/>
              <a:t> – </a:t>
            </a:r>
            <a:r>
              <a:rPr lang="en-US" i="1" dirty="0"/>
              <a:t>B</a:t>
            </a:r>
            <a:r>
              <a:rPr lang="en-US" dirty="0"/>
              <a:t>, is the set containing the elements of </a:t>
            </a:r>
            <a:r>
              <a:rPr lang="en-US" i="1" dirty="0"/>
              <a:t>A</a:t>
            </a:r>
            <a:r>
              <a:rPr lang="en-US" dirty="0"/>
              <a:t> that are not in </a:t>
            </a:r>
            <a:r>
              <a:rPr lang="en-US" i="1" dirty="0"/>
              <a:t>B</a:t>
            </a:r>
            <a:r>
              <a:rPr lang="en-US" dirty="0"/>
              <a:t>. The difference of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is also called the complement of </a:t>
            </a:r>
            <a:r>
              <a:rPr lang="en-US" i="1" dirty="0"/>
              <a:t>B</a:t>
            </a:r>
            <a:r>
              <a:rPr lang="en-US" dirty="0"/>
              <a:t> with respect to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             </a:t>
            </a:r>
            <a:r>
              <a:rPr lang="en-US" i="1" dirty="0"/>
              <a:t>A</a:t>
            </a:r>
            <a:r>
              <a:rPr lang="en-US" dirty="0"/>
              <a:t> – </a:t>
            </a:r>
            <a:r>
              <a:rPr lang="en-US" i="1" dirty="0"/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| </a:t>
            </a:r>
            <a:r>
              <a:rPr lang="en-US" i="1" dirty="0">
                <a:ea typeface="Cambria Math"/>
              </a:rPr>
              <a:t>x</a:t>
            </a:r>
            <a:r>
              <a:rPr lang="en-US" dirty="0">
                <a:latin typeface="Cambria Math"/>
                <a:ea typeface="Cambria Math"/>
              </a:rPr>
              <a:t> ∈ A </a:t>
            </a:r>
            <a:r>
              <a:rPr lang="en-US" dirty="0">
                <a:latin typeface="Cambria Math"/>
                <a:ea typeface="Cambria Math"/>
                <a:sym typeface="Symbol"/>
              </a:rPr>
              <a:t>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>
                <a:ea typeface="Cambria Math"/>
              </a:rPr>
              <a:t>x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∉ </a:t>
            </a:r>
            <a:r>
              <a:rPr lang="en-US" i="1" dirty="0">
                <a:ea typeface="Cambria Math"/>
              </a:rPr>
              <a:t>B</a:t>
            </a:r>
            <a:r>
              <a:rPr lang="en-US" dirty="0">
                <a:latin typeface="Cambria Math"/>
                <a:ea typeface="Cambria Math"/>
              </a:rPr>
              <a:t>}  =   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∩</a:t>
            </a:r>
            <a:r>
              <a:rPr lang="en-US" b="1" dirty="0">
                <a:latin typeface="Cambria Math" pitchFamily="18" charset="0"/>
                <a:ea typeface="Cambria Math" pitchFamily="18" charset="0"/>
                <a:sym typeface="Symbol"/>
              </a:rPr>
              <a:t></a:t>
            </a:r>
            <a:r>
              <a:rPr lang="en-US" i="1" dirty="0">
                <a:ea typeface="Cambria Math" pitchFamily="18" charset="0"/>
                <a:sym typeface="Symbol"/>
              </a:rPr>
              <a:t>B</a:t>
            </a:r>
            <a:endParaRPr lang="en-US" i="1" dirty="0">
              <a:ea typeface="Cambria Math" pitchFamily="18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5867400" y="5161112"/>
            <a:ext cx="3429000" cy="1447800"/>
            <a:chOff x="5410200" y="4876800"/>
            <a:chExt cx="3429000" cy="1447800"/>
          </a:xfrm>
        </p:grpSpPr>
        <p:sp>
          <p:nvSpPr>
            <p:cNvPr id="29" name="Rectangle 28"/>
            <p:cNvSpPr/>
            <p:nvPr/>
          </p:nvSpPr>
          <p:spPr>
            <a:xfrm>
              <a:off x="5410200" y="4876800"/>
              <a:ext cx="2971800" cy="1447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943600" y="5181600"/>
              <a:ext cx="1219200" cy="9906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6629400" y="5181600"/>
              <a:ext cx="1219200" cy="990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01000" y="49530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15000" y="51816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15200" y="54102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629400" y="5257800"/>
              <a:ext cx="533400" cy="838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937152" y="468641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Venn Diagram</a:t>
            </a:r>
            <a:r>
              <a:rPr lang="en-US" dirty="0">
                <a:latin typeface="Cambria Math"/>
                <a:ea typeface="Cambria Math"/>
              </a:rPr>
              <a:t>  for </a:t>
            </a:r>
            <a:r>
              <a:rPr lang="en-US" i="1" dirty="0">
                <a:latin typeface="Cambria Math"/>
                <a:ea typeface="Cambria Math"/>
              </a:rPr>
              <a:t>A</a:t>
            </a:r>
            <a:r>
              <a:rPr lang="en-US" dirty="0">
                <a:latin typeface="Cambria Math"/>
                <a:ea typeface="Cambria Math"/>
              </a:rPr>
              <a:t> − </a:t>
            </a:r>
            <a:r>
              <a:rPr lang="en-US" i="1" dirty="0">
                <a:latin typeface="Cambria Math"/>
                <a:ea typeface="Cambria Math"/>
              </a:rPr>
              <a:t>B</a:t>
            </a:r>
            <a:r>
              <a:rPr lang="en-US" dirty="0"/>
              <a:t>    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AA0DB3B-A66C-5633-5584-5374D95070ED}"/>
              </a:ext>
            </a:extLst>
          </p:cNvPr>
          <p:cNvSpPr txBox="1"/>
          <p:nvPr/>
        </p:nvSpPr>
        <p:spPr>
          <a:xfrm>
            <a:off x="910883" y="4720195"/>
            <a:ext cx="8458200" cy="22300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900" algn="l"/>
                <a:tab pos="2839085" algn="l"/>
              </a:tabLst>
            </a:pPr>
            <a:r>
              <a:rPr lang="en-US" sz="2400" b="1" spc="-25" dirty="0">
                <a:latin typeface="Times New Roman"/>
                <a:cs typeface="Times New Roman"/>
              </a:rPr>
              <a:t>EXAMPLE:</a:t>
            </a:r>
          </a:p>
          <a:p>
            <a:pPr marL="12700">
              <a:lnSpc>
                <a:spcPct val="100000"/>
              </a:lnSpc>
              <a:tabLst>
                <a:tab pos="469900" algn="l"/>
                <a:tab pos="2839085" algn="l"/>
              </a:tabLst>
            </a:pPr>
            <a:r>
              <a:rPr lang="en-US" sz="2400" b="1" spc="-2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U</a:t>
            </a:r>
            <a:r>
              <a:rPr lang="en-US" sz="2400" b="1" spc="-1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=</a:t>
            </a: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{a,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b,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c,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d,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e, f,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g} </a:t>
            </a:r>
          </a:p>
          <a:p>
            <a:pPr marL="12700">
              <a:lnSpc>
                <a:spcPct val="100000"/>
              </a:lnSpc>
              <a:tabLst>
                <a:tab pos="469900" algn="l"/>
                <a:tab pos="2839085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A</a:t>
            </a:r>
            <a:r>
              <a:rPr lang="en-US" sz="2400" b="1" spc="-12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=</a:t>
            </a:r>
            <a:r>
              <a:rPr lang="en-US" sz="2400" b="1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{a,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g},</a:t>
            </a:r>
          </a:p>
          <a:p>
            <a:pPr marL="12700">
              <a:tabLst>
                <a:tab pos="469900" algn="l"/>
                <a:tab pos="2839085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B</a:t>
            </a:r>
            <a:r>
              <a:rPr lang="en-US" sz="2400" b="1" spc="-1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=</a:t>
            </a:r>
            <a:r>
              <a:rPr lang="en-US" sz="2400" b="1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{d,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e,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f, </a:t>
            </a:r>
            <a:r>
              <a:rPr lang="en-US" sz="2400" spc="-25" dirty="0">
                <a:latin typeface="Times New Roman"/>
                <a:cs typeface="Times New Roman"/>
              </a:rPr>
              <a:t>g}</a:t>
            </a: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Then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0" dirty="0">
                <a:latin typeface="Times New Roman"/>
                <a:cs typeface="Times New Roman"/>
              </a:rPr>
              <a:t>, </a:t>
            </a:r>
            <a:r>
              <a:rPr lang="en-US" sz="2400" b="1" dirty="0">
                <a:latin typeface="Times New Roman"/>
                <a:cs typeface="Times New Roman"/>
              </a:rPr>
              <a:t>A</a:t>
            </a:r>
            <a:r>
              <a:rPr lang="en-US" sz="2400" b="1" spc="-10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–</a:t>
            </a:r>
            <a:r>
              <a:rPr lang="en-US" sz="2400" b="1" spc="-2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B =</a:t>
            </a:r>
            <a:r>
              <a:rPr lang="en-US" sz="2400" b="1" spc="-2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{a, </a:t>
            </a:r>
            <a:r>
              <a:rPr lang="en-US" sz="2400" b="1" spc="-25" dirty="0">
                <a:latin typeface="Times New Roman"/>
                <a:cs typeface="Times New Roman"/>
              </a:rPr>
              <a:t>c}</a:t>
            </a: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3E8D8A-9726-FEA8-D9DC-5F543A5E0C5B}"/>
              </a:ext>
            </a:extLst>
          </p:cNvPr>
          <p:cNvSpPr txBox="1"/>
          <p:nvPr/>
        </p:nvSpPr>
        <p:spPr>
          <a:xfrm>
            <a:off x="-762000" y="914400"/>
            <a:ext cx="8458200" cy="3911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01470">
              <a:spcBef>
                <a:spcPts val="110"/>
              </a:spcBef>
              <a:tabLst>
                <a:tab pos="1918970" algn="l"/>
              </a:tabLst>
            </a:pPr>
            <a:r>
              <a:rPr lang="en-US" sz="245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DIFFERENCE REMARKS</a:t>
            </a:r>
            <a:endParaRPr lang="en-US" sz="245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7616A7F-F3B3-EC30-EC3A-2538D911193B}"/>
              </a:ext>
            </a:extLst>
          </p:cNvPr>
          <p:cNvSpPr txBox="1"/>
          <p:nvPr/>
        </p:nvSpPr>
        <p:spPr>
          <a:xfrm>
            <a:off x="685800" y="1447800"/>
            <a:ext cx="8001000" cy="12939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3405" indent="-30480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43405" algn="l"/>
                <a:tab pos="3180080" algn="l"/>
              </a:tabLst>
            </a:pPr>
            <a:r>
              <a:rPr sz="2750" dirty="0">
                <a:latin typeface="Times New Roman"/>
                <a:cs typeface="Times New Roman"/>
              </a:rPr>
              <a:t>A – B </a:t>
            </a:r>
            <a:r>
              <a:rPr sz="2750" dirty="0">
                <a:latin typeface="Symbol"/>
                <a:cs typeface="Symbol"/>
              </a:rPr>
              <a:t></a:t>
            </a:r>
            <a:r>
              <a:rPr sz="2750" dirty="0">
                <a:latin typeface="Times New Roman"/>
                <a:cs typeface="Times New Roman"/>
              </a:rPr>
              <a:t> B – A</a:t>
            </a:r>
            <a:r>
              <a:rPr lang="en-US" sz="27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that is set difference is not commutative.</a:t>
            </a:r>
          </a:p>
          <a:p>
            <a:pPr marL="1843405" indent="-30480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1843405" algn="l"/>
              </a:tabLst>
            </a:pPr>
            <a:r>
              <a:rPr sz="2750" dirty="0">
                <a:latin typeface="Times New Roman"/>
                <a:cs typeface="Times New Roman"/>
              </a:rPr>
              <a:t>A – B </a:t>
            </a:r>
            <a:r>
              <a:rPr sz="2750" dirty="0">
                <a:latin typeface="Symbol"/>
                <a:cs typeface="Symbol"/>
              </a:rPr>
              <a:t></a:t>
            </a:r>
            <a:r>
              <a:rPr sz="2750" dirty="0">
                <a:latin typeface="Times New Roman"/>
                <a:cs typeface="Times New Roman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94037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Example</a:t>
            </a:r>
            <a:r>
              <a:rPr lang="en-US" sz="2000" dirty="0"/>
              <a:t>: </a:t>
            </a:r>
            <a:r>
              <a:rPr lang="en-US" sz="2000" i="1" dirty="0"/>
              <a:t>U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0,1,2,3,4,5</a:t>
            </a:r>
            <a:r>
              <a:rPr lang="en-US" sz="2000" dirty="0"/>
              <a:t>,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6,7,8,9,10</a:t>
            </a:r>
            <a:r>
              <a:rPr lang="en-US" sz="2000" dirty="0"/>
              <a:t>}  </a:t>
            </a:r>
            <a:r>
              <a:rPr lang="en-US" sz="2000" i="1" dirty="0"/>
              <a:t>A</a:t>
            </a:r>
            <a:r>
              <a:rPr lang="en-US" sz="2000" dirty="0"/>
              <a:t> = 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2000" dirty="0"/>
              <a:t>},    </a:t>
            </a:r>
            <a:r>
              <a:rPr lang="en-US" sz="2000" i="1" dirty="0"/>
              <a:t>B</a:t>
            </a:r>
            <a:r>
              <a:rPr lang="en-US" sz="2000" dirty="0"/>
              <a:t> ={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4,5,6,7,8</a:t>
            </a:r>
            <a:r>
              <a:rPr lang="en-US" sz="2000" dirty="0"/>
              <a:t>}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∪ </a:t>
            </a:r>
            <a:r>
              <a:rPr lang="en-US" sz="1600" i="1" dirty="0">
                <a:ea typeface="Cambria Math"/>
              </a:rPr>
              <a:t>B</a:t>
            </a:r>
            <a:r>
              <a:rPr lang="en-US" sz="1600" b="1" dirty="0">
                <a:latin typeface="Cambria Math"/>
                <a:ea typeface="Cambria Math"/>
              </a:rPr>
              <a:t>             </a:t>
            </a:r>
          </a:p>
          <a:p>
            <a:pPr marL="1010412" lvl="2" indent="-342900">
              <a:buNone/>
            </a:pP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b="1" dirty="0">
                <a:ea typeface="Cambria Math"/>
              </a:rPr>
              <a:t>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1,2,3,4,5</a:t>
            </a:r>
            <a:r>
              <a:rPr lang="en-US" sz="1600" dirty="0"/>
              <a:t>,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6,7,8</a:t>
            </a:r>
            <a:r>
              <a:rPr lang="en-US" sz="1600" dirty="0"/>
              <a:t>}</a:t>
            </a:r>
            <a:r>
              <a:rPr lang="en-US" sz="1600" b="1" dirty="0">
                <a:latin typeface="Cambria Math"/>
                <a:ea typeface="Cambria Math"/>
              </a:rPr>
              <a:t>    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∩ </a:t>
            </a:r>
            <a:r>
              <a:rPr lang="en-US" sz="1600" i="1" dirty="0">
                <a:ea typeface="Cambria Math"/>
              </a:rPr>
              <a:t>B</a:t>
            </a:r>
            <a:r>
              <a:rPr lang="en-US" sz="1600" b="1" dirty="0">
                <a:ea typeface="Cambria Math"/>
              </a:rPr>
              <a:t>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 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4,5</a:t>
            </a:r>
            <a:r>
              <a:rPr lang="en-US" sz="1600" dirty="0"/>
              <a:t>}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Ā</a:t>
            </a:r>
            <a:r>
              <a:rPr lang="en-US" sz="1600" b="1" dirty="0">
                <a:ea typeface="Cambria Math"/>
              </a:rPr>
              <a:t>      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  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0,6,7,8,9,10</a:t>
            </a:r>
            <a:r>
              <a:rPr lang="en-US" sz="1600" dirty="0"/>
              <a:t>}</a:t>
            </a:r>
            <a:endParaRPr lang="en-US" sz="1600" b="1" dirty="0">
              <a:latin typeface="Cambria Math" pitchFamily="18" charset="0"/>
              <a:ea typeface="Cambria Math" pitchFamily="18" charset="0"/>
            </a:endParaRPr>
          </a:p>
          <a:p>
            <a:pPr marL="736092" lvl="1" indent="-342900">
              <a:buFont typeface="+mj-lt"/>
              <a:buAutoNum type="arabicPeriod"/>
            </a:pPr>
            <a:r>
              <a:rPr lang="en-US" sz="1600" dirty="0">
                <a:latin typeface="Cambria Math" pitchFamily="18" charset="0"/>
                <a:ea typeface="Cambria Math" pitchFamily="18" charset="0"/>
                <a:sym typeface="Symbol"/>
              </a:rPr>
              <a:t>                        </a:t>
            </a:r>
          </a:p>
          <a:p>
            <a:pPr marL="1010412" lvl="2" indent="-342900">
              <a:buNone/>
            </a:pPr>
            <a:r>
              <a:rPr lang="en-US" sz="1600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sz="1600" b="1" dirty="0">
                <a:ea typeface="Cambria Math"/>
              </a:rPr>
              <a:t>Solution:</a:t>
            </a:r>
            <a:r>
              <a:rPr lang="en-US" sz="1600" dirty="0"/>
              <a:t> 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0,1,2,3,9,10</a:t>
            </a:r>
            <a:r>
              <a:rPr lang="en-US" sz="1600" dirty="0"/>
              <a:t>}</a:t>
            </a:r>
            <a:endParaRPr lang="en-US" sz="1600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sz="1600" i="1" dirty="0">
                <a:ea typeface="Cambria Math" pitchFamily="18" charset="0"/>
              </a:rPr>
              <a:t>B</a:t>
            </a:r>
            <a:r>
              <a:rPr lang="en-US" sz="1600" b="1" dirty="0">
                <a:ea typeface="Cambria Math"/>
              </a:rPr>
              <a:t>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  Solution:</a:t>
            </a:r>
            <a:r>
              <a:rPr lang="en-US" sz="1600" b="1" dirty="0">
                <a:latin typeface="Cambria Math"/>
                <a:ea typeface="Cambria Math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sz="1600" dirty="0"/>
              <a:t>} </a:t>
            </a:r>
            <a:endParaRPr lang="en-US" sz="1600" b="1" dirty="0">
              <a:latin typeface="Cambria Math" pitchFamily="18" charset="0"/>
              <a:ea typeface="Cambria Math" pitchFamily="18" charset="0"/>
            </a:endParaRPr>
          </a:p>
          <a:p>
            <a:pPr marL="736092" lvl="1" indent="-342900">
              <a:buFont typeface="+mj-lt"/>
              <a:buAutoNum type="arabicPeriod"/>
            </a:pPr>
            <a:r>
              <a:rPr lang="en-US" sz="1600" i="1" dirty="0">
                <a:ea typeface="Cambria Math" pitchFamily="18" charset="0"/>
              </a:rPr>
              <a:t>B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– </a:t>
            </a:r>
            <a:r>
              <a:rPr lang="en-US" sz="1600" i="1" dirty="0">
                <a:ea typeface="Cambria Math" pitchFamily="18" charset="0"/>
              </a:rPr>
              <a:t>A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              </a:t>
            </a:r>
          </a:p>
          <a:p>
            <a:pPr marL="1010412" lvl="2" indent="-342900">
              <a:buNone/>
            </a:pPr>
            <a:r>
              <a:rPr lang="en-US" sz="1600" b="1" dirty="0">
                <a:ea typeface="Cambria Math"/>
              </a:rPr>
              <a:t>Solution: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/>
              <a:t>{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6,7,8</a:t>
            </a:r>
            <a:r>
              <a:rPr lang="en-US" sz="1600" dirty="0"/>
              <a:t>} </a:t>
            </a:r>
            <a:r>
              <a:rPr lang="en-US" sz="1600" b="1" dirty="0">
                <a:latin typeface="Cambria Math" pitchFamily="18" charset="0"/>
                <a:ea typeface="Cambria Math" pitchFamily="18" charset="0"/>
              </a:rPr>
              <a:t>			</a:t>
            </a:r>
          </a:p>
          <a:p>
            <a:pPr lvl="1"/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pPr lvl="1"/>
            <a:endParaRPr lang="en-US" b="1" dirty="0">
              <a:latin typeface="Cambria Math"/>
              <a:ea typeface="Cambria Math"/>
            </a:endParaRPr>
          </a:p>
          <a:p>
            <a:pPr lvl="1"/>
            <a:endParaRPr lang="en-US" b="1" dirty="0">
              <a:latin typeface="Cambria Math"/>
              <a:ea typeface="Cambria Math"/>
            </a:endParaRP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295400" y="4114800"/>
            <a:ext cx="128016" cy="1506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Difference (</a:t>
            </a:r>
            <a:r>
              <a:rPr lang="en-US" i="1" dirty="0"/>
              <a:t>optional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Definition</a:t>
            </a:r>
            <a:r>
              <a:rPr lang="en-US" dirty="0"/>
              <a:t>: The </a:t>
            </a:r>
            <a:r>
              <a:rPr lang="en-US" i="1" dirty="0"/>
              <a:t>symmetric difference </a:t>
            </a:r>
            <a:r>
              <a:rPr lang="en-US" dirty="0"/>
              <a:t>of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, denoted by                   is the set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 Example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i="1" dirty="0">
                <a:ea typeface="Cambria Math" pitchFamily="18" charset="0"/>
              </a:rPr>
              <a:t>U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 {0,1,2,3,4,5,6,7,8,9,10}  </a:t>
            </a:r>
          </a:p>
          <a:p>
            <a:pPr lvl="1">
              <a:buNone/>
            </a:pP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= {1,2,3,4,5}  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={4,5,6,7,8}</a:t>
            </a:r>
          </a:p>
          <a:p>
            <a:pPr lvl="1">
              <a:buNone/>
            </a:pPr>
            <a:r>
              <a:rPr lang="en-US" dirty="0"/>
              <a:t>What is             :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lvl="1"/>
            <a:r>
              <a:rPr lang="en-US" b="1" dirty="0">
                <a:ea typeface="Cambria Math" pitchFamily="18" charset="0"/>
              </a:rPr>
              <a:t>Solution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: {1,2,3,6,7,8}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286000" y="3048000"/>
            <a:ext cx="3051810" cy="382905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590800" y="2438400"/>
            <a:ext cx="1025843" cy="308610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6172200" y="3657600"/>
            <a:ext cx="854869" cy="257175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4953000" y="3581400"/>
            <a:ext cx="3493476" cy="2057400"/>
            <a:chOff x="4953000" y="3581400"/>
            <a:chExt cx="3493476" cy="2057400"/>
          </a:xfrm>
        </p:grpSpPr>
        <p:sp>
          <p:nvSpPr>
            <p:cNvPr id="10" name="Rectangle 9"/>
            <p:cNvSpPr/>
            <p:nvPr/>
          </p:nvSpPr>
          <p:spPr>
            <a:xfrm>
              <a:off x="4953000" y="3581400"/>
              <a:ext cx="3352800" cy="2057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86399" y="4191001"/>
              <a:ext cx="1312985" cy="130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172199" y="4191001"/>
              <a:ext cx="1312985" cy="130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543799" y="4210725"/>
              <a:ext cx="9026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62600" y="4643862"/>
              <a:ext cx="41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58000" y="4643862"/>
              <a:ext cx="41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6172199" y="4319336"/>
              <a:ext cx="574431" cy="110289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638800" y="5943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Venn Diagram</a:t>
            </a:r>
          </a:p>
        </p:txBody>
      </p:sp>
      <p:cxnSp>
        <p:nvCxnSpPr>
          <p:cNvPr id="32" name="Straight Arrow Connector 31"/>
          <p:cNvCxnSpPr>
            <a:stCxn id="9" idx="2"/>
          </p:cNvCxnSpPr>
          <p:nvPr/>
        </p:nvCxnSpPr>
        <p:spPr>
          <a:xfrm rot="16200000" flipH="1">
            <a:off x="6590705" y="3923704"/>
            <a:ext cx="276225" cy="258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2"/>
          </p:cNvCxnSpPr>
          <p:nvPr/>
        </p:nvCxnSpPr>
        <p:spPr>
          <a:xfrm rot="5400000">
            <a:off x="6285906" y="3877270"/>
            <a:ext cx="276225" cy="3512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094444" y="4742195"/>
            <a:ext cx="854869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AD7CC-5581-78CD-1FD0-C33BC222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460"/>
            <a:ext cx="5181600" cy="68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99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772C78-22F2-B7BA-90FA-FF793AFE30AD}"/>
              </a:ext>
            </a:extLst>
          </p:cNvPr>
          <p:cNvSpPr txBox="1">
            <a:spLocks/>
          </p:cNvSpPr>
          <p:nvPr/>
        </p:nvSpPr>
        <p:spPr>
          <a:xfrm>
            <a:off x="386720" y="289184"/>
            <a:ext cx="7108678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dirty="0"/>
              <a:t>Proof De Morgan Law</a:t>
            </a:r>
            <a:endParaRPr lang="en-US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CD34BF-0B5E-7277-0320-DA90D421F395}"/>
              </a:ext>
            </a:extLst>
          </p:cNvPr>
          <p:cNvSpPr txBox="1"/>
          <p:nvPr/>
        </p:nvSpPr>
        <p:spPr>
          <a:xfrm>
            <a:off x="386720" y="1147911"/>
            <a:ext cx="7538080" cy="104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9570" marR="17780" indent="-344805" algn="ctr">
              <a:lnSpc>
                <a:spcPct val="100000"/>
              </a:lnSpc>
              <a:spcBef>
                <a:spcPts val="100"/>
              </a:spcBef>
              <a:tabLst>
                <a:tab pos="369570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Let</a:t>
            </a:r>
            <a:r>
              <a:rPr lang="en-US" sz="2400" b="1" spc="-6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A</a:t>
            </a:r>
            <a:r>
              <a:rPr lang="en-US" sz="2400" b="1" spc="-12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=</a:t>
            </a: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{1,2}</a:t>
            </a:r>
            <a:r>
              <a:rPr lang="en-US" sz="2400" b="1" spc="44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,</a:t>
            </a:r>
            <a:r>
              <a:rPr lang="en-US" sz="2400" b="1" spc="-1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B = {2,3}</a:t>
            </a:r>
            <a:r>
              <a:rPr lang="en-US" sz="2400" b="1" spc="-4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and</a:t>
            </a:r>
            <a:r>
              <a:rPr lang="en-US" sz="2400" b="1" spc="-10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U</a:t>
            </a:r>
            <a:r>
              <a:rPr lang="en-US" sz="2400" b="1" spc="5" dirty="0">
                <a:latin typeface="Times New Roman"/>
                <a:cs typeface="Times New Roman"/>
              </a:rPr>
              <a:t> </a:t>
            </a:r>
            <a:r>
              <a:rPr lang="en-US" sz="2400" b="1" dirty="0">
                <a:latin typeface="Times New Roman"/>
                <a:cs typeface="Times New Roman"/>
              </a:rPr>
              <a:t>= {1,2,3,4}</a:t>
            </a:r>
            <a:r>
              <a:rPr lang="en-US"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endParaRPr lang="en-US" sz="2400" dirty="0">
              <a:solidFill>
                <a:srgbClr val="90C225"/>
              </a:solidFill>
              <a:latin typeface="Lucida Sans Unicode"/>
              <a:cs typeface="Lucida Sans Unicode"/>
            </a:endParaRPr>
          </a:p>
          <a:p>
            <a:pPr marL="369570" marR="17780" indent="-344805">
              <a:lnSpc>
                <a:spcPct val="100000"/>
              </a:lnSpc>
              <a:spcBef>
                <a:spcPts val="100"/>
              </a:spcBef>
              <a:tabLst>
                <a:tab pos="36957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Prove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following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1800" spc="-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Venn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Diagrams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826769" indent="-344170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78125"/>
              <a:buAutoNum type="arabicPeriod"/>
              <a:tabLst>
                <a:tab pos="826769" algn="l"/>
              </a:tabLst>
            </a:pP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(A</a:t>
            </a:r>
            <a:r>
              <a:rPr sz="1600" b="1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Symbol"/>
                <a:cs typeface="Symbol"/>
              </a:rPr>
              <a:t></a:t>
            </a:r>
            <a:r>
              <a:rPr sz="16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B)</a:t>
            </a:r>
            <a:r>
              <a:rPr sz="1575" b="1" baseline="2645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1575" b="1" spc="-15" baseline="26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1600" b="1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575" b="1" spc="120" baseline="2645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1575" b="1" spc="209" baseline="264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600" b="1" dirty="0">
                <a:solidFill>
                  <a:srgbClr val="404040"/>
                </a:solidFill>
                <a:latin typeface="Symbol"/>
                <a:cs typeface="Symbol"/>
              </a:rPr>
              <a:t>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 B</a:t>
            </a:r>
            <a:r>
              <a:rPr sz="1600" b="1" spc="-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575" b="1" spc="-75" baseline="2645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lang="en-US" sz="1575" b="1" spc="-75" baseline="26455" dirty="0">
              <a:solidFill>
                <a:srgbClr val="40404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520148-F60B-B67E-A6AD-BC1FEAFDD973}"/>
              </a:ext>
            </a:extLst>
          </p:cNvPr>
          <p:cNvSpPr txBox="1"/>
          <p:nvPr/>
        </p:nvSpPr>
        <p:spPr>
          <a:xfrm>
            <a:off x="562691" y="2272576"/>
            <a:ext cx="4076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SOLUTION(Proof</a:t>
            </a:r>
            <a:r>
              <a:rPr sz="1800" b="1"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using</a:t>
            </a:r>
            <a:r>
              <a:rPr sz="1800" b="1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Venn</a:t>
            </a:r>
            <a:r>
              <a:rPr sz="1800" b="1"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Diagram):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84F87B2-DC3B-4526-209D-647B4490C79C}"/>
              </a:ext>
            </a:extLst>
          </p:cNvPr>
          <p:cNvSpPr txBox="1"/>
          <p:nvPr/>
        </p:nvSpPr>
        <p:spPr>
          <a:xfrm>
            <a:off x="1848248" y="2609318"/>
            <a:ext cx="5785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E6B81E"/>
                </a:solidFill>
                <a:latin typeface="Times New Roman"/>
                <a:cs typeface="Times New Roman"/>
              </a:rPr>
              <a:t>T</a:t>
            </a:r>
            <a:r>
              <a:rPr sz="1800" dirty="0">
                <a:solidFill>
                  <a:srgbClr val="E6B81E"/>
                </a:solidFill>
                <a:latin typeface="Times New Roman"/>
                <a:cs typeface="Times New Roman"/>
              </a:rPr>
              <a:t>aking</a:t>
            </a:r>
            <a:r>
              <a:rPr sz="1800" spc="1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E6B81E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E6B81E"/>
                </a:solidFill>
                <a:latin typeface="Times New Roman"/>
                <a:cs typeface="Times New Roman"/>
              </a:rPr>
              <a:t>L.H.S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6E209A13-E6C9-9710-6A73-B1F1ACAC61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753" y="3044706"/>
            <a:ext cx="1689004" cy="919548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2EF3FE85-A1B4-4B32-CF0C-6F25A9DDE113}"/>
              </a:ext>
            </a:extLst>
          </p:cNvPr>
          <p:cNvSpPr txBox="1"/>
          <p:nvPr/>
        </p:nvSpPr>
        <p:spPr>
          <a:xfrm>
            <a:off x="3843024" y="3129806"/>
            <a:ext cx="14224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latin typeface="Times New Roman"/>
                <a:cs typeface="Times New Roman"/>
              </a:rPr>
              <a:t>U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457BFB3-4C71-21FB-E72A-9922A2A43E8A}"/>
              </a:ext>
            </a:extLst>
          </p:cNvPr>
          <p:cNvSpPr txBox="1"/>
          <p:nvPr/>
        </p:nvSpPr>
        <p:spPr>
          <a:xfrm>
            <a:off x="2732484" y="3140962"/>
            <a:ext cx="1422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25" marR="5080" indent="-35560">
              <a:lnSpc>
                <a:spcPct val="159800"/>
              </a:lnSpc>
              <a:spcBef>
                <a:spcPts val="95"/>
              </a:spcBef>
            </a:pPr>
            <a:r>
              <a:rPr sz="1250" spc="-50" dirty="0">
                <a:latin typeface="Times New Roman"/>
                <a:cs typeface="Times New Roman"/>
              </a:rPr>
              <a:t>A 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08787C3-350E-360C-0363-C9D7F9168CF3}"/>
              </a:ext>
            </a:extLst>
          </p:cNvPr>
          <p:cNvSpPr txBox="1"/>
          <p:nvPr/>
        </p:nvSpPr>
        <p:spPr>
          <a:xfrm>
            <a:off x="3115624" y="3373206"/>
            <a:ext cx="1060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EF9EB6F-8781-8E8C-BF9F-13904752F8F8}"/>
              </a:ext>
            </a:extLst>
          </p:cNvPr>
          <p:cNvSpPr txBox="1"/>
          <p:nvPr/>
        </p:nvSpPr>
        <p:spPr>
          <a:xfrm>
            <a:off x="3479475" y="3227537"/>
            <a:ext cx="133350" cy="46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5080" indent="-15875">
              <a:lnSpc>
                <a:spcPct val="114399"/>
              </a:lnSpc>
              <a:spcBef>
                <a:spcPts val="95"/>
              </a:spcBef>
            </a:pPr>
            <a:r>
              <a:rPr sz="1250" spc="-50" dirty="0">
                <a:latin typeface="Times New Roman"/>
                <a:cs typeface="Times New Roman"/>
              </a:rPr>
              <a:t>B 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74F90B7-93A2-3F11-4510-43265531223A}"/>
              </a:ext>
            </a:extLst>
          </p:cNvPr>
          <p:cNvSpPr txBox="1"/>
          <p:nvPr/>
        </p:nvSpPr>
        <p:spPr>
          <a:xfrm>
            <a:off x="2090420" y="4107147"/>
            <a:ext cx="2050414" cy="4794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0444">
              <a:lnSpc>
                <a:spcPts val="1445"/>
              </a:lnSpc>
              <a:spcBef>
                <a:spcPts val="120"/>
              </a:spcBef>
            </a:pPr>
            <a:r>
              <a:rPr sz="1250" b="1" dirty="0">
                <a:solidFill>
                  <a:srgbClr val="CC0099"/>
                </a:solidFill>
                <a:latin typeface="Times New Roman"/>
                <a:cs typeface="Times New Roman"/>
              </a:rPr>
              <a:t>A</a:t>
            </a:r>
            <a:r>
              <a:rPr sz="1250" b="1" spc="5" dirty="0">
                <a:solidFill>
                  <a:srgbClr val="CC0099"/>
                </a:solidFill>
                <a:latin typeface="Times New Roman"/>
                <a:cs typeface="Times New Roman"/>
              </a:rPr>
              <a:t> </a:t>
            </a:r>
            <a:r>
              <a:rPr sz="1250" b="1" dirty="0">
                <a:solidFill>
                  <a:srgbClr val="CC0099"/>
                </a:solidFill>
                <a:latin typeface="Symbol"/>
                <a:cs typeface="Symbol"/>
              </a:rPr>
              <a:t></a:t>
            </a:r>
            <a:r>
              <a:rPr sz="1250" b="1" spc="10" dirty="0">
                <a:solidFill>
                  <a:srgbClr val="CC0099"/>
                </a:solidFill>
                <a:latin typeface="Times New Roman"/>
                <a:cs typeface="Times New Roman"/>
              </a:rPr>
              <a:t> </a:t>
            </a:r>
            <a:r>
              <a:rPr sz="1250" b="1" spc="-50" dirty="0">
                <a:solidFill>
                  <a:srgbClr val="CC0099"/>
                </a:solidFill>
                <a:latin typeface="Times New Roman"/>
                <a:cs typeface="Times New Roman"/>
              </a:rPr>
              <a:t>B</a:t>
            </a:r>
            <a:endParaRPr sz="1250" b="1" dirty="0">
              <a:solidFill>
                <a:srgbClr val="CC0099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105"/>
              </a:lnSpc>
            </a:pPr>
            <a:r>
              <a:rPr sz="1800" dirty="0">
                <a:solidFill>
                  <a:srgbClr val="E6B81E"/>
                </a:solidFill>
                <a:latin typeface="Times New Roman"/>
                <a:cs typeface="Times New Roman"/>
              </a:rPr>
              <a:t>Now</a:t>
            </a:r>
            <a:r>
              <a:rPr sz="1800" spc="-1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E6B81E"/>
                </a:solidFill>
                <a:latin typeface="Times New Roman"/>
                <a:cs typeface="Times New Roman"/>
              </a:rPr>
              <a:t>taking</a:t>
            </a:r>
            <a:r>
              <a:rPr sz="1800" spc="-20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E6B81E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E6B81E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E6B81E"/>
                </a:solidFill>
                <a:latin typeface="Times New Roman"/>
                <a:cs typeface="Times New Roman"/>
              </a:rPr>
              <a:t>R.H.S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9A37DD1-82C6-E837-1194-98E341195465}"/>
              </a:ext>
            </a:extLst>
          </p:cNvPr>
          <p:cNvSpPr txBox="1"/>
          <p:nvPr/>
        </p:nvSpPr>
        <p:spPr>
          <a:xfrm>
            <a:off x="1646182" y="3129805"/>
            <a:ext cx="20510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latin typeface="Times New Roman"/>
                <a:cs typeface="Times New Roman"/>
              </a:rPr>
              <a:t>(a)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D1317D7-07D2-AD5E-551B-E9F71681302E}"/>
              </a:ext>
            </a:extLst>
          </p:cNvPr>
          <p:cNvSpPr txBox="1"/>
          <p:nvPr/>
        </p:nvSpPr>
        <p:spPr>
          <a:xfrm>
            <a:off x="3903615" y="3677434"/>
            <a:ext cx="1060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latin typeface="Times New Roman"/>
                <a:cs typeface="Times New Roman"/>
              </a:rPr>
              <a:t>4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48034E98-1F37-AA7B-AFA5-9F07553484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6089" y="3061718"/>
            <a:ext cx="1620254" cy="899128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8D669757-D6D1-B269-083A-070B6F14B227}"/>
              </a:ext>
            </a:extLst>
          </p:cNvPr>
          <p:cNvSpPr txBox="1"/>
          <p:nvPr/>
        </p:nvSpPr>
        <p:spPr>
          <a:xfrm>
            <a:off x="4638756" y="3135885"/>
            <a:ext cx="2044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35" dirty="0">
                <a:latin typeface="Times New Roman"/>
                <a:cs typeface="Times New Roman"/>
              </a:rPr>
              <a:t>(b)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8726AA9-6712-CB17-AF9F-85E8BFAA870C}"/>
              </a:ext>
            </a:extLst>
          </p:cNvPr>
          <p:cNvSpPr txBox="1"/>
          <p:nvPr/>
        </p:nvSpPr>
        <p:spPr>
          <a:xfrm>
            <a:off x="6757129" y="3663252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25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862D59A-D540-B32C-A9F6-C9D020B19E2F}"/>
              </a:ext>
            </a:extLst>
          </p:cNvPr>
          <p:cNvSpPr txBox="1"/>
          <p:nvPr/>
        </p:nvSpPr>
        <p:spPr>
          <a:xfrm>
            <a:off x="5861215" y="4106528"/>
            <a:ext cx="958244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b="1" spc="75" dirty="0">
                <a:solidFill>
                  <a:srgbClr val="CC0099"/>
                </a:solidFill>
                <a:latin typeface="Times New Roman"/>
                <a:cs typeface="Times New Roman"/>
              </a:rPr>
              <a:t>(A</a:t>
            </a:r>
            <a:r>
              <a:rPr sz="1200" b="1" spc="35" dirty="0">
                <a:solidFill>
                  <a:srgbClr val="CC0099"/>
                </a:solidFill>
                <a:latin typeface="Times New Roman"/>
                <a:cs typeface="Times New Roman"/>
              </a:rPr>
              <a:t> </a:t>
            </a:r>
            <a:r>
              <a:rPr sz="1200" b="1" spc="110" dirty="0">
                <a:solidFill>
                  <a:srgbClr val="CC0099"/>
                </a:solidFill>
                <a:latin typeface="Symbol"/>
                <a:cs typeface="Symbol"/>
              </a:rPr>
              <a:t></a:t>
            </a:r>
            <a:r>
              <a:rPr sz="1200" b="1" spc="30" dirty="0">
                <a:solidFill>
                  <a:srgbClr val="CC0099"/>
                </a:solidFill>
                <a:latin typeface="Times New Roman"/>
                <a:cs typeface="Times New Roman"/>
              </a:rPr>
              <a:t> </a:t>
            </a:r>
            <a:r>
              <a:rPr sz="1200" b="1" spc="45" dirty="0">
                <a:solidFill>
                  <a:srgbClr val="CC0099"/>
                </a:solidFill>
                <a:latin typeface="Times New Roman"/>
                <a:cs typeface="Times New Roman"/>
              </a:rPr>
              <a:t>B)</a:t>
            </a:r>
            <a:r>
              <a:rPr sz="1200" b="1" spc="67" baseline="27777" dirty="0">
                <a:solidFill>
                  <a:srgbClr val="CC0099"/>
                </a:solidFill>
                <a:latin typeface="Times New Roman"/>
                <a:cs typeface="Times New Roman"/>
              </a:rPr>
              <a:t>c</a:t>
            </a:r>
            <a:endParaRPr sz="1200" b="1" baseline="27777" dirty="0">
              <a:solidFill>
                <a:srgbClr val="CC0099"/>
              </a:solidFill>
              <a:latin typeface="Times New Roman"/>
              <a:cs typeface="Times New Roman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4A9A521-ECFB-F464-84EF-12CB2335D8B1}"/>
              </a:ext>
            </a:extLst>
          </p:cNvPr>
          <p:cNvSpPr txBox="1"/>
          <p:nvPr/>
        </p:nvSpPr>
        <p:spPr>
          <a:xfrm>
            <a:off x="6743297" y="3059450"/>
            <a:ext cx="1365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5" dirty="0">
                <a:latin typeface="Times New Roman"/>
                <a:cs typeface="Times New Roman"/>
              </a:rPr>
              <a:t>U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E18A198-79E7-3FD5-5492-36D0170D8CFC}"/>
              </a:ext>
            </a:extLst>
          </p:cNvPr>
          <p:cNvSpPr txBox="1"/>
          <p:nvPr/>
        </p:nvSpPr>
        <p:spPr>
          <a:xfrm>
            <a:off x="5751499" y="3170086"/>
            <a:ext cx="729615" cy="4279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20"/>
              </a:spcBef>
              <a:tabLst>
                <a:tab pos="542925" algn="l"/>
              </a:tabLst>
            </a:pPr>
            <a:r>
              <a:rPr sz="1575" spc="82" baseline="-13227" dirty="0">
                <a:latin typeface="Times New Roman"/>
                <a:cs typeface="Times New Roman"/>
              </a:rPr>
              <a:t>A</a:t>
            </a:r>
            <a:r>
              <a:rPr sz="1575" baseline="-13227" dirty="0">
                <a:latin typeface="Times New Roman"/>
                <a:cs typeface="Times New Roman"/>
              </a:rPr>
              <a:t>	</a:t>
            </a:r>
            <a:r>
              <a:rPr sz="1050" spc="55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  <a:tabLst>
                <a:tab pos="312420" algn="l"/>
                <a:tab pos="614045" algn="l"/>
              </a:tabLst>
            </a:pPr>
            <a:r>
              <a:rPr sz="1050" spc="25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25" dirty="0">
                <a:latin typeface="Times New Roman"/>
                <a:cs typeface="Times New Roman"/>
              </a:rPr>
              <a:t>2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25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21" name="object 21">
            <a:extLst>
              <a:ext uri="{FF2B5EF4-FFF2-40B4-BE49-F238E27FC236}">
                <a16:creationId xmlns:a16="http://schemas.microsoft.com/office/drawing/2014/main" id="{55FF7446-85C7-037C-0AE4-9A1A3B797E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256" y="4742725"/>
            <a:ext cx="1647497" cy="1534199"/>
          </a:xfrm>
          <a:prstGeom prst="rect">
            <a:avLst/>
          </a:prstGeom>
        </p:spPr>
      </p:pic>
      <p:pic>
        <p:nvPicPr>
          <p:cNvPr id="22" name="object 22">
            <a:extLst>
              <a:ext uri="{FF2B5EF4-FFF2-40B4-BE49-F238E27FC236}">
                <a16:creationId xmlns:a16="http://schemas.microsoft.com/office/drawing/2014/main" id="{2D445259-CA46-A5C2-4F19-FC023436F54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8460" y="4780086"/>
            <a:ext cx="1783210" cy="1456670"/>
          </a:xfrm>
          <a:prstGeom prst="rect">
            <a:avLst/>
          </a:prstGeom>
        </p:spPr>
      </p:pic>
      <p:pic>
        <p:nvPicPr>
          <p:cNvPr id="23" name="object 23">
            <a:extLst>
              <a:ext uri="{FF2B5EF4-FFF2-40B4-BE49-F238E27FC236}">
                <a16:creationId xmlns:a16="http://schemas.microsoft.com/office/drawing/2014/main" id="{0F2B3365-9FB0-1ACB-9222-DAE0D7D3387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0585" y="4636693"/>
            <a:ext cx="2066544" cy="1743456"/>
          </a:xfrm>
          <a:prstGeom prst="rect">
            <a:avLst/>
          </a:prstGeom>
        </p:spPr>
      </p:pic>
      <p:sp>
        <p:nvSpPr>
          <p:cNvPr id="24" name="object 24">
            <a:extLst>
              <a:ext uri="{FF2B5EF4-FFF2-40B4-BE49-F238E27FC236}">
                <a16:creationId xmlns:a16="http://schemas.microsoft.com/office/drawing/2014/main" id="{D90C5591-7FAE-64FF-CC8D-25258523494F}"/>
              </a:ext>
            </a:extLst>
          </p:cNvPr>
          <p:cNvSpPr txBox="1"/>
          <p:nvPr/>
        </p:nvSpPr>
        <p:spPr>
          <a:xfrm>
            <a:off x="2896870" y="6368592"/>
            <a:ext cx="314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EF"/>
                </a:solidFill>
                <a:latin typeface="Trebuchet MS"/>
                <a:cs typeface="Trebuchet MS"/>
              </a:rPr>
              <a:t>L.H.S</a:t>
            </a:r>
            <a:r>
              <a:rPr sz="1800" b="1" spc="-3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rebuchet MS"/>
                <a:cs typeface="Trebuchet MS"/>
              </a:rPr>
              <a:t>=</a:t>
            </a:r>
            <a:r>
              <a:rPr sz="1800" b="1" spc="-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rebuchet MS"/>
                <a:cs typeface="Trebuchet MS"/>
              </a:rPr>
              <a:t>R.H.S</a:t>
            </a:r>
            <a:r>
              <a:rPr sz="1800" b="1" spc="-6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rebuchet MS"/>
                <a:cs typeface="Trebuchet MS"/>
              </a:rPr>
              <a:t>,</a:t>
            </a:r>
            <a:r>
              <a:rPr sz="1800" b="1" spc="-4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rebuchet MS"/>
                <a:cs typeface="Trebuchet MS"/>
              </a:rPr>
              <a:t>Hence</a:t>
            </a:r>
            <a:r>
              <a:rPr sz="1800" b="1" spc="-10" dirty="0">
                <a:solidFill>
                  <a:srgbClr val="00AFEF"/>
                </a:solidFill>
                <a:latin typeface="Trebuchet MS"/>
                <a:cs typeface="Trebuchet MS"/>
              </a:rPr>
              <a:t> Proved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08730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1192C4-4B29-DA65-76E9-C9428C4736C7}"/>
              </a:ext>
            </a:extLst>
          </p:cNvPr>
          <p:cNvSpPr txBox="1">
            <a:spLocks/>
          </p:cNvSpPr>
          <p:nvPr/>
        </p:nvSpPr>
        <p:spPr>
          <a:xfrm>
            <a:off x="-1066800" y="1117973"/>
            <a:ext cx="525526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675130">
              <a:spcBef>
                <a:spcPts val="100"/>
              </a:spcBef>
            </a:pPr>
            <a:r>
              <a:rPr lang="en-US" b="1" spc="-10" dirty="0"/>
              <a:t>TASK</a:t>
            </a:r>
            <a:r>
              <a:rPr lang="en-US" b="1" spc="-254" dirty="0"/>
              <a:t> </a:t>
            </a:r>
            <a:r>
              <a:rPr lang="en-US" b="1" spc="-50" dirty="0"/>
              <a:t>A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2C18368-A7BB-BB0D-DD75-BBB87285CA6E}"/>
              </a:ext>
            </a:extLst>
          </p:cNvPr>
          <p:cNvSpPr txBox="1"/>
          <p:nvPr/>
        </p:nvSpPr>
        <p:spPr>
          <a:xfrm>
            <a:off x="786131" y="2002311"/>
            <a:ext cx="2012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90C225"/>
                </a:solidFill>
                <a:latin typeface="Times New Roman"/>
                <a:cs typeface="Times New Roman"/>
              </a:rPr>
              <a:t>A.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C495B6A-C8C2-D835-C72C-2A9B9E505FF6}"/>
              </a:ext>
            </a:extLst>
          </p:cNvPr>
          <p:cNvSpPr txBox="1"/>
          <p:nvPr/>
        </p:nvSpPr>
        <p:spPr>
          <a:xfrm>
            <a:off x="1243635" y="2102227"/>
            <a:ext cx="2392045" cy="8312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  <a:tabLst>
                <a:tab pos="469265" algn="l"/>
              </a:tabLst>
            </a:pPr>
            <a:r>
              <a:rPr sz="1800" b="1" spc="-25" dirty="0">
                <a:latin typeface="Times New Roman"/>
                <a:cs typeface="Times New Roman"/>
              </a:rPr>
              <a:t>Let</a:t>
            </a:r>
            <a:r>
              <a:rPr sz="1800" b="1" dirty="0">
                <a:latin typeface="Times New Roman"/>
                <a:cs typeface="Times New Roman"/>
              </a:rPr>
              <a:t>	U =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{1,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2,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3,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…,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10},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latin typeface="Times New Roman"/>
                <a:cs typeface="Times New Roman"/>
              </a:rPr>
              <a:t>Y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{y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|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y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x,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x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Symbol"/>
                <a:cs typeface="Symbol"/>
              </a:rPr>
              <a:t></a:t>
            </a:r>
            <a:r>
              <a:rPr sz="1800" b="1" spc="-20" dirty="0">
                <a:latin typeface="Times New Roman"/>
                <a:cs typeface="Times New Roman"/>
              </a:rPr>
              <a:t>X},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85987A2-CFDB-73FD-B78C-52C386D22BFF}"/>
              </a:ext>
            </a:extLst>
          </p:cNvPr>
          <p:cNvSpPr txBox="1"/>
          <p:nvPr/>
        </p:nvSpPr>
        <p:spPr>
          <a:xfrm>
            <a:off x="4419600" y="2102227"/>
            <a:ext cx="2432685" cy="8312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10"/>
              </a:spcBef>
            </a:pPr>
            <a:r>
              <a:rPr sz="1800" b="1" dirty="0">
                <a:latin typeface="Times New Roman"/>
                <a:cs typeface="Times New Roman"/>
              </a:rPr>
              <a:t>X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{1,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2,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4,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5}</a:t>
            </a:r>
            <a:endParaRPr sz="1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latin typeface="Times New Roman"/>
                <a:cs typeface="Times New Roman"/>
              </a:rPr>
              <a:t>Z =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{z |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z</a:t>
            </a:r>
            <a:r>
              <a:rPr sz="1800" b="1" baseline="25462" dirty="0">
                <a:latin typeface="Times New Roman"/>
                <a:cs typeface="Times New Roman"/>
              </a:rPr>
              <a:t>2</a:t>
            </a:r>
            <a:r>
              <a:rPr sz="1800" b="1" spc="225" baseline="25462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9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z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14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 </a:t>
            </a:r>
            <a:r>
              <a:rPr sz="1800" b="1" spc="-25" dirty="0">
                <a:latin typeface="Times New Roman"/>
                <a:cs typeface="Times New Roman"/>
              </a:rPr>
              <a:t>0}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36E4D3B-D3CE-21B5-BE28-B26D10685BC9}"/>
              </a:ext>
            </a:extLst>
          </p:cNvPr>
          <p:cNvSpPr txBox="1"/>
          <p:nvPr/>
        </p:nvSpPr>
        <p:spPr>
          <a:xfrm>
            <a:off x="760731" y="3594179"/>
            <a:ext cx="1177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6B81E"/>
                </a:solidFill>
                <a:latin typeface="Times New Roman"/>
                <a:cs typeface="Times New Roman"/>
              </a:rPr>
              <a:t>Enumerate: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F82CC-F7D7-261D-0777-0F3598EA7EF1}"/>
              </a:ext>
            </a:extLst>
          </p:cNvPr>
          <p:cNvSpPr txBox="1"/>
          <p:nvPr/>
        </p:nvSpPr>
        <p:spPr>
          <a:xfrm>
            <a:off x="760731" y="4114800"/>
            <a:ext cx="955040" cy="82550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Times New Roman"/>
                <a:cs typeface="Times New Roman"/>
              </a:rPr>
              <a:t>(1)X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Y</a:t>
            </a:r>
            <a:endParaRPr sz="1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85"/>
              </a:spcBef>
            </a:pPr>
            <a:r>
              <a:rPr sz="1800" spc="-10" dirty="0">
                <a:latin typeface="Times New Roman"/>
                <a:cs typeface="Times New Roman"/>
              </a:rPr>
              <a:t>(4)Y</a:t>
            </a:r>
            <a:r>
              <a:rPr sz="1800" spc="-15" baseline="25462" dirty="0">
                <a:latin typeface="Times New Roman"/>
                <a:cs typeface="Times New Roman"/>
              </a:rPr>
              <a:t>c</a:t>
            </a:r>
            <a:endParaRPr sz="1800" baseline="25462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AE48DBB-85DD-4D22-A4AC-6493022930BC}"/>
              </a:ext>
            </a:extLst>
          </p:cNvPr>
          <p:cNvSpPr txBox="1"/>
          <p:nvPr/>
        </p:nvSpPr>
        <p:spPr>
          <a:xfrm>
            <a:off x="2590166" y="4114800"/>
            <a:ext cx="1071245" cy="82550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Times New Roman"/>
                <a:cs typeface="Times New Roman"/>
              </a:rPr>
              <a:t>(2)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Z</a:t>
            </a:r>
            <a:endParaRPr sz="1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latin typeface="Times New Roman"/>
                <a:cs typeface="Times New Roman"/>
              </a:rPr>
              <a:t>(5)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baseline="25462" dirty="0">
                <a:latin typeface="Times New Roman"/>
                <a:cs typeface="Times New Roman"/>
              </a:rPr>
              <a:t>c</a:t>
            </a:r>
            <a:r>
              <a:rPr sz="1800" spc="225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Z</a:t>
            </a:r>
            <a:r>
              <a:rPr sz="1800" spc="-52" baseline="25462" dirty="0">
                <a:latin typeface="Times New Roman"/>
                <a:cs typeface="Times New Roman"/>
              </a:rPr>
              <a:t>c</a:t>
            </a:r>
            <a:endParaRPr sz="1800" baseline="25462" dirty="0"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8E61A3C-4B58-B060-8E43-22A23D6D9201}"/>
              </a:ext>
            </a:extLst>
          </p:cNvPr>
          <p:cNvSpPr txBox="1"/>
          <p:nvPr/>
        </p:nvSpPr>
        <p:spPr>
          <a:xfrm>
            <a:off x="4419600" y="4114800"/>
            <a:ext cx="1193165" cy="82550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Times New Roman"/>
                <a:cs typeface="Times New Roman"/>
              </a:rPr>
              <a:t>(3)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latin typeface="Times New Roman"/>
                <a:cs typeface="Times New Roman"/>
              </a:rPr>
              <a:t>(6)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Z)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75" baseline="25462" dirty="0">
                <a:latin typeface="Times New Roman"/>
                <a:cs typeface="Times New Roman"/>
              </a:rPr>
              <a:t>c</a:t>
            </a:r>
            <a:endParaRPr sz="1800" baseline="25462">
              <a:latin typeface="Times New Roman"/>
              <a:cs typeface="Times New Roman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477343B0-5C9A-543A-5DBE-9155739C710A}"/>
              </a:ext>
            </a:extLst>
          </p:cNvPr>
          <p:cNvGrpSpPr/>
          <p:nvPr/>
        </p:nvGrpSpPr>
        <p:grpSpPr>
          <a:xfrm>
            <a:off x="3069591" y="2343561"/>
            <a:ext cx="1360170" cy="720090"/>
            <a:chOff x="2514600" y="1325880"/>
            <a:chExt cx="1360170" cy="72009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433E08A-DC30-4720-F427-E80D39925D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1325880"/>
              <a:ext cx="1360170" cy="720089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DD853DD-FAB0-BBCC-0F6B-B4294D45E13A}"/>
                </a:ext>
              </a:extLst>
            </p:cNvPr>
            <p:cNvSpPr/>
            <p:nvPr/>
          </p:nvSpPr>
          <p:spPr>
            <a:xfrm>
              <a:off x="2557271" y="1382268"/>
              <a:ext cx="1200150" cy="597535"/>
            </a:xfrm>
            <a:custGeom>
              <a:avLst/>
              <a:gdLst/>
              <a:ahLst/>
              <a:cxnLst/>
              <a:rect l="l" t="t" r="r" b="b"/>
              <a:pathLst>
                <a:path w="1200150" h="597535">
                  <a:moveTo>
                    <a:pt x="593851" y="572643"/>
                  </a:moveTo>
                  <a:lnTo>
                    <a:pt x="5460" y="572643"/>
                  </a:lnTo>
                  <a:lnTo>
                    <a:pt x="0" y="578104"/>
                  </a:lnTo>
                  <a:lnTo>
                    <a:pt x="0" y="591566"/>
                  </a:lnTo>
                  <a:lnTo>
                    <a:pt x="5460" y="597027"/>
                  </a:lnTo>
                  <a:lnTo>
                    <a:pt x="612775" y="597027"/>
                  </a:lnTo>
                  <a:lnTo>
                    <a:pt x="618235" y="591566"/>
                  </a:lnTo>
                  <a:lnTo>
                    <a:pt x="618235" y="584835"/>
                  </a:lnTo>
                  <a:lnTo>
                    <a:pt x="593851" y="584835"/>
                  </a:lnTo>
                  <a:lnTo>
                    <a:pt x="593851" y="572643"/>
                  </a:lnTo>
                  <a:close/>
                </a:path>
                <a:path w="1200150" h="597535">
                  <a:moveTo>
                    <a:pt x="1123823" y="25908"/>
                  </a:moveTo>
                  <a:lnTo>
                    <a:pt x="599313" y="25908"/>
                  </a:lnTo>
                  <a:lnTo>
                    <a:pt x="593851" y="31369"/>
                  </a:lnTo>
                  <a:lnTo>
                    <a:pt x="593851" y="584835"/>
                  </a:lnTo>
                  <a:lnTo>
                    <a:pt x="606044" y="572643"/>
                  </a:lnTo>
                  <a:lnTo>
                    <a:pt x="618235" y="572643"/>
                  </a:lnTo>
                  <a:lnTo>
                    <a:pt x="618235" y="50292"/>
                  </a:lnTo>
                  <a:lnTo>
                    <a:pt x="606044" y="50292"/>
                  </a:lnTo>
                  <a:lnTo>
                    <a:pt x="618235" y="38100"/>
                  </a:lnTo>
                  <a:lnTo>
                    <a:pt x="1123823" y="38100"/>
                  </a:lnTo>
                  <a:lnTo>
                    <a:pt x="1123823" y="25908"/>
                  </a:lnTo>
                  <a:close/>
                </a:path>
                <a:path w="1200150" h="597535">
                  <a:moveTo>
                    <a:pt x="618235" y="572643"/>
                  </a:moveTo>
                  <a:lnTo>
                    <a:pt x="606044" y="572643"/>
                  </a:lnTo>
                  <a:lnTo>
                    <a:pt x="593851" y="584835"/>
                  </a:lnTo>
                  <a:lnTo>
                    <a:pt x="618235" y="584835"/>
                  </a:lnTo>
                  <a:lnTo>
                    <a:pt x="618235" y="572643"/>
                  </a:lnTo>
                  <a:close/>
                </a:path>
                <a:path w="1200150" h="597535">
                  <a:moveTo>
                    <a:pt x="1123823" y="0"/>
                  </a:moveTo>
                  <a:lnTo>
                    <a:pt x="1123823" y="76200"/>
                  </a:lnTo>
                  <a:lnTo>
                    <a:pt x="1175638" y="50292"/>
                  </a:lnTo>
                  <a:lnTo>
                    <a:pt x="1143253" y="50292"/>
                  </a:lnTo>
                  <a:lnTo>
                    <a:pt x="1148714" y="44831"/>
                  </a:lnTo>
                  <a:lnTo>
                    <a:pt x="1148714" y="31369"/>
                  </a:lnTo>
                  <a:lnTo>
                    <a:pt x="1143253" y="25908"/>
                  </a:lnTo>
                  <a:lnTo>
                    <a:pt x="1175639" y="25908"/>
                  </a:lnTo>
                  <a:lnTo>
                    <a:pt x="1123823" y="0"/>
                  </a:lnTo>
                  <a:close/>
                </a:path>
                <a:path w="1200150" h="597535">
                  <a:moveTo>
                    <a:pt x="618235" y="38100"/>
                  </a:moveTo>
                  <a:lnTo>
                    <a:pt x="606044" y="50292"/>
                  </a:lnTo>
                  <a:lnTo>
                    <a:pt x="618235" y="50292"/>
                  </a:lnTo>
                  <a:lnTo>
                    <a:pt x="618235" y="38100"/>
                  </a:lnTo>
                  <a:close/>
                </a:path>
                <a:path w="1200150" h="597535">
                  <a:moveTo>
                    <a:pt x="1123823" y="38100"/>
                  </a:moveTo>
                  <a:lnTo>
                    <a:pt x="618235" y="38100"/>
                  </a:lnTo>
                  <a:lnTo>
                    <a:pt x="618235" y="50292"/>
                  </a:lnTo>
                  <a:lnTo>
                    <a:pt x="1123823" y="50292"/>
                  </a:lnTo>
                  <a:lnTo>
                    <a:pt x="1123823" y="38100"/>
                  </a:lnTo>
                  <a:close/>
                </a:path>
                <a:path w="1200150" h="597535">
                  <a:moveTo>
                    <a:pt x="1175639" y="25908"/>
                  </a:moveTo>
                  <a:lnTo>
                    <a:pt x="1143253" y="25908"/>
                  </a:lnTo>
                  <a:lnTo>
                    <a:pt x="1148714" y="31369"/>
                  </a:lnTo>
                  <a:lnTo>
                    <a:pt x="1148714" y="44831"/>
                  </a:lnTo>
                  <a:lnTo>
                    <a:pt x="1143253" y="50292"/>
                  </a:lnTo>
                  <a:lnTo>
                    <a:pt x="1175638" y="50292"/>
                  </a:lnTo>
                  <a:lnTo>
                    <a:pt x="1200023" y="38100"/>
                  </a:lnTo>
                  <a:lnTo>
                    <a:pt x="1175639" y="25908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044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31F106-3501-4244-E453-1FB722A0AD7D}"/>
              </a:ext>
            </a:extLst>
          </p:cNvPr>
          <p:cNvSpPr txBox="1">
            <a:spLocks/>
          </p:cNvSpPr>
          <p:nvPr/>
        </p:nvSpPr>
        <p:spPr>
          <a:xfrm>
            <a:off x="1326310" y="715456"/>
            <a:ext cx="5255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440815">
              <a:spcBef>
                <a:spcPts val="100"/>
              </a:spcBef>
            </a:pPr>
            <a:r>
              <a:rPr lang="en-US" dirty="0"/>
              <a:t>SOLUTION</a:t>
            </a:r>
            <a:r>
              <a:rPr lang="en-US" spc="-270" dirty="0"/>
              <a:t> </a:t>
            </a:r>
            <a:r>
              <a:rPr lang="en-US" spc="-50" dirty="0"/>
              <a:t>A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9A4DCB4-4595-834B-4B37-24EC930D0D28}"/>
              </a:ext>
            </a:extLst>
          </p:cNvPr>
          <p:cNvSpPr txBox="1"/>
          <p:nvPr/>
        </p:nvSpPr>
        <p:spPr>
          <a:xfrm>
            <a:off x="984730" y="1360245"/>
            <a:ext cx="4706620" cy="1009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ts val="1935"/>
              </a:lnSpc>
              <a:spcBef>
                <a:spcPts val="90"/>
              </a:spcBef>
            </a:pPr>
            <a:r>
              <a:rPr sz="1650" dirty="0">
                <a:latin typeface="Times New Roman"/>
                <a:cs typeface="Times New Roman"/>
              </a:rPr>
              <a:t>U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{1,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2,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3,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…,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10},</a:t>
            </a:r>
            <a:endParaRPr sz="1650" dirty="0">
              <a:latin typeface="Times New Roman"/>
              <a:cs typeface="Times New Roman"/>
            </a:endParaRPr>
          </a:p>
          <a:p>
            <a:pPr marL="1268095">
              <a:lnSpc>
                <a:spcPts val="1935"/>
              </a:lnSpc>
            </a:pPr>
            <a:r>
              <a:rPr sz="1650" dirty="0">
                <a:latin typeface="Times New Roman"/>
                <a:cs typeface="Times New Roman"/>
              </a:rPr>
              <a:t>X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{1,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2,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3,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4,</a:t>
            </a:r>
            <a:r>
              <a:rPr sz="1650" spc="-25" dirty="0">
                <a:latin typeface="Times New Roman"/>
                <a:cs typeface="Times New Roman"/>
              </a:rPr>
              <a:t> 5}</a:t>
            </a:r>
            <a:endParaRPr sz="1650" dirty="0">
              <a:latin typeface="Times New Roman"/>
              <a:cs typeface="Times New Roman"/>
            </a:endParaRPr>
          </a:p>
          <a:p>
            <a:pPr marL="1268095">
              <a:lnSpc>
                <a:spcPts val="1925"/>
              </a:lnSpc>
              <a:spcBef>
                <a:spcPts val="40"/>
              </a:spcBef>
            </a:pPr>
            <a:r>
              <a:rPr sz="1650" dirty="0">
                <a:latin typeface="Times New Roman"/>
                <a:cs typeface="Times New Roman"/>
              </a:rPr>
              <a:t>Y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{y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|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y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x,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x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</a:t>
            </a:r>
            <a:r>
              <a:rPr sz="1650" dirty="0">
                <a:latin typeface="Times New Roman"/>
                <a:cs typeface="Times New Roman"/>
              </a:rPr>
              <a:t>X}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{2,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4,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6,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8,</a:t>
            </a:r>
            <a:r>
              <a:rPr sz="1650" spc="-25" dirty="0">
                <a:latin typeface="Times New Roman"/>
                <a:cs typeface="Times New Roman"/>
              </a:rPr>
              <a:t> 10}</a:t>
            </a:r>
            <a:endParaRPr sz="1650" dirty="0">
              <a:latin typeface="Times New Roman"/>
              <a:cs typeface="Times New Roman"/>
            </a:endParaRPr>
          </a:p>
          <a:p>
            <a:pPr marL="1268095">
              <a:lnSpc>
                <a:spcPts val="1925"/>
              </a:lnSpc>
            </a:pPr>
            <a:r>
              <a:rPr sz="1650" dirty="0">
                <a:latin typeface="Times New Roman"/>
                <a:cs typeface="Times New Roman"/>
              </a:rPr>
              <a:t>Z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{z |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z</a:t>
            </a:r>
            <a:r>
              <a:rPr sz="1650" baseline="37878" dirty="0">
                <a:latin typeface="Times New Roman"/>
                <a:cs typeface="Times New Roman"/>
              </a:rPr>
              <a:t>2</a:t>
            </a:r>
            <a:r>
              <a:rPr sz="1650" spc="187" baseline="3787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–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9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z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+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14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0}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{2,</a:t>
            </a:r>
            <a:r>
              <a:rPr sz="1650" spc="-25" dirty="0">
                <a:latin typeface="Times New Roman"/>
                <a:cs typeface="Times New Roman"/>
              </a:rPr>
              <a:t> 7}</a:t>
            </a:r>
            <a:endParaRPr sz="165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2CFB557-40C4-C5DE-E6DF-0B05F372B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510889"/>
              </p:ext>
            </p:extLst>
          </p:nvPr>
        </p:nvGraphicFramePr>
        <p:xfrm>
          <a:off x="1600200" y="2362200"/>
          <a:ext cx="4809490" cy="3144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(1)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935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Symbol"/>
                          <a:cs typeface="Symbol"/>
                        </a:rPr>
                        <a:t>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5} </a:t>
                      </a:r>
                      <a:r>
                        <a:rPr sz="1650" dirty="0">
                          <a:latin typeface="Symbol"/>
                          <a:cs typeface="Symbol"/>
                        </a:rPr>
                        <a:t>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10}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501015">
                        <a:lnSpc>
                          <a:spcPts val="1864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4}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31750">
                        <a:lnSpc>
                          <a:spcPts val="1935"/>
                        </a:lnSpc>
                        <a:spcBef>
                          <a:spcPts val="5"/>
                        </a:spcBef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(2)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935"/>
                        </a:lnSpc>
                        <a:spcBef>
                          <a:spcPts val="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Symbol"/>
                          <a:cs typeface="Symbol"/>
                        </a:rPr>
                        <a:t>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10}</a:t>
                      </a:r>
                      <a:r>
                        <a:rPr sz="1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Symbol"/>
                          <a:cs typeface="Symbol"/>
                        </a:rPr>
                        <a:t>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7}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015">
                        <a:lnSpc>
                          <a:spcPts val="178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7,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10}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31750">
                        <a:lnSpc>
                          <a:spcPts val="1789"/>
                        </a:lnSpc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(3)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789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5}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7}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31750">
                        <a:lnSpc>
                          <a:spcPts val="1939"/>
                        </a:lnSpc>
                        <a:spcBef>
                          <a:spcPts val="1735"/>
                        </a:spcBef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(4)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178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5}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ts val="1895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50" baseline="37878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50" spc="172" baseline="3787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…,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10}</a:t>
                      </a:r>
                      <a:r>
                        <a:rPr sz="1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10}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31750">
                        <a:lnSpc>
                          <a:spcPts val="1939"/>
                        </a:lnSpc>
                        <a:spcBef>
                          <a:spcPts val="1735"/>
                        </a:spcBef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(5)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915035">
                        <a:lnSpc>
                          <a:spcPts val="178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5,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7,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ts val="1895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50" baseline="37878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50" spc="172" baseline="3787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650" baseline="37878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50" spc="165" baseline="3787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{6,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7,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10}</a:t>
                      </a:r>
                      <a:r>
                        <a:rPr sz="1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5,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10}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31750">
                        <a:lnSpc>
                          <a:spcPts val="1939"/>
                        </a:lnSpc>
                        <a:spcBef>
                          <a:spcPts val="1735"/>
                        </a:spcBef>
                      </a:pP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(6)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552450">
                        <a:lnSpc>
                          <a:spcPts val="178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{7}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ts val="1895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(X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Z)</a:t>
                      </a:r>
                      <a:r>
                        <a:rPr sz="1650" baseline="37878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50" spc="172" baseline="3787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(X</a:t>
                      </a:r>
                      <a:r>
                        <a:rPr sz="16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Z)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9255" algn="ctr">
                        <a:lnSpc>
                          <a:spcPts val="1789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…,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10}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{1,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5}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5955">
                        <a:lnSpc>
                          <a:spcPts val="1750"/>
                        </a:lnSpc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{2,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7,</a:t>
                      </a:r>
                      <a:r>
                        <a:rPr sz="16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8,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dirty="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sz="1650" spc="-25" dirty="0">
                          <a:latin typeface="Times New Roman"/>
                          <a:cs typeface="Times New Roman"/>
                        </a:rPr>
                        <a:t> 10}</a:t>
                      </a:r>
                      <a:endParaRPr sz="16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F19990B0-1D5C-0293-CFCE-8C57682AB544}"/>
              </a:ext>
            </a:extLst>
          </p:cNvPr>
          <p:cNvSpPr txBox="1"/>
          <p:nvPr/>
        </p:nvSpPr>
        <p:spPr>
          <a:xfrm>
            <a:off x="1619250" y="5739020"/>
            <a:ext cx="61341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20" dirty="0">
                <a:latin typeface="Times New Roman"/>
                <a:cs typeface="Times New Roman"/>
              </a:rPr>
              <a:t>NOTE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8668147-4CEC-6581-FC4D-A40464258B8E}"/>
              </a:ext>
            </a:extLst>
          </p:cNvPr>
          <p:cNvSpPr txBox="1"/>
          <p:nvPr/>
        </p:nvSpPr>
        <p:spPr>
          <a:xfrm>
            <a:off x="2837108" y="5739020"/>
            <a:ext cx="157988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dirty="0">
                <a:latin typeface="Times New Roman"/>
                <a:cs typeface="Times New Roman"/>
              </a:rPr>
              <a:t>(X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–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Z)</a:t>
            </a:r>
            <a:r>
              <a:rPr sz="1650" baseline="37878" dirty="0">
                <a:latin typeface="Times New Roman"/>
                <a:cs typeface="Times New Roman"/>
              </a:rPr>
              <a:t>c</a:t>
            </a:r>
            <a:r>
              <a:rPr sz="1650" spc="165" baseline="3787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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X</a:t>
            </a:r>
            <a:r>
              <a:rPr sz="1650" baseline="37878" dirty="0">
                <a:latin typeface="Times New Roman"/>
                <a:cs typeface="Times New Roman"/>
              </a:rPr>
              <a:t>c</a:t>
            </a:r>
            <a:r>
              <a:rPr sz="1650" spc="165" baseline="3787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–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Z</a:t>
            </a:r>
            <a:r>
              <a:rPr sz="1650" spc="-37" baseline="37878" dirty="0">
                <a:latin typeface="Times New Roman"/>
                <a:cs typeface="Times New Roman"/>
              </a:rPr>
              <a:t>c</a:t>
            </a:r>
            <a:endParaRPr sz="1650" baseline="37878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3920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CF8C5DB9-7CED-A258-152D-492696182805}"/>
              </a:ext>
            </a:extLst>
          </p:cNvPr>
          <p:cNvSpPr txBox="1">
            <a:spLocks/>
          </p:cNvSpPr>
          <p:nvPr/>
        </p:nvSpPr>
        <p:spPr>
          <a:xfrm>
            <a:off x="685800" y="1219200"/>
            <a:ext cx="4388764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dirty="0"/>
              <a:t>TASK</a:t>
            </a:r>
            <a:r>
              <a:rPr lang="en-US" b="1" spc="-10" dirty="0"/>
              <a:t> </a:t>
            </a:r>
            <a:r>
              <a:rPr lang="en-US" b="1" spc="-50" dirty="0"/>
              <a:t>B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0D045D7F-CF79-0E8B-8778-399EF945845A}"/>
              </a:ext>
            </a:extLst>
          </p:cNvPr>
          <p:cNvSpPr txBox="1"/>
          <p:nvPr/>
        </p:nvSpPr>
        <p:spPr>
          <a:xfrm>
            <a:off x="685800" y="2209800"/>
            <a:ext cx="12464651" cy="218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07365" algn="l"/>
              </a:tabLst>
            </a:pPr>
            <a:r>
              <a:rPr sz="1450" b="1" spc="-25" dirty="0">
                <a:solidFill>
                  <a:srgbClr val="90C225"/>
                </a:solidFill>
                <a:latin typeface="Times New Roman"/>
                <a:cs typeface="Times New Roman"/>
              </a:rPr>
              <a:t>2.</a:t>
            </a:r>
            <a:r>
              <a:rPr sz="1450" b="1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latin typeface="Times New Roman"/>
                <a:cs typeface="Times New Roman"/>
              </a:rPr>
              <a:t>Given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following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universal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set U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two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subsets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spc="-11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Q,</a:t>
            </a:r>
            <a:endParaRPr sz="1800" dirty="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where</a:t>
            </a:r>
            <a:endParaRPr sz="1800" dirty="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 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10}</a:t>
            </a:r>
            <a:endParaRPr sz="1800" dirty="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prime</a:t>
            </a:r>
            <a:r>
              <a:rPr sz="1800" spc="-10" dirty="0">
                <a:latin typeface="Times New Roman"/>
                <a:cs typeface="Times New Roman"/>
              </a:rPr>
              <a:t> number}</a:t>
            </a:r>
            <a:endParaRPr sz="1800" dirty="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baseline="25462" dirty="0">
                <a:latin typeface="Times New Roman"/>
                <a:cs typeface="Times New Roman"/>
              </a:rPr>
              <a:t>2</a:t>
            </a:r>
            <a:r>
              <a:rPr sz="1800" spc="217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70}</a:t>
            </a:r>
            <a:endParaRPr sz="1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latin typeface="Times New Roman"/>
                <a:cs typeface="Times New Roman"/>
              </a:rPr>
              <a:t>Draw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Venn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diagram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above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List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elements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baseline="25462" dirty="0">
                <a:latin typeface="Times New Roman"/>
                <a:cs typeface="Times New Roman"/>
              </a:rPr>
              <a:t>c</a:t>
            </a:r>
            <a:r>
              <a:rPr sz="1800" b="1" spc="157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Q.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770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6">
            <a:extLst>
              <a:ext uri="{FF2B5EF4-FFF2-40B4-BE49-F238E27FC236}">
                <a16:creationId xmlns:a16="http://schemas.microsoft.com/office/drawing/2014/main" id="{26B86BFB-EF30-B4EA-D342-C9F2BE0AA249}"/>
              </a:ext>
            </a:extLst>
          </p:cNvPr>
          <p:cNvSpPr txBox="1">
            <a:spLocks/>
          </p:cNvSpPr>
          <p:nvPr/>
        </p:nvSpPr>
        <p:spPr>
          <a:xfrm>
            <a:off x="2635440" y="192482"/>
            <a:ext cx="387311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dirty="0"/>
              <a:t>SOLUTION</a:t>
            </a:r>
            <a:r>
              <a:rPr lang="en-US" b="1" spc="-60" dirty="0"/>
              <a:t> </a:t>
            </a:r>
            <a:r>
              <a:rPr lang="en-US" b="1" spc="-50" dirty="0"/>
              <a:t>B</a:t>
            </a:r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5831B7C1-1013-19A1-F69E-AE002D3FEEFC}"/>
              </a:ext>
            </a:extLst>
          </p:cNvPr>
          <p:cNvSpPr txBox="1"/>
          <p:nvPr/>
        </p:nvSpPr>
        <p:spPr>
          <a:xfrm>
            <a:off x="609599" y="1116599"/>
            <a:ext cx="6784340" cy="486992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Tabular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form.</a:t>
            </a:r>
            <a:endParaRPr sz="2000" dirty="0">
              <a:latin typeface="Times New Roman"/>
              <a:cs typeface="Times New Roman"/>
            </a:endParaRPr>
          </a:p>
          <a:p>
            <a:pPr marL="1210310">
              <a:lnSpc>
                <a:spcPts val="1725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{x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dirty="0">
                <a:latin typeface="Times New Roman"/>
                <a:cs typeface="Times New Roman"/>
              </a:rPr>
              <a:t>Z,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10}</a:t>
            </a:r>
            <a:endParaRPr sz="2000" dirty="0">
              <a:latin typeface="Times New Roman"/>
              <a:cs typeface="Times New Roman"/>
            </a:endParaRPr>
          </a:p>
          <a:p>
            <a:pPr marL="643255">
              <a:lnSpc>
                <a:spcPts val="1705"/>
              </a:lnSpc>
            </a:pP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integers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greater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 dirty="0">
              <a:latin typeface="Times New Roman"/>
              <a:cs typeface="Times New Roman"/>
            </a:endParaRPr>
          </a:p>
          <a:p>
            <a:pPr marL="643255">
              <a:lnSpc>
                <a:spcPts val="1705"/>
              </a:lnSpc>
            </a:pPr>
            <a:r>
              <a:rPr sz="2000" dirty="0">
                <a:latin typeface="Times New Roman"/>
                <a:cs typeface="Times New Roman"/>
              </a:rPr>
              <a:t>10.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have</a:t>
            </a:r>
            <a:endParaRPr sz="2000" dirty="0">
              <a:latin typeface="Times New Roman"/>
              <a:cs typeface="Times New Roman"/>
            </a:endParaRPr>
          </a:p>
          <a:p>
            <a:pPr marL="1210310">
              <a:lnSpc>
                <a:spcPts val="1710"/>
              </a:lnSpc>
            </a:pPr>
            <a:r>
              <a:rPr sz="2000" dirty="0">
                <a:latin typeface="Times New Roman"/>
                <a:cs typeface="Times New Roman"/>
              </a:rPr>
              <a:t>U=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{0,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…,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10}</a:t>
            </a:r>
            <a:endParaRPr sz="2000" dirty="0">
              <a:latin typeface="Times New Roman"/>
              <a:cs typeface="Times New Roman"/>
            </a:endParaRPr>
          </a:p>
          <a:p>
            <a:pPr marL="1210310">
              <a:lnSpc>
                <a:spcPts val="1710"/>
              </a:lnSpc>
            </a:pP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{x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prime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number}</a:t>
            </a:r>
            <a:endParaRPr sz="2000" dirty="0">
              <a:latin typeface="Times New Roman"/>
              <a:cs typeface="Times New Roman"/>
            </a:endParaRPr>
          </a:p>
          <a:p>
            <a:pPr marL="643255" marR="99695">
              <a:lnSpc>
                <a:spcPts val="1710"/>
              </a:lnSpc>
              <a:spcBef>
                <a:spcPts val="70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prime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10.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Remember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Prime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distinct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divisors.</a:t>
            </a:r>
            <a:endParaRPr sz="2000" dirty="0">
              <a:latin typeface="Times New Roman"/>
              <a:cs typeface="Times New Roman"/>
            </a:endParaRPr>
          </a:p>
          <a:p>
            <a:pPr marL="1210310">
              <a:lnSpc>
                <a:spcPts val="1645"/>
              </a:lnSpc>
            </a:pP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{2,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3,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7}</a:t>
            </a:r>
            <a:endParaRPr sz="2000" dirty="0">
              <a:latin typeface="Times New Roman"/>
              <a:cs typeface="Times New Roman"/>
            </a:endParaRPr>
          </a:p>
          <a:p>
            <a:pPr marL="1210310">
              <a:lnSpc>
                <a:spcPts val="1710"/>
              </a:lnSpc>
            </a:pP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{x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 x</a:t>
            </a:r>
            <a:r>
              <a:rPr sz="2000" baseline="38888" dirty="0">
                <a:latin typeface="Times New Roman"/>
                <a:cs typeface="Times New Roman"/>
              </a:rPr>
              <a:t>2</a:t>
            </a:r>
            <a:r>
              <a:rPr sz="2000" spc="217" baseline="3888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70}</a:t>
            </a:r>
            <a:endParaRPr sz="2000" dirty="0">
              <a:latin typeface="Times New Roman"/>
              <a:cs typeface="Times New Roman"/>
            </a:endParaRPr>
          </a:p>
          <a:p>
            <a:pPr marL="643255" marR="68580">
              <a:lnSpc>
                <a:spcPts val="1710"/>
              </a:lnSpc>
              <a:spcBef>
                <a:spcPts val="6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elements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square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70.</a:t>
            </a:r>
            <a:endParaRPr sz="2000" dirty="0">
              <a:latin typeface="Times New Roman"/>
              <a:cs typeface="Times New Roman"/>
            </a:endParaRPr>
          </a:p>
          <a:p>
            <a:pPr marL="1210310">
              <a:lnSpc>
                <a:spcPts val="1650"/>
              </a:lnSpc>
            </a:pPr>
            <a:r>
              <a:rPr sz="2000" dirty="0">
                <a:latin typeface="Times New Roman"/>
                <a:cs typeface="Times New Roman"/>
              </a:rPr>
              <a:t>Q=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{0,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7,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8}</a:t>
            </a:r>
            <a:endParaRPr sz="2000" dirty="0">
              <a:latin typeface="Times New Roman"/>
              <a:cs typeface="Times New Roman"/>
            </a:endParaRPr>
          </a:p>
          <a:p>
            <a:pPr marL="643255">
              <a:lnSpc>
                <a:spcPts val="1725"/>
              </a:lnSpc>
            </a:pPr>
            <a:r>
              <a:rPr sz="2000" dirty="0">
                <a:latin typeface="Times New Roman"/>
                <a:cs typeface="Times New Roman"/>
              </a:rPr>
              <a:t>Thus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Tabular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form.</a:t>
            </a:r>
            <a:endParaRPr sz="2000" dirty="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endParaRPr lang="en-US" b="1" u="sng" dirty="0" smtClean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b="1" u="sng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VENN</a:t>
            </a:r>
            <a:r>
              <a:rPr b="1" u="sng" spc="8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DIAGRAM:</a:t>
            </a:r>
            <a:endParaRPr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dirty="0">
              <a:latin typeface="Times New Roman"/>
              <a:cs typeface="Times New Roman"/>
            </a:endParaRPr>
          </a:p>
          <a:p>
            <a:pPr marR="1979295" algn="ctr">
              <a:lnSpc>
                <a:spcPct val="100000"/>
              </a:lnSpc>
            </a:pPr>
            <a:endParaRPr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AAA13-350D-EB77-502B-4574C863F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985929"/>
            <a:ext cx="2718119" cy="186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15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8890C4-79D4-09DA-D44D-324357BA2466}"/>
              </a:ext>
            </a:extLst>
          </p:cNvPr>
          <p:cNvSpPr txBox="1">
            <a:spLocks/>
          </p:cNvSpPr>
          <p:nvPr/>
        </p:nvSpPr>
        <p:spPr>
          <a:xfrm>
            <a:off x="1003693" y="261850"/>
            <a:ext cx="4518533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1" dirty="0"/>
              <a:t>TASK</a:t>
            </a:r>
            <a:r>
              <a:rPr lang="en-US" b="1" spc="-90" dirty="0"/>
              <a:t> </a:t>
            </a:r>
            <a:r>
              <a:rPr lang="en-US" b="1" spc="-50" dirty="0"/>
              <a:t>C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681C981-39B6-7E16-F829-238C969D0292}"/>
              </a:ext>
            </a:extLst>
          </p:cNvPr>
          <p:cNvSpPr txBox="1"/>
          <p:nvPr/>
        </p:nvSpPr>
        <p:spPr>
          <a:xfrm>
            <a:off x="726135" y="1037081"/>
            <a:ext cx="5073650" cy="2039661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5"/>
              </a:spcBef>
              <a:tabLst>
                <a:tab pos="39497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latin typeface="Times New Roman"/>
                <a:cs typeface="Times New Roman"/>
              </a:rPr>
              <a:t>Use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Venn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diagram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represent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following:</a:t>
            </a:r>
            <a:endParaRPr sz="1800" dirty="0">
              <a:latin typeface="Times New Roman"/>
              <a:cs typeface="Times New Roman"/>
            </a:endParaRPr>
          </a:p>
          <a:p>
            <a:pPr marL="907415" indent="-39941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AutoNum type="romanLcPeriod"/>
              <a:tabLst>
                <a:tab pos="907415" algn="l"/>
              </a:tabLst>
            </a:pPr>
            <a:r>
              <a:rPr sz="1800" spc="-10" dirty="0">
                <a:latin typeface="Times New Roman"/>
                <a:cs typeface="Times New Roman"/>
              </a:rPr>
              <a:t>(A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B)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</a:t>
            </a:r>
            <a:r>
              <a:rPr sz="1800" spc="-37" baseline="25462" dirty="0">
                <a:latin typeface="Times New Roman"/>
                <a:cs typeface="Times New Roman"/>
              </a:rPr>
              <a:t>c</a:t>
            </a:r>
            <a:endParaRPr sz="1800" baseline="25462" dirty="0">
              <a:latin typeface="Times New Roman"/>
              <a:cs typeface="Times New Roman"/>
            </a:endParaRPr>
          </a:p>
          <a:p>
            <a:pPr marL="907415" indent="-39941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AutoNum type="romanLcPeriod"/>
              <a:tabLst>
                <a:tab pos="907415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baseline="25462" dirty="0">
                <a:latin typeface="Times New Roman"/>
                <a:cs typeface="Times New Roman"/>
              </a:rPr>
              <a:t>c</a:t>
            </a:r>
            <a:r>
              <a:rPr sz="1800" spc="232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dirty="0">
                <a:latin typeface="Times New Roman"/>
                <a:cs typeface="Times New Roman"/>
              </a:rPr>
              <a:t> (B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-25" dirty="0">
                <a:latin typeface="Times New Roman"/>
                <a:cs typeface="Times New Roman"/>
              </a:rPr>
              <a:t> C)</a:t>
            </a:r>
            <a:endParaRPr sz="1800" dirty="0">
              <a:latin typeface="Times New Roman"/>
              <a:cs typeface="Times New Roman"/>
            </a:endParaRPr>
          </a:p>
          <a:p>
            <a:pPr marL="907415" indent="-39941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AutoNum type="romanLcPeriod"/>
              <a:tabLst>
                <a:tab pos="907415" algn="l"/>
              </a:tabLst>
            </a:pPr>
            <a:r>
              <a:rPr sz="1800" dirty="0">
                <a:latin typeface="Times New Roman"/>
                <a:cs typeface="Times New Roman"/>
              </a:rPr>
              <a:t>(A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C</a:t>
            </a:r>
            <a:endParaRPr sz="1800" dirty="0">
              <a:latin typeface="Times New Roman"/>
              <a:cs typeface="Times New Roman"/>
            </a:endParaRPr>
          </a:p>
          <a:p>
            <a:pPr marL="907415" indent="-399415">
              <a:lnSpc>
                <a:spcPct val="100000"/>
              </a:lnSpc>
              <a:spcBef>
                <a:spcPts val="985"/>
              </a:spcBef>
              <a:buClr>
                <a:srgbClr val="90C225"/>
              </a:buClr>
              <a:buSzPct val="80555"/>
              <a:buAutoNum type="romanLcPeriod"/>
              <a:tabLst>
                <a:tab pos="907415" algn="l"/>
              </a:tabLst>
            </a:pPr>
            <a:r>
              <a:rPr sz="1800" spc="-10" dirty="0">
                <a:latin typeface="Times New Roman"/>
                <a:cs typeface="Times New Roman"/>
              </a:rPr>
              <a:t>(A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baseline="25462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</a:t>
            </a:r>
            <a:r>
              <a:rPr sz="1800" spc="-37" baseline="25462" dirty="0">
                <a:latin typeface="Times New Roman"/>
                <a:cs typeface="Times New Roman"/>
              </a:rPr>
              <a:t>c</a:t>
            </a:r>
            <a:endParaRPr lang="en-US" sz="1800" spc="-37" baseline="25462" dirty="0">
              <a:latin typeface="Times New Roman"/>
              <a:cs typeface="Times New Roman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97B50F-6DB4-7C4D-CCC3-CC802155A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929" y="2637162"/>
            <a:ext cx="3880923" cy="317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37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C3606E-6033-DBE0-05B1-DD1051664914}"/>
              </a:ext>
            </a:extLst>
          </p:cNvPr>
          <p:cNvSpPr txBox="1">
            <a:spLocks/>
          </p:cNvSpPr>
          <p:nvPr/>
        </p:nvSpPr>
        <p:spPr>
          <a:xfrm>
            <a:off x="1492707" y="678002"/>
            <a:ext cx="525526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92860">
              <a:spcBef>
                <a:spcPts val="100"/>
              </a:spcBef>
            </a:pPr>
            <a:r>
              <a:rPr lang="en-US" b="1" dirty="0"/>
              <a:t>SOLUTION</a:t>
            </a:r>
            <a:r>
              <a:rPr lang="en-US" b="1" spc="-65" dirty="0"/>
              <a:t> </a:t>
            </a:r>
            <a:r>
              <a:rPr lang="en-US" b="1" spc="-50" dirty="0"/>
              <a:t>C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F5B9AE-78D5-FCF1-99ED-BAD18D745300}"/>
              </a:ext>
            </a:extLst>
          </p:cNvPr>
          <p:cNvSpPr txBox="1"/>
          <p:nvPr/>
        </p:nvSpPr>
        <p:spPr>
          <a:xfrm>
            <a:off x="993444" y="1722246"/>
            <a:ext cx="112395" cy="2077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i.</a:t>
            </a:r>
            <a:endParaRPr sz="125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31B249A-F524-2BA4-D095-B021D6C8692F}"/>
              </a:ext>
            </a:extLst>
          </p:cNvPr>
          <p:cNvSpPr txBox="1"/>
          <p:nvPr/>
        </p:nvSpPr>
        <p:spPr>
          <a:xfrm>
            <a:off x="1483156" y="1679574"/>
            <a:ext cx="12033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(A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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B)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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</a:t>
            </a:r>
            <a:r>
              <a:rPr sz="1575" b="1" spc="-37" baseline="26455" dirty="0">
                <a:latin typeface="Times New Roman"/>
                <a:cs typeface="Times New Roman"/>
              </a:rPr>
              <a:t>c</a:t>
            </a:r>
            <a:endParaRPr sz="1575" baseline="26455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DACCC5-E82D-DCFF-B9C0-F37FCDDD739C}"/>
              </a:ext>
            </a:extLst>
          </p:cNvPr>
          <p:cNvSpPr txBox="1"/>
          <p:nvPr/>
        </p:nvSpPr>
        <p:spPr>
          <a:xfrm>
            <a:off x="955344" y="1920899"/>
            <a:ext cx="6043930" cy="181203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10"/>
              </a:spcBef>
            </a:pPr>
            <a:r>
              <a:rPr sz="1600" dirty="0">
                <a:latin typeface="Times New Roman"/>
                <a:cs typeface="Times New Roman"/>
              </a:rPr>
              <a:t>Let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construct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given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venn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diagram.</a:t>
            </a:r>
            <a:endParaRPr sz="1600" dirty="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1010"/>
              </a:spcBef>
              <a:tabLst>
                <a:tab pos="1422400" algn="l"/>
                <a:tab pos="2794635" algn="l"/>
                <a:tab pos="4166235" algn="l"/>
              </a:tabLst>
            </a:pP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 {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1,2,4,5}</a:t>
            </a:r>
            <a:r>
              <a:rPr sz="1600" b="1" dirty="0">
                <a:latin typeface="Times New Roman"/>
                <a:cs typeface="Times New Roman"/>
              </a:rPr>
              <a:t>	B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 </a:t>
            </a:r>
            <a:r>
              <a:rPr sz="1600" b="1" spc="-10" dirty="0">
                <a:latin typeface="Times New Roman"/>
                <a:cs typeface="Times New Roman"/>
              </a:rPr>
              <a:t>{2,3,5,6}</a:t>
            </a:r>
            <a:r>
              <a:rPr sz="1600" b="1" dirty="0">
                <a:latin typeface="Times New Roman"/>
                <a:cs typeface="Times New Roman"/>
              </a:rPr>
              <a:t>	C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{4,5,6,7}</a:t>
            </a:r>
            <a:r>
              <a:rPr sz="1600" b="1" dirty="0">
                <a:latin typeface="Times New Roman"/>
                <a:cs typeface="Times New Roman"/>
              </a:rPr>
              <a:t>	U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{1,2,3,4,5,6,7,8,9}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NOW,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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 {2,5}</a:t>
            </a:r>
            <a:r>
              <a:rPr sz="1600" b="1" spc="3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</a:t>
            </a:r>
            <a:r>
              <a:rPr sz="1575" b="1" baseline="26455" dirty="0">
                <a:latin typeface="Times New Roman"/>
                <a:cs typeface="Times New Roman"/>
              </a:rPr>
              <a:t>c</a:t>
            </a:r>
            <a:r>
              <a:rPr sz="1575" b="1" spc="209" baseline="26455" dirty="0">
                <a:latin typeface="Times New Roman"/>
                <a:cs typeface="Times New Roman"/>
              </a:rPr>
              <a:t> 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U- C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 </a:t>
            </a:r>
            <a:r>
              <a:rPr sz="1600" b="1" spc="-10" dirty="0">
                <a:latin typeface="Times New Roman"/>
                <a:cs typeface="Times New Roman"/>
              </a:rPr>
              <a:t>{1,2,8,9}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7D488A-1403-FB6C-7C91-FDEC0E1F2DF7}"/>
              </a:ext>
            </a:extLst>
          </p:cNvPr>
          <p:cNvSpPr txBox="1"/>
          <p:nvPr/>
        </p:nvSpPr>
        <p:spPr>
          <a:xfrm>
            <a:off x="955344" y="3697901"/>
            <a:ext cx="3371850" cy="77089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10"/>
              </a:spcBef>
            </a:pPr>
            <a:r>
              <a:rPr sz="1600" b="1" spc="-25" dirty="0">
                <a:latin typeface="Times New Roman"/>
                <a:cs typeface="Times New Roman"/>
              </a:rPr>
              <a:t>SO,</a:t>
            </a:r>
            <a:endParaRPr sz="16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  <a:tabLst>
                <a:tab pos="129984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(A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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B)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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</a:t>
            </a:r>
            <a:r>
              <a:rPr sz="1575" b="1" spc="-37" baseline="26455" dirty="0">
                <a:latin typeface="Times New Roman"/>
                <a:cs typeface="Times New Roman"/>
              </a:rPr>
              <a:t>c</a:t>
            </a:r>
            <a:r>
              <a:rPr sz="1575" b="1" baseline="26455" dirty="0">
                <a:latin typeface="Times New Roman"/>
                <a:cs typeface="Times New Roman"/>
              </a:rPr>
              <a:t>	</a:t>
            </a:r>
            <a:r>
              <a:rPr sz="1600" b="1" dirty="0">
                <a:latin typeface="Times New Roman"/>
                <a:cs typeface="Times New Roman"/>
              </a:rPr>
              <a:t>= {2,5}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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{1,2,8,9}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=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{2}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609C759-1D2F-7F04-9F48-08A685430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8990" y="4398811"/>
            <a:ext cx="3020568" cy="2154936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59870B76-1753-6704-AF3C-22DDC50C6F45}"/>
              </a:ext>
            </a:extLst>
          </p:cNvPr>
          <p:cNvSpPr txBox="1"/>
          <p:nvPr/>
        </p:nvSpPr>
        <p:spPr>
          <a:xfrm>
            <a:off x="5679236" y="4536428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9</a:t>
            </a:r>
            <a:endParaRPr sz="1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663244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 x |  x\in A \vee x \in B\}$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 x |  x\in A \wedge x \in B\}$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{ \bar{B}} $&#10;&#10;\end{document}"/>
  <p:tag name="IGUANATEXSIZE" val="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(A - B) \cup (B - A)$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 \oplus B$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38110</TotalTime>
  <Words>1264</Words>
  <Application>Microsoft Office PowerPoint</Application>
  <PresentationFormat>On-screen Show (4:3)</PresentationFormat>
  <Paragraphs>197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Cambria Math</vt:lpstr>
      <vt:lpstr>Lucida Sans Unicode</vt:lpstr>
      <vt:lpstr>Wingdings 2</vt:lpstr>
      <vt:lpstr>Calibri</vt:lpstr>
      <vt:lpstr>Times New Roman</vt:lpstr>
      <vt:lpstr>Constantia</vt:lpstr>
      <vt:lpstr>Trebuchet MS</vt:lpstr>
      <vt:lpstr>Symbol</vt:lpstr>
      <vt:lpstr>Flow</vt:lpstr>
      <vt:lpstr>Set Operations</vt:lpstr>
      <vt:lpstr>Union</vt:lpstr>
      <vt:lpstr>PowerPoint Presentation</vt:lpstr>
      <vt:lpstr>Intersection</vt:lpstr>
      <vt:lpstr>PowerPoint Presentation</vt:lpstr>
      <vt:lpstr>Complement</vt:lpstr>
      <vt:lpstr>PowerPoint Presentation</vt:lpstr>
      <vt:lpstr>Difference</vt:lpstr>
      <vt:lpstr>PowerPoint Presentation</vt:lpstr>
      <vt:lpstr>Review Questions</vt:lpstr>
      <vt:lpstr>Symmetric Difference (optional)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Monmouth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Richard Scherl</dc:creator>
  <cp:lastModifiedBy>Dureshahwar Waseem</cp:lastModifiedBy>
  <cp:revision>2023</cp:revision>
  <dcterms:created xsi:type="dcterms:W3CDTF">2011-03-27T19:09:13Z</dcterms:created>
  <dcterms:modified xsi:type="dcterms:W3CDTF">2026-01-11T14:52:53Z</dcterms:modified>
</cp:coreProperties>
</file>