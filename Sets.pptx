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32"/>
  </p:notesMasterIdLst>
  <p:handoutMasterIdLst>
    <p:handoutMasterId r:id="rId33"/>
  </p:handoutMasterIdLst>
  <p:sldIdLst>
    <p:sldId id="291" r:id="rId2"/>
    <p:sldId id="316" r:id="rId3"/>
    <p:sldId id="298" r:id="rId4"/>
    <p:sldId id="318" r:id="rId5"/>
    <p:sldId id="296" r:id="rId6"/>
    <p:sldId id="292" r:id="rId7"/>
    <p:sldId id="299" r:id="rId8"/>
    <p:sldId id="317" r:id="rId9"/>
    <p:sldId id="321" r:id="rId10"/>
    <p:sldId id="320" r:id="rId11"/>
    <p:sldId id="508" r:id="rId12"/>
    <p:sldId id="509" r:id="rId13"/>
    <p:sldId id="322" r:id="rId14"/>
    <p:sldId id="302" r:id="rId15"/>
    <p:sldId id="504" r:id="rId16"/>
    <p:sldId id="355" r:id="rId17"/>
    <p:sldId id="505" r:id="rId18"/>
    <p:sldId id="323" r:id="rId19"/>
    <p:sldId id="324" r:id="rId20"/>
    <p:sldId id="303" r:id="rId21"/>
    <p:sldId id="325" r:id="rId22"/>
    <p:sldId id="356" r:id="rId23"/>
    <p:sldId id="304" r:id="rId24"/>
    <p:sldId id="506" r:id="rId25"/>
    <p:sldId id="507" r:id="rId26"/>
    <p:sldId id="306" r:id="rId27"/>
    <p:sldId id="305" r:id="rId28"/>
    <p:sldId id="309" r:id="rId29"/>
    <p:sldId id="308" r:id="rId30"/>
    <p:sldId id="312" r:id="rId31"/>
  </p:sldIdLst>
  <p:sldSz cx="9144000" cy="6858000" type="screen4x3"/>
  <p:notesSz cx="7010400" cy="9296400"/>
  <p:embeddedFontLst>
    <p:embeddedFont>
      <p:font typeface="Brush Script MT" panose="03060802040406070304" pitchFamily="66" charset="0"/>
      <p:italic r:id="rId34"/>
    </p:embeddedFont>
    <p:embeddedFont>
      <p:font typeface="Wingdings 2" panose="05020102010507070707" pitchFamily="18" charset="2"/>
      <p:regular r:id="rId35"/>
    </p:embeddedFont>
    <p:embeddedFont>
      <p:font typeface="Cambria Math" panose="02040503050406030204" pitchFamily="18" charset="0"/>
      <p:regular r:id="rId36"/>
    </p:embeddedFont>
    <p:embeddedFont>
      <p:font typeface="Calibri" panose="020F0502020204030204" pitchFamily="34" charset="0"/>
      <p:regular r:id="rId37"/>
      <p:bold r:id="rId38"/>
      <p:italic r:id="rId39"/>
      <p:boldItalic r:id="rId40"/>
    </p:embeddedFont>
    <p:embeddedFont>
      <p:font typeface="Constantia" panose="02030602050306030303" pitchFamily="18" charset="0"/>
      <p:regular r:id="rId41"/>
      <p:bold r:id="rId42"/>
      <p:italic r:id="rId43"/>
      <p:bold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77" autoAdjust="0"/>
    <p:restoredTop sz="94660"/>
  </p:normalViewPr>
  <p:slideViewPr>
    <p:cSldViewPr>
      <p:cViewPr varScale="1">
        <p:scale>
          <a:sx n="63" d="100"/>
          <a:sy n="63" d="100"/>
        </p:scale>
        <p:origin x="1396" y="6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2" tIns="46586" rIns="93172" bIns="46586" rtlCol="0"/>
          <a:lstStyle>
            <a:lvl1pPr algn="r">
              <a:defRPr sz="1300"/>
            </a:lvl1pPr>
          </a:lstStyle>
          <a:p>
            <a:fld id="{C0FEF7AE-0C30-4EA7-B74D-470A9C33048D}" type="datetimeFigureOut">
              <a:rPr lang="en-US" smtClean="0"/>
              <a:pPr/>
              <a:t>1/6/2026</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2" tIns="46586" rIns="93172" bIns="46586" rtlCol="0" anchor="b"/>
          <a:lstStyle>
            <a:lvl1pPr algn="r">
              <a:defRPr sz="1300"/>
            </a:lvl1pPr>
          </a:lstStyle>
          <a:p>
            <a:fld id="{E3901582-F5A8-41ED-8946-57B4D8BFA973}" type="slidenum">
              <a:rPr lang="en-US" smtClean="0"/>
              <a:pPr/>
              <a:t>‹#›</a:t>
            </a:fld>
            <a:endParaRPr lang="en-US"/>
          </a:p>
        </p:txBody>
      </p:sp>
    </p:spTree>
    <p:extLst>
      <p:ext uri="{BB962C8B-B14F-4D97-AF65-F5344CB8AC3E}">
        <p14:creationId xmlns:p14="http://schemas.microsoft.com/office/powerpoint/2010/main" val="13167261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2" tIns="46586" rIns="93172" bIns="46586" rtlCol="0"/>
          <a:lstStyle>
            <a:lvl1pPr algn="l">
              <a:defRPr sz="13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2" tIns="46586" rIns="93172" bIns="46586" rtlCol="0"/>
          <a:lstStyle>
            <a:lvl1pPr algn="r">
              <a:defRPr sz="1300"/>
            </a:lvl1pPr>
          </a:lstStyle>
          <a:p>
            <a:fld id="{10106763-8029-41BC-9E70-E644A94F0E80}" type="datetimeFigureOut">
              <a:rPr lang="en-US" smtClean="0"/>
              <a:pPr/>
              <a:t>1/6/2026</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72" tIns="46586" rIns="93172" bIns="46586"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2" tIns="46586" rIns="93172" bIns="4658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2" tIns="46586" rIns="93172" bIns="46586"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2" tIns="46586" rIns="93172" bIns="46586" rtlCol="0" anchor="b"/>
          <a:lstStyle>
            <a:lvl1pPr algn="r">
              <a:defRPr sz="1300"/>
            </a:lvl1pPr>
          </a:lstStyle>
          <a:p>
            <a:fld id="{A56D6F1B-26ED-417A-B5D8-8AED7AD37922}" type="slidenum">
              <a:rPr lang="en-US" smtClean="0"/>
              <a:pPr/>
              <a:t>‹#›</a:t>
            </a:fld>
            <a:endParaRPr lang="en-US"/>
          </a:p>
        </p:txBody>
      </p:sp>
    </p:spTree>
    <p:extLst>
      <p:ext uri="{BB962C8B-B14F-4D97-AF65-F5344CB8AC3E}">
        <p14:creationId xmlns:p14="http://schemas.microsoft.com/office/powerpoint/2010/main" val="3891639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16</a:t>
            </a:fld>
            <a:endParaRPr lang="en-US"/>
          </a:p>
        </p:txBody>
      </p:sp>
    </p:spTree>
    <p:extLst>
      <p:ext uri="{BB962C8B-B14F-4D97-AF65-F5344CB8AC3E}">
        <p14:creationId xmlns:p14="http://schemas.microsoft.com/office/powerpoint/2010/main" val="3180104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19</a:t>
            </a:fld>
            <a:endParaRPr lang="en-US"/>
          </a:p>
        </p:txBody>
      </p:sp>
    </p:spTree>
    <p:extLst>
      <p:ext uri="{BB962C8B-B14F-4D97-AF65-F5344CB8AC3E}">
        <p14:creationId xmlns:p14="http://schemas.microsoft.com/office/powerpoint/2010/main" val="3263300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21</a:t>
            </a:fld>
            <a:endParaRPr lang="en-US"/>
          </a:p>
        </p:txBody>
      </p:sp>
    </p:spTree>
    <p:extLst>
      <p:ext uri="{BB962C8B-B14F-4D97-AF65-F5344CB8AC3E}">
        <p14:creationId xmlns:p14="http://schemas.microsoft.com/office/powerpoint/2010/main" val="1316453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56D6F1B-26ED-417A-B5D8-8AED7AD37922}" type="slidenum">
              <a:rPr lang="en-US" smtClean="0"/>
              <a:pPr/>
              <a:t>24</a:t>
            </a:fld>
            <a:endParaRPr lang="en-US"/>
          </a:p>
        </p:txBody>
      </p:sp>
    </p:spTree>
    <p:extLst>
      <p:ext uri="{BB962C8B-B14F-4D97-AF65-F5344CB8AC3E}">
        <p14:creationId xmlns:p14="http://schemas.microsoft.com/office/powerpoint/2010/main" val="101517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D15220D-0BB5-4C71-B862-812B075D02FE}" type="datetimeFigureOut">
              <a:rPr lang="en-US" smtClean="0"/>
              <a:pPr/>
              <a:t>1/6/2026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D15220D-0BB5-4C71-B862-812B075D02FE}"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D15220D-0BB5-4C71-B862-812B075D02FE}" type="datetimeFigureOut">
              <a:rPr lang="en-US" smtClean="0"/>
              <a:pPr/>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D15220D-0BB5-4C71-B862-812B075D02FE}" type="datetimeFigureOut">
              <a:rPr lang="en-US" smtClean="0"/>
              <a:pPr/>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5220D-0BB5-4C71-B862-812B075D02FE}" type="datetimeFigureOut">
              <a:rPr lang="en-US" smtClean="0"/>
              <a:pPr/>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D15220D-0BB5-4C71-B862-812B075D02FE}"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D15220D-0BB5-4C71-B862-812B075D02FE}" type="datetimeFigureOut">
              <a:rPr lang="en-US" smtClean="0"/>
              <a:pPr/>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CA217EF-0505-4C33-BB20-8A8DF203902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D15220D-0BB5-4C71-B862-812B075D02FE}" type="datetimeFigureOut">
              <a:rPr lang="en-US" smtClean="0"/>
              <a:pPr/>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A217EF-0505-4C33-BB20-8A8DF20390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D15220D-0BB5-4C71-B862-812B075D02FE}" type="datetimeFigureOut">
              <a:rPr lang="en-US" smtClean="0"/>
              <a:pPr/>
              <a:t>1/6/2026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CA217EF-0505-4C33-BB20-8A8DF203902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3.jpeg"/></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Basic Structures: Sets, Functions, Sequences, Sums, </a:t>
            </a:r>
            <a:r>
              <a:rPr lang="en-US" smtClean="0"/>
              <a:t>and Matrices</a:t>
            </a:r>
            <a:endParaRPr lang="en-US" dirty="0"/>
          </a:p>
        </p:txBody>
      </p:sp>
      <p:sp>
        <p:nvSpPr>
          <p:cNvPr id="3" name="Subtitle 2"/>
          <p:cNvSpPr>
            <a:spLocks noGrp="1"/>
          </p:cNvSpPr>
          <p:nvPr>
            <p:ph type="subTitle" idx="1"/>
          </p:nvPr>
        </p:nvSpPr>
        <p:spPr/>
        <p:txBody>
          <a:bodyPr/>
          <a:lstStyle/>
          <a:p>
            <a:r>
              <a:rPr lang="en-US" dirty="0" smtClean="0"/>
              <a:t>Chapter 2</a:t>
            </a:r>
            <a:endParaRPr lang="en-US" dirty="0"/>
          </a:p>
        </p:txBody>
      </p:sp>
      <p:sp>
        <p:nvSpPr>
          <p:cNvPr id="4" name="TextBox 3"/>
          <p:cNvSpPr txBox="1"/>
          <p:nvPr/>
        </p:nvSpPr>
        <p:spPr>
          <a:xfrm>
            <a:off x="2286000" y="4648200"/>
            <a:ext cx="3962400" cy="369332"/>
          </a:xfrm>
          <a:prstGeom prst="rect">
            <a:avLst/>
          </a:prstGeom>
          <a:noFill/>
        </p:spPr>
        <p:txBody>
          <a:bodyPr wrap="square" rtlCol="0">
            <a:spAutoFit/>
          </a:bodyPr>
          <a:lstStyle/>
          <a:p>
            <a:r>
              <a:rPr lang="en-US" dirty="0" smtClean="0"/>
              <a:t>With Question/Answer Animations</a:t>
            </a:r>
            <a:endParaRPr lang="en-US" dirty="0"/>
          </a:p>
        </p:txBody>
      </p:sp>
      <p:sp>
        <p:nvSpPr>
          <p:cNvPr id="5" name="Text Box 3"/>
          <p:cNvSpPr txBox="1">
            <a:spLocks noChangeArrowheads="1"/>
          </p:cNvSpPr>
          <p:nvPr/>
        </p:nvSpPr>
        <p:spPr bwMode="auto">
          <a:xfrm>
            <a:off x="0" y="63246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a:t>
            </a:r>
            <a:r>
              <a:rPr lang="en-US" altLang="en-US" sz="1000" dirty="0" smtClean="0"/>
              <a:t>Education.</a:t>
            </a:r>
            <a:endParaRPr lang="en-US" alt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Chapter Summary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Sets </a:t>
            </a:r>
          </a:p>
          <a:p>
            <a:pPr lvl="1"/>
            <a:r>
              <a:rPr lang="en-US" dirty="0" smtClean="0"/>
              <a:t>The Language of Sets</a:t>
            </a:r>
          </a:p>
          <a:p>
            <a:pPr lvl="1"/>
            <a:r>
              <a:rPr lang="en-US" dirty="0" smtClean="0"/>
              <a:t>Set Operations</a:t>
            </a:r>
          </a:p>
          <a:p>
            <a:pPr lvl="1"/>
            <a:r>
              <a:rPr lang="en-US" dirty="0" smtClean="0"/>
              <a:t>Set Identities</a:t>
            </a:r>
          </a:p>
          <a:p>
            <a:r>
              <a:rPr lang="en-US" dirty="0" smtClean="0"/>
              <a:t>Functions</a:t>
            </a:r>
          </a:p>
          <a:p>
            <a:pPr lvl="1"/>
            <a:r>
              <a:rPr lang="en-US" dirty="0" smtClean="0"/>
              <a:t>Types of Functions</a:t>
            </a:r>
          </a:p>
          <a:p>
            <a:pPr lvl="1"/>
            <a:r>
              <a:rPr lang="en-US" dirty="0" smtClean="0"/>
              <a:t>Operations on Functions</a:t>
            </a:r>
          </a:p>
          <a:p>
            <a:pPr lvl="1"/>
            <a:r>
              <a:rPr lang="en-US" dirty="0" smtClean="0"/>
              <a:t>Computability</a:t>
            </a:r>
          </a:p>
          <a:p>
            <a:r>
              <a:rPr lang="en-US" dirty="0" smtClean="0"/>
              <a:t>Sequences and Summations</a:t>
            </a:r>
          </a:p>
          <a:p>
            <a:pPr lvl="1"/>
            <a:r>
              <a:rPr lang="en-US" dirty="0" smtClean="0"/>
              <a:t>Types of Sequences</a:t>
            </a:r>
          </a:p>
          <a:p>
            <a:pPr lvl="1"/>
            <a:r>
              <a:rPr lang="en-US" dirty="0" smtClean="0"/>
              <a:t>Summation Formulae</a:t>
            </a:r>
          </a:p>
          <a:p>
            <a:r>
              <a:rPr lang="en-US" dirty="0" smtClean="0"/>
              <a:t>Set Cardinality</a:t>
            </a:r>
          </a:p>
          <a:p>
            <a:pPr lvl="1"/>
            <a:r>
              <a:rPr lang="en-US" dirty="0" smtClean="0"/>
              <a:t>Countable Sets</a:t>
            </a:r>
          </a:p>
          <a:p>
            <a:r>
              <a:rPr lang="en-US" dirty="0" smtClean="0"/>
              <a:t>Matrices</a:t>
            </a:r>
          </a:p>
          <a:p>
            <a:pPr lvl="1"/>
            <a:r>
              <a:rPr lang="en-US" dirty="0" smtClean="0"/>
              <a:t>Matrix Arithmetic</a:t>
            </a:r>
          </a:p>
          <a:p>
            <a:endParaRPr lang="en-US" dirty="0" smtClean="0"/>
          </a:p>
          <a:p>
            <a:pPr lvl="1">
              <a:buNone/>
            </a:pP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Sets</a:t>
            </a:r>
            <a:endParaRPr lang="en-US" dirty="0"/>
          </a:p>
        </p:txBody>
      </p:sp>
      <p:sp>
        <p:nvSpPr>
          <p:cNvPr id="3" name="Subtitle 2"/>
          <p:cNvSpPr>
            <a:spLocks noGrp="1"/>
          </p:cNvSpPr>
          <p:nvPr>
            <p:ph type="subTitle" idx="1"/>
          </p:nvPr>
        </p:nvSpPr>
        <p:spPr/>
        <p:txBody>
          <a:bodyPr/>
          <a:lstStyle/>
          <a:p>
            <a:r>
              <a:rPr lang="en-US" dirty="0" smtClean="0"/>
              <a:t>Section 2.1</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Section 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Definition of sets</a:t>
            </a:r>
          </a:p>
          <a:p>
            <a:r>
              <a:rPr lang="en-US" dirty="0" smtClean="0"/>
              <a:t>Describing Sets</a:t>
            </a:r>
          </a:p>
          <a:p>
            <a:pPr lvl="1"/>
            <a:r>
              <a:rPr lang="en-US" dirty="0" smtClean="0"/>
              <a:t>Roster Method</a:t>
            </a:r>
          </a:p>
          <a:p>
            <a:pPr lvl="1"/>
            <a:r>
              <a:rPr lang="en-US" dirty="0" smtClean="0"/>
              <a:t>Set-Builder Notation</a:t>
            </a:r>
          </a:p>
          <a:p>
            <a:r>
              <a:rPr lang="en-US" dirty="0" smtClean="0"/>
              <a:t>Some Important Sets in Mathematics</a:t>
            </a:r>
          </a:p>
          <a:p>
            <a:r>
              <a:rPr lang="en-US" dirty="0" smtClean="0"/>
              <a:t>Empty Set and Universal Set</a:t>
            </a:r>
          </a:p>
          <a:p>
            <a:r>
              <a:rPr lang="en-US" dirty="0" smtClean="0"/>
              <a:t>Subsets and Set Equality</a:t>
            </a:r>
          </a:p>
          <a:p>
            <a:r>
              <a:rPr lang="en-US" dirty="0" smtClean="0"/>
              <a:t>Cardinality of Sets</a:t>
            </a:r>
          </a:p>
          <a:p>
            <a:r>
              <a:rPr lang="en-US" dirty="0" err="1" smtClean="0"/>
              <a:t>Tuples</a:t>
            </a:r>
            <a:endParaRPr lang="en-US" dirty="0" smtClean="0"/>
          </a:p>
          <a:p>
            <a:r>
              <a:rPr lang="en-US" dirty="0" smtClean="0"/>
              <a:t>Cartesian Product</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Sets are one of the basic building blocks for the types of objects considered in discrete mathematics.</a:t>
            </a:r>
          </a:p>
          <a:p>
            <a:pPr lvl="1"/>
            <a:r>
              <a:rPr lang="en-US" dirty="0" smtClean="0"/>
              <a:t>Important for counting.</a:t>
            </a:r>
          </a:p>
          <a:p>
            <a:pPr lvl="1"/>
            <a:r>
              <a:rPr lang="en-US" dirty="0" smtClean="0"/>
              <a:t>Programming languages have set operations.</a:t>
            </a:r>
          </a:p>
          <a:p>
            <a:r>
              <a:rPr lang="en-US" dirty="0" smtClean="0"/>
              <a:t>Set theory is an important branch of mathematics.</a:t>
            </a:r>
          </a:p>
          <a:p>
            <a:pPr lvl="1"/>
            <a:r>
              <a:rPr lang="en-US" dirty="0" smtClean="0"/>
              <a:t>Many different systems of axioms have been used to develop set theory.</a:t>
            </a:r>
          </a:p>
          <a:p>
            <a:pPr lvl="1"/>
            <a:r>
              <a:rPr lang="en-US" dirty="0" smtClean="0"/>
              <a:t>Here we are not concerned with a formal set of axioms for set theory. Instead, we will use what is called naïve set theory.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Sets</a:t>
            </a:r>
            <a:endParaRPr lang="en-US" dirty="0"/>
          </a:p>
        </p:txBody>
      </p:sp>
      <p:sp>
        <p:nvSpPr>
          <p:cNvPr id="3" name="Content Placeholder 2"/>
          <p:cNvSpPr>
            <a:spLocks noGrp="1"/>
          </p:cNvSpPr>
          <p:nvPr>
            <p:ph idx="1"/>
          </p:nvPr>
        </p:nvSpPr>
        <p:spPr/>
        <p:txBody>
          <a:bodyPr/>
          <a:lstStyle/>
          <a:p>
            <a:r>
              <a:rPr lang="en-US" dirty="0" smtClean="0"/>
              <a:t>A </a:t>
            </a:r>
            <a:r>
              <a:rPr lang="en-US" i="1" dirty="0" smtClean="0"/>
              <a:t>set</a:t>
            </a:r>
            <a:r>
              <a:rPr lang="en-US" dirty="0" smtClean="0"/>
              <a:t> is an unordered collection of objects.</a:t>
            </a:r>
          </a:p>
          <a:p>
            <a:pPr lvl="1"/>
            <a:r>
              <a:rPr lang="en-US" dirty="0" smtClean="0"/>
              <a:t> the students in this class</a:t>
            </a:r>
          </a:p>
          <a:p>
            <a:pPr lvl="1"/>
            <a:r>
              <a:rPr lang="en-US" dirty="0" smtClean="0"/>
              <a:t> the chairs in this room</a:t>
            </a:r>
          </a:p>
          <a:p>
            <a:r>
              <a:rPr lang="en-US" dirty="0" smtClean="0"/>
              <a:t>The objects in a set are called the </a:t>
            </a:r>
            <a:r>
              <a:rPr lang="en-US" i="1" dirty="0" smtClean="0"/>
              <a:t>elements</a:t>
            </a:r>
            <a:r>
              <a:rPr lang="en-US" dirty="0" smtClean="0"/>
              <a:t>, or </a:t>
            </a:r>
            <a:r>
              <a:rPr lang="en-US" i="1" dirty="0" smtClean="0"/>
              <a:t>members</a:t>
            </a:r>
            <a:r>
              <a:rPr lang="en-US" dirty="0" smtClean="0"/>
              <a:t> of the set. A set is said to </a:t>
            </a:r>
            <a:r>
              <a:rPr lang="en-US" i="1" dirty="0" smtClean="0"/>
              <a:t>contain</a:t>
            </a:r>
            <a:r>
              <a:rPr lang="en-US" dirty="0" smtClean="0"/>
              <a:t> its elements.</a:t>
            </a:r>
          </a:p>
          <a:p>
            <a:r>
              <a:rPr lang="en-US" dirty="0" smtClean="0"/>
              <a:t>The notation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t>denotes that </a:t>
            </a:r>
            <a:r>
              <a:rPr lang="en-US" i="1" dirty="0" smtClean="0">
                <a:latin typeface="Cambria Math" pitchFamily="18" charset="0"/>
                <a:ea typeface="Cambria Math" pitchFamily="18" charset="0"/>
              </a:rPr>
              <a:t>a</a:t>
            </a:r>
            <a:r>
              <a:rPr lang="en-US" dirty="0" smtClean="0"/>
              <a:t> is an element of the set </a:t>
            </a:r>
            <a:r>
              <a:rPr lang="en-US" i="1" dirty="0" smtClean="0">
                <a:latin typeface="Cambria Math" pitchFamily="18" charset="0"/>
                <a:ea typeface="Cambria Math" pitchFamily="18" charset="0"/>
              </a:rPr>
              <a:t>A</a:t>
            </a:r>
            <a:r>
              <a:rPr lang="en-US" dirty="0" smtClean="0"/>
              <a:t>.</a:t>
            </a:r>
          </a:p>
          <a:p>
            <a:r>
              <a:rPr lang="en-US" dirty="0" smtClean="0"/>
              <a:t>If </a:t>
            </a:r>
            <a:r>
              <a:rPr lang="en-US" i="1" dirty="0" smtClean="0">
                <a:latin typeface="Cambria Math" pitchFamily="18" charset="0"/>
                <a:ea typeface="Cambria Math" pitchFamily="18" charset="0"/>
              </a:rPr>
              <a:t>a</a:t>
            </a:r>
            <a:r>
              <a:rPr lang="en-US" dirty="0" smtClean="0"/>
              <a:t> is not a member of </a:t>
            </a:r>
            <a:r>
              <a:rPr lang="en-US" i="1" dirty="0" smtClean="0">
                <a:latin typeface="Cambria Math" pitchFamily="18" charset="0"/>
                <a:ea typeface="Cambria Math" pitchFamily="18" charset="0"/>
              </a:rPr>
              <a:t>A</a:t>
            </a:r>
            <a:r>
              <a:rPr lang="en-US" dirty="0" smtClean="0"/>
              <a:t>, write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a:t>
            </a: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Describing a Set: Roster Method</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The Roster Method (also called Tabular Form) is a way of writing a set by listing all its elements inside curly braces </a:t>
            </a:r>
            <a:r>
              <a:rPr lang="en-US" dirty="0" smtClean="0"/>
              <a:t>{}.</a:t>
            </a:r>
            <a:endParaRPr lang="en-US" i="1" dirty="0" smtClean="0">
              <a:latin typeface="Cambria Math" pitchFamily="18" charset="0"/>
              <a:ea typeface="Cambria Math" pitchFamily="18" charset="0"/>
            </a:endParaRPr>
          </a:p>
          <a:p>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a:t>
            </a:r>
          </a:p>
          <a:p>
            <a:r>
              <a:rPr lang="en-US" dirty="0" smtClean="0"/>
              <a:t>Order not important </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b,c,a,d</a:t>
            </a:r>
            <a:r>
              <a:rPr lang="en-US" dirty="0" smtClean="0">
                <a:latin typeface="Cambria Math" pitchFamily="18" charset="0"/>
                <a:ea typeface="Cambria Math" pitchFamily="18" charset="0"/>
              </a:rPr>
              <a:t>}</a:t>
            </a:r>
          </a:p>
          <a:p>
            <a:r>
              <a:rPr lang="en-US" dirty="0" smtClean="0"/>
              <a:t>Each distinct object is either a member or not; listing more than once does not change the set.</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dirty="0" smtClean="0">
                <a:latin typeface="Cambria Math" pitchFamily="18" charset="0"/>
                <a:ea typeface="Cambria Math" pitchFamily="18" charset="0"/>
              </a:rPr>
              <a:t>} = {</a:t>
            </a:r>
            <a:r>
              <a:rPr lang="en-US" i="1" dirty="0" err="1" smtClean="0">
                <a:latin typeface="Cambria Math" pitchFamily="18" charset="0"/>
                <a:ea typeface="Cambria Math" pitchFamily="18" charset="0"/>
              </a:rPr>
              <a:t>a,b,c,b,c,d</a:t>
            </a:r>
            <a:r>
              <a:rPr lang="en-US" dirty="0" smtClean="0">
                <a:latin typeface="Cambria Math" pitchFamily="18" charset="0"/>
                <a:ea typeface="Cambria Math" pitchFamily="18" charset="0"/>
              </a:rPr>
              <a:t>}</a:t>
            </a:r>
          </a:p>
          <a:p>
            <a:r>
              <a:rPr lang="en-US" dirty="0" err="1" smtClean="0">
                <a:latin typeface="Cambria Math" pitchFamily="18" charset="0"/>
                <a:ea typeface="Cambria Math" pitchFamily="18" charset="0"/>
              </a:rPr>
              <a:t>Elipses</a:t>
            </a:r>
            <a:r>
              <a:rPr lang="en-US" dirty="0" smtClean="0">
                <a:latin typeface="Cambria Math" pitchFamily="18" charset="0"/>
                <a:ea typeface="Cambria Math" pitchFamily="18" charset="0"/>
              </a:rPr>
              <a:t> (…) may be used to describe a set without listing all of the members when the pattern is clear.</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b="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a,b,c,d</a:t>
            </a:r>
            <a:r>
              <a:rPr lang="en-US" i="1" dirty="0" smtClean="0">
                <a:latin typeface="Cambria Math" pitchFamily="18" charset="0"/>
                <a:ea typeface="Cambria Math" pitchFamily="18" charset="0"/>
              </a:rPr>
              <a:t>, ……,z </a:t>
            </a:r>
            <a:r>
              <a:rPr lang="en-US" dirty="0" smtClean="0">
                <a:latin typeface="Cambria Math" pitchFamily="18" charset="0"/>
                <a:ea typeface="Cambria Math" pitchFamily="18" charset="0"/>
              </a:rPr>
              <a:t>}</a:t>
            </a:r>
          </a:p>
          <a:p>
            <a:pPr>
              <a:buNone/>
            </a:pP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Roster Method</a:t>
            </a:r>
            <a:endParaRPr lang="en-US" dirty="0"/>
          </a:p>
        </p:txBody>
      </p:sp>
      <p:sp>
        <p:nvSpPr>
          <p:cNvPr id="3" name="Content Placeholder 2"/>
          <p:cNvSpPr>
            <a:spLocks noGrp="1"/>
          </p:cNvSpPr>
          <p:nvPr>
            <p:ph idx="1"/>
          </p:nvPr>
        </p:nvSpPr>
        <p:spPr/>
        <p:txBody>
          <a:bodyPr>
            <a:normAutofit/>
          </a:bodyPr>
          <a:lstStyle/>
          <a:p>
            <a:r>
              <a:rPr lang="en-US" dirty="0" smtClean="0"/>
              <a:t>Set of all vowels in the English alphabet:</a:t>
            </a:r>
          </a:p>
          <a:p>
            <a:pPr>
              <a:buNone/>
            </a:pPr>
            <a:r>
              <a:rPr lang="en-US" dirty="0" smtClean="0"/>
              <a:t>              </a:t>
            </a:r>
            <a:r>
              <a:rPr lang="en-US" i="1" dirty="0" smtClean="0">
                <a:latin typeface="Cambria Math" pitchFamily="18" charset="0"/>
                <a:ea typeface="Cambria Math" pitchFamily="18" charset="0"/>
              </a:rPr>
              <a:t>V</a:t>
            </a:r>
            <a:r>
              <a:rPr lang="en-US" dirty="0" smtClean="0">
                <a:latin typeface="Cambria Math" pitchFamily="18" charset="0"/>
                <a:ea typeface="Cambria Math" pitchFamily="18" charset="0"/>
              </a:rPr>
              <a:t> = {</a:t>
            </a:r>
            <a:r>
              <a:rPr lang="en-US" dirty="0" err="1" smtClean="0">
                <a:latin typeface="Cambria Math" pitchFamily="18" charset="0"/>
                <a:ea typeface="Cambria Math" pitchFamily="18" charset="0"/>
              </a:rPr>
              <a:t>a,e,i,o,u</a:t>
            </a:r>
            <a:r>
              <a:rPr lang="en-US" dirty="0" smtClean="0">
                <a:latin typeface="Cambria Math" pitchFamily="18" charset="0"/>
                <a:ea typeface="Cambria Math" pitchFamily="18" charset="0"/>
              </a:rPr>
              <a:t>}</a:t>
            </a:r>
          </a:p>
          <a:p>
            <a:r>
              <a:rPr lang="en-US" dirty="0" smtClean="0"/>
              <a:t>Set of all  odd positive integers less than </a:t>
            </a:r>
            <a:r>
              <a:rPr lang="en-US" dirty="0" smtClean="0">
                <a:latin typeface="Cambria Math" pitchFamily="18" charset="0"/>
                <a:ea typeface="Cambria Math" pitchFamily="18" charset="0"/>
              </a:rPr>
              <a:t>10</a:t>
            </a:r>
            <a:r>
              <a:rPr lang="en-US" dirty="0" smtClean="0"/>
              <a:t>:</a:t>
            </a:r>
          </a:p>
          <a:p>
            <a:pPr>
              <a:buNone/>
            </a:pPr>
            <a:r>
              <a:rPr lang="en-US" dirty="0" smtClean="0"/>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{1,3,5,7,9}</a:t>
            </a:r>
          </a:p>
          <a:p>
            <a:r>
              <a:rPr lang="en-US" dirty="0" smtClean="0"/>
              <a:t>Set of all positive integers less than </a:t>
            </a:r>
            <a:r>
              <a:rPr lang="en-US" dirty="0" smtClean="0">
                <a:latin typeface="Cambria Math" pitchFamily="18" charset="0"/>
                <a:ea typeface="Cambria Math" pitchFamily="18" charset="0"/>
              </a:rPr>
              <a:t>100</a:t>
            </a:r>
            <a:r>
              <a:rPr lang="en-US" dirty="0" smtClean="0"/>
              <a:t>:</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{1,2,3,……..,99}</a:t>
            </a:r>
          </a:p>
          <a:p>
            <a:pPr marL="514350" indent="-514350"/>
            <a:r>
              <a:rPr lang="en-US" dirty="0" smtClean="0">
                <a:latin typeface="Cambria Math" pitchFamily="18" charset="0"/>
                <a:ea typeface="Cambria Math" pitchFamily="18" charset="0"/>
              </a:rPr>
              <a:t>Set of all integers less than 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 -3,-2,-1}</a:t>
            </a: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1143000"/>
          </a:xfrm>
        </p:spPr>
        <p:txBody>
          <a:bodyPr>
            <a:normAutofit/>
          </a:bodyPr>
          <a:lstStyle/>
          <a:p>
            <a:r>
              <a:rPr lang="en-US" dirty="0" smtClean="0"/>
              <a:t>Some Important Sets</a:t>
            </a:r>
            <a:endParaRPr lang="en-US" dirty="0"/>
          </a:p>
        </p:txBody>
      </p:sp>
      <p:sp>
        <p:nvSpPr>
          <p:cNvPr id="3" name="Content Placeholder 2"/>
          <p:cNvSpPr>
            <a:spLocks noGrp="1"/>
          </p:cNvSpPr>
          <p:nvPr>
            <p:ph idx="1"/>
          </p:nvPr>
        </p:nvSpPr>
        <p:spPr>
          <a:xfrm>
            <a:off x="457200" y="1371600"/>
            <a:ext cx="8458200" cy="5029200"/>
          </a:xfrm>
        </p:spPr>
        <p:txBody>
          <a:bodyPr>
            <a:normAutofit fontScale="85000" lnSpcReduction="20000"/>
          </a:bodyPr>
          <a:lstStyle/>
          <a:p>
            <a:pPr>
              <a:buNone/>
            </a:pPr>
            <a:r>
              <a:rPr lang="en-US" b="1" dirty="0" smtClean="0">
                <a:latin typeface="Cambria Math" pitchFamily="18" charset="0"/>
                <a:ea typeface="Cambria Math" pitchFamily="18" charset="0"/>
              </a:rPr>
              <a:t>N</a:t>
            </a:r>
            <a:r>
              <a:rPr lang="en-US" dirty="0" smtClean="0"/>
              <a:t> = </a:t>
            </a:r>
            <a:r>
              <a:rPr lang="en-US" i="1" dirty="0" smtClean="0"/>
              <a:t>natural numbers </a:t>
            </a:r>
            <a:r>
              <a:rPr lang="en-US" dirty="0" smtClean="0"/>
              <a:t>= </a:t>
            </a:r>
            <a:r>
              <a:rPr lang="en-US" dirty="0" smtClean="0">
                <a:latin typeface="Cambria Math" pitchFamily="18" charset="0"/>
                <a:ea typeface="Cambria Math" pitchFamily="18" charset="0"/>
              </a:rPr>
              <a:t>{1,2,3….}</a:t>
            </a:r>
          </a:p>
          <a:p>
            <a:pPr>
              <a:buNone/>
            </a:pPr>
            <a:r>
              <a:rPr lang="en-US" b="1" dirty="0" smtClean="0">
                <a:latin typeface="Cambria Math" pitchFamily="18" charset="0"/>
                <a:ea typeface="Cambria Math" pitchFamily="18" charset="0"/>
              </a:rPr>
              <a:t>Z</a:t>
            </a:r>
            <a:r>
              <a:rPr lang="en-US" dirty="0" smtClean="0"/>
              <a:t> = </a:t>
            </a:r>
            <a:r>
              <a:rPr lang="en-US" i="1" dirty="0" smtClean="0"/>
              <a:t>integers</a:t>
            </a:r>
            <a:r>
              <a:rPr lang="en-US" dirty="0" smtClean="0"/>
              <a:t> = </a:t>
            </a:r>
            <a:r>
              <a:rPr lang="en-US" dirty="0" smtClean="0">
                <a:latin typeface="Cambria Math" pitchFamily="18" charset="0"/>
                <a:ea typeface="Cambria Math" pitchFamily="18" charset="0"/>
              </a:rPr>
              <a:t>{…,-3,-2,-1,0,1,2,3,…}</a:t>
            </a:r>
          </a:p>
          <a:p>
            <a:pPr>
              <a:buNone/>
            </a:pPr>
            <a:r>
              <a:rPr lang="en-US" b="1" dirty="0" smtClean="0">
                <a:latin typeface="Cambria Math" pitchFamily="18" charset="0"/>
                <a:ea typeface="Cambria Math" pitchFamily="18" charset="0"/>
              </a:rPr>
              <a:t>Z⁺</a:t>
            </a:r>
            <a:r>
              <a:rPr lang="en-US" dirty="0" smtClean="0"/>
              <a:t> = </a:t>
            </a:r>
            <a:r>
              <a:rPr lang="en-US" i="1" dirty="0" smtClean="0"/>
              <a:t>positive integers </a:t>
            </a:r>
            <a:r>
              <a:rPr lang="en-US" dirty="0" smtClean="0"/>
              <a:t>= </a:t>
            </a:r>
            <a:r>
              <a:rPr lang="en-US" dirty="0" smtClean="0">
                <a:latin typeface="Cambria Math" pitchFamily="18" charset="0"/>
                <a:ea typeface="Cambria Math" pitchFamily="18" charset="0"/>
              </a:rPr>
              <a:t>{1,2,3,…..}</a:t>
            </a:r>
          </a:p>
          <a:p>
            <a:pPr>
              <a:buNone/>
            </a:pPr>
            <a:r>
              <a:rPr lang="en-US" b="1" dirty="0" smtClean="0">
                <a:latin typeface="Cambria Math" pitchFamily="18" charset="0"/>
                <a:ea typeface="Cambria Math" pitchFamily="18" charset="0"/>
              </a:rPr>
              <a:t>R</a:t>
            </a:r>
            <a:r>
              <a:rPr lang="en-US" dirty="0" smtClean="0"/>
              <a:t> = set of </a:t>
            </a:r>
            <a:r>
              <a:rPr lang="en-US" i="1" dirty="0" smtClean="0"/>
              <a:t>real numbers </a:t>
            </a:r>
          </a:p>
          <a:p>
            <a:pPr>
              <a:buNone/>
            </a:pPr>
            <a:r>
              <a:rPr lang="en-US" altLang="en-US" sz="1900" dirty="0" smtClean="0"/>
              <a:t> </a:t>
            </a:r>
            <a:endParaRPr lang="en-US" b="1" dirty="0" smtClean="0">
              <a:latin typeface="Cambria Math" pitchFamily="18" charset="0"/>
              <a:ea typeface="Cambria Math" pitchFamily="18" charset="0"/>
            </a:endParaRPr>
          </a:p>
          <a:p>
            <a:pPr>
              <a:buNone/>
            </a:pPr>
            <a:endParaRPr lang="en-US" b="1" dirty="0" smtClean="0">
              <a:latin typeface="Cambria Math" pitchFamily="18" charset="0"/>
              <a:ea typeface="Cambria Math" pitchFamily="18" charset="0"/>
            </a:endParaRPr>
          </a:p>
          <a:p>
            <a:pPr>
              <a:buNone/>
            </a:pPr>
            <a:endParaRPr lang="en-US" b="1" dirty="0" smtClean="0">
              <a:latin typeface="Cambria Math" pitchFamily="18" charset="0"/>
              <a:ea typeface="Cambria Math" pitchFamily="18" charset="0"/>
            </a:endParaRPr>
          </a:p>
          <a:p>
            <a:pPr>
              <a:buNone/>
            </a:pPr>
            <a:r>
              <a:rPr lang="en-US" b="1" dirty="0" smtClean="0">
                <a:latin typeface="Cambria Math" pitchFamily="18" charset="0"/>
                <a:ea typeface="Cambria Math" pitchFamily="18" charset="0"/>
              </a:rPr>
              <a:t>R</a:t>
            </a:r>
            <a:r>
              <a:rPr lang="en-US" b="1" baseline="30000" dirty="0" smtClean="0">
                <a:latin typeface="Cambria Math" pitchFamily="18" charset="0"/>
                <a:ea typeface="Cambria Math" pitchFamily="18" charset="0"/>
              </a:rPr>
              <a:t>+</a:t>
            </a:r>
            <a:r>
              <a:rPr lang="en-US" dirty="0" smtClean="0"/>
              <a:t> = set of </a:t>
            </a:r>
            <a:r>
              <a:rPr lang="en-US" i="1" dirty="0" smtClean="0"/>
              <a:t>positive real numbers</a:t>
            </a:r>
          </a:p>
          <a:p>
            <a:pPr algn="just">
              <a:buNone/>
            </a:pPr>
            <a:r>
              <a:rPr lang="en-US" dirty="0" smtClean="0"/>
              <a:t>    </a:t>
            </a:r>
            <a:r>
              <a:rPr lang="en-US" sz="2400" dirty="0" smtClean="0"/>
              <a:t>The </a:t>
            </a:r>
            <a:r>
              <a:rPr lang="en-US" sz="2400" dirty="0"/>
              <a:t>set of </a:t>
            </a:r>
            <a:r>
              <a:rPr lang="en-US" sz="2400" b="1" dirty="0">
                <a:latin typeface="Cambria Math" pitchFamily="18" charset="0"/>
                <a:ea typeface="Cambria Math" pitchFamily="18" charset="0"/>
              </a:rPr>
              <a:t>R</a:t>
            </a:r>
            <a:r>
              <a:rPr lang="en-US" sz="2400" b="1" baseline="30000" dirty="0">
                <a:latin typeface="Cambria Math" pitchFamily="18" charset="0"/>
                <a:ea typeface="Cambria Math" pitchFamily="18" charset="0"/>
              </a:rPr>
              <a:t>+</a:t>
            </a:r>
            <a:r>
              <a:rPr lang="en-US" sz="2400" dirty="0"/>
              <a:t> represents all </a:t>
            </a:r>
            <a:r>
              <a:rPr lang="en-US" sz="2400" b="1" dirty="0"/>
              <a:t>positive real numbers</a:t>
            </a:r>
            <a:r>
              <a:rPr lang="en-US" sz="2400" dirty="0"/>
              <a:t>, meaning any </a:t>
            </a:r>
            <a:r>
              <a:rPr lang="en-US" sz="2400" dirty="0" smtClean="0"/>
              <a:t>real number </a:t>
            </a:r>
            <a:r>
              <a:rPr lang="en-US" sz="2400" dirty="0"/>
              <a:t>strictly greater than zero, excluding zero and negative numbers, with examples including decimals (0.5, 3.14), fractions (1/2, 3/4), integers (1, 5, 100), and irrational numbers </a:t>
            </a:r>
            <a:r>
              <a:rPr lang="en-US" sz="2400" dirty="0" smtClean="0"/>
              <a:t>like </a:t>
            </a:r>
            <a:r>
              <a:rPr lang="en-US" altLang="en-US" sz="2400" dirty="0">
                <a:latin typeface="Arial" panose="020B0604020202020204" pitchFamily="34" charset="0"/>
              </a:rPr>
              <a:t>𝜋, √</a:t>
            </a:r>
            <a:r>
              <a:rPr lang="en-US" altLang="en-US" sz="2400" dirty="0" smtClean="0">
                <a:latin typeface="Arial" panose="020B0604020202020204" pitchFamily="34" charset="0"/>
              </a:rPr>
              <a:t>2</a:t>
            </a:r>
            <a:endParaRPr lang="en-US" sz="2400" i="1" dirty="0" smtClean="0"/>
          </a:p>
          <a:p>
            <a:pPr algn="just">
              <a:buNone/>
            </a:pPr>
            <a:endParaRPr lang="en-US" sz="2400" b="1" dirty="0" smtClean="0">
              <a:latin typeface="Cambria Math" pitchFamily="18" charset="0"/>
              <a:ea typeface="Cambria Math" pitchFamily="18" charset="0"/>
            </a:endParaRPr>
          </a:p>
          <a:p>
            <a:pPr>
              <a:buNone/>
            </a:pPr>
            <a:r>
              <a:rPr lang="en-US" b="1" dirty="0" smtClean="0">
                <a:latin typeface="Cambria Math" pitchFamily="18" charset="0"/>
                <a:ea typeface="Cambria Math" pitchFamily="18" charset="0"/>
              </a:rPr>
              <a:t>C</a:t>
            </a:r>
            <a:r>
              <a:rPr lang="en-US" dirty="0" smtClean="0"/>
              <a:t> =  set of </a:t>
            </a:r>
            <a:r>
              <a:rPr lang="en-US" i="1" dirty="0" smtClean="0"/>
              <a:t>complex numbers</a:t>
            </a:r>
            <a:r>
              <a:rPr lang="en-US" dirty="0" smtClean="0"/>
              <a:t>.</a:t>
            </a:r>
          </a:p>
          <a:p>
            <a:pPr>
              <a:buNone/>
            </a:pPr>
            <a:r>
              <a:rPr lang="en-US" b="1" i="1" dirty="0" smtClean="0"/>
              <a:t>                         Z = a + bi</a:t>
            </a:r>
          </a:p>
          <a:p>
            <a:pPr>
              <a:buNone/>
            </a:pPr>
            <a:endParaRPr lang="en-US" i="1" dirty="0" smtClean="0"/>
          </a:p>
          <a:p>
            <a:endParaRPr lang="en-US" dirty="0">
              <a:latin typeface="Cambria Math" pitchFamily="18" charset="0"/>
              <a:ea typeface="Cambria Math" pitchFamily="18" charset="0"/>
            </a:endParaRPr>
          </a:p>
        </p:txBody>
      </p:sp>
      <p:sp>
        <p:nvSpPr>
          <p:cNvPr id="4" name="Rectangle 1"/>
          <p:cNvSpPr txBox="1">
            <a:spLocks noChangeArrowheads="1"/>
          </p:cNvSpPr>
          <p:nvPr/>
        </p:nvSpPr>
        <p:spPr bwMode="auto">
          <a:xfrm>
            <a:off x="457200" y="2738735"/>
            <a:ext cx="83820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indent="0" eaLnBrk="0" fontAlgn="base" hangingPunct="0">
              <a:spcBef>
                <a:spcPct val="0"/>
              </a:spcBef>
              <a:spcAft>
                <a:spcPct val="0"/>
              </a:spcAft>
              <a:buClrTx/>
              <a:buSzTx/>
              <a:buFontTx/>
              <a:buChar char="•"/>
            </a:pPr>
            <a:r>
              <a:rPr lang="en-US" altLang="en-US" sz="1800" b="1" dirty="0" smtClean="0">
                <a:latin typeface="Arial" panose="020B0604020202020204" pitchFamily="34" charset="0"/>
              </a:rPr>
              <a:t>Rational numbers</a:t>
            </a:r>
            <a:r>
              <a:rPr lang="en-US" altLang="en-US" sz="1800" dirty="0" smtClean="0">
                <a:latin typeface="Arial" panose="020B0604020202020204" pitchFamily="34" charset="0"/>
              </a:rPr>
              <a:t> – numbers that can be written as fractions (1/2,−3/4,7,0.25)</a:t>
            </a:r>
          </a:p>
          <a:p>
            <a:pPr marL="0" indent="0" eaLnBrk="0" fontAlgn="base" hangingPunct="0">
              <a:spcBef>
                <a:spcPct val="0"/>
              </a:spcBef>
              <a:spcAft>
                <a:spcPct val="0"/>
              </a:spcAft>
              <a:buFontTx/>
              <a:buChar char="•"/>
            </a:pPr>
            <a:r>
              <a:rPr lang="en-US" altLang="en-US" sz="1800" b="1" dirty="0" smtClean="0">
                <a:latin typeface="Arial" panose="020B0604020202020204" pitchFamily="34" charset="0"/>
              </a:rPr>
              <a:t>Irrational numbers</a:t>
            </a:r>
            <a:r>
              <a:rPr lang="en-US" altLang="en-US" sz="1800" dirty="0" smtClean="0">
                <a:latin typeface="Arial" panose="020B0604020202020204" pitchFamily="34" charset="0"/>
              </a:rPr>
              <a:t> – numbers that cannot be written as fractions, and their decimal goes on forever without repeating </a:t>
            </a:r>
          </a:p>
        </p:txBody>
      </p:sp>
      <p:pic>
        <p:nvPicPr>
          <p:cNvPr id="5" name="Picture 4"/>
          <p:cNvPicPr>
            <a:picLocks noChangeAspect="1"/>
          </p:cNvPicPr>
          <p:nvPr/>
        </p:nvPicPr>
        <p:blipFill>
          <a:blip r:embed="rId2"/>
          <a:stretch>
            <a:fillRect/>
          </a:stretch>
        </p:blipFill>
        <p:spPr>
          <a:xfrm>
            <a:off x="4800600" y="3330579"/>
            <a:ext cx="825542" cy="31116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Set-Builder Notation</a:t>
            </a:r>
            <a:endParaRPr lang="en-US" dirty="0"/>
          </a:p>
        </p:txBody>
      </p:sp>
      <p:sp>
        <p:nvSpPr>
          <p:cNvPr id="3" name="Content Placeholder 2"/>
          <p:cNvSpPr>
            <a:spLocks noGrp="1"/>
          </p:cNvSpPr>
          <p:nvPr>
            <p:ph idx="1"/>
          </p:nvPr>
        </p:nvSpPr>
        <p:spPr/>
        <p:txBody>
          <a:bodyPr>
            <a:normAutofit/>
          </a:bodyPr>
          <a:lstStyle/>
          <a:p>
            <a:r>
              <a:rPr lang="en-US" dirty="0" smtClean="0"/>
              <a:t>Specify the property or properties that all members must satisfy:</a:t>
            </a:r>
          </a:p>
          <a:p>
            <a:pPr>
              <a:buNone/>
            </a:pPr>
            <a:r>
              <a:rPr lang="en-US" dirty="0" smtClean="0"/>
              <a:t>     </a:t>
            </a:r>
            <a:r>
              <a:rPr lang="en-US" i="1" dirty="0" smtClean="0">
                <a:latin typeface="Cambria Math" pitchFamily="18" charset="0"/>
                <a:ea typeface="Cambria Math" pitchFamily="18" charset="0"/>
              </a:rPr>
              <a:t>S</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a:t>
            </a:r>
            <a:r>
              <a:rPr lang="en-US" i="1" dirty="0" smtClean="0">
                <a:ea typeface="Cambria Math" pitchFamily="18" charset="0"/>
              </a:rPr>
              <a:t>x</a:t>
            </a:r>
            <a:r>
              <a:rPr lang="en-US" dirty="0" smtClean="0">
                <a:latin typeface="Cambria Math" pitchFamily="18" charset="0"/>
                <a:ea typeface="Cambria Math" pitchFamily="18" charset="0"/>
              </a:rPr>
              <a:t> is a positive integer less than 100}</a:t>
            </a:r>
          </a:p>
          <a:p>
            <a:pPr>
              <a:buNone/>
            </a:pPr>
            <a:r>
              <a:rPr lang="en-US"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is an odd positive integer less than 10}</a:t>
            </a:r>
          </a:p>
          <a:p>
            <a:pPr>
              <a:buNone/>
            </a:pPr>
            <a:r>
              <a:rPr lang="en-US" b="1" dirty="0" smtClean="0">
                <a:latin typeface="Cambria Math" pitchFamily="18" charset="0"/>
                <a:ea typeface="Cambria Math" pitchFamily="18" charset="0"/>
              </a:rPr>
              <a:t>     </a:t>
            </a:r>
            <a:r>
              <a:rPr lang="en-US" i="1" dirty="0" smtClean="0">
                <a:latin typeface="Cambria Math" pitchFamily="18" charset="0"/>
                <a:ea typeface="Cambria Math" pitchFamily="18" charset="0"/>
              </a:rPr>
              <a:t>O</a:t>
            </a:r>
            <a:r>
              <a:rPr lang="en-US" dirty="0" smtClean="0">
                <a:latin typeface="Cambria Math" pitchFamily="18" charset="0"/>
                <a:ea typeface="Cambria Math" pitchFamily="18" charset="0"/>
              </a:rPr>
              <a:t> = {</a:t>
            </a:r>
            <a:r>
              <a:rPr lang="en-US" i="1" dirty="0" smtClean="0">
                <a:ea typeface="Cambria Math" pitchFamily="18" charset="0"/>
              </a:rPr>
              <a:t>x</a:t>
            </a: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 Z⁺</a:t>
            </a:r>
            <a:r>
              <a:rPr lang="en-US" dirty="0" smtClean="0">
                <a:latin typeface="Cambria Math" pitchFamily="18" charset="0"/>
                <a:ea typeface="Cambria Math" pitchFamily="18" charset="0"/>
              </a:rPr>
              <a:t> | </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is odd and </a:t>
            </a:r>
            <a:r>
              <a:rPr lang="en-US" i="1" dirty="0" smtClean="0">
                <a:ea typeface="Cambria Math" pitchFamily="18" charset="0"/>
              </a:rPr>
              <a:t>x</a:t>
            </a:r>
            <a:r>
              <a:rPr lang="en-US" dirty="0" smtClean="0">
                <a:latin typeface="Cambria Math" pitchFamily="18" charset="0"/>
                <a:ea typeface="Cambria Math" pitchFamily="18" charset="0"/>
              </a:rPr>
              <a:t> &lt; 10}</a:t>
            </a:r>
          </a:p>
          <a:p>
            <a:r>
              <a:rPr lang="en-US" dirty="0" smtClean="0"/>
              <a:t>A predicate: </a:t>
            </a:r>
            <a:r>
              <a:rPr lang="en-US" dirty="0"/>
              <a:t>In set theory, a predicate is used to decide whether an element belongs to a set or not.</a:t>
            </a:r>
            <a:endParaRPr lang="en-US" dirty="0" smtClean="0"/>
          </a:p>
          <a:p>
            <a:pPr>
              <a:buNone/>
            </a:pPr>
            <a:r>
              <a:rPr lang="en-US" dirty="0" smtClean="0"/>
              <a:t>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 P(</a:t>
            </a:r>
            <a:r>
              <a:rPr lang="en-US" i="1" dirty="0" smtClean="0">
                <a:ea typeface="Cambria Math" pitchFamily="18" charset="0"/>
              </a:rPr>
              <a:t>x</a:t>
            </a:r>
            <a:r>
              <a:rPr lang="en-US" dirty="0" smtClean="0">
                <a:latin typeface="Cambria Math" pitchFamily="18" charset="0"/>
                <a:ea typeface="Cambria Math" pitchFamily="18" charset="0"/>
              </a:rPr>
              <a:t>)}</a:t>
            </a:r>
          </a:p>
          <a:p>
            <a:r>
              <a:rPr lang="en-US" dirty="0" smtClean="0"/>
              <a:t>Example: </a:t>
            </a:r>
            <a:r>
              <a:rPr lang="en-US" i="1" dirty="0" smtClean="0">
                <a:latin typeface="Cambria Math" pitchFamily="18" charset="0"/>
                <a:ea typeface="Cambria Math" pitchFamily="18" charset="0"/>
              </a:rPr>
              <a:t>S</a:t>
            </a:r>
            <a:r>
              <a:rPr lang="en-US" b="1" i="1" dirty="0" smtClean="0">
                <a:latin typeface="Cambria Math" pitchFamily="18" charset="0"/>
                <a:ea typeface="Cambria Math" pitchFamily="18" charset="0"/>
              </a:rPr>
              <a:t> </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ea typeface="Cambria Math" pitchFamily="18" charset="0"/>
              </a:rPr>
              <a:t>x</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 </a:t>
            </a:r>
            <a:r>
              <a:rPr lang="en-US" dirty="0" smtClean="0">
                <a:latin typeface="Cambria Math" pitchFamily="18" charset="0"/>
                <a:ea typeface="Cambria Math" pitchFamily="18" charset="0"/>
              </a:rPr>
              <a:t>Prime(</a:t>
            </a:r>
            <a:r>
              <a:rPr lang="en-US" i="1" dirty="0" smtClean="0">
                <a:ea typeface="Cambria Math" pitchFamily="18" charset="0"/>
              </a:rPr>
              <a:t>x</a:t>
            </a:r>
            <a:r>
              <a:rPr lang="en-US" dirty="0" smtClean="0">
                <a:latin typeface="Cambria Math" pitchFamily="18" charset="0"/>
                <a:ea typeface="Cambria Math" pitchFamily="18" charset="0"/>
              </a:rPr>
              <a:t>)}</a:t>
            </a:r>
          </a:p>
          <a:p>
            <a:endParaRPr lang="en-US" i="1" dirty="0" smtClean="0">
              <a:latin typeface="Cambria Math" pitchFamily="18" charset="0"/>
              <a:ea typeface="Cambria Math" pitchFamily="18" charset="0"/>
            </a:endParaRPr>
          </a:p>
          <a:p>
            <a:pPr>
              <a:buNone/>
            </a:pPr>
            <a:endParaRPr lang="en-US" dirty="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1.</a:t>
            </a:r>
            <a:endParaRPr lang="en-US" dirty="0"/>
          </a:p>
        </p:txBody>
      </p:sp>
      <p:sp>
        <p:nvSpPr>
          <p:cNvPr id="3" name="Content Placeholder 2"/>
          <p:cNvSpPr>
            <a:spLocks noGrp="1"/>
          </p:cNvSpPr>
          <p:nvPr>
            <p:ph idx="1"/>
          </p:nvPr>
        </p:nvSpPr>
        <p:spPr/>
        <p:txBody>
          <a:bodyPr/>
          <a:lstStyle/>
          <a:p>
            <a:pPr lvl="0"/>
            <a:r>
              <a:rPr lang="en-US" dirty="0" smtClean="0"/>
              <a:t>1. </a:t>
            </a:r>
            <a:r>
              <a:rPr lang="en-US" dirty="0"/>
              <a:t>Write the set of natural numbers that is less than 6 in roaster notation and in set builder notation?</a:t>
            </a:r>
          </a:p>
          <a:p>
            <a:pPr marL="0" indent="0">
              <a:buNone/>
            </a:pPr>
            <a:r>
              <a:rPr lang="en-US" b="1" dirty="0" smtClean="0"/>
              <a:t>  Solution:</a:t>
            </a:r>
            <a:endParaRPr lang="en-US" b="1" dirty="0"/>
          </a:p>
          <a:p>
            <a:r>
              <a:rPr lang="en-US" dirty="0"/>
              <a:t>Roaster notation</a:t>
            </a:r>
          </a:p>
          <a:p>
            <a:pPr marL="0" indent="0">
              <a:buNone/>
            </a:pPr>
            <a:r>
              <a:rPr lang="en-US" dirty="0" smtClean="0"/>
              <a:t>           A </a:t>
            </a:r>
            <a:r>
              <a:rPr lang="en-US" dirty="0"/>
              <a:t>= {1,2,3,4,5}</a:t>
            </a:r>
          </a:p>
          <a:p>
            <a:r>
              <a:rPr lang="en-US" dirty="0" smtClean="0"/>
              <a:t>Set </a:t>
            </a:r>
            <a:r>
              <a:rPr lang="en-US" dirty="0"/>
              <a:t>builder notation</a:t>
            </a:r>
          </a:p>
          <a:p>
            <a:r>
              <a:rPr lang="en-US" dirty="0"/>
              <a:t>       A = {</a:t>
            </a:r>
            <a:r>
              <a:rPr lang="en-US" i="1" dirty="0"/>
              <a:t>x</a:t>
            </a:r>
            <a:r>
              <a:rPr lang="en-US" dirty="0"/>
              <a:t> | x ∈ N, 1 ≤ x ≤ 5}</a:t>
            </a:r>
          </a:p>
          <a:p>
            <a:endParaRPr lang="en-US" dirty="0"/>
          </a:p>
        </p:txBody>
      </p:sp>
    </p:spTree>
    <p:extLst>
      <p:ext uri="{BB962C8B-B14F-4D97-AF65-F5344CB8AC3E}">
        <p14:creationId xmlns:p14="http://schemas.microsoft.com/office/powerpoint/2010/main" val="3803525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2.</a:t>
            </a:r>
            <a:endParaRPr lang="en-US" dirty="0"/>
          </a:p>
        </p:txBody>
      </p:sp>
      <p:sp>
        <p:nvSpPr>
          <p:cNvPr id="3" name="Content Placeholder 2"/>
          <p:cNvSpPr>
            <a:spLocks noGrp="1"/>
          </p:cNvSpPr>
          <p:nvPr>
            <p:ph idx="1"/>
          </p:nvPr>
        </p:nvSpPr>
        <p:spPr/>
        <p:txBody>
          <a:bodyPr/>
          <a:lstStyle/>
          <a:p>
            <a:pPr lvl="0"/>
            <a:r>
              <a:rPr lang="en-US" dirty="0" smtClean="0"/>
              <a:t>2. </a:t>
            </a:r>
            <a:r>
              <a:rPr lang="en-US" dirty="0"/>
              <a:t>Write the set of whole numbers that is less than 8 in roster and in set builder notation</a:t>
            </a:r>
          </a:p>
          <a:p>
            <a:pPr marL="0" indent="0">
              <a:buNone/>
            </a:pPr>
            <a:r>
              <a:rPr lang="en-US" b="1" dirty="0"/>
              <a:t>Solution:</a:t>
            </a:r>
          </a:p>
          <a:p>
            <a:pPr marL="0" indent="0">
              <a:buNone/>
            </a:pPr>
            <a:r>
              <a:rPr lang="en-US" dirty="0" smtClean="0"/>
              <a:t>Roaster notation</a:t>
            </a:r>
          </a:p>
          <a:p>
            <a:pPr marL="0" indent="0">
              <a:buNone/>
            </a:pPr>
            <a:r>
              <a:rPr lang="en-US" dirty="0" smtClean="0"/>
              <a:t>          B </a:t>
            </a:r>
            <a:r>
              <a:rPr lang="en-US" dirty="0"/>
              <a:t>= {0, 1, 2, 3, 4, 5, 6, 7}</a:t>
            </a:r>
          </a:p>
          <a:p>
            <a:pPr marL="0" indent="0">
              <a:buNone/>
            </a:pPr>
            <a:r>
              <a:rPr lang="en-US" dirty="0"/>
              <a:t>Set builder </a:t>
            </a:r>
            <a:r>
              <a:rPr lang="en-US" dirty="0" smtClean="0"/>
              <a:t>notation</a:t>
            </a:r>
            <a:endParaRPr lang="en-US" dirty="0"/>
          </a:p>
          <a:p>
            <a:pPr marL="0" indent="0">
              <a:buNone/>
            </a:pPr>
            <a:r>
              <a:rPr lang="en-US" dirty="0"/>
              <a:t> </a:t>
            </a:r>
            <a:r>
              <a:rPr lang="en-US" dirty="0" smtClean="0"/>
              <a:t>          B </a:t>
            </a:r>
            <a:r>
              <a:rPr lang="en-US" dirty="0"/>
              <a:t>= {x | x ∈ W, </a:t>
            </a:r>
            <a:r>
              <a:rPr lang="en-US" dirty="0" smtClean="0"/>
              <a:t>0 </a:t>
            </a:r>
            <a:r>
              <a:rPr lang="en-US" dirty="0"/>
              <a:t>≤ x &lt; 8}</a:t>
            </a:r>
          </a:p>
          <a:p>
            <a:r>
              <a:rPr lang="en-US" dirty="0"/>
              <a:t> </a:t>
            </a:r>
          </a:p>
          <a:p>
            <a:endParaRPr lang="en-US" dirty="0"/>
          </a:p>
        </p:txBody>
      </p:sp>
    </p:spTree>
    <p:extLst>
      <p:ext uri="{BB962C8B-B14F-4D97-AF65-F5344CB8AC3E}">
        <p14:creationId xmlns:p14="http://schemas.microsoft.com/office/powerpoint/2010/main" val="173683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3680"/>
            <a:ext cx="8229600" cy="1143000"/>
          </a:xfrm>
        </p:spPr>
        <p:txBody>
          <a:bodyPr/>
          <a:lstStyle/>
          <a:p>
            <a:r>
              <a:rPr lang="en-US" dirty="0" smtClean="0"/>
              <a:t>Interval Notation</a:t>
            </a:r>
            <a:endParaRPr lang="en-US" dirty="0"/>
          </a:p>
        </p:txBody>
      </p:sp>
      <p:sp>
        <p:nvSpPr>
          <p:cNvPr id="3" name="Content Placeholder 2"/>
          <p:cNvSpPr>
            <a:spLocks noGrp="1"/>
          </p:cNvSpPr>
          <p:nvPr>
            <p:ph idx="1"/>
          </p:nvPr>
        </p:nvSpPr>
        <p:spPr>
          <a:xfrm>
            <a:off x="381000" y="1295400"/>
            <a:ext cx="8229600" cy="4389120"/>
          </a:xfrm>
        </p:spPr>
        <p:txBody>
          <a:bodyPr>
            <a:normAutofit fontScale="85000" lnSpcReduction="20000"/>
          </a:bodyPr>
          <a:lstStyle/>
          <a:p>
            <a:r>
              <a:rPr lang="en-US" dirty="0"/>
              <a:t>Interval notation is a way to write all numbers between two endpoints in a compact form, instead of listing them all.</a:t>
            </a:r>
          </a:p>
          <a:p>
            <a:r>
              <a:rPr lang="en-US" dirty="0"/>
              <a:t>It shows where a number starts and ends on the number line.</a:t>
            </a:r>
          </a:p>
          <a:p>
            <a:r>
              <a:rPr lang="en-US" dirty="0"/>
              <a:t>Uses brackets [ ] and parentheses ( ) to show whether endpoints are included or not.</a:t>
            </a:r>
          </a:p>
          <a:p>
            <a:pPr>
              <a:buNone/>
            </a:pPr>
            <a:endParaRPr lang="en-US" dirty="0">
              <a:latin typeface="Cambria Math" pitchFamily="18" charset="0"/>
              <a:ea typeface="Cambria Math" pitchFamily="18" charset="0"/>
            </a:endParaRP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  </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 </a:t>
            </a:r>
            <a:r>
              <a:rPr lang="en-US" i="1" dirty="0" smtClean="0">
                <a:latin typeface="Cambria Math"/>
                <a:ea typeface="Cambria Math"/>
              </a:rPr>
              <a:t>b</a:t>
            </a:r>
            <a:r>
              <a:rPr lang="en-US" dirty="0" smtClean="0">
                <a:latin typeface="Cambria Math"/>
                <a:ea typeface="Cambria Math"/>
              </a:rPr>
              <a:t>}</a:t>
            </a:r>
          </a:p>
          <a:p>
            <a:pPr>
              <a:buNone/>
            </a:pP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x</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dirty="0" smtClean="0">
                <a:latin typeface="Cambria Math"/>
                <a:ea typeface="Cambria Math"/>
              </a:rPr>
              <a:t>&lt; </a:t>
            </a:r>
            <a:r>
              <a:rPr lang="en-US" i="1" dirty="0" smtClean="0">
                <a:latin typeface="Cambria Math"/>
                <a:ea typeface="Cambria Math"/>
              </a:rPr>
              <a:t>x</a:t>
            </a:r>
            <a:r>
              <a:rPr lang="en-US" dirty="0" smtClean="0">
                <a:latin typeface="Cambria Math"/>
                <a:ea typeface="Cambria Math"/>
              </a:rPr>
              <a:t> &lt; </a:t>
            </a:r>
            <a:r>
              <a:rPr lang="en-US" i="1" dirty="0" smtClean="0">
                <a:latin typeface="Cambria Math"/>
                <a:ea typeface="Cambria Math"/>
              </a:rPr>
              <a:t>b</a:t>
            </a:r>
            <a:r>
              <a:rPr lang="en-US" dirty="0" smtClean="0">
                <a:latin typeface="Cambria Math"/>
                <a:ea typeface="Cambria Math"/>
              </a:rPr>
              <a:t>}</a:t>
            </a:r>
          </a:p>
          <a:p>
            <a:pPr>
              <a:buNone/>
            </a:pPr>
            <a:endParaRPr lang="en-US" dirty="0" smtClean="0">
              <a:latin typeface="Cambria Math"/>
              <a:ea typeface="Cambria Math"/>
            </a:endParaRPr>
          </a:p>
          <a:p>
            <a:pPr>
              <a:buNone/>
            </a:pPr>
            <a:r>
              <a:rPr lang="en-US" i="1" dirty="0" smtClean="0"/>
              <a:t>  closed interval  </a:t>
            </a:r>
            <a:r>
              <a:rPr lang="en-US" dirty="0" smtClean="0"/>
              <a:t>[</a:t>
            </a:r>
            <a:r>
              <a:rPr lang="en-US" dirty="0" err="1" smtClean="0"/>
              <a:t>a,b</a:t>
            </a:r>
            <a:r>
              <a:rPr lang="en-US" dirty="0" smtClean="0"/>
              <a:t>]</a:t>
            </a:r>
          </a:p>
          <a:p>
            <a:pPr>
              <a:buNone/>
            </a:pPr>
            <a:r>
              <a:rPr lang="en-US" i="1" dirty="0" smtClean="0"/>
              <a:t>  open interval     </a:t>
            </a:r>
            <a:r>
              <a:rPr lang="en-US" dirty="0" smtClean="0"/>
              <a:t>(</a:t>
            </a:r>
            <a:r>
              <a:rPr lang="en-US" dirty="0" err="1" smtClean="0"/>
              <a:t>a,b</a:t>
            </a:r>
            <a:r>
              <a:rPr lang="en-US" dirty="0" smtClean="0"/>
              <a:t>)</a:t>
            </a:r>
          </a:p>
          <a:p>
            <a:pPr>
              <a:buNone/>
            </a:pPr>
            <a:endParaRPr lang="en-US" dirty="0">
              <a:latin typeface="Cambria Math" pitchFamily="18" charset="0"/>
              <a:ea typeface="Cambria Math"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223520"/>
            <a:ext cx="8229600" cy="1143000"/>
          </a:xfrm>
        </p:spPr>
        <p:txBody>
          <a:bodyPr/>
          <a:lstStyle/>
          <a:p>
            <a:r>
              <a:rPr lang="en-US" dirty="0" smtClean="0"/>
              <a:t>Universal Set and Empty Set</a:t>
            </a:r>
            <a:endParaRPr lang="en-US" dirty="0"/>
          </a:p>
        </p:txBody>
      </p:sp>
      <p:sp>
        <p:nvSpPr>
          <p:cNvPr id="3" name="Content Placeholder 2"/>
          <p:cNvSpPr>
            <a:spLocks noGrp="1"/>
          </p:cNvSpPr>
          <p:nvPr>
            <p:ph idx="1"/>
          </p:nvPr>
        </p:nvSpPr>
        <p:spPr/>
        <p:txBody>
          <a:bodyPr/>
          <a:lstStyle/>
          <a:p>
            <a:pPr algn="just"/>
            <a:r>
              <a:rPr lang="en-US" dirty="0"/>
              <a:t>A universal set is a set which contains all the elements or objects of other sets, including its own elements. It is usually denoted by the symbol ‘U</a:t>
            </a:r>
            <a:r>
              <a:rPr lang="en-US" dirty="0" smtClean="0"/>
              <a:t>’.</a:t>
            </a:r>
          </a:p>
          <a:p>
            <a:pPr lvl="0" algn="just"/>
            <a:r>
              <a:rPr lang="en-US" altLang="en-US" sz="2400" dirty="0"/>
              <a:t>An empty set (or null set/void set) is a unique set in mathematics that contains no elements at all, </a:t>
            </a:r>
            <a:r>
              <a:rPr lang="en-US" altLang="en-US" sz="2400" dirty="0" smtClean="0"/>
              <a:t>meaning </a:t>
            </a:r>
            <a:r>
              <a:rPr lang="en-US" altLang="en-US" sz="2400" dirty="0"/>
              <a:t>its size or cardinality is zero. It's represented by empty curly brackets {} or </a:t>
            </a:r>
            <a:r>
              <a:rPr lang="en-US" sz="2400" dirty="0"/>
              <a:t>the symbol ∅.</a:t>
            </a:r>
            <a:endParaRPr lang="en-US" altLang="en-US" sz="2400" dirty="0"/>
          </a:p>
          <a:p>
            <a:pPr algn="just"/>
            <a:endParaRPr lang="en-US" dirty="0" smtClean="0"/>
          </a:p>
          <a:p>
            <a:pPr algn="just"/>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Universal </a:t>
            </a:r>
            <a:r>
              <a:rPr lang="en-US" dirty="0" smtClean="0"/>
              <a:t>Set - Example</a:t>
            </a:r>
            <a:endParaRPr lang="en-US" dirty="0"/>
          </a:p>
        </p:txBody>
      </p:sp>
      <p:sp>
        <p:nvSpPr>
          <p:cNvPr id="3" name="Content Placeholder 2"/>
          <p:cNvSpPr>
            <a:spLocks noGrp="1"/>
          </p:cNvSpPr>
          <p:nvPr>
            <p:ph idx="1"/>
          </p:nvPr>
        </p:nvSpPr>
        <p:spPr/>
        <p:txBody>
          <a:bodyPr>
            <a:normAutofit fontScale="92500"/>
          </a:bodyPr>
          <a:lstStyle/>
          <a:p>
            <a:r>
              <a:rPr lang="en-US" b="1" dirty="0"/>
              <a:t>Example:</a:t>
            </a:r>
            <a:r>
              <a:rPr lang="en-US" dirty="0"/>
              <a:t> Let us say, there are three sets named as A, B and C. The elements of all sets A, B and C is defined as;</a:t>
            </a:r>
          </a:p>
          <a:p>
            <a:r>
              <a:rPr lang="en-US" dirty="0"/>
              <a:t>A={1,3,6,8}</a:t>
            </a:r>
          </a:p>
          <a:p>
            <a:r>
              <a:rPr lang="en-US" dirty="0"/>
              <a:t>B={2,3,4,5}</a:t>
            </a:r>
          </a:p>
          <a:p>
            <a:r>
              <a:rPr lang="en-US" dirty="0"/>
              <a:t>C={5,8,9}</a:t>
            </a:r>
          </a:p>
          <a:p>
            <a:r>
              <a:rPr lang="en-US" dirty="0"/>
              <a:t>Find the universal set for all the three sets A, B and C.</a:t>
            </a:r>
          </a:p>
          <a:p>
            <a:r>
              <a:rPr lang="en-US" b="1" dirty="0"/>
              <a:t>Answer:</a:t>
            </a:r>
            <a:r>
              <a:rPr lang="en-US" dirty="0"/>
              <a:t> By the definition we know, the universal set includes all the elements of the given sets. Therefore, Universal set for sets A, B and C will be,</a:t>
            </a:r>
          </a:p>
          <a:p>
            <a:r>
              <a:rPr lang="en-US" dirty="0"/>
              <a:t>U={1,2,3,4,5,6,8,9}</a:t>
            </a:r>
          </a:p>
        </p:txBody>
      </p:sp>
    </p:spTree>
    <p:extLst>
      <p:ext uri="{BB962C8B-B14F-4D97-AF65-F5344CB8AC3E}">
        <p14:creationId xmlns:p14="http://schemas.microsoft.com/office/powerpoint/2010/main" val="364212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080"/>
            <a:ext cx="8229600" cy="1143000"/>
          </a:xfrm>
        </p:spPr>
        <p:txBody>
          <a:bodyPr/>
          <a:lstStyle/>
          <a:p>
            <a:r>
              <a:rPr lang="en-US" dirty="0" smtClean="0"/>
              <a:t>Russell’s Paradox</a:t>
            </a:r>
            <a:endParaRPr lang="en-US" dirty="0"/>
          </a:p>
        </p:txBody>
      </p:sp>
      <p:sp>
        <p:nvSpPr>
          <p:cNvPr id="3" name="Content Placeholder 2"/>
          <p:cNvSpPr>
            <a:spLocks noGrp="1"/>
          </p:cNvSpPr>
          <p:nvPr>
            <p:ph idx="1"/>
          </p:nvPr>
        </p:nvSpPr>
        <p:spPr>
          <a:xfrm>
            <a:off x="264160" y="1137920"/>
            <a:ext cx="8229600" cy="4389120"/>
          </a:xfrm>
        </p:spPr>
        <p:txBody>
          <a:bodyPr>
            <a:normAutofit/>
          </a:bodyPr>
          <a:lstStyle/>
          <a:p>
            <a:r>
              <a:rPr lang="en-US" sz="2000" b="1" dirty="0">
                <a:latin typeface="+mj-lt"/>
              </a:rPr>
              <a:t>Russell's paradox</a:t>
            </a:r>
            <a:r>
              <a:rPr lang="en-US" sz="2000" dirty="0">
                <a:latin typeface="+mj-lt"/>
              </a:rPr>
              <a:t> is a counterexample to naive set theory, which defines a set as any definable collection. The paradox defines the set </a:t>
            </a:r>
            <a:r>
              <a:rPr lang="en-US" sz="2000" i="1" dirty="0" smtClean="0">
                <a:latin typeface="+mj-lt"/>
              </a:rPr>
              <a:t>R</a:t>
            </a:r>
            <a:r>
              <a:rPr lang="en-US" sz="2000" dirty="0">
                <a:latin typeface="+mj-lt"/>
              </a:rPr>
              <a:t> of all sets that are </a:t>
            </a:r>
            <a:r>
              <a:rPr lang="en-US" sz="2000" b="1" dirty="0">
                <a:latin typeface="+mj-lt"/>
              </a:rPr>
              <a:t>not</a:t>
            </a:r>
            <a:r>
              <a:rPr lang="en-US" sz="2000" dirty="0">
                <a:latin typeface="+mj-lt"/>
              </a:rPr>
              <a:t> members of themselves, and notes </a:t>
            </a:r>
            <a:r>
              <a:rPr lang="en-US" sz="2000" dirty="0" smtClean="0">
                <a:latin typeface="+mj-lt"/>
              </a:rPr>
              <a:t>that</a:t>
            </a:r>
          </a:p>
          <a:p>
            <a:pPr marL="0" indent="0">
              <a:buNone/>
            </a:pPr>
            <a:endParaRPr lang="en-US" dirty="0" smtClean="0"/>
          </a:p>
          <a:p>
            <a:pPr marL="0" indent="0">
              <a:buNone/>
            </a:pPr>
            <a:endParaRPr lang="en-US" sz="2000" dirty="0" smtClean="0">
              <a:latin typeface="+mj-lt"/>
            </a:endParaRPr>
          </a:p>
          <a:p>
            <a:r>
              <a:rPr lang="en-US" sz="2000" dirty="0" smtClean="0">
                <a:latin typeface="+mj-lt"/>
              </a:rPr>
              <a:t>So</a:t>
            </a:r>
            <a:r>
              <a:rPr lang="en-US" sz="2000" dirty="0">
                <a:latin typeface="+mj-lt"/>
              </a:rPr>
              <a:t>, R contains exactly those sets that do </a:t>
            </a:r>
            <a:r>
              <a:rPr lang="en-US" sz="2000" i="1" dirty="0">
                <a:latin typeface="+mj-lt"/>
              </a:rPr>
              <a:t>not</a:t>
            </a:r>
            <a:r>
              <a:rPr lang="en-US" sz="2000" dirty="0">
                <a:latin typeface="+mj-lt"/>
              </a:rPr>
              <a:t> contain themselves</a:t>
            </a:r>
            <a:r>
              <a:rPr lang="en-US" sz="2000" dirty="0" smtClean="0">
                <a:latin typeface="+mj-lt"/>
              </a:rPr>
              <a:t>.</a:t>
            </a:r>
          </a:p>
          <a:p>
            <a:pPr marL="0" indent="0">
              <a:buNone/>
            </a:pPr>
            <a:endParaRPr lang="en-US" sz="2000" dirty="0" smtClean="0">
              <a:latin typeface="+mj-lt"/>
            </a:endParaRPr>
          </a:p>
          <a:p>
            <a:r>
              <a:rPr lang="en-US" sz="2000" dirty="0" smtClean="0">
                <a:latin typeface="+mj-lt"/>
              </a:rPr>
              <a:t>If R ∈ R, </a:t>
            </a:r>
            <a:r>
              <a:rPr lang="en-US" sz="2000" dirty="0">
                <a:latin typeface="+mj-lt"/>
              </a:rPr>
              <a:t>then </a:t>
            </a:r>
            <a:r>
              <a:rPr lang="en-US" sz="2000" dirty="0" smtClean="0">
                <a:latin typeface="+mj-lt"/>
              </a:rPr>
              <a:t>R </a:t>
            </a:r>
            <a:r>
              <a:rPr lang="en-US" sz="2000" dirty="0">
                <a:latin typeface="+mj-lt"/>
              </a:rPr>
              <a:t>must be a set that is not a member of itself by the definition of </a:t>
            </a:r>
            <a:r>
              <a:rPr lang="en-US" sz="2000" dirty="0" smtClean="0">
                <a:latin typeface="+mj-lt"/>
              </a:rPr>
              <a:t>R, </a:t>
            </a:r>
            <a:r>
              <a:rPr lang="en-US" sz="2000" dirty="0">
                <a:latin typeface="+mj-lt"/>
              </a:rPr>
              <a:t>which is contradictory.</a:t>
            </a:r>
            <a:endParaRPr lang="en-US" sz="2000" dirty="0" smtClean="0">
              <a:latin typeface="+mj-lt"/>
            </a:endParaRPr>
          </a:p>
          <a:p>
            <a:endParaRPr lang="en-US" dirty="0"/>
          </a:p>
        </p:txBody>
      </p:sp>
      <p:pic>
        <p:nvPicPr>
          <p:cNvPr id="6" name="Picture 5"/>
          <p:cNvPicPr>
            <a:picLocks noChangeAspect="1"/>
          </p:cNvPicPr>
          <p:nvPr/>
        </p:nvPicPr>
        <p:blipFill>
          <a:blip r:embed="rId3"/>
          <a:stretch>
            <a:fillRect/>
          </a:stretch>
        </p:blipFill>
        <p:spPr>
          <a:xfrm>
            <a:off x="2590800" y="2133600"/>
            <a:ext cx="3352800" cy="609600"/>
          </a:xfrm>
          <a:prstGeom prst="rect">
            <a:avLst/>
          </a:prstGeom>
        </p:spPr>
      </p:pic>
      <p:pic>
        <p:nvPicPr>
          <p:cNvPr id="7" name="Picture 6"/>
          <p:cNvPicPr>
            <a:picLocks noChangeAspect="1"/>
          </p:cNvPicPr>
          <p:nvPr/>
        </p:nvPicPr>
        <p:blipFill>
          <a:blip r:embed="rId4"/>
          <a:stretch>
            <a:fillRect/>
          </a:stretch>
        </p:blipFill>
        <p:spPr>
          <a:xfrm>
            <a:off x="3817588" y="4442318"/>
            <a:ext cx="866171" cy="442300"/>
          </a:xfrm>
          <a:prstGeom prst="rect">
            <a:avLst/>
          </a:prstGeom>
        </p:spPr>
      </p:pic>
      <p:sp>
        <p:nvSpPr>
          <p:cNvPr id="8" name="TextBox 7"/>
          <p:cNvSpPr txBox="1"/>
          <p:nvPr/>
        </p:nvSpPr>
        <p:spPr>
          <a:xfrm>
            <a:off x="680077" y="5232156"/>
            <a:ext cx="7966725" cy="1015663"/>
          </a:xfrm>
          <a:prstGeom prst="rect">
            <a:avLst/>
          </a:prstGeom>
          <a:noFill/>
        </p:spPr>
        <p:txBody>
          <a:bodyPr wrap="square" rtlCol="0">
            <a:spAutoFit/>
          </a:bodyPr>
          <a:lstStyle/>
          <a:p>
            <a:r>
              <a:rPr lang="en-US" sz="2000" b="1" dirty="0"/>
              <a:t>Assume</a:t>
            </a:r>
            <a:r>
              <a:rPr lang="en-US" sz="2000" dirty="0"/>
              <a:t> that </a:t>
            </a:r>
            <a:r>
              <a:rPr lang="en-US" sz="2000" dirty="0" smtClean="0"/>
              <a:t>R </a:t>
            </a:r>
            <a:r>
              <a:rPr lang="en-US" sz="2000" dirty="0"/>
              <a:t>contains itself:</a:t>
            </a:r>
          </a:p>
          <a:p>
            <a:r>
              <a:rPr lang="en-US" sz="2000" dirty="0" smtClean="0"/>
              <a:t>                                                 R </a:t>
            </a:r>
            <a:r>
              <a:rPr lang="en-US" sz="2000" dirty="0"/>
              <a:t>∈ R </a:t>
            </a:r>
            <a:endParaRPr lang="en-US" sz="2000" dirty="0" smtClean="0"/>
          </a:p>
          <a:p>
            <a:r>
              <a:rPr lang="en-US" sz="2000" dirty="0"/>
              <a:t>T</a:t>
            </a:r>
            <a:r>
              <a:rPr lang="en-US" sz="2000" dirty="0" smtClean="0"/>
              <a:t>his </a:t>
            </a:r>
            <a:r>
              <a:rPr lang="en-US" sz="2000" dirty="0"/>
              <a:t>means that </a:t>
            </a:r>
            <a:r>
              <a:rPr lang="en-US" sz="2000" b="1" dirty="0"/>
              <a:t>R satisfies the condition to be in R</a:t>
            </a:r>
            <a:r>
              <a:rPr lang="en-US" sz="2000" dirty="0"/>
              <a:t>.</a:t>
            </a:r>
          </a:p>
        </p:txBody>
      </p:sp>
      <p:sp>
        <p:nvSpPr>
          <p:cNvPr id="9" name="TextBox 8"/>
          <p:cNvSpPr txBox="1"/>
          <p:nvPr/>
        </p:nvSpPr>
        <p:spPr>
          <a:xfrm>
            <a:off x="533400" y="3279338"/>
            <a:ext cx="2895600" cy="400110"/>
          </a:xfrm>
          <a:prstGeom prst="rect">
            <a:avLst/>
          </a:prstGeom>
          <a:noFill/>
        </p:spPr>
        <p:txBody>
          <a:bodyPr wrap="square" rtlCol="0">
            <a:spAutoFit/>
          </a:bodyPr>
          <a:lstStyle/>
          <a:p>
            <a:r>
              <a:rPr lang="en-US" sz="2000" b="1" dirty="0" smtClean="0"/>
              <a:t>Statement</a:t>
            </a:r>
            <a:r>
              <a:rPr lang="en-US" b="1" dirty="0" smtClean="0"/>
              <a:t>:</a:t>
            </a:r>
            <a:endParaRPr lang="en-US" b="1" dirty="0"/>
          </a:p>
        </p:txBody>
      </p:sp>
      <p:sp>
        <p:nvSpPr>
          <p:cNvPr id="10" name="TextBox 9"/>
          <p:cNvSpPr txBox="1"/>
          <p:nvPr/>
        </p:nvSpPr>
        <p:spPr>
          <a:xfrm>
            <a:off x="643875" y="4684563"/>
            <a:ext cx="2895600" cy="461665"/>
          </a:xfrm>
          <a:prstGeom prst="rect">
            <a:avLst/>
          </a:prstGeom>
          <a:noFill/>
        </p:spPr>
        <p:txBody>
          <a:bodyPr wrap="square" rtlCol="0">
            <a:spAutoFit/>
          </a:bodyPr>
          <a:lstStyle/>
          <a:p>
            <a:r>
              <a:rPr lang="en-US" sz="2400" b="1" dirty="0" smtClean="0"/>
              <a:t>Explanation:</a:t>
            </a:r>
            <a:endParaRPr lang="en-US" sz="2400" b="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360" y="1637273"/>
            <a:ext cx="8229600" cy="4389120"/>
          </a:xfrm>
        </p:spPr>
        <p:txBody>
          <a:bodyPr/>
          <a:lstStyle/>
          <a:p>
            <a:r>
              <a:rPr lang="en-US" sz="2000" dirty="0"/>
              <a:t>But the condition to be in R is</a:t>
            </a:r>
            <a:r>
              <a:rPr lang="en-US" sz="2000" dirty="0" smtClean="0"/>
              <a:t>:</a:t>
            </a:r>
          </a:p>
          <a:p>
            <a:pPr marL="0" indent="0">
              <a:buNone/>
            </a:pPr>
            <a:r>
              <a:rPr lang="en-US" dirty="0" smtClean="0"/>
              <a:t>                                    </a:t>
            </a:r>
            <a:endParaRPr lang="en-US" dirty="0"/>
          </a:p>
        </p:txBody>
      </p:sp>
      <p:pic>
        <p:nvPicPr>
          <p:cNvPr id="7" name="Picture 6"/>
          <p:cNvPicPr>
            <a:picLocks noChangeAspect="1"/>
          </p:cNvPicPr>
          <p:nvPr/>
        </p:nvPicPr>
        <p:blipFill>
          <a:blip r:embed="rId2"/>
          <a:stretch>
            <a:fillRect/>
          </a:stretch>
        </p:blipFill>
        <p:spPr>
          <a:xfrm>
            <a:off x="3011013" y="2093479"/>
            <a:ext cx="749339" cy="457223"/>
          </a:xfrm>
          <a:prstGeom prst="rect">
            <a:avLst/>
          </a:prstGeom>
        </p:spPr>
      </p:pic>
      <p:sp>
        <p:nvSpPr>
          <p:cNvPr id="8" name="Rectangle 7"/>
          <p:cNvSpPr/>
          <p:nvPr/>
        </p:nvSpPr>
        <p:spPr>
          <a:xfrm>
            <a:off x="717393" y="2577590"/>
            <a:ext cx="4129464" cy="400110"/>
          </a:xfrm>
          <a:prstGeom prst="rect">
            <a:avLst/>
          </a:prstGeom>
        </p:spPr>
        <p:txBody>
          <a:bodyPr wrap="none">
            <a:spAutoFit/>
          </a:bodyPr>
          <a:lstStyle/>
          <a:p>
            <a:r>
              <a:rPr lang="en-US" sz="2000" dirty="0"/>
              <a:t>(i.e., the set must not contain itself)</a:t>
            </a:r>
          </a:p>
        </p:txBody>
      </p:sp>
      <p:sp>
        <p:nvSpPr>
          <p:cNvPr id="9" name="TextBox 8"/>
          <p:cNvSpPr txBox="1"/>
          <p:nvPr/>
        </p:nvSpPr>
        <p:spPr>
          <a:xfrm>
            <a:off x="763113" y="3185502"/>
            <a:ext cx="4495800" cy="707886"/>
          </a:xfrm>
          <a:prstGeom prst="rect">
            <a:avLst/>
          </a:prstGeom>
          <a:noFill/>
        </p:spPr>
        <p:txBody>
          <a:bodyPr wrap="square" rtlCol="0">
            <a:spAutoFit/>
          </a:bodyPr>
          <a:lstStyle/>
          <a:p>
            <a:r>
              <a:rPr lang="en-US" sz="2000" dirty="0"/>
              <a:t>Therefore, if </a:t>
            </a:r>
            <a:r>
              <a:rPr lang="en-US" sz="2000" dirty="0" smtClean="0"/>
              <a:t>R ∈ R then </a:t>
            </a:r>
            <a:r>
              <a:rPr lang="en-US" sz="2000" dirty="0"/>
              <a:t>by definition:</a:t>
            </a:r>
          </a:p>
          <a:p>
            <a:endParaRPr lang="en-US" sz="2000" dirty="0"/>
          </a:p>
        </p:txBody>
      </p:sp>
      <p:pic>
        <p:nvPicPr>
          <p:cNvPr id="10" name="Picture 9"/>
          <p:cNvPicPr>
            <a:picLocks noChangeAspect="1"/>
          </p:cNvPicPr>
          <p:nvPr/>
        </p:nvPicPr>
        <p:blipFill>
          <a:blip r:embed="rId3"/>
          <a:stretch>
            <a:fillRect/>
          </a:stretch>
        </p:blipFill>
        <p:spPr>
          <a:xfrm>
            <a:off x="3067046" y="3783493"/>
            <a:ext cx="863644" cy="444523"/>
          </a:xfrm>
          <a:prstGeom prst="rect">
            <a:avLst/>
          </a:prstGeom>
        </p:spPr>
      </p:pic>
      <p:sp>
        <p:nvSpPr>
          <p:cNvPr id="11" name="TextBox 10"/>
          <p:cNvSpPr txBox="1"/>
          <p:nvPr/>
        </p:nvSpPr>
        <p:spPr>
          <a:xfrm>
            <a:off x="814027" y="4283908"/>
            <a:ext cx="2273339" cy="400110"/>
          </a:xfrm>
          <a:prstGeom prst="rect">
            <a:avLst/>
          </a:prstGeom>
          <a:noFill/>
        </p:spPr>
        <p:txBody>
          <a:bodyPr wrap="square" rtlCol="0">
            <a:spAutoFit/>
          </a:bodyPr>
          <a:lstStyle/>
          <a:p>
            <a:r>
              <a:rPr lang="en-US" sz="2000" dirty="0"/>
              <a:t>Now we have:</a:t>
            </a:r>
          </a:p>
        </p:txBody>
      </p:sp>
      <p:pic>
        <p:nvPicPr>
          <p:cNvPr id="12" name="Picture 11"/>
          <p:cNvPicPr>
            <a:picLocks noChangeAspect="1"/>
          </p:cNvPicPr>
          <p:nvPr/>
        </p:nvPicPr>
        <p:blipFill>
          <a:blip r:embed="rId4"/>
          <a:stretch>
            <a:fillRect/>
          </a:stretch>
        </p:blipFill>
        <p:spPr>
          <a:xfrm>
            <a:off x="2774930" y="4685359"/>
            <a:ext cx="2311519" cy="400071"/>
          </a:xfrm>
          <a:prstGeom prst="rect">
            <a:avLst/>
          </a:prstGeom>
        </p:spPr>
      </p:pic>
      <p:sp>
        <p:nvSpPr>
          <p:cNvPr id="13" name="Rectangle 12"/>
          <p:cNvSpPr/>
          <p:nvPr/>
        </p:nvSpPr>
        <p:spPr>
          <a:xfrm>
            <a:off x="686913" y="5322100"/>
            <a:ext cx="7999887" cy="707886"/>
          </a:xfrm>
          <a:prstGeom prst="rect">
            <a:avLst/>
          </a:prstGeom>
        </p:spPr>
        <p:txBody>
          <a:bodyPr wrap="square">
            <a:spAutoFit/>
          </a:bodyPr>
          <a:lstStyle/>
          <a:p>
            <a:r>
              <a:rPr lang="en-US" sz="2000" dirty="0"/>
              <a:t>This is a contradiction (a statement and its negation cannot both be true).</a:t>
            </a:r>
          </a:p>
        </p:txBody>
      </p:sp>
    </p:spTree>
    <p:extLst>
      <p:ext uri="{BB962C8B-B14F-4D97-AF65-F5344CB8AC3E}">
        <p14:creationId xmlns:p14="http://schemas.microsoft.com/office/powerpoint/2010/main" val="36660002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0" y="457200"/>
            <a:ext cx="8229600" cy="1143000"/>
          </a:xfrm>
        </p:spPr>
        <p:txBody>
          <a:bodyPr/>
          <a:lstStyle/>
          <a:p>
            <a:r>
              <a:rPr lang="en-US" dirty="0" smtClean="0"/>
              <a:t>Some things to remember</a:t>
            </a:r>
            <a:endParaRPr lang="en-US" dirty="0"/>
          </a:p>
        </p:txBody>
      </p:sp>
      <p:sp>
        <p:nvSpPr>
          <p:cNvPr id="3" name="Content Placeholder 2"/>
          <p:cNvSpPr>
            <a:spLocks noGrp="1"/>
          </p:cNvSpPr>
          <p:nvPr>
            <p:ph idx="1"/>
          </p:nvPr>
        </p:nvSpPr>
        <p:spPr>
          <a:xfrm>
            <a:off x="482600" y="1828800"/>
            <a:ext cx="8229600" cy="4389120"/>
          </a:xfrm>
        </p:spPr>
        <p:txBody>
          <a:bodyPr>
            <a:normAutofit lnSpcReduction="10000"/>
          </a:bodyPr>
          <a:lstStyle/>
          <a:p>
            <a:r>
              <a:rPr lang="en-US" dirty="0" smtClean="0"/>
              <a:t>Sets can be elements of sets.</a:t>
            </a:r>
          </a:p>
          <a:p>
            <a:pPr>
              <a:buNone/>
            </a:pPr>
            <a:r>
              <a:rPr lang="en-US" dirty="0" smtClean="0">
                <a:latin typeface="Cambria Math" pitchFamily="18" charset="0"/>
                <a:ea typeface="Cambria Math" pitchFamily="18" charset="0"/>
              </a:rPr>
              <a:t>         {{1,2,3},</a:t>
            </a:r>
            <a:r>
              <a:rPr lang="en-US" i="1" dirty="0" smtClean="0">
                <a:latin typeface="Cambria Math" pitchFamily="18" charset="0"/>
                <a:ea typeface="Cambria Math" pitchFamily="18" charset="0"/>
              </a:rPr>
              <a:t>a</a:t>
            </a:r>
            <a:r>
              <a:rPr lang="en-US" dirty="0" smtClean="0">
                <a:latin typeface="Cambria Math" pitchFamily="18" charset="0"/>
                <a:ea typeface="Cambria Math" pitchFamily="18" charset="0"/>
              </a:rPr>
              <a:t>, {</a:t>
            </a:r>
            <a:r>
              <a:rPr lang="en-US" i="1" dirty="0" err="1" smtClean="0">
                <a:latin typeface="Cambria Math" pitchFamily="18" charset="0"/>
                <a:ea typeface="Cambria Math" pitchFamily="18" charset="0"/>
              </a:rPr>
              <a:t>b,c</a:t>
            </a:r>
            <a:r>
              <a:rPr lang="en-US" dirty="0" smtClean="0">
                <a:latin typeface="Cambria Math" pitchFamily="18" charset="0"/>
                <a:ea typeface="Cambria Math" pitchFamily="18" charset="0"/>
              </a:rPr>
              <a:t>}}</a:t>
            </a:r>
          </a:p>
          <a:p>
            <a:pPr>
              <a:buNone/>
            </a:pPr>
            <a:r>
              <a:rPr lang="en-US" dirty="0" smtClean="0">
                <a:latin typeface="Cambria Math" pitchFamily="18" charset="0"/>
                <a:ea typeface="Cambria Math" pitchFamily="18" charset="0"/>
              </a:rPr>
              <a:t>          {</a:t>
            </a:r>
            <a:r>
              <a:rPr lang="en-US" b="1"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Z</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Q</a:t>
            </a:r>
            <a:r>
              <a:rPr lang="en-US" dirty="0" smtClean="0">
                <a:latin typeface="Cambria Math" pitchFamily="18" charset="0"/>
                <a:ea typeface="Cambria Math" pitchFamily="18" charset="0"/>
              </a:rPr>
              <a:t>,</a:t>
            </a:r>
            <a:r>
              <a:rPr lang="en-US" b="1" dirty="0" smtClean="0">
                <a:latin typeface="Cambria Math" pitchFamily="18" charset="0"/>
                <a:ea typeface="Cambria Math" pitchFamily="18" charset="0"/>
              </a:rPr>
              <a:t>R</a:t>
            </a:r>
            <a:r>
              <a:rPr lang="en-US" dirty="0" smtClean="0">
                <a:latin typeface="Cambria Math" pitchFamily="18" charset="0"/>
                <a:ea typeface="Cambria Math" pitchFamily="18" charset="0"/>
              </a:rPr>
              <a:t>}</a:t>
            </a:r>
          </a:p>
          <a:p>
            <a:pPr>
              <a:buNone/>
            </a:pPr>
            <a:endParaRPr lang="en-US" dirty="0" smtClean="0">
              <a:latin typeface="Cambria Math" pitchFamily="18" charset="0"/>
              <a:ea typeface="Cambria Math" pitchFamily="18" charset="0"/>
            </a:endParaRPr>
          </a:p>
          <a:p>
            <a:pPr>
              <a:buNone/>
            </a:pPr>
            <a:endParaRPr lang="en-US" dirty="0" smtClean="0">
              <a:latin typeface="Cambria Math" pitchFamily="18" charset="0"/>
              <a:ea typeface="Cambria Math" pitchFamily="18" charset="0"/>
            </a:endParaRPr>
          </a:p>
          <a:p>
            <a:pPr>
              <a:buNone/>
            </a:pPr>
            <a:endParaRPr lang="en-US" dirty="0" smtClean="0">
              <a:latin typeface="Cambria Math" pitchFamily="18" charset="0"/>
              <a:ea typeface="Cambria Math" pitchFamily="18" charset="0"/>
            </a:endParaRPr>
          </a:p>
          <a:p>
            <a:endParaRPr lang="en-US" dirty="0" smtClean="0"/>
          </a:p>
          <a:p>
            <a:r>
              <a:rPr lang="en-US" dirty="0" smtClean="0"/>
              <a:t>The empty set is different from a set containing the empty set.</a:t>
            </a:r>
          </a:p>
          <a:p>
            <a:pPr>
              <a:buNone/>
            </a:pPr>
            <a:r>
              <a:rPr lang="en-US" dirty="0" smtClean="0"/>
              <a:t>       </a:t>
            </a:r>
            <a:r>
              <a:rPr lang="en-US" dirty="0" smtClean="0">
                <a:latin typeface="Cambria Math"/>
                <a:ea typeface="Cambria Math"/>
              </a:rPr>
              <a:t>∅</a:t>
            </a:r>
            <a:r>
              <a:rPr lang="en-US" dirty="0" smtClean="0"/>
              <a:t>  </a:t>
            </a:r>
            <a:r>
              <a:rPr lang="en-US" dirty="0" smtClean="0">
                <a:latin typeface="Cambria Math"/>
                <a:ea typeface="Cambria Math"/>
              </a:rPr>
              <a:t>≠ { ∅ } </a:t>
            </a:r>
            <a:endParaRPr lang="en-US" dirty="0"/>
          </a:p>
        </p:txBody>
      </p:sp>
      <p:sp>
        <p:nvSpPr>
          <p:cNvPr id="9" name="Rectangle 4"/>
          <p:cNvSpPr>
            <a:spLocks noChangeArrowheads="1"/>
          </p:cNvSpPr>
          <p:nvPr/>
        </p:nvSpPr>
        <p:spPr bwMode="auto">
          <a:xfrm>
            <a:off x="1143000" y="3238530"/>
            <a:ext cx="423417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Unicode MS"/>
              </a:rPr>
              <a:t>N</a:t>
            </a:r>
            <a:r>
              <a:rPr kumimoji="0" lang="en-US" altLang="en-US" sz="2400" b="0" i="0" u="none" strike="noStrike" cap="none" normalizeH="0" baseline="0" dirty="0" smtClean="0">
                <a:ln>
                  <a:noFill/>
                </a:ln>
                <a:solidFill>
                  <a:schemeClr val="tx1"/>
                </a:solidFill>
                <a:effectLst/>
              </a:rPr>
              <a:t> = Natural numbers {1,2,3,…}</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Unicode MS"/>
              </a:rPr>
              <a:t>Q</a:t>
            </a:r>
            <a:r>
              <a:rPr kumimoji="0" lang="en-US" altLang="en-US" sz="2400" b="0" i="0" u="none" strike="noStrike" cap="none" normalizeH="0" baseline="0" dirty="0" smtClean="0">
                <a:ln>
                  <a:noFill/>
                </a:ln>
                <a:solidFill>
                  <a:schemeClr val="tx1"/>
                </a:solidFill>
                <a:effectLst/>
              </a:rPr>
              <a:t> = Rational numbers</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Unicode MS"/>
              </a:rPr>
              <a:t>R</a:t>
            </a:r>
            <a:r>
              <a:rPr kumimoji="0" lang="en-US" altLang="en-US" sz="2400" b="0" i="0" u="none" strike="noStrike" cap="none" normalizeH="0" baseline="0" dirty="0" smtClean="0">
                <a:ln>
                  <a:noFill/>
                </a:ln>
                <a:solidFill>
                  <a:schemeClr val="tx1"/>
                </a:solidFill>
                <a:effectLst/>
              </a:rPr>
              <a:t> = Real numbers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Unicode MS"/>
              </a:rPr>
              <a:t>Z</a:t>
            </a:r>
            <a:r>
              <a:rPr kumimoji="0" lang="en-US" altLang="en-US" sz="2400" b="0" i="0" u="none" strike="noStrike" cap="none" normalizeH="0" baseline="0" dirty="0" smtClean="0">
                <a:ln>
                  <a:noFill/>
                </a:ln>
                <a:solidFill>
                  <a:schemeClr val="tx1"/>
                </a:solidFill>
                <a:effectLst/>
              </a:rPr>
              <a:t> = Integers {…, -2,-1,0,1,2,…}</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Equality</a:t>
            </a:r>
            <a:endParaRPr lang="en-US" dirty="0"/>
          </a:p>
        </p:txBody>
      </p:sp>
      <p:sp>
        <p:nvSpPr>
          <p:cNvPr id="3" name="Content Placeholder 2"/>
          <p:cNvSpPr>
            <a:spLocks noGrp="1"/>
          </p:cNvSpPr>
          <p:nvPr>
            <p:ph idx="1"/>
          </p:nvPr>
        </p:nvSpPr>
        <p:spPr/>
        <p:txBody>
          <a:bodyPr/>
          <a:lstStyle/>
          <a:p>
            <a:pPr>
              <a:buNone/>
            </a:pPr>
            <a:r>
              <a:rPr lang="en-US" b="1" dirty="0" smtClean="0"/>
              <a:t>   Definition</a:t>
            </a:r>
            <a:r>
              <a:rPr lang="en-US" dirty="0" smtClean="0"/>
              <a:t>: Two sets are </a:t>
            </a:r>
            <a:r>
              <a:rPr lang="en-US" i="1" dirty="0" smtClean="0"/>
              <a:t>equal</a:t>
            </a:r>
            <a:r>
              <a:rPr lang="en-US" dirty="0" smtClean="0"/>
              <a:t> if and only if they have the same elements. </a:t>
            </a:r>
          </a:p>
          <a:p>
            <a:pPr lvl="1"/>
            <a:r>
              <a:rPr lang="en-US" dirty="0" smtClean="0"/>
              <a:t>Therefore if A and B are sets, then A and B are equal if and only if                                         . </a:t>
            </a:r>
          </a:p>
          <a:p>
            <a:pPr lvl="1"/>
            <a:r>
              <a:rPr lang="en-US" dirty="0" smtClean="0"/>
              <a:t>We write </a:t>
            </a:r>
            <a:r>
              <a:rPr lang="en-US" i="1" dirty="0" smtClean="0"/>
              <a:t>A</a:t>
            </a:r>
            <a:r>
              <a:rPr lang="en-US" dirty="0" smtClean="0"/>
              <a:t> = </a:t>
            </a:r>
            <a:r>
              <a:rPr lang="en-US" i="1" dirty="0" smtClean="0"/>
              <a:t>B</a:t>
            </a:r>
            <a:r>
              <a:rPr lang="en-US" dirty="0" smtClean="0"/>
              <a:t> if </a:t>
            </a:r>
            <a:r>
              <a:rPr lang="en-US" i="1" dirty="0" smtClean="0"/>
              <a:t>A</a:t>
            </a:r>
            <a:r>
              <a:rPr lang="en-US" dirty="0" smtClean="0"/>
              <a:t> and </a:t>
            </a:r>
            <a:r>
              <a:rPr lang="en-US" i="1" dirty="0" smtClean="0"/>
              <a:t>B</a:t>
            </a:r>
            <a:r>
              <a:rPr lang="en-US" dirty="0" smtClean="0"/>
              <a:t> are equal sets.</a:t>
            </a:r>
          </a:p>
          <a:p>
            <a:pPr>
              <a:buNone/>
            </a:pPr>
            <a:r>
              <a:rPr lang="en-US" dirty="0" smtClean="0"/>
              <a:t>  1. A = </a:t>
            </a:r>
            <a:r>
              <a:rPr lang="en-US" dirty="0" smtClean="0">
                <a:latin typeface="Cambria Math" pitchFamily="18" charset="0"/>
                <a:ea typeface="Cambria Math" pitchFamily="18" charset="0"/>
              </a:rPr>
              <a:t>{1,3,5},   B = {3, 5, 1}</a:t>
            </a:r>
          </a:p>
          <a:p>
            <a:pPr>
              <a:buNone/>
            </a:pPr>
            <a:r>
              <a:rPr lang="en-US" i="1" dirty="0" smtClean="0">
                <a:latin typeface="Cambria Math" pitchFamily="18" charset="0"/>
                <a:ea typeface="Cambria Math" pitchFamily="18" charset="0"/>
              </a:rPr>
              <a:t>       A = B</a:t>
            </a:r>
          </a:p>
          <a:p>
            <a:pPr>
              <a:buNone/>
            </a:pPr>
            <a:r>
              <a:rPr lang="en-US" dirty="0" smtClean="0">
                <a:latin typeface="Cambria Math" pitchFamily="18" charset="0"/>
                <a:ea typeface="Cambria Math" pitchFamily="18" charset="0"/>
              </a:rPr>
              <a:t> 2. </a:t>
            </a:r>
            <a:r>
              <a:rPr lang="en-US" dirty="0" smtClean="0"/>
              <a:t>A </a:t>
            </a:r>
            <a:r>
              <a:rPr lang="en-US" dirty="0"/>
              <a:t>=</a:t>
            </a:r>
            <a:r>
              <a:rPr lang="en-US" dirty="0" smtClean="0">
                <a:latin typeface="Cambria Math" pitchFamily="18" charset="0"/>
                <a:ea typeface="Cambria Math" pitchFamily="18" charset="0"/>
              </a:rPr>
              <a:t>  {1,5,5,5,3,3,1},  B = {1,3,5}</a:t>
            </a:r>
            <a:endParaRPr lang="en-US" dirty="0">
              <a:latin typeface="Cambria Math" pitchFamily="18" charset="0"/>
              <a:ea typeface="Cambria Math" pitchFamily="18" charset="0"/>
            </a:endParaRPr>
          </a:p>
          <a:p>
            <a:pPr>
              <a:buNone/>
            </a:pPr>
            <a:r>
              <a:rPr lang="en-US" i="1" dirty="0" smtClean="0">
                <a:latin typeface="Cambria Math" pitchFamily="18" charset="0"/>
                <a:ea typeface="Cambria Math" pitchFamily="18" charset="0"/>
              </a:rPr>
              <a:t>       A </a:t>
            </a:r>
            <a:r>
              <a:rPr lang="en-US" i="1" dirty="0">
                <a:latin typeface="Cambria Math" pitchFamily="18" charset="0"/>
                <a:ea typeface="Cambria Math" pitchFamily="18" charset="0"/>
              </a:rPr>
              <a:t>= B</a:t>
            </a:r>
          </a:p>
          <a:p>
            <a:pPr>
              <a:buNone/>
            </a:pPr>
            <a:endParaRPr lang="en-US" dirty="0">
              <a:latin typeface="Cambria Math" pitchFamily="18" charset="0"/>
              <a:ea typeface="Cambria Math" pitchFamily="18" charset="0"/>
            </a:endParaRPr>
          </a:p>
        </p:txBody>
      </p:sp>
      <p:pic>
        <p:nvPicPr>
          <p:cNvPr id="4" name="Picture 3" descr="addin_tmp.png"/>
          <p:cNvPicPr>
            <a:picLocks noChangeAspect="1"/>
          </p:cNvPicPr>
          <p:nvPr>
            <p:custDataLst>
              <p:tags r:id="rId1"/>
            </p:custDataLst>
          </p:nvPr>
        </p:nvPicPr>
        <p:blipFill>
          <a:blip r:embed="rId4" cstate="print"/>
          <a:stretch>
            <a:fillRect/>
          </a:stretch>
        </p:blipFill>
        <p:spPr>
          <a:xfrm>
            <a:off x="2819400" y="3200400"/>
            <a:ext cx="3231833" cy="38290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a:xfrm>
            <a:off x="457200" y="1935480"/>
            <a:ext cx="8138160" cy="4389120"/>
          </a:xfrm>
        </p:spPr>
        <p:txBody>
          <a:bodyPr>
            <a:normAutofit/>
          </a:bodyPr>
          <a:lstStyle/>
          <a:p>
            <a:pPr>
              <a:buNone/>
            </a:pPr>
            <a:r>
              <a:rPr lang="en-US" b="1" dirty="0" smtClean="0"/>
              <a:t>   Definition</a:t>
            </a:r>
            <a:r>
              <a:rPr lang="en-US" dirty="0" smtClean="0"/>
              <a:t>:  The set </a:t>
            </a:r>
            <a:r>
              <a:rPr lang="en-US" i="1" dirty="0" smtClean="0"/>
              <a:t>A</a:t>
            </a:r>
            <a:r>
              <a:rPr lang="en-US" dirty="0" smtClean="0"/>
              <a:t> is a </a:t>
            </a:r>
            <a:r>
              <a:rPr lang="en-US" i="1" dirty="0" smtClean="0"/>
              <a:t>subset</a:t>
            </a:r>
            <a:r>
              <a:rPr lang="en-US" dirty="0" smtClean="0"/>
              <a:t> of </a:t>
            </a:r>
            <a:r>
              <a:rPr lang="en-US" i="1" dirty="0" smtClean="0"/>
              <a:t>B</a:t>
            </a:r>
            <a:r>
              <a:rPr lang="en-US" dirty="0" smtClean="0"/>
              <a:t>, if and only if every element of </a:t>
            </a:r>
            <a:r>
              <a:rPr lang="en-US" i="1" dirty="0" smtClean="0"/>
              <a:t>A</a:t>
            </a:r>
            <a:r>
              <a:rPr lang="en-US" dirty="0" smtClean="0"/>
              <a:t> is also an element of </a:t>
            </a:r>
            <a:r>
              <a:rPr lang="en-US" i="1" dirty="0" smtClean="0"/>
              <a:t>B</a:t>
            </a:r>
            <a:r>
              <a:rPr lang="en-US" dirty="0" smtClean="0"/>
              <a:t>.  </a:t>
            </a:r>
          </a:p>
          <a:p>
            <a:pPr marL="393192" lvl="1" indent="0">
              <a:buNone/>
            </a:pPr>
            <a:r>
              <a:rPr lang="en-US" dirty="0" smtClean="0">
                <a:latin typeface="Cambria Math"/>
                <a:ea typeface="Cambria Math"/>
              </a:rPr>
              <a:t>Example:</a:t>
            </a:r>
          </a:p>
          <a:p>
            <a:pPr marL="393192" lvl="1" indent="0">
              <a:buNone/>
            </a:pPr>
            <a:r>
              <a:rPr lang="en-US" dirty="0"/>
              <a:t>A is the set of natural numbers, and B is the set of all whole </a:t>
            </a:r>
            <a:r>
              <a:rPr lang="en-US" dirty="0" smtClean="0"/>
              <a:t>numbers,</a:t>
            </a:r>
            <a:r>
              <a:rPr lang="en-US" dirty="0"/>
              <a:t> then A is a subset of B because all natural numbers are present in the set of whole numbers</a:t>
            </a:r>
            <a:r>
              <a:rPr lang="en-US" dirty="0" smtClean="0"/>
              <a:t>).</a:t>
            </a:r>
          </a:p>
          <a:p>
            <a:pPr fontAlgn="base"/>
            <a:r>
              <a:rPr lang="en-US" dirty="0"/>
              <a:t>A = Set of natural numbers = {1, 2, 3, ....}</a:t>
            </a:r>
          </a:p>
          <a:p>
            <a:pPr fontAlgn="base"/>
            <a:r>
              <a:rPr lang="en-US" dirty="0"/>
              <a:t>B = Set of whole numbers = {0, 1, 2, 3, ...}</a:t>
            </a:r>
          </a:p>
          <a:p>
            <a:pPr fontAlgn="base"/>
            <a:r>
              <a:rPr lang="en-US" dirty="0"/>
              <a:t>Since every element of A is in B, A ⊆ B.</a:t>
            </a:r>
          </a:p>
          <a:p>
            <a:pPr marL="393192" lvl="1" indent="0">
              <a:buNone/>
            </a:pPr>
            <a:endParaRPr lang="en-US" dirty="0" smtClean="0">
              <a:latin typeface="Cambria Math"/>
              <a:ea typeface="Cambria Math"/>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Showing a Set is or is not a Subset of Another Set</a:t>
            </a:r>
            <a:endParaRPr lang="en-US" dirty="0"/>
          </a:p>
        </p:txBody>
      </p:sp>
      <p:sp>
        <p:nvSpPr>
          <p:cNvPr id="3" name="Content Placeholder 2"/>
          <p:cNvSpPr>
            <a:spLocks noGrp="1"/>
          </p:cNvSpPr>
          <p:nvPr>
            <p:ph idx="1"/>
          </p:nvPr>
        </p:nvSpPr>
        <p:spPr/>
        <p:txBody>
          <a:bodyPr>
            <a:normAutofit/>
          </a:bodyPr>
          <a:lstStyle/>
          <a:p>
            <a:r>
              <a:rPr lang="en-US" b="1" dirty="0" smtClean="0">
                <a:ea typeface="Cambria Math" pitchFamily="18" charset="0"/>
              </a:rPr>
              <a:t>Showing  that A is a Subset of B</a:t>
            </a:r>
            <a:r>
              <a:rPr lang="en-US" dirty="0" smtClean="0">
                <a:ea typeface="Cambria Math" pitchFamily="18" charset="0"/>
              </a:rPr>
              <a:t>: To </a:t>
            </a:r>
            <a:r>
              <a:rPr lang="en-US" dirty="0" smtClean="0">
                <a:latin typeface="Cambria Math" pitchFamily="18" charset="0"/>
                <a:ea typeface="Cambria Math" pitchFamily="18" charset="0"/>
              </a:rPr>
              <a:t>show that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dirty="0" smtClean="0">
                <a:latin typeface="Cambria Math" pitchFamily="18" charset="0"/>
                <a:ea typeface="Cambria Math" pitchFamily="18" charset="0"/>
              </a:rPr>
              <a:t>, show that if </a:t>
            </a:r>
            <a:r>
              <a:rPr lang="en-US" i="1" dirty="0" smtClean="0">
                <a:ea typeface="Cambria Math" pitchFamily="18" charset="0"/>
              </a:rPr>
              <a:t>x</a:t>
            </a:r>
            <a:r>
              <a:rPr lang="en-US" dirty="0" smtClean="0">
                <a:latin typeface="Cambria Math" pitchFamily="18" charset="0"/>
                <a:ea typeface="Cambria Math" pitchFamily="18" charset="0"/>
              </a:rPr>
              <a:t> belongs to </a:t>
            </a:r>
            <a:r>
              <a:rPr lang="en-US" i="1" dirty="0" smtClean="0">
                <a:ea typeface="Cambria Math" pitchFamily="18" charset="0"/>
              </a:rPr>
              <a:t>A,</a:t>
            </a:r>
            <a:r>
              <a:rPr lang="en-US" dirty="0" smtClean="0">
                <a:latin typeface="Cambria Math" pitchFamily="18" charset="0"/>
                <a:ea typeface="Cambria Math" pitchFamily="18" charset="0"/>
              </a:rPr>
              <a:t> then </a:t>
            </a:r>
            <a:r>
              <a:rPr lang="en-US" dirty="0" smtClean="0">
                <a:ea typeface="Cambria Math" pitchFamily="18" charset="0"/>
              </a:rPr>
              <a:t>x </a:t>
            </a:r>
            <a:r>
              <a:rPr lang="en-US" dirty="0" smtClean="0">
                <a:latin typeface="Cambria Math" pitchFamily="18" charset="0"/>
                <a:ea typeface="Cambria Math" pitchFamily="18" charset="0"/>
              </a:rPr>
              <a:t>also belongs to </a:t>
            </a:r>
            <a:r>
              <a:rPr lang="en-US" i="1" dirty="0" smtClean="0">
                <a:ea typeface="Cambria Math" pitchFamily="18" charset="0"/>
              </a:rPr>
              <a:t>B</a:t>
            </a:r>
            <a:r>
              <a:rPr lang="en-US" dirty="0" smtClean="0">
                <a:latin typeface="Cambria Math" pitchFamily="18" charset="0"/>
                <a:ea typeface="Cambria Math" pitchFamily="18" charset="0"/>
              </a:rPr>
              <a:t>.</a:t>
            </a:r>
            <a:endParaRPr lang="en-US" b="1" dirty="0" smtClean="0">
              <a:latin typeface="Cambria Math" pitchFamily="18" charset="0"/>
              <a:ea typeface="Cambria Math" pitchFamily="18" charset="0"/>
            </a:endParaRPr>
          </a:p>
          <a:p>
            <a:r>
              <a:rPr lang="en-US" b="1" dirty="0" smtClean="0">
                <a:ea typeface="Cambria Math" pitchFamily="18" charset="0"/>
              </a:rPr>
              <a:t>Showing that A is not a Subset of B</a:t>
            </a:r>
            <a:r>
              <a:rPr lang="en-US" dirty="0" smtClean="0">
                <a:latin typeface="Cambria Math" pitchFamily="18" charset="0"/>
                <a:ea typeface="Cambria Math" pitchFamily="18" charset="0"/>
              </a:rPr>
              <a:t>: </a:t>
            </a:r>
            <a:r>
              <a:rPr lang="en-US" dirty="0" smtClean="0"/>
              <a:t>To show that </a:t>
            </a:r>
            <a:r>
              <a:rPr lang="en-US" i="1" dirty="0" smtClean="0"/>
              <a:t>A</a:t>
            </a:r>
            <a:r>
              <a:rPr lang="en-US" dirty="0" smtClean="0"/>
              <a:t> is not a subset of </a:t>
            </a:r>
            <a:r>
              <a:rPr lang="en-US" i="1" dirty="0" smtClean="0"/>
              <a:t>B</a:t>
            </a:r>
            <a:r>
              <a:rPr lang="en-US" dirty="0" smtClean="0"/>
              <a:t>, </a:t>
            </a:r>
            <a:r>
              <a:rPr lang="en-US" i="1" dirty="0" smtClean="0">
                <a:ea typeface="Cambria Math" pitchFamily="18" charset="0"/>
              </a:rPr>
              <a:t>A</a:t>
            </a:r>
            <a:r>
              <a:rPr lang="en-US" dirty="0" smtClean="0">
                <a:latin typeface="Cambria Math" pitchFamily="18" charset="0"/>
                <a:ea typeface="Cambria Math" pitchFamily="18" charset="0"/>
              </a:rPr>
              <a:t> ⊈ </a:t>
            </a:r>
            <a:r>
              <a:rPr lang="en-US" i="1" dirty="0" smtClean="0">
                <a:ea typeface="Cambria Math" pitchFamily="18" charset="0"/>
              </a:rPr>
              <a:t>B</a:t>
            </a:r>
            <a:r>
              <a:rPr lang="en-US" b="1" dirty="0" smtClean="0">
                <a:latin typeface="Cambria Math" pitchFamily="18" charset="0"/>
                <a:ea typeface="Cambria Math" pitchFamily="18" charset="0"/>
              </a:rPr>
              <a:t>,</a:t>
            </a:r>
            <a:r>
              <a:rPr lang="en-US" dirty="0" smtClean="0"/>
              <a:t> </a:t>
            </a:r>
            <a:r>
              <a:rPr lang="en-US" dirty="0"/>
              <a:t>There is at least one element in </a:t>
            </a:r>
            <a:r>
              <a:rPr lang="en-US" dirty="0" smtClean="0"/>
              <a:t>A </a:t>
            </a:r>
            <a:r>
              <a:rPr lang="en-US" dirty="0"/>
              <a:t>that is not in </a:t>
            </a:r>
            <a:r>
              <a:rPr lang="en-US" dirty="0" smtClean="0"/>
              <a:t>B.</a:t>
            </a:r>
          </a:p>
          <a:p>
            <a:pPr marL="0" indent="0">
              <a:buNone/>
            </a:pPr>
            <a:endParaRPr lang="en-US" dirty="0" smtClean="0"/>
          </a:p>
          <a:p>
            <a:pPr marL="0" indent="0">
              <a:buNone/>
            </a:pPr>
            <a:endParaRPr lang="en-US" dirty="0" smtClean="0"/>
          </a:p>
          <a:p>
            <a:r>
              <a:rPr lang="en-US" dirty="0" smtClean="0"/>
              <a:t>Element </a:t>
            </a:r>
            <a:r>
              <a:rPr lang="en-US" b="1" dirty="0"/>
              <a:t>3</a:t>
            </a:r>
            <a:r>
              <a:rPr lang="en-US" dirty="0"/>
              <a:t> is in </a:t>
            </a:r>
            <a:r>
              <a:rPr lang="en-US" b="1" dirty="0" smtClean="0"/>
              <a:t>A</a:t>
            </a:r>
          </a:p>
          <a:p>
            <a:r>
              <a:rPr lang="en-US" dirty="0"/>
              <a:t>Element </a:t>
            </a:r>
            <a:r>
              <a:rPr lang="en-US" b="1" dirty="0"/>
              <a:t>3</a:t>
            </a:r>
            <a:r>
              <a:rPr lang="en-US" dirty="0"/>
              <a:t> is </a:t>
            </a:r>
            <a:r>
              <a:rPr lang="en-US" b="1" dirty="0"/>
              <a:t>not</a:t>
            </a:r>
            <a:r>
              <a:rPr lang="en-US" dirty="0"/>
              <a:t> in </a:t>
            </a:r>
            <a:r>
              <a:rPr lang="en-US" b="1" dirty="0"/>
              <a:t>B</a:t>
            </a:r>
            <a:endParaRPr lang="en-US" dirty="0"/>
          </a:p>
          <a:p>
            <a:endParaRPr lang="en-US" dirty="0"/>
          </a:p>
          <a:p>
            <a:endParaRPr lang="en-US" dirty="0" smtClean="0"/>
          </a:p>
          <a:p>
            <a:endParaRPr lang="en-US" b="1" dirty="0" smtClean="0">
              <a:latin typeface="Cambria Math" pitchFamily="18" charset="0"/>
              <a:ea typeface="Cambria Math" pitchFamily="18" charset="0"/>
            </a:endParaRPr>
          </a:p>
          <a:p>
            <a:endParaRPr lang="en-US" dirty="0"/>
          </a:p>
        </p:txBody>
      </p:sp>
      <p:pic>
        <p:nvPicPr>
          <p:cNvPr id="4" name="Picture 3"/>
          <p:cNvPicPr>
            <a:picLocks noChangeAspect="1"/>
          </p:cNvPicPr>
          <p:nvPr/>
        </p:nvPicPr>
        <p:blipFill>
          <a:blip r:embed="rId3"/>
          <a:stretch>
            <a:fillRect/>
          </a:stretch>
        </p:blipFill>
        <p:spPr>
          <a:xfrm>
            <a:off x="2743200" y="4008535"/>
            <a:ext cx="3422717" cy="459443"/>
          </a:xfrm>
          <a:prstGeom prst="rect">
            <a:avLst/>
          </a:prstGeom>
        </p:spPr>
      </p:pic>
      <p:pic>
        <p:nvPicPr>
          <p:cNvPr id="6" name="Picture 5"/>
          <p:cNvPicPr>
            <a:picLocks noChangeAspect="1"/>
          </p:cNvPicPr>
          <p:nvPr/>
        </p:nvPicPr>
        <p:blipFill>
          <a:blip r:embed="rId4"/>
          <a:stretch>
            <a:fillRect/>
          </a:stretch>
        </p:blipFill>
        <p:spPr>
          <a:xfrm>
            <a:off x="3429000" y="4551290"/>
            <a:ext cx="1371600" cy="48191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876300"/>
            <a:ext cx="8229600" cy="1143000"/>
          </a:xfrm>
        </p:spPr>
        <p:txBody>
          <a:bodyPr>
            <a:normAutofit fontScale="90000"/>
          </a:bodyPr>
          <a:lstStyle/>
          <a:p>
            <a:r>
              <a:rPr lang="en-US" b="1" dirty="0"/>
              <a:t>Equivalent Set</a:t>
            </a:r>
            <a:br>
              <a:rPr lang="en-US" b="1" dirty="0"/>
            </a:br>
            <a:endParaRPr lang="en-US" dirty="0"/>
          </a:p>
        </p:txBody>
      </p:sp>
      <p:sp>
        <p:nvSpPr>
          <p:cNvPr id="3" name="Content Placeholder 2"/>
          <p:cNvSpPr>
            <a:spLocks noGrp="1"/>
          </p:cNvSpPr>
          <p:nvPr>
            <p:ph idx="1"/>
          </p:nvPr>
        </p:nvSpPr>
        <p:spPr>
          <a:xfrm>
            <a:off x="152400" y="1447800"/>
            <a:ext cx="8915400" cy="4389120"/>
          </a:xfrm>
        </p:spPr>
        <p:txBody>
          <a:bodyPr>
            <a:normAutofit fontScale="77500" lnSpcReduction="20000"/>
          </a:bodyPr>
          <a:lstStyle/>
          <a:p>
            <a:pPr algn="just"/>
            <a:r>
              <a:rPr lang="en-US" sz="2800" dirty="0">
                <a:latin typeface="Times New Roman" panose="02020603050405020304" pitchFamily="18" charset="0"/>
                <a:cs typeface="Times New Roman" panose="02020603050405020304" pitchFamily="18" charset="0"/>
              </a:rPr>
              <a:t>An </a:t>
            </a:r>
            <a:r>
              <a:rPr lang="en-US" sz="2800" b="1" dirty="0">
                <a:latin typeface="Times New Roman" panose="02020603050405020304" pitchFamily="18" charset="0"/>
                <a:cs typeface="Times New Roman" panose="02020603050405020304" pitchFamily="18" charset="0"/>
              </a:rPr>
              <a:t>Equivalent Set</a:t>
            </a:r>
            <a:r>
              <a:rPr lang="en-US" sz="2800" dirty="0">
                <a:latin typeface="Times New Roman" panose="02020603050405020304" pitchFamily="18" charset="0"/>
                <a:cs typeface="Times New Roman" panose="02020603050405020304" pitchFamily="18" charset="0"/>
              </a:rPr>
              <a:t> is a mathematical concept referring to two sets that have the same cardinality, which means they contain the same number of elements. The elements themselves may differ, but the sets are considered equivalent as long as their sizes are the same</a:t>
            </a:r>
            <a:r>
              <a:rPr lang="en-US" sz="2800" dirty="0" smtClean="0">
                <a:latin typeface="Times New Roman" panose="02020603050405020304" pitchFamily="18" charset="0"/>
                <a:cs typeface="Times New Roman" panose="02020603050405020304" pitchFamily="18" charset="0"/>
              </a:rPr>
              <a:t>.</a:t>
            </a:r>
          </a:p>
          <a:p>
            <a:pPr marL="0" indent="0" algn="just">
              <a:buNone/>
            </a:pPr>
            <a:endParaRPr lang="en-US" sz="2800" dirty="0" smtClean="0">
              <a:latin typeface="Times New Roman" panose="02020603050405020304" pitchFamily="18" charset="0"/>
              <a:cs typeface="Times New Roman" panose="02020603050405020304" pitchFamily="18" charset="0"/>
            </a:endParaRPr>
          </a:p>
          <a:p>
            <a:pPr marL="0" indent="0">
              <a:buNone/>
            </a:pPr>
            <a:r>
              <a:rPr lang="en-US" b="1" dirty="0"/>
              <a:t>Example 1</a:t>
            </a:r>
            <a:r>
              <a:rPr lang="en-US" b="1" dirty="0" smtClean="0"/>
              <a:t>:</a:t>
            </a:r>
          </a:p>
          <a:p>
            <a:pPr fontAlgn="base"/>
            <a:r>
              <a:rPr lang="en-US" dirty="0"/>
              <a:t>Set A = {1, 2, 3}</a:t>
            </a:r>
          </a:p>
          <a:p>
            <a:pPr fontAlgn="base"/>
            <a:r>
              <a:rPr lang="en-US" dirty="0"/>
              <a:t>Set B = {a, b, c}</a:t>
            </a:r>
          </a:p>
          <a:p>
            <a:pPr fontAlgn="base"/>
            <a:r>
              <a:rPr lang="en-US" dirty="0"/>
              <a:t>Since both A and B have 3 elements, they are equivalent.</a:t>
            </a: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r>
              <a:rPr lang="en-US" b="1" dirty="0"/>
              <a:t>Example 2</a:t>
            </a:r>
            <a:r>
              <a:rPr lang="en-US" b="1" dirty="0" smtClean="0"/>
              <a:t>:</a:t>
            </a:r>
          </a:p>
          <a:p>
            <a:pPr fontAlgn="base"/>
            <a:r>
              <a:rPr lang="en-US" dirty="0"/>
              <a:t>Set C = {x, y}</a:t>
            </a:r>
          </a:p>
          <a:p>
            <a:pPr fontAlgn="base"/>
            <a:r>
              <a:rPr lang="en-US" dirty="0"/>
              <a:t>Set D = {apple, banana}</a:t>
            </a:r>
          </a:p>
          <a:p>
            <a:pPr fontAlgn="base"/>
            <a:r>
              <a:rPr lang="en-US" dirty="0"/>
              <a:t>Since both C and D have 2 elements, they are equivalent</a:t>
            </a:r>
            <a:r>
              <a:rPr lang="en-US" dirty="0" smtClean="0"/>
              <a:t>.</a:t>
            </a:r>
            <a:r>
              <a:rPr lang="en-US" sz="2000" dirty="0"/>
              <a:t/>
            </a:r>
            <a:br>
              <a:rPr lang="en-US" sz="2000" dirty="0"/>
            </a:br>
            <a:endParaRPr lang="en-US" sz="2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7640"/>
            <a:ext cx="8229600" cy="1143000"/>
          </a:xfrm>
        </p:spPr>
        <p:txBody>
          <a:bodyPr/>
          <a:lstStyle/>
          <a:p>
            <a:r>
              <a:rPr lang="en-US" dirty="0" smtClean="0"/>
              <a:t>Proper Subsets</a:t>
            </a:r>
            <a:endParaRPr lang="en-US" dirty="0"/>
          </a:p>
        </p:txBody>
      </p:sp>
      <p:sp>
        <p:nvSpPr>
          <p:cNvPr id="3" name="Content Placeholder 2"/>
          <p:cNvSpPr>
            <a:spLocks noGrp="1"/>
          </p:cNvSpPr>
          <p:nvPr>
            <p:ph idx="1"/>
          </p:nvPr>
        </p:nvSpPr>
        <p:spPr>
          <a:xfrm>
            <a:off x="457200" y="1574800"/>
            <a:ext cx="8229600" cy="4389120"/>
          </a:xfrm>
        </p:spPr>
        <p:txBody>
          <a:bodyPr>
            <a:normAutofit fontScale="92500" lnSpcReduction="20000"/>
          </a:bodyPr>
          <a:lstStyle/>
          <a:p>
            <a:pPr>
              <a:buNone/>
            </a:pPr>
            <a:r>
              <a:rPr lang="en-US" b="1" dirty="0" smtClean="0"/>
              <a:t>  Definition</a:t>
            </a:r>
            <a:r>
              <a:rPr lang="en-US" dirty="0" smtClean="0"/>
              <a:t>:</a:t>
            </a:r>
          </a:p>
          <a:p>
            <a:pPr algn="just">
              <a:buNone/>
            </a:pPr>
            <a:r>
              <a:rPr lang="en-US" dirty="0" smtClean="0"/>
              <a:t>    </a:t>
            </a:r>
            <a:r>
              <a:rPr lang="en-US" sz="2400" b="1" dirty="0"/>
              <a:t>Proper Subset</a:t>
            </a:r>
            <a:r>
              <a:rPr lang="en-US" sz="2400" dirty="0"/>
              <a:t> is a set that contains some, but not all, of the members of another set. Formally, A is considered a proper subset of B if every member of set A is also an element of set B, but there is at least one element in B that is not in A</a:t>
            </a:r>
            <a:r>
              <a:rPr lang="en-US" sz="2400" dirty="0" smtClean="0"/>
              <a:t>.</a:t>
            </a:r>
          </a:p>
          <a:p>
            <a:pPr algn="just"/>
            <a:r>
              <a:rPr lang="en-US" sz="2400" dirty="0" smtClean="0"/>
              <a:t>Example: </a:t>
            </a:r>
            <a:r>
              <a:rPr lang="en-US" sz="2400" dirty="0"/>
              <a:t>Set of even natural numbers (E) is a proper subset of the set of all natural numbers (N). E = {2, 4, 6, 8, ...} and N = {1, 2, 3, 4, 5, 6, ...}.</a:t>
            </a:r>
          </a:p>
          <a:p>
            <a:pPr algn="just">
              <a:buNone/>
            </a:pPr>
            <a:endParaRPr lang="en-US" sz="2000" dirty="0" smtClean="0"/>
          </a:p>
          <a:p>
            <a:pPr>
              <a:buNone/>
            </a:pPr>
            <a:endParaRPr lang="en-US" dirty="0"/>
          </a:p>
          <a:p>
            <a:pPr>
              <a:buNone/>
            </a:pPr>
            <a:endParaRPr lang="en-US" dirty="0" smtClean="0"/>
          </a:p>
          <a:p>
            <a:pPr>
              <a:buNone/>
            </a:pPr>
            <a:endParaRPr lang="en-US" dirty="0"/>
          </a:p>
          <a:p>
            <a:pPr>
              <a:buNone/>
            </a:pPr>
            <a:r>
              <a:rPr lang="en-US" dirty="0" smtClean="0"/>
              <a:t>Venn Diagram</a:t>
            </a:r>
            <a:endParaRPr lang="en-US" dirty="0"/>
          </a:p>
        </p:txBody>
      </p:sp>
      <p:sp>
        <p:nvSpPr>
          <p:cNvPr id="8" name="Rectangle 7"/>
          <p:cNvSpPr/>
          <p:nvPr/>
        </p:nvSpPr>
        <p:spPr>
          <a:xfrm>
            <a:off x="3124200" y="4495800"/>
            <a:ext cx="3962400" cy="1828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477000" y="4495800"/>
            <a:ext cx="609600" cy="369332"/>
          </a:xfrm>
          <a:prstGeom prst="rect">
            <a:avLst/>
          </a:prstGeom>
          <a:noFill/>
        </p:spPr>
        <p:txBody>
          <a:bodyPr wrap="square" rtlCol="0">
            <a:spAutoFit/>
          </a:bodyPr>
          <a:lstStyle/>
          <a:p>
            <a:r>
              <a:rPr lang="en-US" i="1" dirty="0" smtClean="0"/>
              <a:t>U</a:t>
            </a:r>
            <a:endParaRPr lang="en-US" i="1" dirty="0"/>
          </a:p>
        </p:txBody>
      </p:sp>
      <p:sp>
        <p:nvSpPr>
          <p:cNvPr id="10" name="Oval 9"/>
          <p:cNvSpPr/>
          <p:nvPr/>
        </p:nvSpPr>
        <p:spPr>
          <a:xfrm>
            <a:off x="4648200" y="4648200"/>
            <a:ext cx="1219200" cy="12954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029200" y="5105400"/>
            <a:ext cx="457200" cy="381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5029200" y="4724400"/>
            <a:ext cx="609600" cy="369332"/>
          </a:xfrm>
          <a:prstGeom prst="rect">
            <a:avLst/>
          </a:prstGeom>
          <a:noFill/>
        </p:spPr>
        <p:txBody>
          <a:bodyPr wrap="square" rtlCol="0">
            <a:spAutoFit/>
          </a:bodyPr>
          <a:lstStyle/>
          <a:p>
            <a:r>
              <a:rPr lang="en-US" i="1" dirty="0" smtClean="0"/>
              <a:t>B</a:t>
            </a:r>
            <a:endParaRPr lang="en-US" i="1" dirty="0"/>
          </a:p>
        </p:txBody>
      </p:sp>
      <p:sp>
        <p:nvSpPr>
          <p:cNvPr id="13" name="TextBox 12"/>
          <p:cNvSpPr txBox="1"/>
          <p:nvPr/>
        </p:nvSpPr>
        <p:spPr>
          <a:xfrm>
            <a:off x="5029200" y="5105400"/>
            <a:ext cx="609600" cy="369332"/>
          </a:xfrm>
          <a:prstGeom prst="rect">
            <a:avLst/>
          </a:prstGeom>
          <a:noFill/>
        </p:spPr>
        <p:txBody>
          <a:bodyPr wrap="square" rtlCol="0">
            <a:spAutoFit/>
          </a:bodyPr>
          <a:lstStyle/>
          <a:p>
            <a:r>
              <a:rPr lang="en-US" i="1" dirty="0" smtClean="0"/>
              <a:t>A</a:t>
            </a:r>
            <a:endParaRPr lang="en-US" i="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16018"/>
            <a:ext cx="8229600" cy="650782"/>
          </a:xfrm>
        </p:spPr>
        <p:txBody>
          <a:bodyPr>
            <a:normAutofit fontScale="90000"/>
          </a:bodyPr>
          <a:lstStyle/>
          <a:p>
            <a:r>
              <a:rPr lang="en-US" dirty="0"/>
              <a:t>Proper </a:t>
            </a:r>
            <a:r>
              <a:rPr lang="en-US" dirty="0" smtClean="0"/>
              <a:t>Subsets - Example</a:t>
            </a:r>
            <a:endParaRPr lang="en-US" dirty="0"/>
          </a:p>
        </p:txBody>
      </p:sp>
      <p:sp>
        <p:nvSpPr>
          <p:cNvPr id="3" name="Content Placeholder 2"/>
          <p:cNvSpPr>
            <a:spLocks noGrp="1"/>
          </p:cNvSpPr>
          <p:nvPr>
            <p:ph idx="1"/>
          </p:nvPr>
        </p:nvSpPr>
        <p:spPr>
          <a:xfrm>
            <a:off x="228600" y="1219200"/>
            <a:ext cx="8229600" cy="4389120"/>
          </a:xfrm>
        </p:spPr>
        <p:txBody>
          <a:bodyPr>
            <a:normAutofit fontScale="92500" lnSpcReduction="10000"/>
          </a:bodyPr>
          <a:lstStyle/>
          <a:p>
            <a:r>
              <a:rPr lang="en-US" sz="2400" b="1" dirty="0">
                <a:latin typeface="Times New Roman" panose="02020603050405020304" pitchFamily="18" charset="0"/>
                <a:cs typeface="Times New Roman" panose="02020603050405020304" pitchFamily="18" charset="0"/>
              </a:rPr>
              <a:t>Q1.</a:t>
            </a:r>
            <a:r>
              <a:rPr lang="en-US" sz="2400" dirty="0">
                <a:latin typeface="Times New Roman" panose="02020603050405020304" pitchFamily="18" charset="0"/>
                <a:cs typeface="Times New Roman" panose="02020603050405020304" pitchFamily="18" charset="0"/>
              </a:rPr>
              <a:t> Set A = {1, 2, 3, 4} and set B = {2, 3}. Determine whether B is a proper subset of A</a:t>
            </a:r>
            <a:r>
              <a:rPr lang="en-US" sz="2400" dirty="0" smtClean="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We are given</a:t>
            </a:r>
            <a:r>
              <a:rPr lang="en-US" sz="2400" dirty="0" smtClean="0">
                <a:latin typeface="Times New Roman" panose="02020603050405020304" pitchFamily="18" charset="0"/>
                <a:cs typeface="Times New Roman" panose="02020603050405020304" pitchFamily="18" charset="0"/>
              </a:rPr>
              <a:t>:</a:t>
            </a:r>
          </a:p>
          <a:p>
            <a:r>
              <a:rPr lang="en-US" dirty="0" smtClean="0"/>
              <a:t>A = {1,2,3,4}</a:t>
            </a:r>
          </a:p>
          <a:p>
            <a:r>
              <a:rPr lang="en-US" dirty="0" smtClean="0"/>
              <a:t>B = {2,3}</a:t>
            </a:r>
          </a:p>
          <a:p>
            <a:endParaRPr lang="en-US" dirty="0" smtClean="0"/>
          </a:p>
          <a:p>
            <a:endParaRPr lang="en-US" dirty="0"/>
          </a:p>
          <a:p>
            <a:endParaRPr lang="en-US" dirty="0" smtClean="0"/>
          </a:p>
          <a:p>
            <a:r>
              <a:rPr lang="en-US" dirty="0"/>
              <a:t>2 </a:t>
            </a:r>
            <a:r>
              <a:rPr lang="en-US" dirty="0" smtClean="0"/>
              <a:t>∈ A</a:t>
            </a:r>
          </a:p>
          <a:p>
            <a:r>
              <a:rPr lang="en-US" dirty="0"/>
              <a:t>3∈</a:t>
            </a:r>
            <a:r>
              <a:rPr lang="en-US" dirty="0" smtClean="0"/>
              <a:t>A</a:t>
            </a:r>
          </a:p>
          <a:p>
            <a:r>
              <a:rPr lang="en-US" dirty="0"/>
              <a:t>So, B⊆A is true.</a:t>
            </a:r>
            <a:endParaRPr lang="en-US" dirty="0" smtClean="0"/>
          </a:p>
          <a:p>
            <a:endParaRPr lang="en-US" dirty="0"/>
          </a:p>
          <a:p>
            <a:endParaRPr lang="en-US" dirty="0"/>
          </a:p>
        </p:txBody>
      </p:sp>
      <p:sp>
        <p:nvSpPr>
          <p:cNvPr id="7" name="Rectangle 6"/>
          <p:cNvSpPr/>
          <p:nvPr/>
        </p:nvSpPr>
        <p:spPr>
          <a:xfrm>
            <a:off x="457200" y="3980669"/>
            <a:ext cx="3391313" cy="369332"/>
          </a:xfrm>
          <a:prstGeom prst="rect">
            <a:avLst/>
          </a:prstGeom>
        </p:spPr>
        <p:txBody>
          <a:bodyPr wrap="none">
            <a:spAutoFit/>
          </a:bodyPr>
          <a:lstStyle/>
          <a:p>
            <a:r>
              <a:rPr lang="en-US" dirty="0"/>
              <a:t>Step 2: Check elements of B in A</a:t>
            </a:r>
          </a:p>
        </p:txBody>
      </p:sp>
      <p:sp>
        <p:nvSpPr>
          <p:cNvPr id="12" name="TextBox 11"/>
          <p:cNvSpPr txBox="1"/>
          <p:nvPr/>
        </p:nvSpPr>
        <p:spPr>
          <a:xfrm>
            <a:off x="381000" y="3124200"/>
            <a:ext cx="5730240" cy="923330"/>
          </a:xfrm>
          <a:prstGeom prst="rect">
            <a:avLst/>
          </a:prstGeom>
          <a:noFill/>
        </p:spPr>
        <p:txBody>
          <a:bodyPr wrap="square" rtlCol="0">
            <a:spAutoFit/>
          </a:bodyPr>
          <a:lstStyle/>
          <a:p>
            <a:r>
              <a:rPr lang="en-US" dirty="0" smtClean="0"/>
              <a:t>A set B is a </a:t>
            </a:r>
            <a:r>
              <a:rPr lang="en-US" b="1" dirty="0" smtClean="0"/>
              <a:t>proper subset</a:t>
            </a:r>
            <a:r>
              <a:rPr lang="en-US" dirty="0" smtClean="0"/>
              <a:t> of A if:</a:t>
            </a:r>
          </a:p>
          <a:p>
            <a:pPr marL="342900" indent="-342900">
              <a:buAutoNum type="arabicPeriod"/>
            </a:pPr>
            <a:r>
              <a:rPr lang="en-US" dirty="0" smtClean="0"/>
              <a:t>Every </a:t>
            </a:r>
            <a:r>
              <a:rPr lang="en-US" dirty="0"/>
              <a:t>element of </a:t>
            </a:r>
            <a:r>
              <a:rPr lang="en-US" dirty="0" smtClean="0"/>
              <a:t>B </a:t>
            </a:r>
            <a:r>
              <a:rPr lang="en-US" dirty="0"/>
              <a:t>is also in </a:t>
            </a:r>
            <a:r>
              <a:rPr lang="en-US" dirty="0" smtClean="0"/>
              <a:t>A (</a:t>
            </a:r>
            <a:r>
              <a:rPr lang="en-US" dirty="0" err="1" smtClean="0"/>
              <a:t>i.e</a:t>
            </a:r>
            <a:r>
              <a:rPr lang="en-US" dirty="0"/>
              <a:t> B </a:t>
            </a:r>
            <a:r>
              <a:rPr lang="en-US" dirty="0" smtClean="0"/>
              <a:t>⊆ A</a:t>
            </a:r>
          </a:p>
          <a:p>
            <a:pPr marL="342900" indent="-342900">
              <a:buAutoNum type="arabicPeriod"/>
            </a:pPr>
            <a:r>
              <a:rPr lang="en-US" dirty="0" smtClean="0"/>
              <a:t>B is </a:t>
            </a:r>
            <a:r>
              <a:rPr lang="en-US" b="1" dirty="0" smtClean="0"/>
              <a:t>not equal</a:t>
            </a:r>
            <a:r>
              <a:rPr lang="en-US" dirty="0" smtClean="0"/>
              <a:t> to A (i.e., B     A    )</a:t>
            </a:r>
            <a:endParaRPr lang="en-US" dirty="0"/>
          </a:p>
        </p:txBody>
      </p:sp>
      <p:pic>
        <p:nvPicPr>
          <p:cNvPr id="15" name="Picture 14"/>
          <p:cNvPicPr>
            <a:picLocks noChangeAspect="1"/>
          </p:cNvPicPr>
          <p:nvPr/>
        </p:nvPicPr>
        <p:blipFill>
          <a:blip r:embed="rId3"/>
          <a:stretch>
            <a:fillRect/>
          </a:stretch>
        </p:blipFill>
        <p:spPr>
          <a:xfrm>
            <a:off x="3429000" y="4749364"/>
            <a:ext cx="254013" cy="254013"/>
          </a:xfrm>
          <a:prstGeom prst="rect">
            <a:avLst/>
          </a:prstGeom>
        </p:spPr>
      </p:pic>
    </p:spTree>
    <p:extLst>
      <p:ext uri="{BB962C8B-B14F-4D97-AF65-F5344CB8AC3E}">
        <p14:creationId xmlns:p14="http://schemas.microsoft.com/office/powerpoint/2010/main" val="2085518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 </a:t>
            </a:r>
            <a:r>
              <a:rPr lang="en-US" dirty="0" smtClean="0"/>
              <a:t>Subsets – Continue…</a:t>
            </a:r>
            <a:endParaRPr lang="en-US" dirty="0"/>
          </a:p>
        </p:txBody>
      </p:sp>
      <p:sp>
        <p:nvSpPr>
          <p:cNvPr id="3" name="Content Placeholder 2"/>
          <p:cNvSpPr>
            <a:spLocks noGrp="1"/>
          </p:cNvSpPr>
          <p:nvPr>
            <p:ph idx="1"/>
          </p:nvPr>
        </p:nvSpPr>
        <p:spPr/>
        <p:txBody>
          <a:bodyPr/>
          <a:lstStyle/>
          <a:p>
            <a:r>
              <a:rPr lang="en-US" b="1" dirty="0"/>
              <a:t>Step 3: Check if B is not equal to </a:t>
            </a:r>
            <a:r>
              <a:rPr lang="en-US" b="1" dirty="0" smtClean="0"/>
              <a:t>A</a:t>
            </a:r>
          </a:p>
          <a:p>
            <a:pPr marL="0" indent="0">
              <a:buNone/>
            </a:pPr>
            <a:endParaRPr lang="en-US" dirty="0"/>
          </a:p>
        </p:txBody>
      </p:sp>
      <p:sp>
        <p:nvSpPr>
          <p:cNvPr id="5" name="TextBox 4"/>
          <p:cNvSpPr txBox="1"/>
          <p:nvPr/>
        </p:nvSpPr>
        <p:spPr>
          <a:xfrm>
            <a:off x="838200" y="3905195"/>
            <a:ext cx="8153400" cy="923330"/>
          </a:xfrm>
          <a:prstGeom prst="rect">
            <a:avLst/>
          </a:prstGeom>
          <a:noFill/>
        </p:spPr>
        <p:txBody>
          <a:bodyPr wrap="square" rtlCol="0">
            <a:spAutoFit/>
          </a:bodyPr>
          <a:lstStyle/>
          <a:p>
            <a:r>
              <a:rPr lang="en-US" dirty="0"/>
              <a:t>Step 4: </a:t>
            </a:r>
            <a:r>
              <a:rPr lang="en-US" dirty="0" smtClean="0"/>
              <a:t>Conclusion</a:t>
            </a:r>
          </a:p>
          <a:p>
            <a:endParaRPr lang="en-US" dirty="0"/>
          </a:p>
          <a:p>
            <a:r>
              <a:rPr lang="en-US" dirty="0"/>
              <a:t>Since both conditions are satisfied, </a:t>
            </a:r>
            <a:r>
              <a:rPr lang="en-US" b="1" dirty="0" smtClean="0"/>
              <a:t>B </a:t>
            </a:r>
            <a:r>
              <a:rPr lang="en-US" b="1" dirty="0"/>
              <a:t>is a proper subset of </a:t>
            </a:r>
            <a:r>
              <a:rPr lang="en-US" b="1" dirty="0" smtClean="0"/>
              <a:t>A</a:t>
            </a:r>
            <a:r>
              <a:rPr lang="en-US" b="1" dirty="0"/>
              <a:t>.</a:t>
            </a:r>
            <a:endParaRPr lang="en-US" dirty="0"/>
          </a:p>
        </p:txBody>
      </p:sp>
      <p:sp>
        <p:nvSpPr>
          <p:cNvPr id="7" name="TextBox 6"/>
          <p:cNvSpPr txBox="1"/>
          <p:nvPr/>
        </p:nvSpPr>
        <p:spPr>
          <a:xfrm>
            <a:off x="1828800" y="2667000"/>
            <a:ext cx="6019800" cy="1292662"/>
          </a:xfrm>
          <a:prstGeom prst="rect">
            <a:avLst/>
          </a:prstGeom>
          <a:noFill/>
        </p:spPr>
        <p:txBody>
          <a:bodyPr wrap="square" rtlCol="0">
            <a:spAutoFit/>
          </a:bodyPr>
          <a:lstStyle/>
          <a:p>
            <a:r>
              <a:rPr lang="en-US" dirty="0" smtClean="0"/>
              <a:t>B = {2, 3}</a:t>
            </a:r>
          </a:p>
          <a:p>
            <a:r>
              <a:rPr lang="en-US" dirty="0" smtClean="0"/>
              <a:t>A = {1, 2, 3, 4}</a:t>
            </a:r>
          </a:p>
          <a:p>
            <a:endParaRPr lang="en-US" dirty="0"/>
          </a:p>
          <a:p>
            <a:r>
              <a:rPr lang="en-US" dirty="0"/>
              <a:t>Clearly, B≠</a:t>
            </a:r>
            <a:r>
              <a:rPr lang="en-US" dirty="0" smtClean="0"/>
              <a:t>A  </a:t>
            </a:r>
            <a:r>
              <a:rPr lang="en-US" dirty="0"/>
              <a:t>because </a:t>
            </a:r>
            <a:r>
              <a:rPr lang="en-US" dirty="0" smtClean="0"/>
              <a:t>B </a:t>
            </a:r>
            <a:r>
              <a:rPr lang="en-US" dirty="0"/>
              <a:t>is missing </a:t>
            </a:r>
            <a:r>
              <a:rPr lang="en-US" sz="2400" dirty="0"/>
              <a:t>1 </a:t>
            </a:r>
            <a:r>
              <a:rPr lang="en-US" dirty="0"/>
              <a:t>and </a:t>
            </a:r>
            <a:r>
              <a:rPr lang="en-US" sz="2400" dirty="0"/>
              <a:t>4.</a:t>
            </a:r>
          </a:p>
        </p:txBody>
      </p:sp>
      <p:sp>
        <p:nvSpPr>
          <p:cNvPr id="8" name="TextBox 7"/>
          <p:cNvSpPr txBox="1"/>
          <p:nvPr/>
        </p:nvSpPr>
        <p:spPr>
          <a:xfrm>
            <a:off x="1905000" y="5029200"/>
            <a:ext cx="4267200" cy="369332"/>
          </a:xfrm>
          <a:prstGeom prst="rect">
            <a:avLst/>
          </a:prstGeom>
          <a:noFill/>
        </p:spPr>
        <p:txBody>
          <a:bodyPr wrap="square" rtlCol="0">
            <a:spAutoFit/>
          </a:bodyPr>
          <a:lstStyle/>
          <a:p>
            <a:r>
              <a:rPr lang="en-US" dirty="0" smtClean="0"/>
              <a:t>B ⊂ A  (</a:t>
            </a:r>
            <a:r>
              <a:rPr lang="en-US" dirty="0"/>
              <a:t>B is a proper subset of A)</a:t>
            </a:r>
          </a:p>
        </p:txBody>
      </p:sp>
    </p:spTree>
    <p:extLst>
      <p:ext uri="{BB962C8B-B14F-4D97-AF65-F5344CB8AC3E}">
        <p14:creationId xmlns:p14="http://schemas.microsoft.com/office/powerpoint/2010/main" val="301877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8229600" cy="1143000"/>
          </a:xfrm>
        </p:spPr>
        <p:txBody>
          <a:bodyPr/>
          <a:lstStyle/>
          <a:p>
            <a:r>
              <a:rPr lang="en-US" dirty="0" smtClean="0"/>
              <a:t>Set Cardinality</a:t>
            </a:r>
            <a:endParaRPr lang="en-US" dirty="0"/>
          </a:p>
        </p:txBody>
      </p:sp>
      <p:sp>
        <p:nvSpPr>
          <p:cNvPr id="3" name="Content Placeholder 2"/>
          <p:cNvSpPr>
            <a:spLocks noGrp="1"/>
          </p:cNvSpPr>
          <p:nvPr>
            <p:ph idx="1"/>
          </p:nvPr>
        </p:nvSpPr>
        <p:spPr>
          <a:xfrm>
            <a:off x="457200" y="1752600"/>
            <a:ext cx="8229600" cy="4389120"/>
          </a:xfrm>
        </p:spPr>
        <p:txBody>
          <a:bodyPr>
            <a:normAutofit fontScale="92500" lnSpcReduction="10000"/>
          </a:bodyPr>
          <a:lstStyle/>
          <a:p>
            <a:pPr>
              <a:buNone/>
            </a:pPr>
            <a:r>
              <a:rPr lang="en-US" b="1" dirty="0" smtClean="0"/>
              <a:t>   Definition</a:t>
            </a:r>
            <a:r>
              <a:rPr lang="en-US" dirty="0" smtClean="0"/>
              <a:t>:</a:t>
            </a:r>
            <a:r>
              <a:rPr lang="en-US" b="1" dirty="0" smtClean="0"/>
              <a:t> </a:t>
            </a:r>
            <a:r>
              <a:rPr lang="en-US" b="1" dirty="0"/>
              <a:t>Cardinality</a:t>
            </a:r>
            <a:r>
              <a:rPr lang="en-US" dirty="0"/>
              <a:t> refers to the number that is obtained after counting something. Thus, the cardinality of a set is the number of elements in it</a:t>
            </a:r>
            <a:r>
              <a:rPr lang="en-US" dirty="0" smtClean="0"/>
              <a:t>.</a:t>
            </a:r>
          </a:p>
          <a:p>
            <a:pPr>
              <a:buNone/>
            </a:pPr>
            <a:r>
              <a:rPr lang="en-US" dirty="0" smtClean="0"/>
              <a:t>    For </a:t>
            </a:r>
            <a:r>
              <a:rPr lang="en-US" dirty="0"/>
              <a:t>example, the set {1, 2, 3, 4, 5} has cardinality five which is more than the cardinality of {1, 2, 3} which is three.</a:t>
            </a:r>
            <a:endParaRPr lang="en-US" b="1" dirty="0" smtClean="0"/>
          </a:p>
          <a:p>
            <a:pPr>
              <a:buNone/>
            </a:pPr>
            <a:r>
              <a:rPr lang="en-US" b="1" dirty="0" smtClean="0"/>
              <a:t>Examples</a:t>
            </a:r>
            <a:r>
              <a:rPr lang="en-US" dirty="0" smtClean="0"/>
              <a:t>:</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0</a:t>
            </a:r>
          </a:p>
          <a:p>
            <a:pPr marL="514350" indent="-514350">
              <a:buFont typeface="+mj-lt"/>
              <a:buAutoNum type="arabicPeriod"/>
            </a:pPr>
            <a:r>
              <a:rPr lang="en-US" dirty="0" smtClean="0"/>
              <a:t>Let S be the letters of the English alphabet. Then |</a:t>
            </a:r>
            <a:r>
              <a:rPr lang="en-US" i="1" dirty="0" smtClean="0"/>
              <a:t>S</a:t>
            </a:r>
            <a:r>
              <a:rPr lang="en-US" dirty="0" smtClean="0"/>
              <a:t>| = </a:t>
            </a:r>
            <a:r>
              <a:rPr lang="en-US" dirty="0" smtClean="0">
                <a:latin typeface="Cambria Math" pitchFamily="18" charset="0"/>
                <a:ea typeface="Cambria Math" pitchFamily="18" charset="0"/>
              </a:rPr>
              <a:t>26</a:t>
            </a:r>
          </a:p>
          <a:p>
            <a:pPr marL="514350" indent="-514350">
              <a:buFont typeface="+mj-lt"/>
              <a:buAutoNum type="arabicPeriod"/>
            </a:pPr>
            <a:r>
              <a:rPr lang="en-US" dirty="0" smtClean="0"/>
              <a:t>|{</a:t>
            </a:r>
            <a:r>
              <a:rPr lang="en-US" dirty="0" smtClean="0">
                <a:latin typeface="Cambria Math" pitchFamily="18" charset="0"/>
                <a:ea typeface="Cambria Math" pitchFamily="18" charset="0"/>
              </a:rPr>
              <a:t>1,2,3</a:t>
            </a:r>
            <a:r>
              <a:rPr lang="en-US" dirty="0" smtClean="0"/>
              <a:t>}| = </a:t>
            </a:r>
            <a:r>
              <a:rPr lang="en-US" dirty="0" smtClean="0">
                <a:latin typeface="Cambria Math" pitchFamily="18" charset="0"/>
                <a:ea typeface="Cambria Math" pitchFamily="18" charset="0"/>
              </a:rPr>
              <a:t>3</a:t>
            </a:r>
          </a:p>
          <a:p>
            <a:pPr marL="514350" indent="-514350">
              <a:buFont typeface="+mj-lt"/>
              <a:buAutoNum type="arabicPeriod"/>
            </a:pPr>
            <a:r>
              <a:rPr lang="en-US" dirty="0" smtClean="0"/>
              <a:t>|{ø}| = </a:t>
            </a:r>
            <a:r>
              <a:rPr lang="en-US" dirty="0" smtClean="0">
                <a:latin typeface="Cambria Math" pitchFamily="18" charset="0"/>
                <a:ea typeface="Cambria Math" pitchFamily="18" charset="0"/>
              </a:rPr>
              <a:t>1</a:t>
            </a:r>
          </a:p>
          <a:p>
            <a:pPr marL="514350" indent="-514350">
              <a:buFont typeface="+mj-lt"/>
              <a:buAutoNum type="arabicPeriod"/>
            </a:pPr>
            <a:r>
              <a:rPr lang="en-US" dirty="0" smtClean="0"/>
              <a:t>The set of integers is infinite.</a:t>
            </a:r>
          </a:p>
          <a:p>
            <a:pPr>
              <a:buNone/>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8229600" cy="1143000"/>
          </a:xfrm>
        </p:spPr>
        <p:txBody>
          <a:bodyPr/>
          <a:lstStyle/>
          <a:p>
            <a:r>
              <a:rPr lang="en-US" dirty="0" smtClean="0"/>
              <a:t>Power Sets</a:t>
            </a:r>
            <a:endParaRPr lang="en-US" dirty="0"/>
          </a:p>
        </p:txBody>
      </p:sp>
      <p:sp>
        <p:nvSpPr>
          <p:cNvPr id="3" name="Content Placeholder 2"/>
          <p:cNvSpPr>
            <a:spLocks noGrp="1"/>
          </p:cNvSpPr>
          <p:nvPr>
            <p:ph idx="1"/>
          </p:nvPr>
        </p:nvSpPr>
        <p:spPr>
          <a:xfrm>
            <a:off x="533400" y="1524000"/>
            <a:ext cx="8229600" cy="4389120"/>
          </a:xfrm>
        </p:spPr>
        <p:txBody>
          <a:bodyPr>
            <a:normAutofit lnSpcReduction="10000"/>
          </a:bodyPr>
          <a:lstStyle/>
          <a:p>
            <a:pPr>
              <a:buNone/>
            </a:pPr>
            <a:r>
              <a:rPr lang="en-US" b="1" dirty="0" smtClean="0"/>
              <a:t>   Definition</a:t>
            </a:r>
            <a:r>
              <a:rPr lang="en-US" dirty="0" smtClean="0"/>
              <a:t>: </a:t>
            </a:r>
            <a:r>
              <a:rPr lang="en-US" dirty="0"/>
              <a:t>The </a:t>
            </a:r>
            <a:r>
              <a:rPr lang="en-US" b="1" dirty="0"/>
              <a:t>power set</a:t>
            </a:r>
            <a:r>
              <a:rPr lang="en-US" dirty="0"/>
              <a:t> of a set </a:t>
            </a:r>
            <a:r>
              <a:rPr lang="en-US" b="1" dirty="0"/>
              <a:t>A</a:t>
            </a:r>
            <a:r>
              <a:rPr lang="en-US" dirty="0"/>
              <a:t>, denoted by </a:t>
            </a:r>
            <a:r>
              <a:rPr lang="en-US" b="1" dirty="0"/>
              <a:t>P(A)</a:t>
            </a:r>
            <a:r>
              <a:rPr lang="en-US" dirty="0"/>
              <a:t>, is the </a:t>
            </a:r>
            <a:r>
              <a:rPr lang="en-US" b="1" dirty="0"/>
              <a:t>set of all possible subsets of A</a:t>
            </a:r>
            <a:r>
              <a:rPr lang="en-US" dirty="0"/>
              <a:t>, </a:t>
            </a:r>
            <a:endParaRPr lang="en-US" dirty="0" smtClean="0"/>
          </a:p>
          <a:p>
            <a:pPr>
              <a:buNone/>
            </a:pPr>
            <a:r>
              <a:rPr lang="en-US" dirty="0" smtClean="0"/>
              <a:t>including</a:t>
            </a:r>
            <a:r>
              <a:rPr lang="en-US" dirty="0"/>
              <a:t>:</a:t>
            </a:r>
            <a:r>
              <a:rPr lang="en-US" dirty="0" smtClean="0"/>
              <a:t>   </a:t>
            </a:r>
          </a:p>
          <a:p>
            <a:r>
              <a:rPr lang="en-US" dirty="0"/>
              <a:t>The empty set (∅</a:t>
            </a:r>
            <a:r>
              <a:rPr lang="en-US" dirty="0" smtClean="0"/>
              <a:t>)</a:t>
            </a:r>
          </a:p>
          <a:p>
            <a:r>
              <a:rPr lang="en-US" dirty="0"/>
              <a:t>the </a:t>
            </a:r>
            <a:r>
              <a:rPr lang="en-US" b="1" dirty="0"/>
              <a:t>set A itself</a:t>
            </a:r>
            <a:endParaRPr lang="en-US" dirty="0" smtClean="0"/>
          </a:p>
          <a:p>
            <a:pPr>
              <a:buNone/>
            </a:pPr>
            <a:r>
              <a:rPr lang="en-US" b="1" dirty="0" smtClean="0"/>
              <a:t>Example</a:t>
            </a:r>
            <a:r>
              <a:rPr lang="en-US" dirty="0" smtClean="0"/>
              <a:t>: If </a:t>
            </a:r>
            <a:r>
              <a:rPr lang="en-US" i="1" dirty="0" smtClean="0"/>
              <a:t>A</a:t>
            </a:r>
            <a:r>
              <a:rPr lang="en-US" dirty="0" smtClean="0"/>
              <a:t> = {</a:t>
            </a:r>
            <a:r>
              <a:rPr lang="en-US" dirty="0" err="1" smtClean="0"/>
              <a:t>a,b</a:t>
            </a:r>
            <a:r>
              <a:rPr lang="en-US" dirty="0" smtClean="0"/>
              <a:t>} then </a:t>
            </a:r>
          </a:p>
          <a:p>
            <a:pPr>
              <a:buNone/>
            </a:pPr>
            <a:r>
              <a:rPr lang="en-US" dirty="0" smtClean="0"/>
              <a:t>              </a:t>
            </a:r>
            <a:r>
              <a:rPr lang="en-US" dirty="0" smtClean="0">
                <a:latin typeface="Brush Script MT" pitchFamily="66" charset="0"/>
              </a:rPr>
              <a:t>P</a:t>
            </a:r>
            <a:r>
              <a:rPr lang="en-US" dirty="0" smtClean="0"/>
              <a:t>(A) = {ø, {a},{b},{</a:t>
            </a:r>
            <a:r>
              <a:rPr lang="en-US" dirty="0" err="1" smtClean="0"/>
              <a:t>a,b</a:t>
            </a:r>
            <a:r>
              <a:rPr lang="en-US" dirty="0" smtClean="0"/>
              <a:t>}}</a:t>
            </a:r>
          </a:p>
          <a:p>
            <a:pPr>
              <a:buNone/>
            </a:pPr>
            <a:endParaRPr lang="en-US" dirty="0" smtClean="0"/>
          </a:p>
          <a:p>
            <a:r>
              <a:rPr lang="en-US" dirty="0" smtClean="0"/>
              <a:t>If a set has </a:t>
            </a:r>
            <a:r>
              <a:rPr lang="en-US" i="1" dirty="0" smtClean="0"/>
              <a:t>n</a:t>
            </a:r>
            <a:r>
              <a:rPr lang="en-US" dirty="0" smtClean="0"/>
              <a:t> elements, then the cardinality of the power set is </a:t>
            </a:r>
            <a:r>
              <a:rPr lang="en-US" dirty="0" smtClean="0">
                <a:latin typeface="Cambria Math" pitchFamily="18" charset="0"/>
                <a:ea typeface="Cambria Math" pitchFamily="18" charset="0"/>
              </a:rPr>
              <a:t>2</a:t>
            </a:r>
            <a:r>
              <a:rPr lang="en-US" i="1" dirty="0" smtClean="0"/>
              <a:t>ⁿ</a:t>
            </a:r>
            <a:r>
              <a:rPr lang="en-US" dirty="0" smtClean="0"/>
              <a:t>. </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04800"/>
            <a:ext cx="8229600" cy="1143000"/>
          </a:xfrm>
        </p:spPr>
        <p:txBody>
          <a:bodyPr/>
          <a:lstStyle/>
          <a:p>
            <a:r>
              <a:rPr lang="en-US" dirty="0" err="1" smtClean="0"/>
              <a:t>Tuples</a:t>
            </a:r>
            <a:endParaRPr lang="en-US" dirty="0"/>
          </a:p>
        </p:txBody>
      </p:sp>
      <p:sp>
        <p:nvSpPr>
          <p:cNvPr id="3" name="Content Placeholder 2"/>
          <p:cNvSpPr>
            <a:spLocks noGrp="1"/>
          </p:cNvSpPr>
          <p:nvPr>
            <p:ph idx="1"/>
          </p:nvPr>
        </p:nvSpPr>
        <p:spPr>
          <a:xfrm>
            <a:off x="457200" y="1676400"/>
            <a:ext cx="8229600" cy="4389120"/>
          </a:xfrm>
        </p:spPr>
        <p:txBody>
          <a:bodyPr/>
          <a:lstStyle/>
          <a:p>
            <a:r>
              <a:rPr lang="en-US" dirty="0" smtClean="0"/>
              <a:t>The </a:t>
            </a:r>
            <a:r>
              <a:rPr lang="en-US" i="1" dirty="0" smtClean="0"/>
              <a:t>ordered n-</a:t>
            </a:r>
            <a:r>
              <a:rPr lang="en-US" i="1" dirty="0" err="1" smtClean="0"/>
              <a:t>tuple</a:t>
            </a:r>
            <a:r>
              <a:rPr lang="en-US" i="1" dirty="0" smtClean="0"/>
              <a:t> </a:t>
            </a:r>
            <a:r>
              <a:rPr lang="en-US" dirty="0" smtClean="0"/>
              <a:t>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a:t>
            </a:r>
            <a:r>
              <a:rPr lang="en-US" dirty="0" smtClean="0"/>
              <a:t>  is the ordered collection that has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t> as its first element and  </a:t>
            </a:r>
            <a:r>
              <a:rPr lang="en-US"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t>  as its second element and so on until </a:t>
            </a:r>
            <a:r>
              <a:rPr lang="en-US"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as its last element.</a:t>
            </a:r>
          </a:p>
          <a:p>
            <a:r>
              <a:rPr lang="en-US" dirty="0" smtClean="0"/>
              <a:t>Two n-</a:t>
            </a:r>
            <a:r>
              <a:rPr lang="en-US" dirty="0" err="1" smtClean="0"/>
              <a:t>tuples</a:t>
            </a:r>
            <a:r>
              <a:rPr lang="en-US" dirty="0" smtClean="0"/>
              <a:t> are equal if and only if their corresponding elements are equal.</a:t>
            </a:r>
          </a:p>
          <a:p>
            <a:r>
              <a:rPr lang="en-US" dirty="0" smtClean="0">
                <a:latin typeface="Cambria Math" pitchFamily="18" charset="0"/>
                <a:ea typeface="Cambria Math" pitchFamily="18" charset="0"/>
              </a:rPr>
              <a:t>2</a:t>
            </a:r>
            <a:r>
              <a:rPr lang="en-US" dirty="0" smtClean="0"/>
              <a:t>-tuples are called </a:t>
            </a:r>
            <a:r>
              <a:rPr lang="en-US" i="1" dirty="0" smtClean="0"/>
              <a:t>ordered pairs</a:t>
            </a:r>
            <a:r>
              <a:rPr lang="en-US" dirty="0" smtClean="0"/>
              <a:t>.</a:t>
            </a:r>
          </a:p>
          <a:p>
            <a:r>
              <a:rPr lang="en-US" dirty="0" smtClean="0"/>
              <a:t>The ordered pairs (</a:t>
            </a:r>
            <a:r>
              <a:rPr lang="en-US" i="1" dirty="0" err="1" smtClean="0">
                <a:latin typeface="Cambria Math" pitchFamily="18" charset="0"/>
                <a:ea typeface="Cambria Math" pitchFamily="18" charset="0"/>
              </a:rPr>
              <a:t>a</a:t>
            </a:r>
            <a:r>
              <a:rPr lang="en-US" dirty="0" err="1" smtClean="0">
                <a:latin typeface="Cambria Math" pitchFamily="18" charset="0"/>
                <a:ea typeface="Cambria Math" pitchFamily="18" charset="0"/>
              </a:rPr>
              <a:t>,</a:t>
            </a:r>
            <a:r>
              <a:rPr lang="en-US" i="1" dirty="0" err="1" smtClean="0">
                <a:latin typeface="Cambria Math" pitchFamily="18" charset="0"/>
                <a:ea typeface="Cambria Math" pitchFamily="18" charset="0"/>
              </a:rPr>
              <a:t>b</a:t>
            </a:r>
            <a:r>
              <a:rPr lang="en-US" dirty="0" smtClean="0"/>
              <a:t>) and (</a:t>
            </a:r>
            <a:r>
              <a:rPr lang="en-US" i="1" dirty="0" err="1" smtClean="0">
                <a:latin typeface="Cambria Math" pitchFamily="18" charset="0"/>
                <a:ea typeface="Cambria Math" pitchFamily="18" charset="0"/>
              </a:rPr>
              <a:t>c,d</a:t>
            </a:r>
            <a:r>
              <a:rPr lang="en-US" dirty="0" smtClean="0"/>
              <a:t>) are equal if and only if </a:t>
            </a:r>
            <a:r>
              <a:rPr lang="en-US" i="1" dirty="0" smtClean="0">
                <a:latin typeface="Cambria Math" pitchFamily="18" charset="0"/>
                <a:ea typeface="Cambria Math" pitchFamily="18" charset="0"/>
              </a:rPr>
              <a:t>a = c </a:t>
            </a:r>
            <a:r>
              <a:rPr lang="en-US" dirty="0" smtClean="0"/>
              <a:t>and </a:t>
            </a:r>
            <a:r>
              <a:rPr lang="en-US" i="1" dirty="0" smtClean="0">
                <a:latin typeface="Cambria Math" pitchFamily="18" charset="0"/>
                <a:ea typeface="Cambria Math" pitchFamily="18" charset="0"/>
              </a:rPr>
              <a:t>b = d</a:t>
            </a:r>
            <a:r>
              <a:rPr lang="en-US" dirty="0" smtClean="0"/>
              <a:t>.</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a:t>
            </a:r>
            <a:endParaRPr lang="en-US" dirty="0"/>
          </a:p>
        </p:txBody>
      </p:sp>
      <p:sp>
        <p:nvSpPr>
          <p:cNvPr id="3" name="Content Placeholder 2"/>
          <p:cNvSpPr>
            <a:spLocks noGrp="1"/>
          </p:cNvSpPr>
          <p:nvPr>
            <p:ph idx="1"/>
          </p:nvPr>
        </p:nvSpPr>
        <p:spPr>
          <a:xfrm>
            <a:off x="457200" y="1905000"/>
            <a:ext cx="8229600" cy="4648200"/>
          </a:xfrm>
        </p:spPr>
        <p:txBody>
          <a:bodyPr>
            <a:normAutofit fontScale="62500" lnSpcReduction="20000"/>
          </a:bodyPr>
          <a:lstStyle/>
          <a:p>
            <a:pPr>
              <a:buNone/>
            </a:pPr>
            <a:r>
              <a:rPr lang="en-US" sz="4500" b="1" dirty="0" smtClean="0">
                <a:ea typeface="Cambria Math" pitchFamily="18" charset="0"/>
              </a:rPr>
              <a:t>   Definition</a:t>
            </a:r>
            <a:r>
              <a:rPr lang="en-US" sz="4500" dirty="0" smtClean="0">
                <a:ea typeface="Cambria Math" pitchFamily="18" charset="0"/>
              </a:rPr>
              <a:t>:  The </a:t>
            </a:r>
            <a:r>
              <a:rPr lang="en-US" sz="4500" i="1" dirty="0" smtClean="0">
                <a:ea typeface="Cambria Math" pitchFamily="18" charset="0"/>
              </a:rPr>
              <a:t>Cartesian Product </a:t>
            </a:r>
            <a:r>
              <a:rPr lang="en-US" sz="4500" dirty="0" smtClean="0">
                <a:ea typeface="Cambria Math" pitchFamily="18" charset="0"/>
              </a:rPr>
              <a:t>of two sets </a:t>
            </a:r>
            <a:r>
              <a:rPr lang="en-US" sz="4500" i="1" dirty="0" smtClean="0">
                <a:ea typeface="Cambria Math" pitchFamily="18" charset="0"/>
              </a:rPr>
              <a:t>A</a:t>
            </a:r>
            <a:r>
              <a:rPr lang="en-US" sz="4500" b="1" dirty="0" smtClean="0">
                <a:ea typeface="Cambria Math" pitchFamily="18" charset="0"/>
              </a:rPr>
              <a:t> </a:t>
            </a:r>
            <a:r>
              <a:rPr lang="en-US" sz="4500" dirty="0" smtClean="0">
                <a:ea typeface="Cambria Math" pitchFamily="18" charset="0"/>
              </a:rPr>
              <a:t>and </a:t>
            </a:r>
            <a:r>
              <a:rPr lang="en-US" sz="4500" i="1" dirty="0" smtClean="0">
                <a:ea typeface="Cambria Math" pitchFamily="18" charset="0"/>
              </a:rPr>
              <a:t>B</a:t>
            </a:r>
            <a:r>
              <a:rPr lang="en-US" sz="4500" dirty="0" smtClean="0">
                <a:ea typeface="Cambria Math" pitchFamily="18" charset="0"/>
              </a:rPr>
              <a:t>, denoted by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the set of ordered pairs (</a:t>
            </a:r>
            <a:r>
              <a:rPr lang="en-US" sz="4500" dirty="0" err="1" smtClean="0">
                <a:ea typeface="Cambria Math" pitchFamily="18" charset="0"/>
              </a:rPr>
              <a:t>a,b</a:t>
            </a:r>
            <a:r>
              <a:rPr lang="en-US" sz="4500" dirty="0" smtClean="0">
                <a:ea typeface="Cambria Math" pitchFamily="18" charset="0"/>
              </a:rPr>
              <a:t>) where    </a:t>
            </a:r>
            <a:r>
              <a:rPr lang="en-US" sz="4500" i="1" dirty="0" smtClean="0">
                <a:ea typeface="Cambria Math" pitchFamily="18" charset="0"/>
              </a:rPr>
              <a:t>a </a:t>
            </a: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and </a:t>
            </a:r>
            <a:r>
              <a:rPr lang="en-US" sz="4500" i="1" dirty="0" smtClean="0">
                <a:ea typeface="Cambria Math" pitchFamily="18" charset="0"/>
              </a:rPr>
              <a:t>b </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a:t>
            </a:r>
          </a:p>
          <a:p>
            <a:pPr>
              <a:buNone/>
            </a:pPr>
            <a:endParaRPr lang="en-US" sz="4500" dirty="0" smtClean="0">
              <a:ea typeface="Cambria Math" pitchFamily="18" charset="0"/>
            </a:endParaRPr>
          </a:p>
          <a:p>
            <a:pPr>
              <a:buNone/>
            </a:pPr>
            <a:r>
              <a:rPr lang="en-US" sz="4500" b="1" dirty="0" smtClean="0">
                <a:ea typeface="Cambria Math" pitchFamily="18" charset="0"/>
              </a:rPr>
              <a:t>   Example</a:t>
            </a:r>
            <a:r>
              <a:rPr lang="en-US" sz="4500" dirty="0" smtClean="0">
                <a:ea typeface="Cambria Math" pitchFamily="18" charset="0"/>
              </a:rPr>
              <a:t>:</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err="1" smtClean="0">
                <a:ea typeface="Cambria Math" pitchFamily="18" charset="0"/>
              </a:rPr>
              <a:t>a,b</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 = {</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dirty="0" smtClean="0">
                <a:latin typeface="Cambria Math" pitchFamily="18" charset="0"/>
                <a:ea typeface="Cambria Math" pitchFamily="18" charset="0"/>
              </a:rPr>
              <a:t>3</a:t>
            </a:r>
            <a:r>
              <a:rPr lang="en-US" sz="4500" dirty="0" smtClean="0">
                <a:ea typeface="Cambria Math" pitchFamily="18" charset="0"/>
              </a:rPr>
              <a:t>}</a:t>
            </a:r>
          </a:p>
          <a:p>
            <a:pPr>
              <a:buNone/>
            </a:pPr>
            <a:r>
              <a:rPr lang="en-US" sz="4500"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 {(</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i="1" dirty="0" smtClean="0">
                <a:ea typeface="Cambria Math" pitchFamily="18" charset="0"/>
              </a:rPr>
              <a:t>a</a:t>
            </a:r>
            <a:r>
              <a:rPr lang="en-US" sz="4500" dirty="0" smtClean="0">
                <a:ea typeface="Cambria Math" pitchFamily="18" charset="0"/>
              </a:rPr>
              <a:t>,</a:t>
            </a:r>
            <a:r>
              <a:rPr lang="en-US" sz="4500" dirty="0" smtClean="0">
                <a:latin typeface="Cambria Math" pitchFamily="18" charset="0"/>
                <a:ea typeface="Cambria Math" pitchFamily="18" charset="0"/>
              </a:rPr>
              <a:t>3</a:t>
            </a:r>
            <a:r>
              <a:rPr lang="en-US" sz="4500" dirty="0" smtClean="0">
                <a:ea typeface="Cambria Math" pitchFamily="18" charset="0"/>
              </a:rPr>
              <a:t>), (</a:t>
            </a:r>
            <a:r>
              <a:rPr lang="en-US" sz="4500" i="1" dirty="0" smtClean="0">
                <a:ea typeface="Cambria Math" pitchFamily="18" charset="0"/>
              </a:rPr>
              <a:t>b</a:t>
            </a:r>
            <a:r>
              <a:rPr lang="en-US" sz="4500" dirty="0" smtClean="0">
                <a:ea typeface="Cambria Math" pitchFamily="18" charset="0"/>
              </a:rPr>
              <a:t>,</a:t>
            </a:r>
            <a:r>
              <a:rPr lang="en-US" sz="4500" dirty="0" smtClean="0">
                <a:latin typeface="Cambria Math" pitchFamily="18" charset="0"/>
                <a:ea typeface="Cambria Math" pitchFamily="18" charset="0"/>
              </a:rPr>
              <a:t>1</a:t>
            </a:r>
            <a:r>
              <a:rPr lang="en-US" sz="4500" dirty="0" smtClean="0">
                <a:ea typeface="Cambria Math" pitchFamily="18" charset="0"/>
              </a:rPr>
              <a:t>),(</a:t>
            </a:r>
            <a:r>
              <a:rPr lang="en-US" sz="4500" i="1" dirty="0" smtClean="0">
                <a:ea typeface="Cambria Math" pitchFamily="18" charset="0"/>
              </a:rPr>
              <a:t>b,</a:t>
            </a:r>
            <a:r>
              <a:rPr lang="en-US" sz="4500" dirty="0" smtClean="0">
                <a:latin typeface="Cambria Math" pitchFamily="18" charset="0"/>
                <a:ea typeface="Cambria Math" pitchFamily="18" charset="0"/>
              </a:rPr>
              <a:t>2</a:t>
            </a:r>
            <a:r>
              <a:rPr lang="en-US" sz="4500" dirty="0" smtClean="0">
                <a:ea typeface="Cambria Math" pitchFamily="18" charset="0"/>
              </a:rPr>
              <a:t>),(</a:t>
            </a:r>
            <a:r>
              <a:rPr lang="en-US" sz="4500" i="1" dirty="0" smtClean="0">
                <a:ea typeface="Cambria Math" pitchFamily="18" charset="0"/>
              </a:rPr>
              <a:t>b,</a:t>
            </a:r>
            <a:r>
              <a:rPr lang="en-US" sz="4500" dirty="0" smtClean="0">
                <a:latin typeface="Cambria Math" pitchFamily="18" charset="0"/>
                <a:ea typeface="Cambria Math" pitchFamily="18" charset="0"/>
              </a:rPr>
              <a:t>3</a:t>
            </a:r>
            <a:r>
              <a:rPr lang="en-US" sz="4500" dirty="0" smtClean="0">
                <a:ea typeface="Cambria Math" pitchFamily="18" charset="0"/>
              </a:rPr>
              <a:t>)}</a:t>
            </a:r>
          </a:p>
          <a:p>
            <a:pPr>
              <a:buNone/>
            </a:pPr>
            <a:endParaRPr lang="en-US" sz="4500" dirty="0" smtClean="0">
              <a:ea typeface="Cambria Math" pitchFamily="18" charset="0"/>
            </a:endParaRPr>
          </a:p>
          <a:p>
            <a:r>
              <a:rPr lang="en-US" sz="4500" b="1" dirty="0" smtClean="0">
                <a:ea typeface="Cambria Math" pitchFamily="18" charset="0"/>
              </a:rPr>
              <a:t>Definition</a:t>
            </a:r>
            <a:r>
              <a:rPr lang="en-US" sz="4500" dirty="0" smtClean="0">
                <a:ea typeface="Cambria Math" pitchFamily="18" charset="0"/>
              </a:rPr>
              <a:t>: A subset </a:t>
            </a:r>
            <a:r>
              <a:rPr lang="en-US" sz="4500" i="1" dirty="0" smtClean="0">
                <a:ea typeface="Cambria Math" pitchFamily="18" charset="0"/>
              </a:rPr>
              <a:t>R</a:t>
            </a:r>
            <a:r>
              <a:rPr lang="en-US" sz="4500" dirty="0" smtClean="0">
                <a:ea typeface="Cambria Math" pitchFamily="18" charset="0"/>
              </a:rPr>
              <a:t> of the Cartesian product</a:t>
            </a:r>
            <a:r>
              <a:rPr lang="en-US" sz="4500" b="1" dirty="0" smtClean="0">
                <a:ea typeface="Cambria Math" pitchFamily="18" charset="0"/>
              </a:rPr>
              <a:t> </a:t>
            </a:r>
            <a:r>
              <a:rPr lang="en-US" sz="4500" i="1" dirty="0" smtClean="0">
                <a:ea typeface="Cambria Math" pitchFamily="18" charset="0"/>
              </a:rPr>
              <a:t>A</a:t>
            </a:r>
            <a:r>
              <a:rPr lang="en-US" sz="4500" dirty="0" smtClean="0">
                <a:ea typeface="Cambria Math" pitchFamily="18" charset="0"/>
              </a:rPr>
              <a:t> × </a:t>
            </a:r>
            <a:r>
              <a:rPr lang="en-US" sz="4500" i="1" dirty="0" smtClean="0">
                <a:ea typeface="Cambria Math" pitchFamily="18" charset="0"/>
              </a:rPr>
              <a:t>B</a:t>
            </a:r>
            <a:r>
              <a:rPr lang="en-US" sz="4500" dirty="0" smtClean="0">
                <a:ea typeface="Cambria Math" pitchFamily="18" charset="0"/>
              </a:rPr>
              <a:t> is called a </a:t>
            </a:r>
            <a:r>
              <a:rPr lang="en-US" sz="4500" i="1" dirty="0" smtClean="0">
                <a:ea typeface="Cambria Math" pitchFamily="18" charset="0"/>
              </a:rPr>
              <a:t>relation </a:t>
            </a:r>
            <a:r>
              <a:rPr lang="en-US" sz="4500" dirty="0" smtClean="0">
                <a:ea typeface="Cambria Math" pitchFamily="18" charset="0"/>
              </a:rPr>
              <a:t>from the set A to the set B</a:t>
            </a:r>
          </a:p>
          <a:p>
            <a:endParaRPr lang="en-US" dirty="0" smtClean="0"/>
          </a:p>
          <a:p>
            <a:pPr>
              <a:buNone/>
            </a:pPr>
            <a:r>
              <a:rPr lang="en-US" dirty="0" smtClean="0"/>
              <a:t>   </a:t>
            </a:r>
            <a:endParaRPr lang="en-US" i="1" dirty="0"/>
          </a:p>
        </p:txBody>
      </p:sp>
      <p:pic>
        <p:nvPicPr>
          <p:cNvPr id="8" name="Picture 7" descr="addin_tmp.png"/>
          <p:cNvPicPr>
            <a:picLocks noChangeAspect="1"/>
          </p:cNvPicPr>
          <p:nvPr>
            <p:custDataLst>
              <p:tags r:id="rId1"/>
            </p:custDataLst>
          </p:nvPr>
        </p:nvPicPr>
        <p:blipFill>
          <a:blip r:embed="rId3" cstate="print"/>
          <a:stretch>
            <a:fillRect/>
          </a:stretch>
        </p:blipFill>
        <p:spPr>
          <a:xfrm>
            <a:off x="3124200" y="2895600"/>
            <a:ext cx="5143500" cy="382905"/>
          </a:xfrm>
          <a:prstGeom prst="rect">
            <a:avLst/>
          </a:prstGeom>
        </p:spPr>
      </p:pic>
      <p:pic>
        <p:nvPicPr>
          <p:cNvPr id="5" name="Picture 4" descr="0206.jpg"/>
          <p:cNvPicPr>
            <a:picLocks noChangeAspect="1"/>
          </p:cNvPicPr>
          <p:nvPr/>
        </p:nvPicPr>
        <p:blipFill>
          <a:blip r:embed="rId4" cstate="print"/>
          <a:stretch>
            <a:fillRect/>
          </a:stretch>
        </p:blipFill>
        <p:spPr>
          <a:xfrm>
            <a:off x="5410200" y="381000"/>
            <a:ext cx="899160" cy="1042416"/>
          </a:xfrm>
          <a:prstGeom prst="rect">
            <a:avLst/>
          </a:prstGeom>
        </p:spPr>
      </p:pic>
      <p:sp>
        <p:nvSpPr>
          <p:cNvPr id="6" name="TextBox 5"/>
          <p:cNvSpPr txBox="1"/>
          <p:nvPr/>
        </p:nvSpPr>
        <p:spPr>
          <a:xfrm>
            <a:off x="6400800" y="533400"/>
            <a:ext cx="1752600" cy="646331"/>
          </a:xfrm>
          <a:prstGeom prst="rect">
            <a:avLst/>
          </a:prstGeom>
          <a:noFill/>
        </p:spPr>
        <p:txBody>
          <a:bodyPr wrap="square" rtlCol="0">
            <a:spAutoFit/>
          </a:bodyPr>
          <a:lstStyle/>
          <a:p>
            <a:r>
              <a:rPr lang="en-US" dirty="0" smtClean="0"/>
              <a:t>Ren</a:t>
            </a:r>
            <a:r>
              <a:rPr lang="en-US" dirty="0" smtClean="0">
                <a:latin typeface="Cambria Math"/>
                <a:ea typeface="Cambria Math"/>
              </a:rPr>
              <a:t>é Descartes (1596-1650)</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a:t>
            </a:r>
            <a:r>
              <a:rPr lang="en-US" b="1" dirty="0" smtClean="0"/>
              <a:t>Definition</a:t>
            </a:r>
            <a:r>
              <a:rPr lang="en-US" dirty="0" smtClean="0"/>
              <a:t>: The </a:t>
            </a:r>
            <a:r>
              <a:rPr lang="en-US" dirty="0" err="1" smtClean="0"/>
              <a:t>cartesian</a:t>
            </a:r>
            <a:r>
              <a:rPr lang="en-US" dirty="0" smtClean="0"/>
              <a:t> products of the sets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denoted by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 </a:t>
            </a:r>
            <a:r>
              <a:rPr lang="en-US" dirty="0" smtClean="0">
                <a:latin typeface="Cambria Math" pitchFamily="18" charset="0"/>
                <a:ea typeface="Cambria Math" pitchFamily="18" charset="0"/>
              </a:rPr>
              <a:t>×</a:t>
            </a:r>
            <a:r>
              <a:rPr lang="en-US" b="1" baseline="-25000" dirty="0" smtClean="0">
                <a:latin typeface="Cambria Math" pitchFamily="18" charset="0"/>
                <a:ea typeface="Cambria Math" pitchFamily="18" charset="0"/>
              </a:rPr>
              <a:t> </a:t>
            </a:r>
            <a:r>
              <a:rPr lang="en-US" dirty="0" smtClean="0">
                <a:latin typeface="Cambria Math" pitchFamily="18" charset="0"/>
                <a:ea typeface="Cambria Math" pitchFamily="18" charset="0"/>
              </a:rPr>
              <a:t>…… × </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latin typeface="Cambria Math" pitchFamily="18" charset="0"/>
                <a:ea typeface="Cambria Math" pitchFamily="18" charset="0"/>
              </a:rPr>
              <a:t> , </a:t>
            </a:r>
            <a:r>
              <a:rPr lang="en-US" dirty="0" smtClean="0"/>
              <a:t>is the set of ordered           </a:t>
            </a:r>
            <a:r>
              <a:rPr lang="en-US" i="1" dirty="0" smtClean="0"/>
              <a:t>n</a:t>
            </a:r>
            <a:r>
              <a:rPr lang="en-US" dirty="0" smtClean="0"/>
              <a:t>-</a:t>
            </a:r>
            <a:r>
              <a:rPr lang="en-US" dirty="0" err="1" smtClean="0"/>
              <a:t>tuples</a:t>
            </a:r>
            <a:r>
              <a:rPr lang="en-US" dirty="0" smtClean="0"/>
              <a:t>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1</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2</a:t>
            </a:r>
            <a:r>
              <a:rPr lang="en-US" dirty="0" smtClean="0">
                <a:latin typeface="Cambria Math" pitchFamily="18" charset="0"/>
                <a:ea typeface="Cambria Math" pitchFamily="18" charset="0"/>
              </a:rPr>
              <a:t>,……,</a:t>
            </a:r>
            <a:r>
              <a:rPr lang="en-US" i="1" dirty="0" smtClean="0">
                <a:latin typeface="Cambria Math" pitchFamily="18" charset="0"/>
                <a:ea typeface="Cambria Math" pitchFamily="18" charset="0"/>
              </a:rPr>
              <a:t>a</a:t>
            </a:r>
            <a:r>
              <a:rPr lang="en-US" i="1" baseline="-25000" dirty="0" smtClean="0">
                <a:latin typeface="Cambria Math" pitchFamily="18" charset="0"/>
                <a:ea typeface="Cambria Math" pitchFamily="18" charset="0"/>
              </a:rPr>
              <a:t>n</a:t>
            </a:r>
            <a:r>
              <a:rPr lang="en-US" dirty="0" smtClean="0"/>
              <a:t>)  where   </a:t>
            </a:r>
            <a:r>
              <a:rPr lang="en-US" i="1" dirty="0" err="1" smtClean="0">
                <a:latin typeface="Cambria Math" pitchFamily="18" charset="0"/>
                <a:ea typeface="Cambria Math" pitchFamily="18" charset="0"/>
              </a:rPr>
              <a:t>a</a:t>
            </a:r>
            <a:r>
              <a:rPr lang="en-US" i="1" baseline="-25000" dirty="0" err="1" smtClean="0">
                <a:latin typeface="Cambria Math" pitchFamily="18" charset="0"/>
                <a:ea typeface="Cambria Math" pitchFamily="18" charset="0"/>
              </a:rPr>
              <a:t>i</a:t>
            </a:r>
            <a:r>
              <a:rPr lang="en-US" dirty="0" smtClean="0"/>
              <a:t>   belongs to </a:t>
            </a:r>
            <a:r>
              <a:rPr lang="en-US" i="1" dirty="0" smtClean="0">
                <a:latin typeface="Cambria Math" pitchFamily="18" charset="0"/>
                <a:ea typeface="Cambria Math" pitchFamily="18" charset="0"/>
              </a:rPr>
              <a:t>A</a:t>
            </a:r>
            <a:r>
              <a:rPr lang="en-US" baseline="-25000" dirty="0" smtClean="0">
                <a:latin typeface="Cambria Math" pitchFamily="18" charset="0"/>
                <a:ea typeface="Cambria Math" pitchFamily="18" charset="0"/>
              </a:rPr>
              <a:t>i</a:t>
            </a:r>
            <a:r>
              <a:rPr lang="en-US" dirty="0" smtClean="0"/>
              <a:t>                   for </a:t>
            </a:r>
            <a:r>
              <a:rPr lang="en-US" i="1" dirty="0" err="1" smtClean="0"/>
              <a:t>i</a:t>
            </a:r>
            <a:r>
              <a:rPr lang="en-US" dirty="0" smtClean="0"/>
              <a:t> = </a:t>
            </a:r>
            <a:r>
              <a:rPr lang="en-US" dirty="0" smtClean="0">
                <a:latin typeface="Cambria Math" pitchFamily="18" charset="0"/>
                <a:ea typeface="Cambria Math" pitchFamily="18" charset="0"/>
              </a:rPr>
              <a:t>1</a:t>
            </a:r>
            <a:r>
              <a:rPr lang="en-US" dirty="0" smtClean="0"/>
              <a:t>, … </a:t>
            </a:r>
            <a:r>
              <a:rPr lang="en-US" i="1" dirty="0" smtClean="0">
                <a:latin typeface="Cambria Math" pitchFamily="18" charset="0"/>
                <a:ea typeface="Cambria Math" pitchFamily="18" charset="0"/>
              </a:rPr>
              <a:t>n</a:t>
            </a:r>
            <a:r>
              <a:rPr lang="en-US" dirty="0" smtClean="0"/>
              <a:t>. </a:t>
            </a:r>
          </a:p>
          <a:p>
            <a:endParaRPr lang="en-US" dirty="0" smtClean="0"/>
          </a:p>
          <a:p>
            <a:endParaRPr lang="en-US" dirty="0" smtClean="0"/>
          </a:p>
          <a:p>
            <a:endParaRPr lang="en-US" dirty="0" smtClean="0"/>
          </a:p>
          <a:p>
            <a:pPr>
              <a:buNone/>
            </a:pPr>
            <a:r>
              <a:rPr lang="en-US" b="1" dirty="0" smtClean="0"/>
              <a:t>  Example</a:t>
            </a:r>
            <a:r>
              <a:rPr lang="en-US" dirty="0" smtClean="0"/>
              <a:t>: What is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a:t>
            </a:r>
            <a:r>
              <a:rPr lang="en-US" dirty="0" smtClean="0"/>
              <a:t>where </a:t>
            </a:r>
            <a:r>
              <a:rPr lang="en-US" i="1" dirty="0" smtClean="0"/>
              <a:t>A</a:t>
            </a:r>
            <a:r>
              <a:rPr lang="en-US" dirty="0" smtClean="0"/>
              <a:t> = {</a:t>
            </a:r>
            <a:r>
              <a:rPr lang="en-US" dirty="0" smtClean="0">
                <a:latin typeface="Cambria Math" pitchFamily="18" charset="0"/>
                <a:ea typeface="Cambria Math" pitchFamily="18" charset="0"/>
              </a:rPr>
              <a:t>0,1</a:t>
            </a:r>
            <a:r>
              <a:rPr lang="en-US" dirty="0" smtClean="0"/>
              <a:t>}, </a:t>
            </a:r>
            <a:r>
              <a:rPr lang="en-US" i="1" dirty="0" smtClean="0"/>
              <a:t>B</a:t>
            </a:r>
            <a:r>
              <a:rPr lang="en-US" dirty="0" smtClean="0"/>
              <a:t> = {</a:t>
            </a:r>
            <a:r>
              <a:rPr lang="en-US" dirty="0" smtClean="0">
                <a:latin typeface="Cambria Math" pitchFamily="18" charset="0"/>
                <a:ea typeface="Cambria Math" pitchFamily="18" charset="0"/>
              </a:rPr>
              <a:t>1,2</a:t>
            </a:r>
            <a:r>
              <a:rPr lang="en-US" dirty="0" smtClean="0"/>
              <a:t>} and    </a:t>
            </a:r>
            <a:r>
              <a:rPr lang="en-US" i="1" dirty="0" smtClean="0"/>
              <a:t>C</a:t>
            </a:r>
            <a:r>
              <a:rPr lang="en-US" dirty="0" smtClean="0"/>
              <a:t> = {</a:t>
            </a:r>
            <a:r>
              <a:rPr lang="en-US" dirty="0" smtClean="0">
                <a:latin typeface="Cambria Math" pitchFamily="18" charset="0"/>
                <a:ea typeface="Cambria Math" pitchFamily="18" charset="0"/>
              </a:rPr>
              <a:t>0,1,2</a:t>
            </a:r>
            <a:r>
              <a:rPr lang="en-US" dirty="0" smtClean="0"/>
              <a:t>}</a:t>
            </a:r>
            <a:endParaRPr lang="en-US" b="1" dirty="0" smtClean="0"/>
          </a:p>
          <a:p>
            <a:pPr>
              <a:buNone/>
            </a:pPr>
            <a:r>
              <a:rPr lang="en-US" b="1" dirty="0" smtClean="0"/>
              <a:t>  Solution: </a:t>
            </a:r>
            <a:r>
              <a:rPr lang="en-US" i="1" dirty="0" smtClean="0"/>
              <a:t>A</a:t>
            </a:r>
            <a:r>
              <a:rPr lang="en-US" dirty="0" smtClean="0">
                <a:latin typeface="Cambria Math" pitchFamily="18" charset="0"/>
                <a:ea typeface="Cambria Math" pitchFamily="18" charset="0"/>
              </a:rPr>
              <a:t> ×</a:t>
            </a:r>
            <a:r>
              <a:rPr lang="en-US" b="1" dirty="0" smtClean="0"/>
              <a:t> </a:t>
            </a:r>
            <a:r>
              <a:rPr lang="en-US" i="1" dirty="0" smtClean="0"/>
              <a:t>B</a:t>
            </a:r>
            <a:r>
              <a:rPr lang="en-US" b="1" dirty="0" smtClean="0"/>
              <a:t> </a:t>
            </a:r>
            <a:r>
              <a:rPr lang="en-US" dirty="0" smtClean="0">
                <a:latin typeface="Cambria Math" pitchFamily="18" charset="0"/>
                <a:ea typeface="Cambria Math" pitchFamily="18" charset="0"/>
              </a:rPr>
              <a:t>×</a:t>
            </a:r>
            <a:r>
              <a:rPr lang="en-US" b="1" dirty="0" smtClean="0"/>
              <a:t> </a:t>
            </a:r>
            <a:r>
              <a:rPr lang="en-US" dirty="0" smtClean="0"/>
              <a:t>C</a:t>
            </a:r>
            <a:r>
              <a:rPr lang="en-US" b="1" dirty="0" smtClean="0"/>
              <a:t> = </a:t>
            </a:r>
            <a:r>
              <a:rPr lang="en-US" dirty="0" smtClean="0"/>
              <a:t>{(</a:t>
            </a:r>
            <a:r>
              <a:rPr lang="en-US" dirty="0" smtClean="0">
                <a:latin typeface="Cambria Math" pitchFamily="18" charset="0"/>
                <a:ea typeface="Cambria Math" pitchFamily="18" charset="0"/>
              </a:rPr>
              <a:t>0,1,0</a:t>
            </a:r>
            <a:r>
              <a:rPr lang="en-US" dirty="0" smtClean="0"/>
              <a:t>), (</a:t>
            </a:r>
            <a:r>
              <a:rPr lang="en-US" dirty="0" smtClean="0">
                <a:latin typeface="Cambria Math" pitchFamily="18" charset="0"/>
                <a:ea typeface="Cambria Math" pitchFamily="18" charset="0"/>
              </a:rPr>
              <a:t>0,1,1</a:t>
            </a:r>
            <a:r>
              <a:rPr lang="en-US" dirty="0" smtClean="0"/>
              <a:t>), (</a:t>
            </a:r>
            <a:r>
              <a:rPr lang="en-US" dirty="0" smtClean="0">
                <a:latin typeface="Cambria Math" pitchFamily="18" charset="0"/>
                <a:ea typeface="Cambria Math" pitchFamily="18" charset="0"/>
              </a:rPr>
              <a:t>0,1,2</a:t>
            </a:r>
            <a:r>
              <a:rPr lang="en-US" dirty="0" smtClean="0"/>
              <a:t>),(</a:t>
            </a:r>
            <a:r>
              <a:rPr lang="en-US" dirty="0" smtClean="0">
                <a:latin typeface="Cambria Math" pitchFamily="18" charset="0"/>
                <a:ea typeface="Cambria Math" pitchFamily="18" charset="0"/>
              </a:rPr>
              <a:t>0,2,0</a:t>
            </a:r>
            <a:r>
              <a:rPr lang="en-US" dirty="0" smtClean="0"/>
              <a:t>), (</a:t>
            </a:r>
            <a:r>
              <a:rPr lang="en-US" dirty="0" smtClean="0">
                <a:latin typeface="Cambria Math" pitchFamily="18" charset="0"/>
                <a:ea typeface="Cambria Math" pitchFamily="18" charset="0"/>
              </a:rPr>
              <a:t>0,2,1</a:t>
            </a:r>
            <a:r>
              <a:rPr lang="en-US" dirty="0" smtClean="0"/>
              <a:t>), (</a:t>
            </a:r>
            <a:r>
              <a:rPr lang="en-US" dirty="0" smtClean="0">
                <a:latin typeface="Cambria Math" pitchFamily="18" charset="0"/>
                <a:ea typeface="Cambria Math" pitchFamily="18" charset="0"/>
              </a:rPr>
              <a:t>0,2,2</a:t>
            </a:r>
            <a:r>
              <a:rPr lang="en-US" dirty="0" smtClean="0"/>
              <a:t>),(</a:t>
            </a:r>
            <a:r>
              <a:rPr lang="en-US" dirty="0" smtClean="0">
                <a:latin typeface="Cambria Math" pitchFamily="18" charset="0"/>
                <a:ea typeface="Cambria Math" pitchFamily="18" charset="0"/>
              </a:rPr>
              <a:t>1,1,0</a:t>
            </a:r>
            <a:r>
              <a:rPr lang="en-US" dirty="0" smtClean="0"/>
              <a:t>), (</a:t>
            </a:r>
            <a:r>
              <a:rPr lang="en-US" dirty="0" smtClean="0">
                <a:latin typeface="Cambria Math" pitchFamily="18" charset="0"/>
                <a:ea typeface="Cambria Math" pitchFamily="18" charset="0"/>
              </a:rPr>
              <a:t>1,1,1</a:t>
            </a:r>
            <a:r>
              <a:rPr lang="en-US" dirty="0" smtClean="0"/>
              <a:t>), (</a:t>
            </a:r>
            <a:r>
              <a:rPr lang="en-US" dirty="0" smtClean="0">
                <a:latin typeface="Cambria Math" pitchFamily="18" charset="0"/>
                <a:ea typeface="Cambria Math" pitchFamily="18" charset="0"/>
              </a:rPr>
              <a:t>1,1,2</a:t>
            </a:r>
            <a:r>
              <a:rPr lang="en-US" dirty="0" smtClean="0"/>
              <a:t>), (</a:t>
            </a:r>
            <a:r>
              <a:rPr lang="en-US" dirty="0" smtClean="0">
                <a:latin typeface="Cambria Math" pitchFamily="18" charset="0"/>
                <a:ea typeface="Cambria Math" pitchFamily="18" charset="0"/>
              </a:rPr>
              <a:t>1,2,0</a:t>
            </a:r>
            <a:r>
              <a:rPr lang="en-US" dirty="0" smtClean="0"/>
              <a:t>), (</a:t>
            </a:r>
            <a:r>
              <a:rPr lang="en-US" dirty="0" smtClean="0">
                <a:latin typeface="Cambria Math" pitchFamily="18" charset="0"/>
                <a:ea typeface="Cambria Math" pitchFamily="18" charset="0"/>
              </a:rPr>
              <a:t>1,2,1</a:t>
            </a:r>
            <a:r>
              <a:rPr lang="en-US" dirty="0" smtClean="0"/>
              <a:t>), (</a:t>
            </a:r>
            <a:r>
              <a:rPr lang="en-US" dirty="0" smtClean="0">
                <a:latin typeface="Cambria Math" pitchFamily="18" charset="0"/>
                <a:ea typeface="Cambria Math" pitchFamily="18" charset="0"/>
              </a:rPr>
              <a:t>1,2,2</a:t>
            </a:r>
            <a:r>
              <a:rPr lang="en-US" dirty="0" smtClean="0"/>
              <a:t>)}</a:t>
            </a:r>
            <a:endParaRPr lang="en-US" b="1" dirty="0" smtClean="0"/>
          </a:p>
          <a:p>
            <a:endParaRPr lang="en-US" dirty="0" smtClean="0"/>
          </a:p>
          <a:p>
            <a:endParaRPr lang="en-US" dirty="0" smtClean="0"/>
          </a:p>
          <a:p>
            <a:endParaRPr lang="en-US" dirty="0" smtClean="0"/>
          </a:p>
          <a:p>
            <a:endParaRPr lang="en-US" dirty="0" smtClean="0"/>
          </a:p>
          <a:p>
            <a:endParaRPr lang="en-US" dirty="0" smtClean="0"/>
          </a:p>
          <a:p>
            <a:endParaRPr lang="en-US" dirty="0"/>
          </a:p>
        </p:txBody>
      </p:sp>
      <p:pic>
        <p:nvPicPr>
          <p:cNvPr id="6" name="Picture 5" descr="addin_tmp.png"/>
          <p:cNvPicPr>
            <a:picLocks noChangeAspect="1"/>
          </p:cNvPicPr>
          <p:nvPr>
            <p:custDataLst>
              <p:tags r:id="rId1"/>
            </p:custDataLst>
          </p:nvPr>
        </p:nvPicPr>
        <p:blipFill>
          <a:blip r:embed="rId3" cstate="print"/>
          <a:stretch>
            <a:fillRect/>
          </a:stretch>
        </p:blipFill>
        <p:spPr>
          <a:xfrm>
            <a:off x="1447801" y="3429000"/>
            <a:ext cx="6386513" cy="6881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10;&#10;$\forall x ( x \in A \leftrightarrow x \in B)$&#10;\end{document}"/>
  <p:tag name="IGUANATEXSIZE" val="3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 \times B = \{(a,b) | a \in A \wedge b \in B\}$&#10;&#10;&#10;\end{document}"/>
  <p:tag name="IGUANATEXSIZE" val="3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A_1\times  A_2 \times \dots \times A_n =\\&#10;\hspace*{.5in} \{(a_1,a_2,\ldots, a_n) | a_i \in A_i\; \mbox{for}\; i = 1,2, \ldots n \}$&#10;&#10;&#10;\end{document}"/>
  <p:tag name="IGUANATEXSIZE" val="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37154</TotalTime>
  <Words>1844</Words>
  <Application>Microsoft Office PowerPoint</Application>
  <PresentationFormat>On-screen Show (4:3)</PresentationFormat>
  <Paragraphs>281</Paragraphs>
  <Slides>30</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Brush Script MT</vt:lpstr>
      <vt:lpstr>Wingdings 2</vt:lpstr>
      <vt:lpstr>Cambria Math</vt:lpstr>
      <vt:lpstr>Calibri</vt:lpstr>
      <vt:lpstr>Times New Roman</vt:lpstr>
      <vt:lpstr>Constantia</vt:lpstr>
      <vt:lpstr>Arial Unicode MS</vt:lpstr>
      <vt:lpstr>Flow</vt:lpstr>
      <vt:lpstr>Basic Structures: Sets, Functions, Sequences, Sums, and Matrices</vt:lpstr>
      <vt:lpstr>Chapter Summary</vt:lpstr>
      <vt:lpstr>Sets</vt:lpstr>
      <vt:lpstr>Section Summary</vt:lpstr>
      <vt:lpstr>Introduction</vt:lpstr>
      <vt:lpstr>Sets</vt:lpstr>
      <vt:lpstr>Describing a Set: Roster Method</vt:lpstr>
      <vt:lpstr>Roster Method</vt:lpstr>
      <vt:lpstr>Some Important Sets</vt:lpstr>
      <vt:lpstr>Set-Builder Notation</vt:lpstr>
      <vt:lpstr>Example 1.</vt:lpstr>
      <vt:lpstr>Example 2.</vt:lpstr>
      <vt:lpstr>Interval Notation</vt:lpstr>
      <vt:lpstr>Universal Set and Empty Set</vt:lpstr>
      <vt:lpstr>Universal Set - Example</vt:lpstr>
      <vt:lpstr>Russell’s Paradox</vt:lpstr>
      <vt:lpstr>PowerPoint Presentation</vt:lpstr>
      <vt:lpstr>Some things to remember</vt:lpstr>
      <vt:lpstr>Set Equality</vt:lpstr>
      <vt:lpstr>Subsets</vt:lpstr>
      <vt:lpstr>Showing a Set is or is not a Subset of Another Set</vt:lpstr>
      <vt:lpstr>Equivalent Set </vt:lpstr>
      <vt:lpstr>Proper Subsets</vt:lpstr>
      <vt:lpstr>Proper Subsets - Example</vt:lpstr>
      <vt:lpstr>Proper Subsets – Continue…</vt:lpstr>
      <vt:lpstr>Set Cardinality</vt:lpstr>
      <vt:lpstr>Power Sets</vt:lpstr>
      <vt:lpstr>Tuples</vt:lpstr>
      <vt:lpstr>Cartesian Product</vt:lpstr>
      <vt:lpstr>Cartesian Product </vt:lpstr>
    </vt:vector>
  </TitlesOfParts>
  <Company>Monmouth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Foundations: Logic and Proofs</dc:title>
  <dc:creator>Richard Scherl</dc:creator>
  <cp:lastModifiedBy>Dureshahwar Waseem</cp:lastModifiedBy>
  <cp:revision>2051</cp:revision>
  <dcterms:created xsi:type="dcterms:W3CDTF">2011-03-27T19:09:13Z</dcterms:created>
  <dcterms:modified xsi:type="dcterms:W3CDTF">2026-01-06T16:39:57Z</dcterms:modified>
</cp:coreProperties>
</file>