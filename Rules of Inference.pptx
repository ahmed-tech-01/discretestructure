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56" r:id="rId2"/>
    <p:sldId id="359" r:id="rId3"/>
    <p:sldId id="397" r:id="rId4"/>
    <p:sldId id="479" r:id="rId5"/>
    <p:sldId id="477" r:id="rId6"/>
    <p:sldId id="482" r:id="rId7"/>
    <p:sldId id="464" r:id="rId8"/>
    <p:sldId id="465" r:id="rId9"/>
    <p:sldId id="466" r:id="rId10"/>
    <p:sldId id="467" r:id="rId11"/>
    <p:sldId id="475" r:id="rId12"/>
    <p:sldId id="473" r:id="rId13"/>
    <p:sldId id="474" r:id="rId14"/>
    <p:sldId id="363" r:id="rId15"/>
    <p:sldId id="364" r:id="rId16"/>
    <p:sldId id="365" r:id="rId17"/>
    <p:sldId id="366" r:id="rId18"/>
    <p:sldId id="368" r:id="rId19"/>
    <p:sldId id="369" r:id="rId20"/>
    <p:sldId id="370" r:id="rId21"/>
    <p:sldId id="371" r:id="rId22"/>
    <p:sldId id="483" r:id="rId23"/>
    <p:sldId id="380" r:id="rId24"/>
    <p:sldId id="439" r:id="rId25"/>
    <p:sldId id="373" r:id="rId26"/>
    <p:sldId id="367" r:id="rId27"/>
    <p:sldId id="480" r:id="rId28"/>
    <p:sldId id="481" r:id="rId29"/>
  </p:sldIdLst>
  <p:sldSz cx="9144000" cy="6858000" type="screen4x3"/>
  <p:notesSz cx="6858000" cy="9144000"/>
  <p:embeddedFontLst>
    <p:embeddedFont>
      <p:font typeface="Constantia" panose="02030602050306030303" pitchFamily="18" charset="0"/>
      <p:regular r:id="rId32"/>
      <p:bold r:id="rId33"/>
      <p:italic r:id="rId34"/>
      <p:boldItalic r:id="rId35"/>
    </p:embeddedFont>
    <p:embeddedFont>
      <p:font typeface="Cambria Math" panose="02040503050406030204" pitchFamily="18" charset="0"/>
      <p:regular r:id="rId36"/>
    </p:embeddedFont>
    <p:embeddedFont>
      <p:font typeface="Wingdings 2" panose="05020102010507070707" pitchFamily="18" charset="2"/>
      <p:regular r:id="rId37"/>
    </p:embeddedFont>
    <p:embeddedFont>
      <p:font typeface="Calibri" panose="020F0502020204030204" pitchFamily="34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5" autoAdjust="0"/>
    <p:restoredTop sz="94660"/>
  </p:normalViewPr>
  <p:slideViewPr>
    <p:cSldViewPr>
      <p:cViewPr varScale="1">
        <p:scale>
          <a:sx n="69" d="100"/>
          <a:sy n="69" d="100"/>
        </p:scale>
        <p:origin x="145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EF7AE-0C30-4EA7-B74D-470A9C33048D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01582-F5A8-41ED-8946-57B4D8BFA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81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51A1F-924C-4BCD-AE4C-3A5DD90B2C9D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612B00-BF9F-4C8A-8D33-EED5BFD171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0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that a truth table would have 32 rows since we have 5 propositional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612B00-BF9F-4C8A-8D33-EED5BFD1711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36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D15220D-0BB5-4C71-B862-812B075D02FE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Foundations: Logic and Proofs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2, Part III: Proofs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Rules of Inference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Valid Arguments</a:t>
            </a:r>
          </a:p>
          <a:p>
            <a:r>
              <a:rPr lang="en-US" dirty="0"/>
              <a:t>Inference Rules for Propositional Logic</a:t>
            </a:r>
          </a:p>
          <a:p>
            <a:r>
              <a:rPr lang="en-US" dirty="0"/>
              <a:t>Using Rules of Inference to Build Arguments</a:t>
            </a:r>
          </a:p>
          <a:p>
            <a:r>
              <a:rPr lang="en-US" dirty="0"/>
              <a:t>Rules of Inference for Quantified Statements</a:t>
            </a:r>
          </a:p>
          <a:p>
            <a:r>
              <a:rPr lang="en-US" dirty="0"/>
              <a:t>Building Arguments for Quantified Statements</a:t>
            </a:r>
          </a:p>
          <a:p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Arguments in Propositional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</a:t>
            </a:r>
            <a:r>
              <a:rPr lang="en-US" b="1" i="1" dirty="0"/>
              <a:t>argument</a:t>
            </a:r>
            <a:r>
              <a:rPr lang="en-US" i="1" dirty="0"/>
              <a:t> </a:t>
            </a:r>
            <a:r>
              <a:rPr lang="en-US" dirty="0"/>
              <a:t>in propositional logic is a sequence of propositions. All but the final proposition are called </a:t>
            </a:r>
            <a:r>
              <a:rPr lang="en-US" b="1" i="1" dirty="0"/>
              <a:t>premises</a:t>
            </a:r>
            <a:r>
              <a:rPr lang="en-US" dirty="0"/>
              <a:t>. The last statement is the </a:t>
            </a:r>
            <a:r>
              <a:rPr lang="en-US" b="1" i="1" dirty="0"/>
              <a:t>conclusion</a:t>
            </a:r>
            <a:r>
              <a:rPr lang="en-US" dirty="0"/>
              <a:t>. </a:t>
            </a:r>
          </a:p>
          <a:p>
            <a:r>
              <a:rPr lang="en-US" dirty="0"/>
              <a:t>The argument is valid if the </a:t>
            </a:r>
            <a:r>
              <a:rPr lang="en-US" b="1" dirty="0"/>
              <a:t>premises</a:t>
            </a:r>
            <a:r>
              <a:rPr lang="en-US" dirty="0"/>
              <a:t> imply the </a:t>
            </a:r>
            <a:r>
              <a:rPr lang="en-US" b="1" dirty="0"/>
              <a:t>conclusion</a:t>
            </a:r>
            <a:r>
              <a:rPr lang="en-US" dirty="0"/>
              <a:t>.  An </a:t>
            </a:r>
            <a:r>
              <a:rPr lang="en-US" b="1" i="1" dirty="0"/>
              <a:t>argument form</a:t>
            </a:r>
            <a:r>
              <a:rPr lang="en-US" b="1" dirty="0"/>
              <a:t> </a:t>
            </a:r>
            <a:r>
              <a:rPr lang="en-US" dirty="0"/>
              <a:t>  is  an argument that is valid no matter what propositions are substituted into its propositional variables.    </a:t>
            </a:r>
          </a:p>
          <a:p>
            <a:r>
              <a:rPr lang="en-US" dirty="0"/>
              <a:t>If the premises are  </a:t>
            </a:r>
            <a:r>
              <a:rPr lang="en-US" b="1" i="1" dirty="0"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b="1" i="1" dirty="0"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, …,</a:t>
            </a:r>
            <a:r>
              <a:rPr lang="en-US" b="1" i="1" dirty="0" err="1"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i="1" baseline="-25000" dirty="0" err="1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dirty="0"/>
              <a:t>and the conclusion is </a:t>
            </a:r>
            <a:r>
              <a:rPr lang="en-US" b="1" i="1" dirty="0"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b="1" dirty="0"/>
              <a:t> </a:t>
            </a:r>
            <a:r>
              <a:rPr lang="en-US" dirty="0"/>
              <a:t> then               </a:t>
            </a:r>
          </a:p>
          <a:p>
            <a:pPr>
              <a:buNone/>
            </a:pPr>
            <a:r>
              <a:rPr lang="en-US" dirty="0"/>
              <a:t>        (</a:t>
            </a:r>
            <a:r>
              <a:rPr lang="en-US" b="1" i="1" dirty="0"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baseline="-25000" dirty="0">
                <a:latin typeface="Cambria Math" pitchFamily="18" charset="0"/>
                <a:ea typeface="Cambria Math" pitchFamily="18" charset="0"/>
              </a:rPr>
              <a:t>1 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 ∧ </a:t>
            </a:r>
            <a:r>
              <a:rPr lang="en-US" b="1" i="1" dirty="0"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 ∧ … ∧ </a:t>
            </a:r>
            <a:r>
              <a:rPr lang="en-US" b="1" i="1" dirty="0" err="1"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i="1" baseline="-25000" dirty="0" err="1">
                <a:latin typeface="Cambria Math" pitchFamily="18" charset="0"/>
                <a:ea typeface="Cambria Math" pitchFamily="18" charset="0"/>
              </a:rPr>
              <a:t>n</a:t>
            </a:r>
            <a:r>
              <a:rPr lang="en-US" dirty="0"/>
              <a:t> ) </a:t>
            </a:r>
            <a:r>
              <a:rPr lang="en-US" dirty="0">
                <a:latin typeface="Cambria Math"/>
                <a:ea typeface="Cambria Math"/>
              </a:rPr>
              <a:t>→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i="1" dirty="0"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/>
              <a:t> is a tautology.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endParaRPr lang="en-US" dirty="0"/>
          </a:p>
          <a:p>
            <a:r>
              <a:rPr lang="en-US" dirty="0"/>
              <a:t>Inference rules are all argument simple argument forms that will be used to construct more complex argument forms.</a:t>
            </a:r>
          </a:p>
          <a:p>
            <a:pPr>
              <a:buNone/>
            </a:pPr>
            <a:r>
              <a:rPr lang="en-US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1763194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57844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Revisiting the Socrates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8229600" cy="4389120"/>
          </a:xfrm>
        </p:spPr>
        <p:txBody>
          <a:bodyPr/>
          <a:lstStyle/>
          <a:p>
            <a:r>
              <a:rPr lang="en-US" dirty="0"/>
              <a:t>We have the two premises:</a:t>
            </a:r>
          </a:p>
          <a:p>
            <a:pPr lvl="1"/>
            <a:r>
              <a:rPr lang="en-US" b="1" dirty="0"/>
              <a:t>“All men are mortal</a:t>
            </a:r>
            <a:r>
              <a:rPr lang="en-US" b="1" dirty="0" smtClean="0"/>
              <a:t>.” </a:t>
            </a:r>
          </a:p>
          <a:p>
            <a:pPr marL="393192" lvl="1" indent="0">
              <a:buNone/>
            </a:pPr>
            <a:r>
              <a:rPr lang="en-US" dirty="0" smtClean="0"/>
              <a:t>     If </a:t>
            </a:r>
            <a:r>
              <a:rPr lang="en-US" dirty="0"/>
              <a:t>someone is a </a:t>
            </a:r>
            <a:r>
              <a:rPr lang="en-US" b="1" dirty="0"/>
              <a:t>man</a:t>
            </a:r>
            <a:r>
              <a:rPr lang="en-US" dirty="0"/>
              <a:t>, then that person is </a:t>
            </a:r>
            <a:r>
              <a:rPr lang="en-US" b="1" dirty="0"/>
              <a:t>mortal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“Socrates is a man</a:t>
            </a:r>
            <a:r>
              <a:rPr lang="en-US" b="1" dirty="0" smtClean="0"/>
              <a:t>.”</a:t>
            </a:r>
          </a:p>
          <a:p>
            <a:pPr marL="393192" lvl="1" indent="0">
              <a:buNone/>
            </a:pPr>
            <a:r>
              <a:rPr lang="en-US" dirty="0"/>
              <a:t>     This tells us that </a:t>
            </a:r>
            <a:r>
              <a:rPr lang="en-US" b="1" dirty="0"/>
              <a:t>Socrates</a:t>
            </a:r>
            <a:r>
              <a:rPr lang="en-US" dirty="0"/>
              <a:t> belongs to the group </a:t>
            </a:r>
            <a:r>
              <a:rPr lang="en-US" b="1" dirty="0"/>
              <a:t>men</a:t>
            </a:r>
            <a:r>
              <a:rPr lang="en-US" dirty="0"/>
              <a:t>.</a:t>
            </a:r>
          </a:p>
          <a:p>
            <a:r>
              <a:rPr lang="en-US" dirty="0"/>
              <a:t>And the conclusion: </a:t>
            </a:r>
          </a:p>
          <a:p>
            <a:pPr lvl="1"/>
            <a:r>
              <a:rPr lang="en-US" b="1" dirty="0"/>
              <a:t>“Socrates is mortal.”</a:t>
            </a:r>
          </a:p>
          <a:p>
            <a:r>
              <a:rPr lang="en-US" dirty="0"/>
              <a:t>How do we get the </a:t>
            </a:r>
            <a:r>
              <a:rPr lang="en-US" b="1" dirty="0"/>
              <a:t>conclusion</a:t>
            </a:r>
            <a:r>
              <a:rPr lang="en-US" dirty="0"/>
              <a:t> from the </a:t>
            </a:r>
            <a:r>
              <a:rPr lang="en-US" b="1" dirty="0"/>
              <a:t>premises?</a:t>
            </a:r>
          </a:p>
        </p:txBody>
      </p:sp>
    </p:spTree>
    <p:extLst>
      <p:ext uri="{BB962C8B-B14F-4D97-AF65-F5344CB8AC3E}">
        <p14:creationId xmlns:p14="http://schemas.microsoft.com/office/powerpoint/2010/main" val="2258330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Argument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express the </a:t>
            </a:r>
            <a:r>
              <a:rPr lang="en-US" b="1" dirty="0"/>
              <a:t>premises</a:t>
            </a:r>
            <a:r>
              <a:rPr lang="en-US" dirty="0"/>
              <a:t> (above the line) and the </a:t>
            </a:r>
            <a:r>
              <a:rPr lang="en-US" b="1" dirty="0"/>
              <a:t>conclusion</a:t>
            </a:r>
            <a:r>
              <a:rPr lang="en-US" dirty="0"/>
              <a:t> (below the line) in predicate logic as an </a:t>
            </a:r>
            <a:r>
              <a:rPr lang="en-US" b="1" dirty="0"/>
              <a:t>argument: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will see shortly that this is a valid argument.</a:t>
            </a:r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2514600" y="3124200"/>
            <a:ext cx="4377690" cy="382905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819400" y="3733800"/>
            <a:ext cx="2560320" cy="382905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362200" y="4572000"/>
            <a:ext cx="3743325" cy="38290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057400" y="4267200"/>
            <a:ext cx="457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237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Argument –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Consider the following </a:t>
            </a:r>
            <a:r>
              <a:rPr lang="en-US" dirty="0" smtClean="0"/>
              <a:t>argument (sequence of propositions)</a:t>
            </a:r>
          </a:p>
          <a:p>
            <a:pPr algn="just"/>
            <a:r>
              <a:rPr lang="en-US" i="1" dirty="0">
                <a:solidFill>
                  <a:srgbClr val="00B0F0"/>
                </a:solidFill>
              </a:rPr>
              <a:t>“If you have a current password, then you can log onto the network.”</a:t>
            </a:r>
          </a:p>
          <a:p>
            <a:pPr algn="just"/>
            <a:r>
              <a:rPr lang="en-US" i="1" dirty="0">
                <a:solidFill>
                  <a:srgbClr val="00B0F0"/>
                </a:solidFill>
              </a:rPr>
              <a:t>“You have a current password.”</a:t>
            </a:r>
          </a:p>
          <a:p>
            <a:pPr algn="just"/>
            <a:r>
              <a:rPr lang="en-US" i="1" dirty="0">
                <a:solidFill>
                  <a:srgbClr val="00B050"/>
                </a:solidFill>
              </a:rPr>
              <a:t>Therefore</a:t>
            </a:r>
            <a:r>
              <a:rPr lang="en-US" i="1" dirty="0" smtClean="0">
                <a:solidFill>
                  <a:srgbClr val="00B050"/>
                </a:solidFill>
              </a:rPr>
              <a:t>, “</a:t>
            </a:r>
            <a:r>
              <a:rPr lang="en-US" i="1" dirty="0">
                <a:solidFill>
                  <a:srgbClr val="00B050"/>
                </a:solidFill>
              </a:rPr>
              <a:t>You can log onto the network</a:t>
            </a:r>
            <a:r>
              <a:rPr lang="en-US" i="1" dirty="0" smtClean="0">
                <a:solidFill>
                  <a:srgbClr val="00B050"/>
                </a:solidFill>
              </a:rPr>
              <a:t>.”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To determine if it is a valid argument?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2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Argument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Using </a:t>
            </a:r>
            <a:r>
              <a:rPr lang="en-US" b="1" i="1" dirty="0" smtClean="0"/>
              <a:t>p</a:t>
            </a:r>
            <a:r>
              <a:rPr lang="en-US" i="1" dirty="0" smtClean="0"/>
              <a:t> </a:t>
            </a:r>
            <a:r>
              <a:rPr lang="en-US" dirty="0" smtClean="0"/>
              <a:t>to </a:t>
            </a:r>
            <a:r>
              <a:rPr lang="en-US" dirty="0"/>
              <a:t>represent </a:t>
            </a:r>
            <a:r>
              <a:rPr lang="en-US" b="1" dirty="0"/>
              <a:t>“You have a current password” </a:t>
            </a:r>
            <a:r>
              <a:rPr lang="en-US" dirty="0"/>
              <a:t>and </a:t>
            </a:r>
            <a:r>
              <a:rPr lang="en-US" b="1" i="1" dirty="0"/>
              <a:t>q</a:t>
            </a:r>
            <a:r>
              <a:rPr lang="en-US" i="1" dirty="0"/>
              <a:t> </a:t>
            </a:r>
            <a:r>
              <a:rPr lang="en-US" dirty="0"/>
              <a:t>to represent </a:t>
            </a:r>
            <a:r>
              <a:rPr lang="en-US" b="1" dirty="0"/>
              <a:t>“You can log onto the network</a:t>
            </a:r>
            <a:r>
              <a:rPr lang="en-US" b="1" dirty="0" smtClean="0"/>
              <a:t>.” </a:t>
            </a:r>
            <a:r>
              <a:rPr lang="en-US" dirty="0" smtClean="0"/>
              <a:t>Then</a:t>
            </a:r>
            <a:r>
              <a:rPr lang="en-US" dirty="0"/>
              <a:t>, the argument has the form</a:t>
            </a:r>
          </a:p>
          <a:p>
            <a:pPr algn="just"/>
            <a:r>
              <a:rPr lang="en-US" i="1" dirty="0" smtClean="0"/>
              <a:t> 			p </a:t>
            </a:r>
            <a:r>
              <a:rPr lang="en-US" dirty="0"/>
              <a:t>→ </a:t>
            </a:r>
            <a:r>
              <a:rPr lang="en-US" i="1" dirty="0"/>
              <a:t>q</a:t>
            </a:r>
          </a:p>
          <a:p>
            <a:pPr algn="just"/>
            <a:r>
              <a:rPr lang="en-US" i="1" dirty="0" smtClean="0"/>
              <a:t> 			p</a:t>
            </a:r>
            <a:endParaRPr lang="en-US" i="1" dirty="0"/>
          </a:p>
          <a:p>
            <a:pPr algn="just"/>
            <a:r>
              <a:rPr lang="en-US" dirty="0"/>
              <a:t> </a:t>
            </a:r>
            <a:r>
              <a:rPr lang="en-US" dirty="0" smtClean="0"/>
              <a:t>		      ∴ </a:t>
            </a:r>
            <a:r>
              <a:rPr lang="en-US" i="1" dirty="0"/>
              <a:t>q</a:t>
            </a:r>
          </a:p>
          <a:p>
            <a:pPr algn="just"/>
            <a:r>
              <a:rPr lang="en-US" dirty="0" smtClean="0"/>
              <a:t>Symbol ∴ denotes </a:t>
            </a:r>
            <a:r>
              <a:rPr lang="en-US" dirty="0"/>
              <a:t>“therefore.”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8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417975" y="4276910"/>
            <a:ext cx="1682685" cy="227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21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Validity of Argument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 argument is </a:t>
            </a:r>
            <a:r>
              <a:rPr lang="en-US" b="1" dirty="0"/>
              <a:t>valid</a:t>
            </a:r>
            <a:r>
              <a:rPr lang="en-US" dirty="0"/>
              <a:t> if the truth of all its premises implies that the conclusion is true.</a:t>
            </a:r>
          </a:p>
          <a:p>
            <a:pPr algn="just"/>
            <a:r>
              <a:rPr lang="en-US" dirty="0"/>
              <a:t>A</a:t>
            </a:r>
            <a:r>
              <a:rPr lang="en-US" dirty="0" smtClean="0"/>
              <a:t>n </a:t>
            </a:r>
            <a:r>
              <a:rPr lang="en-US" dirty="0"/>
              <a:t>argument is </a:t>
            </a:r>
            <a:r>
              <a:rPr lang="en-US" b="1" dirty="0"/>
              <a:t>valid</a:t>
            </a:r>
            <a:r>
              <a:rPr lang="en-US" dirty="0"/>
              <a:t> if and only if it is impossible for all the </a:t>
            </a:r>
            <a:r>
              <a:rPr lang="en-US" dirty="0" smtClean="0"/>
              <a:t> premises </a:t>
            </a:r>
            <a:r>
              <a:rPr lang="en-US" dirty="0"/>
              <a:t>to be true </a:t>
            </a:r>
            <a:r>
              <a:rPr lang="en-US" dirty="0" smtClean="0"/>
              <a:t>and the </a:t>
            </a:r>
            <a:r>
              <a:rPr lang="en-US" dirty="0"/>
              <a:t>conclusion to be </a:t>
            </a:r>
            <a:r>
              <a:rPr lang="en-US" dirty="0" smtClean="0"/>
              <a:t>false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4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Validity of Argument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2542380" y="2341972"/>
          <a:ext cx="4183380" cy="19431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8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4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B0F0"/>
                          </a:solidFill>
                        </a:rPr>
                        <a:t>P</a:t>
                      </a:r>
                      <a:endParaRPr lang="en-US" sz="2100" dirty="0">
                        <a:solidFill>
                          <a:srgbClr val="00B0F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B050"/>
                          </a:solidFill>
                        </a:rPr>
                        <a:t>Q</a:t>
                      </a:r>
                      <a:endParaRPr lang="en-US" sz="2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B0F0"/>
                          </a:solidFill>
                        </a:rPr>
                        <a:t>P </a:t>
                      </a:r>
                      <a:r>
                        <a:rPr lang="en-US" sz="2100" dirty="0" smtClean="0">
                          <a:solidFill>
                            <a:srgbClr val="00B0F0"/>
                          </a:solidFill>
                          <a:sym typeface="Wingdings" panose="05000000000000000000" pitchFamily="2" charset="2"/>
                        </a:rPr>
                        <a:t> Q</a:t>
                      </a:r>
                      <a:endParaRPr lang="en-US" sz="2100" dirty="0">
                        <a:solidFill>
                          <a:srgbClr val="00B0F0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2100" b="1" i="1" u="sng" dirty="0" smtClean="0">
                          <a:solidFill>
                            <a:srgbClr val="00B0F0"/>
                          </a:solidFill>
                        </a:rPr>
                        <a:t>T</a:t>
                      </a:r>
                      <a:endParaRPr lang="en-US" sz="2100" b="1" i="1" u="sng" dirty="0">
                        <a:solidFill>
                          <a:srgbClr val="00B0F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i="1" u="sng" dirty="0" smtClean="0">
                          <a:solidFill>
                            <a:srgbClr val="00B050"/>
                          </a:solidFill>
                        </a:rPr>
                        <a:t>T</a:t>
                      </a:r>
                      <a:endParaRPr lang="en-US" sz="2100" b="1" i="1" u="sng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i="1" u="sng" dirty="0" smtClean="0">
                          <a:solidFill>
                            <a:srgbClr val="00B0F0"/>
                          </a:solidFill>
                        </a:rPr>
                        <a:t>T</a:t>
                      </a:r>
                      <a:endParaRPr lang="en-US" sz="2100" b="1" i="1" u="sng" dirty="0">
                        <a:solidFill>
                          <a:srgbClr val="00B0F0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B0F0"/>
                          </a:solidFill>
                        </a:rPr>
                        <a:t>T</a:t>
                      </a:r>
                      <a:endParaRPr lang="en-US" sz="2100" dirty="0">
                        <a:solidFill>
                          <a:srgbClr val="00B0F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B050"/>
                          </a:solidFill>
                        </a:rPr>
                        <a:t>F</a:t>
                      </a:r>
                      <a:endParaRPr lang="en-US" sz="2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B0F0"/>
                          </a:solidFill>
                        </a:rPr>
                        <a:t>F</a:t>
                      </a:r>
                      <a:endParaRPr lang="en-US" sz="2100" dirty="0">
                        <a:solidFill>
                          <a:srgbClr val="00B0F0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B0F0"/>
                          </a:solidFill>
                        </a:rPr>
                        <a:t>F</a:t>
                      </a:r>
                      <a:endParaRPr lang="en-US" sz="2100" dirty="0">
                        <a:solidFill>
                          <a:srgbClr val="00B0F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B050"/>
                          </a:solidFill>
                        </a:rPr>
                        <a:t>T</a:t>
                      </a:r>
                      <a:endParaRPr lang="en-US" sz="2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B0F0"/>
                          </a:solidFill>
                        </a:rPr>
                        <a:t>T</a:t>
                      </a:r>
                      <a:endParaRPr lang="en-US" sz="2100" dirty="0">
                        <a:solidFill>
                          <a:srgbClr val="00B0F0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B0F0"/>
                          </a:solidFill>
                        </a:rPr>
                        <a:t>F</a:t>
                      </a:r>
                      <a:endParaRPr lang="en-US" sz="2100" dirty="0">
                        <a:solidFill>
                          <a:srgbClr val="00B0F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B050"/>
                          </a:solidFill>
                        </a:rPr>
                        <a:t>F</a:t>
                      </a:r>
                      <a:endParaRPr lang="en-US" sz="2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B0F0"/>
                          </a:solidFill>
                        </a:rPr>
                        <a:t>T</a:t>
                      </a:r>
                      <a:endParaRPr lang="en-US" sz="2100" dirty="0">
                        <a:solidFill>
                          <a:srgbClr val="00B0F0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93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 Arguments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en-US" dirty="0"/>
              <a:t>We will show how to construct valid arguments in two stages; first for </a:t>
            </a:r>
            <a:r>
              <a:rPr lang="en-US" b="1" dirty="0"/>
              <a:t>propositional logic </a:t>
            </a:r>
            <a:r>
              <a:rPr lang="en-US" dirty="0"/>
              <a:t>and then for </a:t>
            </a:r>
            <a:r>
              <a:rPr lang="en-US" b="1" dirty="0"/>
              <a:t>predicate logic</a:t>
            </a:r>
            <a:r>
              <a:rPr lang="en-US" dirty="0"/>
              <a:t>. The rules of inference are the essential building block in the construction of valid arguments. 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b="1" dirty="0"/>
              <a:t>Propositional </a:t>
            </a:r>
            <a:r>
              <a:rPr lang="en-US" b="1" dirty="0" smtClean="0"/>
              <a:t>Logic</a:t>
            </a:r>
            <a:endParaRPr lang="en-US" b="1" dirty="0"/>
          </a:p>
          <a:p>
            <a:pPr marL="1188720" lvl="2" indent="-514350">
              <a:buNone/>
            </a:pPr>
            <a:r>
              <a:rPr lang="en-US" dirty="0"/>
              <a:t>Inference Rules</a:t>
            </a:r>
          </a:p>
          <a:p>
            <a:pPr marL="880110" lvl="1" indent="-514350">
              <a:buFont typeface="+mj-lt"/>
              <a:buAutoNum type="arabicPeriod"/>
            </a:pPr>
            <a:r>
              <a:rPr lang="en-US" b="1" dirty="0"/>
              <a:t>Predicate Logic</a:t>
            </a:r>
          </a:p>
          <a:p>
            <a:pPr marL="1188720" lvl="2" indent="-514350">
              <a:buNone/>
            </a:pPr>
            <a:r>
              <a:rPr lang="en-US" dirty="0"/>
              <a:t>Inference rules for propositional logic plus additional inference rules to handle variables and quantifiers.</a:t>
            </a:r>
          </a:p>
        </p:txBody>
      </p:sp>
    </p:spTree>
    <p:extLst>
      <p:ext uri="{BB962C8B-B14F-4D97-AF65-F5344CB8AC3E}">
        <p14:creationId xmlns:p14="http://schemas.microsoft.com/office/powerpoint/2010/main" val="4294226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Rules of Inference for 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389120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/>
              <a:t>truth </a:t>
            </a:r>
            <a:r>
              <a:rPr lang="en-US" dirty="0" smtClean="0"/>
              <a:t>table can be used </a:t>
            </a:r>
            <a:r>
              <a:rPr lang="en-US" dirty="0"/>
              <a:t>to show that an argument form is </a:t>
            </a:r>
            <a:r>
              <a:rPr lang="en-US" dirty="0" smtClean="0"/>
              <a:t>valid</a:t>
            </a:r>
            <a:r>
              <a:rPr lang="en-US" dirty="0"/>
              <a:t> </a:t>
            </a:r>
            <a:r>
              <a:rPr lang="en-US" dirty="0" smtClean="0"/>
              <a:t>by showing that </a:t>
            </a:r>
            <a:r>
              <a:rPr lang="en-US" dirty="0"/>
              <a:t>whenever the premises are true, the conclusion must also be true. </a:t>
            </a:r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</a:t>
            </a:r>
            <a:r>
              <a:rPr lang="en-US" dirty="0" smtClean="0"/>
              <a:t>it’s a tedious </a:t>
            </a:r>
            <a:r>
              <a:rPr lang="en-US" dirty="0"/>
              <a:t>approach.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an argument form involves </a:t>
            </a:r>
            <a:r>
              <a:rPr lang="en-US" sz="3200" dirty="0" smtClean="0"/>
              <a:t>10</a:t>
            </a:r>
            <a:r>
              <a:rPr lang="en-US" dirty="0" smtClean="0"/>
              <a:t> </a:t>
            </a:r>
            <a:r>
              <a:rPr lang="en-US" dirty="0"/>
              <a:t>different </a:t>
            </a:r>
            <a:r>
              <a:rPr lang="en-US" dirty="0" smtClean="0"/>
              <a:t>propositional variables</a:t>
            </a:r>
            <a:r>
              <a:rPr lang="en-US" dirty="0"/>
              <a:t>, to use a truth table to show this argument form is valid requires 2</a:t>
            </a:r>
            <a:r>
              <a:rPr lang="en-US" baseline="30000" dirty="0"/>
              <a:t>10</a:t>
            </a:r>
            <a:r>
              <a:rPr lang="en-US" dirty="0"/>
              <a:t> = 1024 </a:t>
            </a:r>
            <a:r>
              <a:rPr lang="en-US" dirty="0" smtClean="0"/>
              <a:t>different rows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9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Rules of Inference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R</a:t>
            </a:r>
            <a:r>
              <a:rPr lang="en-US" b="1" dirty="0" smtClean="0"/>
              <a:t>ules </a:t>
            </a:r>
            <a:r>
              <a:rPr lang="en-US" b="1" dirty="0"/>
              <a:t>of </a:t>
            </a:r>
            <a:r>
              <a:rPr lang="en-US" b="1" dirty="0" smtClean="0"/>
              <a:t>inference</a:t>
            </a:r>
            <a:r>
              <a:rPr lang="en-US" dirty="0"/>
              <a:t> </a:t>
            </a:r>
            <a:r>
              <a:rPr lang="en-US" dirty="0" smtClean="0"/>
              <a:t>– simple argument </a:t>
            </a:r>
            <a:r>
              <a:rPr lang="en-US" dirty="0"/>
              <a:t>forms</a:t>
            </a:r>
            <a:endParaRPr lang="en-US" dirty="0" smtClean="0"/>
          </a:p>
          <a:p>
            <a:pPr algn="just"/>
            <a:r>
              <a:rPr lang="en-US" dirty="0" smtClean="0"/>
              <a:t>These </a:t>
            </a:r>
            <a:r>
              <a:rPr lang="en-US" dirty="0"/>
              <a:t>rules </a:t>
            </a:r>
            <a:r>
              <a:rPr lang="en-US" dirty="0" smtClean="0"/>
              <a:t>of inference </a:t>
            </a:r>
            <a:r>
              <a:rPr lang="en-US" dirty="0"/>
              <a:t>can be used as </a:t>
            </a:r>
            <a:r>
              <a:rPr lang="en-US" b="1" dirty="0"/>
              <a:t>building blocks </a:t>
            </a:r>
            <a:r>
              <a:rPr lang="en-US" dirty="0"/>
              <a:t>to construct more complicated valid argument forms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3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13664"/>
            <a:ext cx="8229600" cy="667512"/>
          </a:xfrm>
        </p:spPr>
        <p:txBody>
          <a:bodyPr>
            <a:noAutofit/>
          </a:bodyPr>
          <a:lstStyle/>
          <a:p>
            <a:r>
              <a:rPr lang="en-US" sz="3200" b="1" dirty="0"/>
              <a:t>Rules of Inference for Propositional Logic: Modus Ponens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     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0" y="4393581"/>
            <a:ext cx="5257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Example:</a:t>
            </a:r>
          </a:p>
          <a:p>
            <a:r>
              <a:rPr lang="en-US" dirty="0"/>
              <a:t>Let </a:t>
            </a:r>
            <a:r>
              <a:rPr lang="en-US" i="1" dirty="0"/>
              <a:t>p</a:t>
            </a:r>
            <a:r>
              <a:rPr lang="en-US" dirty="0"/>
              <a:t> be “It is snowing.”</a:t>
            </a:r>
          </a:p>
          <a:p>
            <a:r>
              <a:rPr lang="en-US" dirty="0"/>
              <a:t>Let </a:t>
            </a:r>
            <a:r>
              <a:rPr lang="en-US" i="1" dirty="0"/>
              <a:t>q</a:t>
            </a:r>
            <a:r>
              <a:rPr lang="en-US" dirty="0"/>
              <a:t> be “I will study discrete math.”</a:t>
            </a:r>
          </a:p>
          <a:p>
            <a:endParaRPr lang="en-US" dirty="0"/>
          </a:p>
          <a:p>
            <a:r>
              <a:rPr lang="en-US" dirty="0"/>
              <a:t>“If it is snowing,  then I will study discrete math.”</a:t>
            </a:r>
          </a:p>
          <a:p>
            <a:r>
              <a:rPr lang="en-US" dirty="0"/>
              <a:t>“It is snowing.”</a:t>
            </a:r>
          </a:p>
          <a:p>
            <a:endParaRPr lang="en-US" dirty="0"/>
          </a:p>
          <a:p>
            <a:r>
              <a:rPr lang="en-US" dirty="0"/>
              <a:t>“Therefore , I will  study discrete math.”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876800" y="285887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Corresponding Tautology:</a:t>
            </a:r>
            <a:r>
              <a:rPr lang="en-US" dirty="0"/>
              <a:t> </a:t>
            </a:r>
          </a:p>
          <a:p>
            <a:r>
              <a:rPr lang="en-US" dirty="0"/>
              <a:t>       (</a:t>
            </a:r>
            <a:r>
              <a:rPr lang="en-US" i="1" dirty="0"/>
              <a:t>p </a:t>
            </a:r>
            <a:r>
              <a:rPr lang="en-US" dirty="0">
                <a:latin typeface="Cambria Math"/>
                <a:ea typeface="Cambria Math"/>
              </a:rPr>
              <a:t>∧ (</a:t>
            </a:r>
            <a:r>
              <a:rPr lang="en-US" i="1" dirty="0">
                <a:latin typeface="Cambria Math"/>
                <a:ea typeface="Cambria Math"/>
              </a:rPr>
              <a:t>p </a:t>
            </a:r>
            <a:r>
              <a:rPr lang="en-US" dirty="0">
                <a:latin typeface="Cambria Math"/>
                <a:ea typeface="Cambria Math"/>
              </a:rPr>
              <a:t>→</a:t>
            </a:r>
            <a:r>
              <a:rPr lang="en-US" i="1" dirty="0">
                <a:latin typeface="Cambria Math"/>
                <a:ea typeface="Cambria Math"/>
              </a:rPr>
              <a:t>q</a:t>
            </a:r>
            <a:r>
              <a:rPr lang="en-US" dirty="0">
                <a:latin typeface="Cambria Math"/>
                <a:ea typeface="Cambria Math"/>
              </a:rPr>
              <a:t>)) → </a:t>
            </a:r>
            <a:r>
              <a:rPr lang="en-US" i="1" dirty="0">
                <a:latin typeface="Cambria Math"/>
                <a:ea typeface="Cambria Math"/>
              </a:rPr>
              <a:t>q</a:t>
            </a:r>
            <a:endParaRPr lang="en-US" i="1" dirty="0"/>
          </a:p>
        </p:txBody>
      </p:sp>
      <p:sp>
        <p:nvSpPr>
          <p:cNvPr id="5" name="Rectangle 4"/>
          <p:cNvSpPr/>
          <p:nvPr/>
        </p:nvSpPr>
        <p:spPr>
          <a:xfrm>
            <a:off x="609600" y="147381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If </a:t>
            </a:r>
            <a:r>
              <a:rPr lang="en-US" b="1" dirty="0"/>
              <a:t>P implies Q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and </a:t>
            </a:r>
            <a:r>
              <a:rPr lang="en-US" b="1" dirty="0"/>
              <a:t>P is true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then </a:t>
            </a:r>
            <a:r>
              <a:rPr lang="en-US" b="1" dirty="0"/>
              <a:t>Q must be true</a:t>
            </a:r>
            <a:endParaRPr lang="en-US" dirty="0"/>
          </a:p>
        </p:txBody>
      </p:sp>
      <p:pic>
        <p:nvPicPr>
          <p:cNvPr id="9" name="Picture 8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219200" y="2739886"/>
            <a:ext cx="1345883" cy="11944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6550"/>
            <a:ext cx="8229600" cy="591312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Modus </a:t>
            </a:r>
            <a:r>
              <a:rPr lang="en-US" dirty="0" err="1"/>
              <a:t>Tollens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     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0" y="4114800"/>
            <a:ext cx="5943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r>
              <a:rPr lang="en-US" dirty="0"/>
              <a:t>Let </a:t>
            </a:r>
            <a:r>
              <a:rPr lang="en-US" i="1" dirty="0"/>
              <a:t>p</a:t>
            </a:r>
            <a:r>
              <a:rPr lang="en-US" dirty="0"/>
              <a:t> be “it is snowing.”</a:t>
            </a:r>
          </a:p>
          <a:p>
            <a:r>
              <a:rPr lang="en-US" dirty="0"/>
              <a:t>Let </a:t>
            </a:r>
            <a:r>
              <a:rPr lang="en-US" i="1" dirty="0"/>
              <a:t>q</a:t>
            </a:r>
            <a:r>
              <a:rPr lang="en-US" dirty="0"/>
              <a:t> be “I will study discrete math.”</a:t>
            </a:r>
          </a:p>
          <a:p>
            <a:endParaRPr lang="en-US" dirty="0"/>
          </a:p>
          <a:p>
            <a:r>
              <a:rPr lang="en-US" dirty="0"/>
              <a:t>“If it is snowing,  then I will study discrete math.”</a:t>
            </a:r>
          </a:p>
          <a:p>
            <a:r>
              <a:rPr lang="en-US" dirty="0"/>
              <a:t>“I will not study discrete math.”</a:t>
            </a:r>
          </a:p>
          <a:p>
            <a:endParaRPr lang="en-US" dirty="0"/>
          </a:p>
          <a:p>
            <a:r>
              <a:rPr lang="en-US" dirty="0"/>
              <a:t>“Therefore , it is not snowing.”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724400" y="2671495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Corresponding Tautology:</a:t>
            </a:r>
            <a:r>
              <a:rPr lang="en-US" dirty="0"/>
              <a:t> </a:t>
            </a:r>
          </a:p>
          <a:p>
            <a:r>
              <a:rPr lang="en-US" dirty="0"/>
              <a:t>       (</a:t>
            </a:r>
            <a:r>
              <a:rPr lang="en-US" dirty="0">
                <a:latin typeface="Cambria Math"/>
                <a:ea typeface="Cambria Math"/>
              </a:rPr>
              <a:t>¬</a:t>
            </a:r>
            <a:r>
              <a:rPr lang="en-US" i="1" dirty="0"/>
              <a:t>q</a:t>
            </a:r>
            <a:r>
              <a:rPr lang="en-US" dirty="0">
                <a:latin typeface="Cambria Math"/>
                <a:ea typeface="Cambria Math"/>
              </a:rPr>
              <a:t>∧(</a:t>
            </a:r>
            <a:r>
              <a:rPr lang="en-US" i="1" dirty="0">
                <a:latin typeface="Cambria Math"/>
                <a:ea typeface="Cambria Math"/>
              </a:rPr>
              <a:t>p </a:t>
            </a:r>
            <a:r>
              <a:rPr lang="en-US" dirty="0">
                <a:latin typeface="Cambria Math"/>
                <a:ea typeface="Cambria Math"/>
              </a:rPr>
              <a:t>→</a:t>
            </a:r>
            <a:r>
              <a:rPr lang="en-US" i="1" dirty="0">
                <a:latin typeface="Cambria Math"/>
                <a:ea typeface="Cambria Math"/>
              </a:rPr>
              <a:t>q</a:t>
            </a:r>
            <a:r>
              <a:rPr lang="en-US" dirty="0">
                <a:latin typeface="Cambria Math"/>
                <a:ea typeface="Cambria Math"/>
              </a:rPr>
              <a:t>))→¬</a:t>
            </a:r>
            <a:r>
              <a:rPr lang="en-US" i="1" dirty="0">
                <a:latin typeface="Cambria Math"/>
                <a:ea typeface="Cambria Math"/>
              </a:rPr>
              <a:t>p</a:t>
            </a:r>
            <a:endParaRPr lang="en-US" i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21080" y="1524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P, then Q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Q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not P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295400" y="2362200"/>
            <a:ext cx="1345883" cy="11944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280" y="304800"/>
            <a:ext cx="8229600" cy="667512"/>
          </a:xfrm>
        </p:spPr>
        <p:txBody>
          <a:bodyPr>
            <a:normAutofit fontScale="90000"/>
          </a:bodyPr>
          <a:lstStyle/>
          <a:p>
            <a:r>
              <a:rPr lang="en-US" dirty="0"/>
              <a:t>Hypothetical Syllogism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7000" y="3886200"/>
            <a:ext cx="5638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r>
              <a:rPr lang="en-US" dirty="0"/>
              <a:t>Let </a:t>
            </a:r>
            <a:r>
              <a:rPr lang="en-US" i="1" dirty="0"/>
              <a:t>p</a:t>
            </a:r>
            <a:r>
              <a:rPr lang="en-US" dirty="0"/>
              <a:t> be “it snows.”</a:t>
            </a:r>
          </a:p>
          <a:p>
            <a:r>
              <a:rPr lang="en-US" dirty="0"/>
              <a:t>Let </a:t>
            </a:r>
            <a:r>
              <a:rPr lang="en-US" i="1" dirty="0"/>
              <a:t>q</a:t>
            </a:r>
            <a:r>
              <a:rPr lang="en-US" dirty="0"/>
              <a:t> be “I will study discrete math.”</a:t>
            </a:r>
          </a:p>
          <a:p>
            <a:r>
              <a:rPr lang="en-US" dirty="0"/>
              <a:t>Let </a:t>
            </a:r>
            <a:r>
              <a:rPr lang="en-US" i="1" dirty="0"/>
              <a:t>r </a:t>
            </a:r>
            <a:r>
              <a:rPr lang="en-US" dirty="0"/>
              <a:t>be “I will get an A.”</a:t>
            </a:r>
          </a:p>
          <a:p>
            <a:endParaRPr lang="en-US" dirty="0"/>
          </a:p>
          <a:p>
            <a:r>
              <a:rPr lang="en-US" dirty="0"/>
              <a:t>“If it snows,  then I will study discrete math.”</a:t>
            </a:r>
          </a:p>
          <a:p>
            <a:r>
              <a:rPr lang="en-US" dirty="0"/>
              <a:t>“If I study discrete math, I will get an A.”</a:t>
            </a:r>
          </a:p>
          <a:p>
            <a:endParaRPr lang="en-US" dirty="0"/>
          </a:p>
          <a:p>
            <a:r>
              <a:rPr lang="en-US" dirty="0"/>
              <a:t>“Therefore , If it snows, I will get an A.”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9600" y="2333249"/>
            <a:ext cx="419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Corresponding Tautology:</a:t>
            </a:r>
            <a:r>
              <a:rPr lang="en-US" dirty="0"/>
              <a:t> </a:t>
            </a:r>
          </a:p>
          <a:p>
            <a:r>
              <a:rPr lang="en-US" dirty="0"/>
              <a:t>(</a:t>
            </a:r>
            <a:r>
              <a:rPr lang="en-US" dirty="0">
                <a:latin typeface="Cambria Math"/>
                <a:ea typeface="Cambria Math"/>
              </a:rPr>
              <a:t>(</a:t>
            </a:r>
            <a:r>
              <a:rPr lang="en-US" i="1" dirty="0">
                <a:latin typeface="Cambria Math"/>
                <a:ea typeface="Cambria Math"/>
              </a:rPr>
              <a:t>p </a:t>
            </a:r>
            <a:r>
              <a:rPr lang="en-US" dirty="0">
                <a:latin typeface="Cambria Math"/>
                <a:ea typeface="Cambria Math"/>
              </a:rPr>
              <a:t>→</a:t>
            </a:r>
            <a:r>
              <a:rPr lang="en-US" i="1" dirty="0">
                <a:latin typeface="Cambria Math"/>
                <a:ea typeface="Cambria Math"/>
              </a:rPr>
              <a:t>q</a:t>
            </a:r>
            <a:r>
              <a:rPr lang="en-US" dirty="0">
                <a:latin typeface="Cambria Math"/>
                <a:ea typeface="Cambria Math"/>
              </a:rPr>
              <a:t>) ∧</a:t>
            </a:r>
            <a:r>
              <a:rPr lang="en-US" dirty="0"/>
              <a:t> (</a:t>
            </a:r>
            <a:r>
              <a:rPr lang="en-US" dirty="0" err="1">
                <a:latin typeface="Cambria Math"/>
                <a:ea typeface="Cambria Math"/>
              </a:rPr>
              <a:t>q→</a:t>
            </a:r>
            <a:r>
              <a:rPr lang="en-US" i="1" dirty="0" err="1">
                <a:latin typeface="Cambria Math"/>
                <a:ea typeface="Cambria Math"/>
              </a:rPr>
              <a:t>r</a:t>
            </a:r>
            <a:r>
              <a:rPr lang="en-US" dirty="0">
                <a:latin typeface="Cambria Math"/>
                <a:ea typeface="Cambria Math"/>
              </a:rPr>
              <a:t>))→(</a:t>
            </a:r>
            <a:r>
              <a:rPr lang="en-US" i="1" dirty="0">
                <a:latin typeface="Cambria Math"/>
                <a:ea typeface="Cambria Math"/>
              </a:rPr>
              <a:t>p</a:t>
            </a:r>
            <a:r>
              <a:rPr lang="en-US" dirty="0">
                <a:latin typeface="Cambria Math"/>
                <a:ea typeface="Cambria Math"/>
              </a:rPr>
              <a:t>→ </a:t>
            </a:r>
            <a:r>
              <a:rPr lang="en-US" i="1" dirty="0">
                <a:latin typeface="Cambria Math"/>
                <a:ea typeface="Cambria Math"/>
              </a:rPr>
              <a:t>r</a:t>
            </a:r>
            <a:r>
              <a:rPr lang="en-US" dirty="0">
                <a:latin typeface="Cambria Math"/>
                <a:ea typeface="Cambria Math"/>
              </a:rPr>
              <a:t>)</a:t>
            </a:r>
            <a:endParaRPr lang="en-US" i="1" dirty="0"/>
          </a:p>
          <a:p>
            <a:r>
              <a:rPr lang="en-US" dirty="0">
                <a:latin typeface="Cambria Math"/>
                <a:ea typeface="Cambria Math"/>
              </a:rPr>
              <a:t> </a:t>
            </a:r>
            <a:endParaRPr lang="en-US" i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14400" y="1524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P, then Q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Q, then R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if P, then R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295400" y="2280286"/>
            <a:ext cx="1703070" cy="11944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0520"/>
            <a:ext cx="8229600" cy="676811"/>
          </a:xfrm>
        </p:spPr>
        <p:txBody>
          <a:bodyPr>
            <a:normAutofit fontScale="90000"/>
          </a:bodyPr>
          <a:lstStyle/>
          <a:p>
            <a:r>
              <a:rPr lang="en-US" dirty="0"/>
              <a:t>Disjunctive Syllogism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6600"/>
            <a:ext cx="8229600" cy="4389120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     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962400"/>
            <a:ext cx="64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r>
              <a:rPr lang="en-US" dirty="0"/>
              <a:t>Let </a:t>
            </a:r>
            <a:r>
              <a:rPr lang="en-US" i="1" dirty="0"/>
              <a:t>p</a:t>
            </a:r>
            <a:r>
              <a:rPr lang="en-US" dirty="0"/>
              <a:t> be “I will study discrete math.”</a:t>
            </a:r>
          </a:p>
          <a:p>
            <a:r>
              <a:rPr lang="en-US" dirty="0"/>
              <a:t>Let </a:t>
            </a:r>
            <a:r>
              <a:rPr lang="en-US" i="1" dirty="0"/>
              <a:t>q</a:t>
            </a:r>
            <a:r>
              <a:rPr lang="en-US" dirty="0"/>
              <a:t> be “I will study English literature.”</a:t>
            </a:r>
          </a:p>
          <a:p>
            <a:endParaRPr lang="en-US" dirty="0"/>
          </a:p>
          <a:p>
            <a:r>
              <a:rPr lang="en-US" dirty="0"/>
              <a:t>“I will study discrete math or I will study English literature.”</a:t>
            </a:r>
          </a:p>
          <a:p>
            <a:r>
              <a:rPr lang="en-US" dirty="0"/>
              <a:t>“I will not study discrete math.”</a:t>
            </a:r>
          </a:p>
          <a:p>
            <a:endParaRPr lang="en-US" dirty="0"/>
          </a:p>
          <a:p>
            <a:r>
              <a:rPr lang="en-US" dirty="0"/>
              <a:t>“Therefore , I will study English literature.”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2400" y="25908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Corresponding Tautology:</a:t>
            </a:r>
            <a:r>
              <a:rPr lang="en-US" dirty="0"/>
              <a:t> </a:t>
            </a:r>
          </a:p>
          <a:p>
            <a:r>
              <a:rPr lang="en-US" dirty="0"/>
              <a:t>(</a:t>
            </a:r>
            <a:r>
              <a:rPr lang="en-US" dirty="0">
                <a:latin typeface="Cambria Math"/>
                <a:ea typeface="Cambria Math"/>
              </a:rPr>
              <a:t>¬</a:t>
            </a:r>
            <a:r>
              <a:rPr lang="en-US" i="1" dirty="0"/>
              <a:t>p</a:t>
            </a:r>
            <a:r>
              <a:rPr lang="en-US" dirty="0">
                <a:latin typeface="Cambria Math"/>
                <a:ea typeface="Cambria Math"/>
              </a:rPr>
              <a:t>∧(</a:t>
            </a:r>
            <a:r>
              <a:rPr lang="en-US" i="1" dirty="0">
                <a:latin typeface="Cambria Math"/>
                <a:ea typeface="Cambria Math"/>
              </a:rPr>
              <a:t>p </a:t>
            </a:r>
            <a:r>
              <a:rPr lang="en-US" dirty="0">
                <a:latin typeface="Cambria Math"/>
                <a:ea typeface="Cambria Math"/>
              </a:rPr>
              <a:t>∨</a:t>
            </a:r>
            <a:r>
              <a:rPr lang="en-US" i="1" dirty="0">
                <a:latin typeface="Cambria Math"/>
                <a:ea typeface="Cambria Math"/>
              </a:rPr>
              <a:t>q</a:t>
            </a:r>
            <a:r>
              <a:rPr lang="en-US" dirty="0">
                <a:latin typeface="Cambria Math"/>
                <a:ea typeface="Cambria Math"/>
              </a:rPr>
              <a:t>))→</a:t>
            </a:r>
            <a:r>
              <a:rPr lang="en-US" i="1" dirty="0">
                <a:latin typeface="Cambria Math"/>
                <a:ea typeface="Cambria Math"/>
              </a:rPr>
              <a:t>q</a:t>
            </a:r>
            <a:endParaRPr lang="en-US" i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47800" y="1752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 OR Q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P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Q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697355" y="2371566"/>
            <a:ext cx="1177290" cy="12258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83645"/>
            <a:ext cx="8229600" cy="430756"/>
          </a:xfrm>
        </p:spPr>
        <p:txBody>
          <a:bodyPr>
            <a:normAutofit fontScale="90000"/>
          </a:bodyPr>
          <a:lstStyle/>
          <a:p>
            <a:r>
              <a:rPr lang="en-US" dirty="0"/>
              <a:t>Addition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6600"/>
            <a:ext cx="8229600" cy="4389120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   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810000"/>
            <a:ext cx="5638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r>
              <a:rPr lang="en-US" dirty="0"/>
              <a:t>Let </a:t>
            </a:r>
            <a:r>
              <a:rPr lang="en-US" i="1" dirty="0"/>
              <a:t>p</a:t>
            </a:r>
            <a:r>
              <a:rPr lang="en-US" dirty="0"/>
              <a:t> be “I will study discrete math.”</a:t>
            </a:r>
          </a:p>
          <a:p>
            <a:r>
              <a:rPr lang="en-US" dirty="0"/>
              <a:t>Let </a:t>
            </a:r>
            <a:r>
              <a:rPr lang="en-US" i="1" dirty="0"/>
              <a:t>q</a:t>
            </a:r>
            <a:r>
              <a:rPr lang="en-US" dirty="0"/>
              <a:t> be “I will visit Las Vegas.”</a:t>
            </a:r>
          </a:p>
          <a:p>
            <a:endParaRPr lang="en-US" dirty="0"/>
          </a:p>
          <a:p>
            <a:r>
              <a:rPr lang="en-US" dirty="0"/>
              <a:t>“I will study discrete math.”</a:t>
            </a:r>
          </a:p>
          <a:p>
            <a:endParaRPr lang="en-US" dirty="0"/>
          </a:p>
          <a:p>
            <a:r>
              <a:rPr lang="en-US" dirty="0"/>
              <a:t>“Therefore, I will  study discrete math or I will visit </a:t>
            </a:r>
          </a:p>
          <a:p>
            <a:r>
              <a:rPr lang="en-US" dirty="0"/>
              <a:t>Las Vegas.”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648200" y="25146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Corresponding Tautology:</a:t>
            </a:r>
            <a:r>
              <a:rPr lang="en-US" dirty="0"/>
              <a:t> </a:t>
            </a:r>
          </a:p>
          <a:p>
            <a:r>
              <a:rPr lang="en-US" i="1" dirty="0"/>
              <a:t>            p</a:t>
            </a:r>
            <a:r>
              <a:rPr lang="en-US" dirty="0">
                <a:latin typeface="Cambria Math"/>
                <a:ea typeface="Cambria Math"/>
              </a:rPr>
              <a:t> →(</a:t>
            </a:r>
            <a:r>
              <a:rPr lang="en-US" i="1" dirty="0">
                <a:latin typeface="Cambria Math"/>
                <a:ea typeface="Cambria Math"/>
              </a:rPr>
              <a:t>p </a:t>
            </a:r>
            <a:r>
              <a:rPr lang="en-US" dirty="0">
                <a:latin typeface="Cambria Math"/>
                <a:ea typeface="Cambria Math"/>
              </a:rPr>
              <a:t>∨</a:t>
            </a:r>
            <a:r>
              <a:rPr lang="en-US" i="1" dirty="0">
                <a:latin typeface="Cambria Math"/>
                <a:ea typeface="Cambria Math"/>
              </a:rPr>
              <a:t>q</a:t>
            </a:r>
            <a:r>
              <a:rPr lang="en-US" dirty="0">
                <a:latin typeface="Cambria Math"/>
                <a:ea typeface="Cambria Math"/>
              </a:rPr>
              <a:t>)</a:t>
            </a:r>
            <a:endParaRPr lang="en-US" i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52600" y="1752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P OR Q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057400" y="2360613"/>
            <a:ext cx="1534478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438912"/>
          </a:xfrm>
        </p:spPr>
        <p:txBody>
          <a:bodyPr>
            <a:normAutofit fontScale="90000"/>
          </a:bodyPr>
          <a:lstStyle/>
          <a:p>
            <a:r>
              <a:rPr lang="en-US" dirty="0"/>
              <a:t>Simplification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   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9800" y="3962400"/>
            <a:ext cx="525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r>
              <a:rPr lang="en-US" dirty="0"/>
              <a:t>Let </a:t>
            </a:r>
            <a:r>
              <a:rPr lang="en-US" i="1" dirty="0"/>
              <a:t>p</a:t>
            </a:r>
            <a:r>
              <a:rPr lang="en-US" dirty="0"/>
              <a:t> be “I will study discrete math.”</a:t>
            </a:r>
          </a:p>
          <a:p>
            <a:r>
              <a:rPr lang="en-US" dirty="0"/>
              <a:t>Let </a:t>
            </a:r>
            <a:r>
              <a:rPr lang="en-US" i="1" dirty="0"/>
              <a:t>q</a:t>
            </a:r>
            <a:r>
              <a:rPr lang="en-US" dirty="0"/>
              <a:t> be “I will study English literature.”</a:t>
            </a:r>
          </a:p>
          <a:p>
            <a:endParaRPr lang="en-US" dirty="0"/>
          </a:p>
          <a:p>
            <a:r>
              <a:rPr lang="en-US" dirty="0"/>
              <a:t>“I will study discrete math and English literature”</a:t>
            </a:r>
          </a:p>
          <a:p>
            <a:endParaRPr lang="en-US" dirty="0"/>
          </a:p>
          <a:p>
            <a:r>
              <a:rPr lang="en-US" dirty="0"/>
              <a:t>“Therefore, I will study discrete math.”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343400" y="2420033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Corresponding Tautology: </a:t>
            </a:r>
          </a:p>
          <a:p>
            <a:r>
              <a:rPr lang="en-US" dirty="0"/>
              <a:t>         (</a:t>
            </a:r>
            <a:r>
              <a:rPr lang="en-US" i="1" dirty="0" err="1"/>
              <a:t>p</a:t>
            </a:r>
            <a:r>
              <a:rPr lang="en-US" dirty="0" err="1">
                <a:latin typeface="Cambria Math"/>
                <a:ea typeface="Cambria Math"/>
              </a:rPr>
              <a:t>∧</a:t>
            </a:r>
            <a:r>
              <a:rPr lang="en-US" i="1" dirty="0" err="1">
                <a:latin typeface="Cambria Math"/>
                <a:ea typeface="Cambria Math"/>
              </a:rPr>
              <a:t>q</a:t>
            </a:r>
            <a:r>
              <a:rPr lang="en-US" dirty="0">
                <a:latin typeface="Cambria Math"/>
                <a:ea typeface="Cambria Math"/>
              </a:rPr>
              <a:t>) →</a:t>
            </a:r>
            <a:r>
              <a:rPr lang="en-US" i="1" dirty="0">
                <a:latin typeface="Cambria Math"/>
                <a:ea typeface="Cambria Math"/>
              </a:rPr>
              <a:t>p</a:t>
            </a:r>
            <a:endParaRPr lang="en-US" i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07160" y="1676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 AND Q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P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138" y="2326010"/>
            <a:ext cx="1838325" cy="9505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120" y="304800"/>
            <a:ext cx="8229600" cy="438912"/>
          </a:xfrm>
        </p:spPr>
        <p:txBody>
          <a:bodyPr>
            <a:normAutofit fontScale="90000"/>
          </a:bodyPr>
          <a:lstStyle/>
          <a:p>
            <a:r>
              <a:rPr lang="en-US" dirty="0"/>
              <a:t>Conjunction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   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2200" y="3581400"/>
            <a:ext cx="6019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r>
              <a:rPr lang="en-US" dirty="0"/>
              <a:t>Let </a:t>
            </a:r>
            <a:r>
              <a:rPr lang="en-US" i="1" dirty="0"/>
              <a:t>p</a:t>
            </a:r>
            <a:r>
              <a:rPr lang="en-US" dirty="0"/>
              <a:t> be “I will study discrete math.”</a:t>
            </a:r>
          </a:p>
          <a:p>
            <a:r>
              <a:rPr lang="en-US" dirty="0"/>
              <a:t>Let </a:t>
            </a:r>
            <a:r>
              <a:rPr lang="en-US" i="1" dirty="0"/>
              <a:t>q</a:t>
            </a:r>
            <a:r>
              <a:rPr lang="en-US" dirty="0"/>
              <a:t> be “I will study English literature.”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“I will study discrete math.”</a:t>
            </a:r>
          </a:p>
          <a:p>
            <a:r>
              <a:rPr lang="en-US" dirty="0"/>
              <a:t>“I will study  English literature.”</a:t>
            </a:r>
          </a:p>
          <a:p>
            <a:endParaRPr lang="en-US" dirty="0"/>
          </a:p>
          <a:p>
            <a:r>
              <a:rPr lang="en-US" dirty="0"/>
              <a:t>“Therefore, I will study discrete math and I will study English literature.”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3622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Corresponding Tautology:</a:t>
            </a:r>
          </a:p>
          <a:p>
            <a:r>
              <a:rPr lang="en-US" dirty="0"/>
              <a:t> (</a:t>
            </a:r>
            <a:r>
              <a:rPr lang="en-US" dirty="0">
                <a:latin typeface="Cambria Math"/>
                <a:ea typeface="Cambria Math"/>
              </a:rPr>
              <a:t>(</a:t>
            </a:r>
            <a:r>
              <a:rPr lang="en-US" i="1" dirty="0"/>
              <a:t>p</a:t>
            </a:r>
            <a:r>
              <a:rPr lang="en-US" dirty="0"/>
              <a:t>)</a:t>
            </a:r>
            <a:r>
              <a:rPr lang="en-US" i="1" dirty="0"/>
              <a:t> </a:t>
            </a:r>
            <a:r>
              <a:rPr lang="en-US" dirty="0">
                <a:latin typeface="Cambria Math"/>
                <a:ea typeface="Cambria Math"/>
              </a:rPr>
              <a:t>∧ (</a:t>
            </a:r>
            <a:r>
              <a:rPr lang="en-US" i="1" dirty="0">
                <a:latin typeface="Cambria Math"/>
                <a:ea typeface="Cambria Math"/>
              </a:rPr>
              <a:t>q</a:t>
            </a:r>
            <a:r>
              <a:rPr lang="en-US" dirty="0">
                <a:latin typeface="Cambria Math"/>
                <a:ea typeface="Cambria Math"/>
              </a:rPr>
              <a:t>)) →(</a:t>
            </a:r>
            <a:r>
              <a:rPr lang="en-US" i="1" dirty="0">
                <a:latin typeface="Cambria Math"/>
                <a:ea typeface="Cambria Math"/>
              </a:rPr>
              <a:t>p </a:t>
            </a:r>
            <a:r>
              <a:rPr lang="en-US" dirty="0">
                <a:latin typeface="Cambria Math"/>
                <a:ea typeface="Cambria Math"/>
              </a:rPr>
              <a:t>∧ </a:t>
            </a:r>
            <a:r>
              <a:rPr lang="en-US" i="1" dirty="0">
                <a:latin typeface="Cambria Math"/>
                <a:ea typeface="Cambria Math"/>
              </a:rPr>
              <a:t>q</a:t>
            </a:r>
            <a:r>
              <a:rPr lang="en-US" dirty="0">
                <a:latin typeface="Cambria Math"/>
                <a:ea typeface="Cambria Math"/>
              </a:rPr>
              <a:t>)</a:t>
            </a:r>
            <a:endParaRPr lang="en-US" i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64920" y="1447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P AND Q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594961" y="2126248"/>
            <a:ext cx="1534478" cy="116871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92608"/>
            <a:ext cx="8229600" cy="658523"/>
          </a:xfrm>
        </p:spPr>
        <p:txBody>
          <a:bodyPr>
            <a:normAutofit fontScale="90000"/>
          </a:bodyPr>
          <a:lstStyle/>
          <a:p>
            <a:r>
              <a:rPr lang="en-US" dirty="0"/>
              <a:t>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   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830799"/>
            <a:ext cx="6477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r>
              <a:rPr lang="en-US" dirty="0"/>
              <a:t>Let </a:t>
            </a:r>
            <a:r>
              <a:rPr lang="en-US" i="1" dirty="0"/>
              <a:t>p</a:t>
            </a:r>
            <a:r>
              <a:rPr lang="en-US" dirty="0"/>
              <a:t> be “I will study discrete math.”</a:t>
            </a:r>
          </a:p>
          <a:p>
            <a:r>
              <a:rPr lang="en-US" dirty="0"/>
              <a:t>Let </a:t>
            </a:r>
            <a:r>
              <a:rPr lang="en-US" i="1" dirty="0"/>
              <a:t>r</a:t>
            </a:r>
            <a:r>
              <a:rPr lang="en-US" dirty="0"/>
              <a:t> be “I will study English literature.”</a:t>
            </a:r>
          </a:p>
          <a:p>
            <a:r>
              <a:rPr lang="en-US" dirty="0"/>
              <a:t>Let q be “I will study databases.”</a:t>
            </a:r>
          </a:p>
          <a:p>
            <a:endParaRPr lang="en-US" dirty="0"/>
          </a:p>
          <a:p>
            <a:r>
              <a:rPr lang="en-US" dirty="0"/>
              <a:t>“I will not study discrete math or I will study English literature.”</a:t>
            </a:r>
          </a:p>
          <a:p>
            <a:r>
              <a:rPr lang="en-US" dirty="0"/>
              <a:t>“I will study  discrete math or I will study databases.”</a:t>
            </a:r>
          </a:p>
          <a:p>
            <a:endParaRPr lang="en-US" dirty="0"/>
          </a:p>
          <a:p>
            <a:r>
              <a:rPr lang="en-US" dirty="0"/>
              <a:t>“Therefore, I will study databases or I will study English literature.”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7440" y="2559974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Corresponding Tautology:</a:t>
            </a:r>
            <a:r>
              <a:rPr lang="en-US" dirty="0"/>
              <a:t> </a:t>
            </a:r>
          </a:p>
          <a:p>
            <a:r>
              <a:rPr lang="en-US" dirty="0"/>
              <a:t> ((</a:t>
            </a:r>
            <a:r>
              <a:rPr lang="en-US" dirty="0">
                <a:latin typeface="Cambria Math"/>
                <a:ea typeface="Cambria Math"/>
              </a:rPr>
              <a:t>¬</a:t>
            </a:r>
            <a:r>
              <a:rPr lang="en-US" i="1" dirty="0"/>
              <a:t>p </a:t>
            </a:r>
            <a:r>
              <a:rPr lang="en-US" dirty="0">
                <a:latin typeface="Cambria Math"/>
                <a:ea typeface="Cambria Math"/>
              </a:rPr>
              <a:t>∨ </a:t>
            </a:r>
            <a:r>
              <a:rPr lang="en-US" i="1" dirty="0">
                <a:latin typeface="Cambria Math"/>
                <a:ea typeface="Cambria Math"/>
              </a:rPr>
              <a:t>r</a:t>
            </a:r>
            <a:r>
              <a:rPr lang="en-US" dirty="0">
                <a:latin typeface="Cambria Math"/>
                <a:ea typeface="Cambria Math"/>
              </a:rPr>
              <a:t> )</a:t>
            </a:r>
            <a:r>
              <a:rPr lang="en-US" i="1" dirty="0">
                <a:latin typeface="Cambria Math"/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∧ (</a:t>
            </a:r>
            <a:r>
              <a:rPr lang="en-US" i="1" dirty="0">
                <a:latin typeface="Cambria Math"/>
                <a:ea typeface="Cambria Math"/>
              </a:rPr>
              <a:t>p </a:t>
            </a:r>
            <a:r>
              <a:rPr lang="en-US" dirty="0">
                <a:latin typeface="Cambria Math"/>
                <a:ea typeface="Cambria Math"/>
              </a:rPr>
              <a:t>∨ </a:t>
            </a:r>
            <a:r>
              <a:rPr lang="en-US" i="1" dirty="0">
                <a:latin typeface="Cambria Math"/>
                <a:ea typeface="Cambria Math"/>
              </a:rPr>
              <a:t>q</a:t>
            </a:r>
            <a:r>
              <a:rPr lang="en-US" dirty="0">
                <a:latin typeface="Cambria Math"/>
                <a:ea typeface="Cambria Math"/>
              </a:rPr>
              <a:t>)) →(</a:t>
            </a:r>
            <a:r>
              <a:rPr lang="en-US" i="1" dirty="0">
                <a:latin typeface="Cambria Math"/>
                <a:ea typeface="Cambria Math"/>
              </a:rPr>
              <a:t>q </a:t>
            </a:r>
            <a:r>
              <a:rPr lang="en-US" dirty="0">
                <a:latin typeface="Cambria Math"/>
                <a:ea typeface="Cambria Math"/>
              </a:rPr>
              <a:t>∨ </a:t>
            </a:r>
            <a:r>
              <a:rPr lang="en-US" i="1" dirty="0">
                <a:latin typeface="Cambria Math"/>
                <a:ea typeface="Cambria Math"/>
              </a:rPr>
              <a:t>r</a:t>
            </a:r>
            <a:r>
              <a:rPr lang="en-US" dirty="0">
                <a:latin typeface="Cambria Math"/>
                <a:ea typeface="Cambria Math"/>
              </a:rPr>
              <a:t>)</a:t>
            </a:r>
            <a:endParaRPr lang="en-US" i="1" dirty="0"/>
          </a:p>
        </p:txBody>
      </p:sp>
      <p:sp>
        <p:nvSpPr>
          <p:cNvPr id="11" name="TextBox 10"/>
          <p:cNvSpPr txBox="1"/>
          <p:nvPr/>
        </p:nvSpPr>
        <p:spPr>
          <a:xfrm>
            <a:off x="4917440" y="1357938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Resolution plays an important role in AI and is used in Prolog.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90600" y="1447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 OR Q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P OR R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Q OR R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2600" y="2164727"/>
            <a:ext cx="1525905" cy="12258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0" y="581891"/>
            <a:ext cx="5867400" cy="624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28600"/>
            <a:ext cx="6324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Rule of Inference Table: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96149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the Rules of Inference to Build Valid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 </a:t>
            </a:r>
            <a:r>
              <a:rPr lang="en-US" i="1" dirty="0"/>
              <a:t>valid argument </a:t>
            </a:r>
            <a:r>
              <a:rPr lang="en-US" dirty="0"/>
              <a:t>is a sequence of statements. Each statement is either a premise or follows from previous statements by  rules of inference. The last statement is called conclusion.</a:t>
            </a:r>
          </a:p>
          <a:p>
            <a:r>
              <a:rPr lang="en-US" dirty="0"/>
              <a:t>A valid argument takes the following form:</a:t>
            </a:r>
          </a:p>
          <a:p>
            <a:pPr>
              <a:buNone/>
            </a:pPr>
            <a:r>
              <a:rPr lang="en-US" dirty="0"/>
              <a:t>              	         S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1</a:t>
            </a:r>
          </a:p>
          <a:p>
            <a:pPr>
              <a:buNone/>
            </a:pPr>
            <a:r>
              <a:rPr lang="en-US" sz="2400" dirty="0"/>
              <a:t>			</a:t>
            </a:r>
            <a:r>
              <a:rPr lang="en-US" dirty="0"/>
              <a:t>         S</a:t>
            </a:r>
            <a:r>
              <a:rPr lang="en-US" sz="2400" baseline="-25000" dirty="0">
                <a:latin typeface="Cambria Math" pitchFamily="18" charset="0"/>
                <a:ea typeface="Cambria Math" pitchFamily="18" charset="0"/>
              </a:rPr>
              <a:t>2</a:t>
            </a:r>
          </a:p>
          <a:p>
            <a:pPr>
              <a:buNone/>
            </a:pPr>
            <a:r>
              <a:rPr lang="en-US" sz="2400" dirty="0"/>
              <a:t>                                       .</a:t>
            </a:r>
          </a:p>
          <a:p>
            <a:pPr>
              <a:buNone/>
            </a:pPr>
            <a:r>
              <a:rPr lang="en-US" sz="2400" dirty="0"/>
              <a:t>                                       .</a:t>
            </a:r>
          </a:p>
          <a:p>
            <a:pPr>
              <a:buNone/>
            </a:pPr>
            <a:r>
              <a:rPr lang="en-US" sz="2400" dirty="0"/>
              <a:t>                                       .</a:t>
            </a:r>
          </a:p>
          <a:p>
            <a:pPr>
              <a:buNone/>
            </a:pPr>
            <a:r>
              <a:rPr lang="en-US" dirty="0"/>
              <a:t>                                  </a:t>
            </a:r>
            <a:r>
              <a:rPr lang="en-US" dirty="0" err="1"/>
              <a:t>S</a:t>
            </a:r>
            <a:r>
              <a:rPr lang="en-US" sz="2800" i="1" baseline="-25000" dirty="0" err="1"/>
              <a:t>n</a:t>
            </a:r>
            <a:endParaRPr lang="en-US" sz="2800" i="1" baseline="-250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                               C</a:t>
            </a:r>
            <a:r>
              <a:rPr lang="en-US" sz="2400" dirty="0"/>
              <a:t> </a:t>
            </a:r>
          </a:p>
          <a:p>
            <a:pPr>
              <a:buNone/>
            </a:pPr>
            <a:r>
              <a:rPr lang="en-US" sz="2400" dirty="0"/>
              <a:t>                                      </a:t>
            </a:r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514600" y="5486400"/>
            <a:ext cx="231458" cy="2057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 Arguments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05000"/>
            <a:ext cx="6553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Example </a:t>
            </a:r>
            <a:r>
              <a:rPr lang="en-US" sz="2400" b="1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/>
              <a:t>: From the single proposition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 </a:t>
            </a:r>
            <a:r>
              <a:rPr lang="en-US" sz="2400" dirty="0"/>
              <a:t>Show that </a:t>
            </a:r>
            <a:r>
              <a:rPr lang="en-US" sz="2400" b="1" i="1" dirty="0"/>
              <a:t>q</a:t>
            </a:r>
            <a:r>
              <a:rPr lang="en-US" sz="2400" dirty="0"/>
              <a:t> is a conclusion.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2766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Solution</a:t>
            </a:r>
            <a:r>
              <a:rPr lang="en-US" dirty="0"/>
              <a:t>:</a:t>
            </a:r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819400" y="2362200"/>
            <a:ext cx="1848803" cy="382905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604838" y="4077640"/>
            <a:ext cx="8126730" cy="218027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Valid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915400" cy="43891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 dirty="0"/>
              <a:t>Example </a:t>
            </a:r>
            <a:r>
              <a:rPr lang="en-US" sz="1800" b="1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1800" b="1" dirty="0"/>
              <a:t>:</a:t>
            </a:r>
            <a:r>
              <a:rPr lang="en-US" sz="1800" dirty="0"/>
              <a:t> </a:t>
            </a:r>
          </a:p>
          <a:p>
            <a:r>
              <a:rPr lang="en-US" sz="1500" b="1" dirty="0"/>
              <a:t>With these hypotheses:</a:t>
            </a:r>
          </a:p>
          <a:p>
            <a:pPr lvl="1">
              <a:buNone/>
            </a:pPr>
            <a:r>
              <a:rPr lang="en-US" sz="1500" b="1" dirty="0">
                <a:solidFill>
                  <a:srgbClr val="0070C0"/>
                </a:solidFill>
              </a:rPr>
              <a:t>“It is not sunny this afternoon and it is colder than yesterday.”</a:t>
            </a:r>
          </a:p>
          <a:p>
            <a:pPr lvl="1">
              <a:buNone/>
            </a:pPr>
            <a:r>
              <a:rPr lang="en-US" sz="1500" b="1" dirty="0">
                <a:solidFill>
                  <a:srgbClr val="0070C0"/>
                </a:solidFill>
              </a:rPr>
              <a:t>“We will go swimming only if it is sunny.”</a:t>
            </a:r>
          </a:p>
          <a:p>
            <a:pPr lvl="1">
              <a:buNone/>
            </a:pPr>
            <a:r>
              <a:rPr lang="en-US" sz="1500" b="1" dirty="0">
                <a:solidFill>
                  <a:srgbClr val="0070C0"/>
                </a:solidFill>
              </a:rPr>
              <a:t>“If we do not go swimming, then we will take a canoe trip.”</a:t>
            </a:r>
          </a:p>
          <a:p>
            <a:pPr lvl="1">
              <a:buNone/>
            </a:pPr>
            <a:r>
              <a:rPr lang="en-US" sz="1500" b="1" dirty="0">
                <a:solidFill>
                  <a:srgbClr val="0070C0"/>
                </a:solidFill>
              </a:rPr>
              <a:t>“If we take a canoe trip, then we will be home by sunset.”</a:t>
            </a:r>
          </a:p>
          <a:p>
            <a:r>
              <a:rPr lang="en-US" sz="1500" b="1" dirty="0"/>
              <a:t>Using the inference rules, construct a valid argument for the conclusion:</a:t>
            </a:r>
          </a:p>
          <a:p>
            <a:pPr lvl="1">
              <a:buNone/>
            </a:pPr>
            <a:r>
              <a:rPr lang="en-US" sz="1500" b="1" dirty="0">
                <a:solidFill>
                  <a:srgbClr val="0070C0"/>
                </a:solidFill>
              </a:rPr>
              <a:t>“We will be home by sunset.”</a:t>
            </a:r>
          </a:p>
          <a:p>
            <a:pPr>
              <a:buNone/>
            </a:pPr>
            <a:r>
              <a:rPr lang="en-US" sz="1500" b="1" dirty="0"/>
              <a:t>Solution</a:t>
            </a:r>
            <a:r>
              <a:rPr lang="en-US" sz="1500" dirty="0"/>
              <a:t>: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/>
              <a:t>  Choose propositional variables:</a:t>
            </a:r>
          </a:p>
          <a:p>
            <a:pPr lvl="1"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p</a:t>
            </a:r>
            <a:r>
              <a:rPr lang="en-US" sz="1500" dirty="0"/>
              <a:t> : “</a:t>
            </a:r>
            <a:r>
              <a:rPr lang="en-US" sz="1500" b="1" dirty="0"/>
              <a:t>It is sunny this afternoon.</a:t>
            </a:r>
            <a:r>
              <a:rPr lang="en-US" sz="1500" dirty="0"/>
              <a:t>”      </a:t>
            </a:r>
            <a:r>
              <a:rPr lang="en-US" sz="1500" b="1" i="1" dirty="0">
                <a:solidFill>
                  <a:schemeClr val="accent1"/>
                </a:solidFill>
              </a:rPr>
              <a:t>r</a:t>
            </a:r>
            <a:r>
              <a:rPr lang="en-US" sz="1500" b="1" dirty="0">
                <a:solidFill>
                  <a:schemeClr val="accent1"/>
                </a:solidFill>
              </a:rPr>
              <a:t> </a:t>
            </a:r>
            <a:r>
              <a:rPr lang="en-US" sz="1500" dirty="0"/>
              <a:t> : “</a:t>
            </a:r>
            <a:r>
              <a:rPr lang="en-US" sz="1500" b="1" dirty="0"/>
              <a:t>We will go swimming</a:t>
            </a:r>
            <a:r>
              <a:rPr lang="en-US" sz="1500" dirty="0"/>
              <a:t>.”  </a:t>
            </a:r>
            <a:r>
              <a:rPr lang="en-US" sz="1500" b="1" i="1" dirty="0">
                <a:solidFill>
                  <a:schemeClr val="accent1"/>
                </a:solidFill>
              </a:rPr>
              <a:t>t</a:t>
            </a:r>
            <a:r>
              <a:rPr lang="en-US" sz="1500" i="1" dirty="0"/>
              <a:t> : </a:t>
            </a:r>
            <a:r>
              <a:rPr lang="en-US" sz="1500" dirty="0"/>
              <a:t>“</a:t>
            </a:r>
            <a:r>
              <a:rPr lang="en-US" sz="1500" b="1" dirty="0"/>
              <a:t>We will be home by sunset.”</a:t>
            </a:r>
          </a:p>
          <a:p>
            <a:pPr lvl="1"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q</a:t>
            </a:r>
            <a:r>
              <a:rPr lang="en-US" sz="1500" b="1" dirty="0">
                <a:solidFill>
                  <a:schemeClr val="accent1"/>
                </a:solidFill>
              </a:rPr>
              <a:t> </a:t>
            </a:r>
            <a:r>
              <a:rPr lang="en-US" sz="1500" dirty="0"/>
              <a:t> : </a:t>
            </a:r>
            <a:r>
              <a:rPr lang="en-US" sz="1500" b="1" dirty="0"/>
              <a:t>“It is colder than yesterday.”     </a:t>
            </a:r>
            <a:r>
              <a:rPr lang="en-US" sz="1500" b="1" i="1" dirty="0">
                <a:solidFill>
                  <a:schemeClr val="accent1"/>
                </a:solidFill>
              </a:rPr>
              <a:t>s</a:t>
            </a:r>
            <a:r>
              <a:rPr lang="en-US" sz="1500" i="1" dirty="0"/>
              <a:t>  : </a:t>
            </a:r>
            <a:r>
              <a:rPr lang="en-US" sz="1500" dirty="0"/>
              <a:t>“</a:t>
            </a:r>
            <a:r>
              <a:rPr lang="en-US" sz="1500" b="1" dirty="0"/>
              <a:t>We will take a canoe trip.” </a:t>
            </a:r>
            <a:endParaRPr lang="en-US" sz="1500" b="1" i="1" dirty="0"/>
          </a:p>
          <a:p>
            <a:pPr marL="342900" indent="-342900">
              <a:buFont typeface="+mj-lt"/>
              <a:buAutoNum type="arabicPeriod"/>
            </a:pPr>
            <a:r>
              <a:rPr lang="en-US" sz="1500" dirty="0"/>
              <a:t>Translation into propositional logic:</a:t>
            </a:r>
          </a:p>
          <a:p>
            <a:endParaRPr lang="en-US" dirty="0"/>
          </a:p>
          <a:p>
            <a:endParaRPr lang="en-US" dirty="0"/>
          </a:p>
          <a:p>
            <a:pPr lvl="1">
              <a:buNone/>
            </a:pPr>
            <a:endParaRPr lang="en-US" i="1" dirty="0"/>
          </a:p>
          <a:p>
            <a:pPr lvl="1">
              <a:buNone/>
            </a:pPr>
            <a:endParaRPr lang="en-US" i="1" dirty="0"/>
          </a:p>
          <a:p>
            <a:pPr lvl="1">
              <a:buNone/>
            </a:pPr>
            <a:endParaRPr lang="en-US" i="1" dirty="0"/>
          </a:p>
          <a:p>
            <a:pPr lvl="1">
              <a:buNone/>
            </a:pPr>
            <a:endParaRPr lang="en-US" i="1" dirty="0"/>
          </a:p>
          <a:p>
            <a:pPr lvl="1">
              <a:buNone/>
            </a:pPr>
            <a:endParaRPr lang="en-US" i="1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953000" y="62484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Continued on next slide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endParaRPr lang="en-US" dirty="0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594610" y="5693110"/>
            <a:ext cx="4640580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1143000"/>
          </a:xfrm>
        </p:spPr>
        <p:txBody>
          <a:bodyPr/>
          <a:lstStyle/>
          <a:p>
            <a:r>
              <a:rPr lang="en-US" dirty="0"/>
              <a:t>Valid Arguments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447800"/>
            <a:ext cx="7848600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This </a:t>
            </a:r>
            <a:r>
              <a:rPr lang="en-US" sz="2400" dirty="0"/>
              <a:t>argument form shows that the premises lead to the desired conclusion.</a:t>
            </a:r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990600" y="2590800"/>
            <a:ext cx="7432358" cy="400907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534400" cy="4389120"/>
          </a:xfrm>
        </p:spPr>
        <p:txBody>
          <a:bodyPr/>
          <a:lstStyle/>
          <a:p>
            <a:pPr>
              <a:buNone/>
            </a:pPr>
            <a:r>
              <a:rPr lang="en-US" sz="1800" b="1" dirty="0"/>
              <a:t>Example </a:t>
            </a:r>
            <a:r>
              <a:rPr lang="en-US" sz="1800" b="1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1800" b="1" dirty="0" smtClean="0"/>
              <a:t>:</a:t>
            </a:r>
            <a:r>
              <a:rPr lang="en-US" sz="1800" dirty="0" smtClean="0"/>
              <a:t> </a:t>
            </a:r>
            <a:endParaRPr lang="en-US" sz="1800" dirty="0"/>
          </a:p>
          <a:p>
            <a:r>
              <a:rPr lang="en-US" sz="1600" b="1" dirty="0"/>
              <a:t>With these hypotheses</a:t>
            </a:r>
            <a:r>
              <a:rPr lang="en-US" sz="1600" b="1" dirty="0" smtClean="0"/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70C0"/>
                </a:solidFill>
              </a:rPr>
              <a:t>“If you send me an e-mail message, then I will finish writing the program,” “If you do not send me an e-mail message, then I will go to sleep early,” and “If I go to sleep early, then I will wake up feeling refreshed” </a:t>
            </a:r>
            <a:endParaRPr lang="en-US" sz="16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600" b="1" dirty="0" smtClean="0"/>
              <a:t>lead to the conclusion:</a:t>
            </a:r>
          </a:p>
          <a:p>
            <a:pPr marL="0" indent="0">
              <a:buNone/>
            </a:pPr>
            <a:r>
              <a:rPr lang="en-US" sz="1600" dirty="0" smtClean="0"/>
              <a:t> </a:t>
            </a:r>
            <a:r>
              <a:rPr lang="en-US" sz="1600" b="1" dirty="0" smtClean="0"/>
              <a:t>“If I do not finish writing the program, then I will wake up feeling refreshed.”</a:t>
            </a:r>
          </a:p>
          <a:p>
            <a:pPr>
              <a:buNone/>
            </a:pPr>
            <a:r>
              <a:rPr lang="en-US" sz="1600" b="1" dirty="0"/>
              <a:t>Solution</a:t>
            </a:r>
            <a:r>
              <a:rPr lang="en-US" sz="1600" dirty="0"/>
              <a:t>: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  Choose propositional variables</a:t>
            </a:r>
            <a:r>
              <a:rPr lang="en-US" sz="1600" dirty="0" smtClean="0"/>
              <a:t>:</a:t>
            </a:r>
          </a:p>
          <a:p>
            <a:pPr marL="0" indent="0">
              <a:buNone/>
            </a:pPr>
            <a:r>
              <a:rPr lang="en-US" sz="1600" b="1" i="1" dirty="0" smtClean="0">
                <a:solidFill>
                  <a:schemeClr val="accent1"/>
                </a:solidFill>
              </a:rPr>
              <a:t>         p:</a:t>
            </a:r>
            <a:r>
              <a:rPr lang="en-US" sz="1600" dirty="0" smtClean="0"/>
              <a:t> </a:t>
            </a:r>
            <a:r>
              <a:rPr lang="en-US" sz="1600" b="1" dirty="0" smtClean="0"/>
              <a:t>“You </a:t>
            </a:r>
            <a:r>
              <a:rPr lang="en-US" sz="1600" b="1" dirty="0"/>
              <a:t>send me an e-mail message,”</a:t>
            </a:r>
            <a:r>
              <a:rPr lang="en-US" sz="1600" dirty="0"/>
              <a:t> </a:t>
            </a:r>
            <a:r>
              <a:rPr lang="en-US" sz="1600" dirty="0" smtClean="0"/>
              <a:t>  </a:t>
            </a:r>
            <a:r>
              <a:rPr lang="en-US" sz="1600" b="1" i="1" dirty="0" smtClean="0">
                <a:solidFill>
                  <a:schemeClr val="accent1"/>
                </a:solidFill>
              </a:rPr>
              <a:t>q:</a:t>
            </a:r>
            <a:r>
              <a:rPr lang="en-US" sz="1600" dirty="0" smtClean="0"/>
              <a:t> </a:t>
            </a:r>
            <a:r>
              <a:rPr lang="en-US" sz="1600" b="1" dirty="0" smtClean="0"/>
              <a:t>“I </a:t>
            </a:r>
            <a:r>
              <a:rPr lang="en-US" sz="1600" b="1" dirty="0"/>
              <a:t>will </a:t>
            </a:r>
            <a:r>
              <a:rPr lang="en-US" sz="1600" b="1" dirty="0" smtClean="0"/>
              <a:t>finish </a:t>
            </a:r>
            <a:r>
              <a:rPr lang="en-US" sz="1600" b="1" dirty="0"/>
              <a:t>writing the program</a:t>
            </a:r>
            <a:r>
              <a:rPr lang="en-US" sz="1600" b="1" dirty="0" smtClean="0"/>
              <a:t>,”</a:t>
            </a:r>
          </a:p>
          <a:p>
            <a:pPr marL="0" indent="0">
              <a:buNone/>
            </a:pPr>
            <a:r>
              <a:rPr lang="en-US" sz="1600" dirty="0"/>
              <a:t>      </a:t>
            </a:r>
            <a:r>
              <a:rPr lang="en-US" sz="1600" dirty="0" smtClean="0"/>
              <a:t>  </a:t>
            </a:r>
            <a:r>
              <a:rPr lang="en-US" sz="1600" b="1" i="1" dirty="0" smtClean="0">
                <a:solidFill>
                  <a:schemeClr val="accent1"/>
                </a:solidFill>
              </a:rPr>
              <a:t>r:</a:t>
            </a:r>
            <a:r>
              <a:rPr lang="en-US" sz="1600" dirty="0" smtClean="0"/>
              <a:t> </a:t>
            </a:r>
            <a:r>
              <a:rPr lang="en-US" sz="1600" b="1" dirty="0"/>
              <a:t>“I will go to sleep early,”</a:t>
            </a:r>
            <a:r>
              <a:rPr lang="en-US" sz="1600" dirty="0"/>
              <a:t> </a:t>
            </a:r>
            <a:r>
              <a:rPr lang="en-US" sz="1600" dirty="0" smtClean="0"/>
              <a:t>                    </a:t>
            </a:r>
            <a:r>
              <a:rPr lang="en-US" sz="1600" b="1" i="1" dirty="0" smtClean="0">
                <a:solidFill>
                  <a:schemeClr val="accent1"/>
                </a:solidFill>
              </a:rPr>
              <a:t> s:   </a:t>
            </a:r>
            <a:r>
              <a:rPr lang="en-US" sz="1600" b="1" dirty="0" smtClean="0"/>
              <a:t>“</a:t>
            </a:r>
            <a:r>
              <a:rPr lang="en-US" sz="1600" b="1" dirty="0"/>
              <a:t>I will </a:t>
            </a:r>
            <a:r>
              <a:rPr lang="en-US" sz="1600" b="1" dirty="0" smtClean="0"/>
              <a:t>wake up feeling refreshed</a:t>
            </a:r>
            <a:r>
              <a:rPr lang="en-US" sz="1600" b="1" dirty="0"/>
              <a:t>.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Valid Arguments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895600" y="5410200"/>
            <a:ext cx="2300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p → q</a:t>
            </a:r>
            <a:r>
              <a:rPr lang="pt-BR" b="1" dirty="0" smtClean="0"/>
              <a:t>, ¬</a:t>
            </a:r>
            <a:r>
              <a:rPr lang="pt-BR" b="1" dirty="0"/>
              <a:t>p → r</a:t>
            </a:r>
            <a:r>
              <a:rPr lang="pt-BR" b="1" dirty="0" smtClean="0"/>
              <a:t>, r </a:t>
            </a:r>
            <a:r>
              <a:rPr lang="pt-BR" b="1" dirty="0"/>
              <a:t>→ s</a:t>
            </a:r>
            <a:r>
              <a:rPr lang="pt-BR" dirty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5459784"/>
            <a:ext cx="1752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Hypothesis: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5867924"/>
            <a:ext cx="1752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Conclusion: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2954661" y="5833857"/>
            <a:ext cx="888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¬q → </a:t>
            </a:r>
            <a:r>
              <a:rPr lang="en-US" b="1" dirty="0" smtClean="0"/>
              <a:t>s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953000" y="62484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Continued on next slide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691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argument form shows that the premises lead to the desired conclusion.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563880"/>
            <a:ext cx="8229600" cy="1143000"/>
          </a:xfrm>
        </p:spPr>
        <p:txBody>
          <a:bodyPr/>
          <a:lstStyle/>
          <a:p>
            <a:r>
              <a:rPr lang="en-US" dirty="0"/>
              <a:t>Valid Arguments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48000"/>
            <a:ext cx="80772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103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\forall x (Man(x) \rightarrow Mortal(x))$&#10;&#10;&#10;\end{document}"/>
  <p:tag name="IGUANATEXSIZE" val="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Man(Socrates)$&#10;&#10;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$\therefore \;\;\;\; Mortal(Socrates)$&#10;&#10;&#10;\end{document}"/>
  <p:tag name="IGUANATEXSIZE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 {amssymb}&#10;\pagestyle{empty}&#10;\begin{document}&#10;$\begin{array}{l}&#10;\noindent p \rightarrow q\\&#10;\noindent p\\ \hline&#10;&#10;\therefore  q\\&#10;\end{array}$&#10;&#10;&#10;&#10;&#10;&#10;\end{document}"/>
  <p:tag name="IGUANATEXSIZE" val="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 {amssymb}&#10;\pagestyle{empty}&#10;\begin{document}&#10;$\begin{array}{l}&#10;\noindent p \rightarrow q\\&#10;\neg q\\ \hline&#10;&#10;\therefore  \neg p\\&#10;\end{array}$&#10;&#10;&#10;&#10;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 {amssymb}&#10;\pagestyle{empty}&#10;\begin{document}&#10;$\begin{array}{l}&#10;\noindent p \rightarrow q\\&#10;\noindent q \rightarrow r\\ \hline&#10;&#10;\therefore  p \rightarrow r\\&#10;\end{array}$&#10;&#10;&#10;&#10;&#10;&#10;\end{document}"/>
  <p:tag name="IGUANATEXSIZE" val="3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 {amssymb}&#10;\pagestyle{empty}&#10;\begin{document}&#10;$\begin{array}{l}&#10;\noindent p \vee q\\&#10;\neg p\\ \hline&#10;&#10;\therefore  q\\&#10;\end{array}$&#10;&#10;&#10;&#10;&#10;&#10;\end{document}"/>
  <p:tag name="IGUANATEXSIZE" val="3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 {amssymb}&#10;\pagestyle{empty}&#10;\begin{document}&#10;$\begin{array}{l}&#10;p\\ \hline&#10;&#10;\therefore  p \vee q\\&#10;\end{array}$&#10;&#10;&#10;&#10;&#10;&#10;\end{document}"/>
  <p:tag name="IGUANATEXSIZE" val="3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 {amssymb}&#10;\pagestyle{empty}&#10;\begin{document}&#10;$\begin{array}{l}&#10;p\\&#10;q\\ \hline&#10;\therefore p \wedge q &#10;\end{array}$&#10;&#10;&#10;&#10;&#10;&#10;\end{document}"/>
  <p:tag name="IGUANATEXSIZE" val="3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 {amssymb}&#10;\pagestyle{empty}&#10;\begin{document}&#10;$\begin{array}{l}&#10;\neg p \vee r\\&#10;p \vee q \\ \hline&#10;\therefore  q \vee r\\&#10;\end{array}$&#10;&#10;&#10;&#10;&#10;&#10;\end{document}"/>
  <p:tag name="IGUANATEXSIZE" val="3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 {amssymb}&#10;\pagestyle{empty}&#10;\begin{document}&#10;$\therefore$&#10;&#10;&#10;&#10;&#10;\end{document}"/>
  <p:tag name="IGUANATEXSIZE" val="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 {amssymb}&#10;\pagestyle{empty}&#10;\begin{document}&#10;$p \wedge (p \rightarrow q)$ &#10;&#10;\end{document}"/>
  <p:tag name="IGUANATEXSIZE" val="3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 {amssymb}&#10;\pagestyle{empty}&#10;\begin{document}&#10;\begin{tabular}{ll}&#10;{\bf Step} &amp; {\bf Reason}\\&#10;1.  $p \wedge (p \rightarrow q)$ &amp; Premise\\&#10;2. $p$ &amp; Simplification  using (1)\\&#10;3. $p \rightarrow q$ &amp;  Simplification using (1)\\&#10;4. $q$ &amp; Modus Ponens using (2) and (3)\\&#10;\end{tabular}&#10;&#10;&#10;\end{document}"/>
  <p:tag name="IGUANATEXSIZE" val="3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 {amssymb}&#10;\pagestyle{empty}&#10;\begin{document}&#10;\noindent&#10;Hypotheses: $\neg p \wedge q$, $ r \rightarrow p$, $\neg r \rightarrow s$, $s \rightarrow t$\\&#10;Conclusion: $t$&#10;\end{document}"/>
  <p:tag name="IGUANATEXSIZE" val="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 {amssymb}&#10;\pagestyle{empty}&#10;\begin{document}&#10;\begin{tabular}{ll}&#10;{\bf Step} &amp; {\bf Reason}\\&#10;1.  $\neg p \wedge q$ &amp; Premise\\&#10;2. $\neg p$ &amp; Simplification using (1)\\&#10;3. $r \rightarrow p$ &amp;  Premise\\&#10;4. $\neg r$ &amp; Modus tollens using (2) and (3)\\&#10;5. $\neg r \rightarrow s$ &amp; Premise\\&#10;6. $s$ &amp; Modus ponens using (4) and (5)\\&#10;7. $s \rightarrow t$ &amp; Premise\\&#10;8. $t$ &amp; Modus ponens using (6) and (7)&#10;&#10;\end{tabular}&#10;&#10;&#10;\end{document}"/>
  <p:tag name="IGUANATEXSIZE" val="3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12809</TotalTime>
  <Words>1665</Words>
  <Application>Microsoft Office PowerPoint</Application>
  <PresentationFormat>On-screen Show (4:3)</PresentationFormat>
  <Paragraphs>273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Constantia</vt:lpstr>
      <vt:lpstr>Cambria Math</vt:lpstr>
      <vt:lpstr>Wingdings 2</vt:lpstr>
      <vt:lpstr>Arial</vt:lpstr>
      <vt:lpstr>Calibri</vt:lpstr>
      <vt:lpstr>Wingdings</vt:lpstr>
      <vt:lpstr>Flow</vt:lpstr>
      <vt:lpstr>The Foundations: Logic and Proofs</vt:lpstr>
      <vt:lpstr>Rules of Inference</vt:lpstr>
      <vt:lpstr>Section Summary</vt:lpstr>
      <vt:lpstr>Arguments in Propositional Logic</vt:lpstr>
      <vt:lpstr>Revisiting the Socrates Example</vt:lpstr>
      <vt:lpstr>The Argument</vt:lpstr>
      <vt:lpstr>Argument – Example</vt:lpstr>
      <vt:lpstr>Argument Form</vt:lpstr>
      <vt:lpstr>Validity of Argument</vt:lpstr>
      <vt:lpstr>Validity of Argument</vt:lpstr>
      <vt:lpstr>Valid Arguments </vt:lpstr>
      <vt:lpstr>Rules of Inference for Propositional Logic</vt:lpstr>
      <vt:lpstr>Rules of Inference</vt:lpstr>
      <vt:lpstr>Rules of Inference for Propositional Logic: Modus Ponens</vt:lpstr>
      <vt:lpstr> Modus Tollens</vt:lpstr>
      <vt:lpstr>Hypothetical Syllogism</vt:lpstr>
      <vt:lpstr>Disjunctive Syllogism</vt:lpstr>
      <vt:lpstr>Addition</vt:lpstr>
      <vt:lpstr>Simplification</vt:lpstr>
      <vt:lpstr>Conjunction</vt:lpstr>
      <vt:lpstr>Resolution</vt:lpstr>
      <vt:lpstr>PowerPoint Presentation</vt:lpstr>
      <vt:lpstr>Using the Rules of Inference to Build Valid Arguments</vt:lpstr>
      <vt:lpstr>Valid Arguments</vt:lpstr>
      <vt:lpstr>Valid Arguments</vt:lpstr>
      <vt:lpstr>Valid Arguments</vt:lpstr>
      <vt:lpstr>Valid Arguments</vt:lpstr>
      <vt:lpstr>Valid Arguments</vt:lpstr>
    </vt:vector>
  </TitlesOfParts>
  <Company>Monmouth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Foundations: Logic and Proofs</dc:title>
  <dc:creator>Richard Scherl</dc:creator>
  <cp:lastModifiedBy>User</cp:lastModifiedBy>
  <cp:revision>505</cp:revision>
  <dcterms:created xsi:type="dcterms:W3CDTF">2013-10-11T23:23:15Z</dcterms:created>
  <dcterms:modified xsi:type="dcterms:W3CDTF">2026-01-26T07:07:31Z</dcterms:modified>
</cp:coreProperties>
</file>