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8"/>
  </p:notesMasterIdLst>
  <p:handoutMasterIdLst>
    <p:handoutMasterId r:id="rId39"/>
  </p:handoutMasterIdLst>
  <p:sldIdLst>
    <p:sldId id="261" r:id="rId2"/>
    <p:sldId id="353" r:id="rId3"/>
    <p:sldId id="356" r:id="rId4"/>
    <p:sldId id="361" r:id="rId5"/>
    <p:sldId id="357" r:id="rId6"/>
    <p:sldId id="358" r:id="rId7"/>
    <p:sldId id="359" r:id="rId8"/>
    <p:sldId id="360" r:id="rId9"/>
    <p:sldId id="362" r:id="rId10"/>
    <p:sldId id="363" r:id="rId11"/>
    <p:sldId id="364" r:id="rId12"/>
    <p:sldId id="368" r:id="rId13"/>
    <p:sldId id="365" r:id="rId14"/>
    <p:sldId id="366" r:id="rId15"/>
    <p:sldId id="367" r:id="rId16"/>
    <p:sldId id="369" r:id="rId17"/>
    <p:sldId id="394" r:id="rId18"/>
    <p:sldId id="373" r:id="rId19"/>
    <p:sldId id="374" r:id="rId20"/>
    <p:sldId id="391" r:id="rId21"/>
    <p:sldId id="375" r:id="rId22"/>
    <p:sldId id="393" r:id="rId23"/>
    <p:sldId id="388" r:id="rId24"/>
    <p:sldId id="377" r:id="rId25"/>
    <p:sldId id="395" r:id="rId26"/>
    <p:sldId id="392" r:id="rId27"/>
    <p:sldId id="376" r:id="rId28"/>
    <p:sldId id="396" r:id="rId29"/>
    <p:sldId id="404" r:id="rId30"/>
    <p:sldId id="397" r:id="rId31"/>
    <p:sldId id="398" r:id="rId32"/>
    <p:sldId id="399" r:id="rId33"/>
    <p:sldId id="400" r:id="rId34"/>
    <p:sldId id="401" r:id="rId35"/>
    <p:sldId id="402" r:id="rId36"/>
    <p:sldId id="40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06" autoAdjust="0"/>
  </p:normalViewPr>
  <p:slideViewPr>
    <p:cSldViewPr snapToGrid="0">
      <p:cViewPr varScale="1">
        <p:scale>
          <a:sx n="85" d="100"/>
          <a:sy n="85" d="100"/>
        </p:scale>
        <p:origin x="-590" y="-7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3/15/2026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1</a:t>
            </a:fld>
            <a:endParaRPr lang="en-US"/>
          </a:p>
        </p:txBody>
      </p:sp>
    </p:spTree>
    <p:extLst>
      <p:ext uri="{BB962C8B-B14F-4D97-AF65-F5344CB8AC3E}">
        <p14:creationId xmlns:p14="http://schemas.microsoft.com/office/powerpoint/2010/main" val="1325204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endParaRPr lang="en-US" dirty="0"/>
          </a:p>
        </p:txBody>
      </p:sp>
      <p:sp>
        <p:nvSpPr>
          <p:cNvPr id="7" name="Date Placeholder 6"/>
          <p:cNvSpPr>
            <a:spLocks noGrp="1"/>
          </p:cNvSpPr>
          <p:nvPr>
            <p:ph type="dt" sz="half" idx="10"/>
          </p:nvPr>
        </p:nvSpPr>
        <p:spPr/>
        <p:txBody>
          <a:bodyPr/>
          <a:lstStyle/>
          <a:p>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Footer Placeholder 3"/>
          <p:cNvSpPr>
            <a:spLocks noGrp="1"/>
          </p:cNvSpPr>
          <p:nvPr>
            <p:ph type="ftr" sz="quarter" idx="11"/>
          </p:nvPr>
        </p:nvSpPr>
        <p:spPr/>
        <p:txBody>
          <a:bodyPr/>
          <a:lstStyle/>
          <a:p>
            <a:endParaRPr lang="en-US" dirty="0"/>
          </a:p>
        </p:txBody>
      </p:sp>
      <p:sp>
        <p:nvSpPr>
          <p:cNvPr id="3" name="Date Placeholder 2"/>
          <p:cNvSpPr>
            <a:spLocks noGrp="1"/>
          </p:cNvSpPr>
          <p:nvPr>
            <p:ph type="dt" sz="half" idx="10"/>
          </p:nvPr>
        </p:nvSpPr>
        <p:spPr/>
        <p:txBody>
          <a:bodyPr/>
          <a:lstStyle/>
          <a:p>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endParaRPr lang="en-US" dirty="0"/>
          </a:p>
        </p:txBody>
      </p:sp>
      <p:sp>
        <p:nvSpPr>
          <p:cNvPr id="212" name="Date Placeholder 211"/>
          <p:cNvSpPr>
            <a:spLocks noGrp="1"/>
          </p:cNvSpPr>
          <p:nvPr>
            <p:ph type="dt" sz="half" idx="10"/>
          </p:nvPr>
        </p:nvSpPr>
        <p:spPr/>
        <p:txBody>
          <a:bodyPr/>
          <a:lstStyle/>
          <a:p>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endParaRPr lang="en-US" dirty="0"/>
          </a:p>
        </p:txBody>
      </p:sp>
      <p:sp>
        <p:nvSpPr>
          <p:cNvPr id="5" name="Date Placeholder 4"/>
          <p:cNvSpPr>
            <a:spLocks noGrp="1"/>
          </p:cNvSpPr>
          <p:nvPr>
            <p:ph type="dt" sz="half" idx="10"/>
          </p:nvPr>
        </p:nvSpPr>
        <p:spPr/>
        <p:txBody>
          <a:bodyPr/>
          <a:lstStyle>
            <a:lvl1pPr>
              <a:defRPr>
                <a:solidFill>
                  <a:schemeClr val="bg1"/>
                </a:solidFill>
              </a:defRPr>
            </a:lvl1pPr>
          </a:lstStyle>
          <a:p>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smtClean="0"/>
              <a:t>Click to edit Master title style</a:t>
            </a: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endParaRPr lang="en-US" dirty="0"/>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Discrete Structures</a:t>
            </a:r>
            <a:endParaRPr lang="en-US" dirty="0"/>
          </a:p>
        </p:txBody>
      </p:sp>
      <p:sp>
        <p:nvSpPr>
          <p:cNvPr id="3" name="Subtitle 2"/>
          <p:cNvSpPr>
            <a:spLocks noGrp="1"/>
          </p:cNvSpPr>
          <p:nvPr>
            <p:ph type="subTitle" idx="1"/>
          </p:nvPr>
        </p:nvSpPr>
        <p:spPr/>
        <p:txBody>
          <a:bodyPr/>
          <a:lstStyle/>
          <a:p>
            <a:r>
              <a:rPr lang="en-US" dirty="0" smtClean="0"/>
              <a:t>Spring 2026 – Week 4</a:t>
            </a:r>
            <a:endParaRPr lang="en-US"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Algorithms</a:t>
            </a:r>
            <a:endParaRPr lang="en-US" dirty="0"/>
          </a:p>
        </p:txBody>
      </p:sp>
      <p:sp>
        <p:nvSpPr>
          <p:cNvPr id="6" name="Text Placeholder 5"/>
          <p:cNvSpPr>
            <a:spLocks noGrp="1"/>
          </p:cNvSpPr>
          <p:nvPr>
            <p:ph type="body" idx="1"/>
          </p:nvPr>
        </p:nvSpPr>
        <p:spPr/>
        <p:txBody>
          <a:bodyPr/>
          <a:lstStyle/>
          <a:p>
            <a:r>
              <a:rPr lang="en-US" dirty="0" smtClean="0"/>
              <a:t>Lecture 2</a:t>
            </a:r>
            <a:endParaRPr lang="en-US" dirty="0"/>
          </a:p>
        </p:txBody>
      </p:sp>
      <p:sp>
        <p:nvSpPr>
          <p:cNvPr id="4" name="Slide Number Placeholder 3"/>
          <p:cNvSpPr>
            <a:spLocks noGrp="1"/>
          </p:cNvSpPr>
          <p:nvPr>
            <p:ph type="sldNum" sz="quarter" idx="4294967295"/>
          </p:nvPr>
        </p:nvSpPr>
        <p:spPr>
          <a:xfrm>
            <a:off x="11272838" y="6289675"/>
            <a:ext cx="919162" cy="222250"/>
          </a:xfrm>
        </p:spPr>
        <p:txBody>
          <a:bodyPr/>
          <a:lstStyle/>
          <a:p>
            <a:fld id="{E31375A4-56A4-47D6-9801-1991572033F7}" type="slidenum">
              <a:rPr lang="en-US" smtClean="0"/>
              <a:t>2</a:t>
            </a:fld>
            <a:endParaRPr lang="en-US"/>
          </a:p>
        </p:txBody>
      </p:sp>
    </p:spTree>
    <p:extLst>
      <p:ext uri="{BB962C8B-B14F-4D97-AF65-F5344CB8AC3E}">
        <p14:creationId xmlns:p14="http://schemas.microsoft.com/office/powerpoint/2010/main" val="23301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and Algorithms</a:t>
            </a:r>
            <a:endParaRPr lang="en-US" dirty="0"/>
          </a:p>
        </p:txBody>
      </p:sp>
      <p:sp>
        <p:nvSpPr>
          <p:cNvPr id="3" name="Content Placeholder 2"/>
          <p:cNvSpPr>
            <a:spLocks noGrp="1"/>
          </p:cNvSpPr>
          <p:nvPr>
            <p:ph idx="1"/>
          </p:nvPr>
        </p:nvSpPr>
        <p:spPr>
          <a:xfrm>
            <a:off x="1295399" y="1981201"/>
            <a:ext cx="10186851" cy="3809999"/>
          </a:xfrm>
        </p:spPr>
        <p:txBody>
          <a:bodyPr/>
          <a:lstStyle/>
          <a:p>
            <a:r>
              <a:rPr lang="en-US" dirty="0"/>
              <a:t>In many </a:t>
            </a:r>
            <a:r>
              <a:rPr lang="en-US" b="1" dirty="0" smtClean="0"/>
              <a:t>domains</a:t>
            </a:r>
            <a:r>
              <a:rPr lang="en-US" dirty="0" smtClean="0"/>
              <a:t> </a:t>
            </a:r>
            <a:r>
              <a:rPr lang="en-US" dirty="0"/>
              <a:t>there are common problems where we are given some </a:t>
            </a:r>
            <a:r>
              <a:rPr lang="en-US" b="1" dirty="0"/>
              <a:t>input</a:t>
            </a:r>
            <a:r>
              <a:rPr lang="en-US" dirty="0"/>
              <a:t> and we must produce an </a:t>
            </a:r>
            <a:r>
              <a:rPr lang="en-US" b="1" dirty="0"/>
              <a:t>output</a:t>
            </a:r>
            <a:r>
              <a:rPr lang="en-US" dirty="0"/>
              <a:t> with certain </a:t>
            </a:r>
            <a:r>
              <a:rPr lang="en-US" b="1" dirty="0" smtClean="0"/>
              <a:t>properties.</a:t>
            </a:r>
          </a:p>
          <a:p>
            <a:r>
              <a:rPr lang="en-US" dirty="0" smtClean="0"/>
              <a:t>First</a:t>
            </a:r>
            <a:r>
              <a:rPr lang="en-US" dirty="0"/>
              <a:t>, we clearly define the problem by describing what the </a:t>
            </a:r>
            <a:r>
              <a:rPr lang="en-US" b="1" dirty="0"/>
              <a:t>input</a:t>
            </a:r>
            <a:r>
              <a:rPr lang="en-US" dirty="0"/>
              <a:t> is and what </a:t>
            </a:r>
            <a:r>
              <a:rPr lang="en-US" b="1" dirty="0"/>
              <a:t>output</a:t>
            </a:r>
            <a:r>
              <a:rPr lang="en-US" dirty="0"/>
              <a:t> we </a:t>
            </a:r>
            <a:r>
              <a:rPr lang="en-US" dirty="0" smtClean="0"/>
              <a:t>want.</a:t>
            </a:r>
          </a:p>
          <a:p>
            <a:r>
              <a:rPr lang="en-US" dirty="0" smtClean="0"/>
              <a:t>Then</a:t>
            </a:r>
            <a:r>
              <a:rPr lang="en-US" dirty="0"/>
              <a:t>, we </a:t>
            </a:r>
            <a:r>
              <a:rPr lang="en-US" b="1" dirty="0"/>
              <a:t>solve</a:t>
            </a:r>
            <a:r>
              <a:rPr lang="en-US" dirty="0"/>
              <a:t> the </a:t>
            </a:r>
            <a:r>
              <a:rPr lang="en-US" b="1" dirty="0"/>
              <a:t>problem</a:t>
            </a:r>
            <a:r>
              <a:rPr lang="en-US" dirty="0"/>
              <a:t> by writing clear, </a:t>
            </a:r>
            <a:r>
              <a:rPr lang="en-US" b="1" dirty="0"/>
              <a:t>step-by-step</a:t>
            </a:r>
            <a:r>
              <a:rPr lang="en-US" dirty="0"/>
              <a:t> instructions that take the </a:t>
            </a:r>
            <a:r>
              <a:rPr lang="en-US" b="1" dirty="0"/>
              <a:t>input</a:t>
            </a:r>
            <a:r>
              <a:rPr lang="en-US" dirty="0"/>
              <a:t> and give the correct </a:t>
            </a:r>
            <a:r>
              <a:rPr lang="en-US" b="1" dirty="0" smtClean="0"/>
              <a:t>output</a:t>
            </a:r>
            <a:r>
              <a:rPr lang="en-US" dirty="0" smtClean="0"/>
              <a:t>.</a:t>
            </a:r>
          </a:p>
          <a:p>
            <a:r>
              <a:rPr lang="en-US" dirty="0" smtClean="0"/>
              <a:t>These </a:t>
            </a:r>
            <a:r>
              <a:rPr lang="en-US" b="1" dirty="0"/>
              <a:t>step-by-step</a:t>
            </a:r>
            <a:r>
              <a:rPr lang="en-US" dirty="0"/>
              <a:t> instructions are called an </a:t>
            </a:r>
            <a:r>
              <a:rPr lang="en-US" b="1" dirty="0"/>
              <a:t>algorithm</a:t>
            </a:r>
            <a:r>
              <a:rPr lang="en-US" dirty="0"/>
              <a:t>.</a:t>
            </a:r>
          </a:p>
        </p:txBody>
      </p:sp>
      <p:sp>
        <p:nvSpPr>
          <p:cNvPr id="4" name="Slide Number Placeholder 3"/>
          <p:cNvSpPr>
            <a:spLocks noGrp="1"/>
          </p:cNvSpPr>
          <p:nvPr>
            <p:ph type="sldNum" sz="quarter" idx="12"/>
          </p:nvPr>
        </p:nvSpPr>
        <p:spPr/>
        <p:txBody>
          <a:bodyPr/>
          <a:lstStyle/>
          <a:p>
            <a:fld id="{E31375A4-56A4-47D6-9801-1991572033F7}" type="slidenum">
              <a:rPr lang="en-US" smtClean="0"/>
              <a:t>3</a:t>
            </a:fld>
            <a:endParaRPr lang="en-US"/>
          </a:p>
        </p:txBody>
      </p:sp>
    </p:spTree>
    <p:extLst>
      <p:ext uri="{BB962C8B-B14F-4D97-AF65-F5344CB8AC3E}">
        <p14:creationId xmlns:p14="http://schemas.microsoft.com/office/powerpoint/2010/main" val="179388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Algorithms</a:t>
            </a:r>
            <a:endParaRPr lang="en-US" dirty="0"/>
          </a:p>
        </p:txBody>
      </p:sp>
      <p:sp>
        <p:nvSpPr>
          <p:cNvPr id="3" name="Content Placeholder 2"/>
          <p:cNvSpPr>
            <a:spLocks noGrp="1"/>
          </p:cNvSpPr>
          <p:nvPr>
            <p:ph idx="1"/>
          </p:nvPr>
        </p:nvSpPr>
        <p:spPr/>
        <p:txBody>
          <a:bodyPr>
            <a:normAutofit/>
          </a:bodyPr>
          <a:lstStyle/>
          <a:p>
            <a:endParaRPr lang="en-US" dirty="0" smtClean="0"/>
          </a:p>
          <a:p>
            <a:endParaRPr lang="en-US" dirty="0"/>
          </a:p>
          <a:p>
            <a:r>
              <a:rPr lang="en-US" b="1" i="1" dirty="0" smtClean="0"/>
              <a:t>Definition:</a:t>
            </a:r>
            <a:r>
              <a:rPr lang="en-US" dirty="0" smtClean="0"/>
              <a:t> An </a:t>
            </a:r>
            <a:r>
              <a:rPr lang="en-US" b="1" dirty="0" smtClean="0"/>
              <a:t>algorithm</a:t>
            </a:r>
            <a:r>
              <a:rPr lang="en-US" dirty="0" smtClean="0"/>
              <a:t> is a </a:t>
            </a:r>
            <a:r>
              <a:rPr lang="en-US" b="1" dirty="0" smtClean="0"/>
              <a:t>finite</a:t>
            </a:r>
            <a:r>
              <a:rPr lang="en-US" dirty="0" smtClean="0"/>
              <a:t> set of </a:t>
            </a:r>
            <a:r>
              <a:rPr lang="en-US" b="1" dirty="0" smtClean="0"/>
              <a:t>precise</a:t>
            </a:r>
            <a:r>
              <a:rPr lang="en-US" dirty="0" smtClean="0"/>
              <a:t> instructions for performing a </a:t>
            </a:r>
            <a:r>
              <a:rPr lang="en-US" b="1" dirty="0" smtClean="0"/>
              <a:t>computation</a:t>
            </a:r>
            <a:r>
              <a:rPr lang="en-US" dirty="0" smtClean="0"/>
              <a:t> or for solving a </a:t>
            </a:r>
            <a:r>
              <a:rPr lang="en-US" b="1" dirty="0" smtClean="0"/>
              <a:t>problem.</a:t>
            </a:r>
          </a:p>
          <a:p>
            <a:r>
              <a:rPr lang="en-US" b="1" i="1" dirty="0" smtClean="0"/>
              <a:t>Example:</a:t>
            </a:r>
            <a:r>
              <a:rPr lang="en-US" dirty="0" smtClean="0"/>
              <a:t> Describe an algorithm for finding the </a:t>
            </a:r>
            <a:r>
              <a:rPr lang="en-US" b="1" dirty="0" smtClean="0"/>
              <a:t>maximum value </a:t>
            </a:r>
            <a:r>
              <a:rPr lang="en-US" dirty="0" smtClean="0"/>
              <a:t>in a finite sequence of </a:t>
            </a:r>
            <a:r>
              <a:rPr lang="en-US" b="1" dirty="0" smtClean="0"/>
              <a:t>integers.</a:t>
            </a:r>
          </a:p>
        </p:txBody>
      </p:sp>
      <p:pic>
        <p:nvPicPr>
          <p:cNvPr id="4" name="Picture 3" descr="0301.jpg"/>
          <p:cNvPicPr>
            <a:picLocks noChangeAspect="1"/>
          </p:cNvPicPr>
          <p:nvPr/>
        </p:nvPicPr>
        <p:blipFill>
          <a:blip r:embed="rId2" cstate="print"/>
          <a:stretch>
            <a:fillRect/>
          </a:stretch>
        </p:blipFill>
        <p:spPr>
          <a:xfrm>
            <a:off x="1643407" y="1971458"/>
            <a:ext cx="886968" cy="1027176"/>
          </a:xfrm>
          <a:prstGeom prst="rect">
            <a:avLst/>
          </a:prstGeom>
        </p:spPr>
      </p:pic>
      <p:sp>
        <p:nvSpPr>
          <p:cNvPr id="5" name="TextBox 4"/>
          <p:cNvSpPr txBox="1"/>
          <p:nvPr/>
        </p:nvSpPr>
        <p:spPr>
          <a:xfrm>
            <a:off x="3176834" y="2161881"/>
            <a:ext cx="4716607" cy="646331"/>
          </a:xfrm>
          <a:prstGeom prst="rect">
            <a:avLst/>
          </a:prstGeom>
          <a:noFill/>
        </p:spPr>
        <p:txBody>
          <a:bodyPr wrap="square" rtlCol="0">
            <a:spAutoFit/>
          </a:bodyPr>
          <a:lstStyle/>
          <a:p>
            <a:r>
              <a:rPr lang="en-US" dirty="0"/>
              <a:t>Abu </a:t>
            </a:r>
            <a:r>
              <a:rPr lang="en-US" dirty="0" err="1"/>
              <a:t>Ja’far</a:t>
            </a:r>
            <a:r>
              <a:rPr lang="en-US" dirty="0"/>
              <a:t> Mohammed </a:t>
            </a:r>
            <a:r>
              <a:rPr lang="en-US" dirty="0" err="1"/>
              <a:t>Ibin</a:t>
            </a:r>
            <a:r>
              <a:rPr lang="en-US" dirty="0"/>
              <a:t> Musa Al-</a:t>
            </a:r>
            <a:r>
              <a:rPr lang="en-US" dirty="0" err="1"/>
              <a:t>Khowarizmi</a:t>
            </a:r>
            <a:endParaRPr lang="en-US" dirty="0"/>
          </a:p>
          <a:p>
            <a:r>
              <a:rPr lang="en-US" dirty="0"/>
              <a:t>(</a:t>
            </a:r>
            <a:r>
              <a:rPr lang="en-US" dirty="0">
                <a:latin typeface="Cambria Math" pitchFamily="18" charset="0"/>
                <a:ea typeface="Cambria Math" pitchFamily="18" charset="0"/>
              </a:rPr>
              <a:t>780-850</a:t>
            </a:r>
            <a:r>
              <a:rPr lang="en-US" dirty="0"/>
              <a:t>)</a:t>
            </a:r>
          </a:p>
        </p:txBody>
      </p:sp>
      <p:sp>
        <p:nvSpPr>
          <p:cNvPr id="6" name="Slide Number Placeholder 5"/>
          <p:cNvSpPr>
            <a:spLocks noGrp="1"/>
          </p:cNvSpPr>
          <p:nvPr>
            <p:ph type="sldNum" sz="quarter" idx="12"/>
          </p:nvPr>
        </p:nvSpPr>
        <p:spPr/>
        <p:txBody>
          <a:bodyPr/>
          <a:lstStyle/>
          <a:p>
            <a:fld id="{E31375A4-56A4-47D6-9801-1991572033F7}" type="slidenum">
              <a:rPr lang="en-US" smtClean="0"/>
              <a:t>4</a:t>
            </a:fld>
            <a:endParaRPr lang="en-US"/>
          </a:p>
        </p:txBody>
      </p:sp>
    </p:spTree>
    <p:extLst>
      <p:ext uri="{BB962C8B-B14F-4D97-AF65-F5344CB8AC3E}">
        <p14:creationId xmlns:p14="http://schemas.microsoft.com/office/powerpoint/2010/main" val="285873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Algorithms</a:t>
            </a:r>
            <a:endParaRPr lang="en-US" dirty="0"/>
          </a:p>
        </p:txBody>
      </p:sp>
      <p:sp>
        <p:nvSpPr>
          <p:cNvPr id="3" name="Content Placeholder 2"/>
          <p:cNvSpPr>
            <a:spLocks noGrp="1"/>
          </p:cNvSpPr>
          <p:nvPr>
            <p:ph idx="1"/>
          </p:nvPr>
        </p:nvSpPr>
        <p:spPr>
          <a:xfrm>
            <a:off x="1295400" y="2062959"/>
            <a:ext cx="9601200" cy="3809999"/>
          </a:xfrm>
        </p:spPr>
        <p:txBody>
          <a:bodyPr>
            <a:normAutofit/>
          </a:bodyPr>
          <a:lstStyle/>
          <a:p>
            <a:pPr algn="just"/>
            <a:r>
              <a:rPr lang="en-US" b="1" dirty="0" smtClean="0"/>
              <a:t>Solution: Perform the following steps:</a:t>
            </a:r>
          </a:p>
          <a:p>
            <a:pPr lvl="1" algn="just"/>
            <a:r>
              <a:rPr lang="en-US" dirty="0" smtClean="0"/>
              <a:t>Set the temporary maximum equal to the first </a:t>
            </a:r>
            <a:r>
              <a:rPr lang="en-US" b="1" dirty="0" smtClean="0"/>
              <a:t>integer</a:t>
            </a:r>
            <a:r>
              <a:rPr lang="en-US" dirty="0" smtClean="0"/>
              <a:t> in the </a:t>
            </a:r>
            <a:r>
              <a:rPr lang="en-US" b="1" dirty="0" smtClean="0"/>
              <a:t>sequence.</a:t>
            </a:r>
          </a:p>
          <a:p>
            <a:pPr lvl="1" algn="just"/>
            <a:r>
              <a:rPr lang="en-US" b="1" dirty="0" smtClean="0"/>
              <a:t>Compare</a:t>
            </a:r>
            <a:r>
              <a:rPr lang="en-US" dirty="0" smtClean="0"/>
              <a:t> the next </a:t>
            </a:r>
            <a:r>
              <a:rPr lang="en-US" b="1" dirty="0" smtClean="0"/>
              <a:t>integer</a:t>
            </a:r>
            <a:r>
              <a:rPr lang="en-US" dirty="0" smtClean="0"/>
              <a:t> in the </a:t>
            </a:r>
            <a:r>
              <a:rPr lang="en-US" b="1" dirty="0" smtClean="0"/>
              <a:t>sequence</a:t>
            </a:r>
            <a:r>
              <a:rPr lang="en-US" dirty="0" smtClean="0"/>
              <a:t> to the temporary maximum.</a:t>
            </a:r>
          </a:p>
          <a:p>
            <a:pPr lvl="1" algn="just"/>
            <a:r>
              <a:rPr lang="en-US" dirty="0" smtClean="0"/>
              <a:t>If it is larger than the temporary maximum, set the temporary maximum equal to this integer.</a:t>
            </a:r>
          </a:p>
          <a:p>
            <a:pPr lvl="1" algn="just"/>
            <a:r>
              <a:rPr lang="en-US" dirty="0" smtClean="0"/>
              <a:t>Repeat the </a:t>
            </a:r>
            <a:r>
              <a:rPr lang="en-US" b="1" dirty="0" smtClean="0"/>
              <a:t>previous</a:t>
            </a:r>
            <a:r>
              <a:rPr lang="en-US" dirty="0" smtClean="0"/>
              <a:t> step if there are more </a:t>
            </a:r>
            <a:r>
              <a:rPr lang="en-US" b="1" dirty="0" smtClean="0"/>
              <a:t>integers</a:t>
            </a:r>
            <a:r>
              <a:rPr lang="en-US" dirty="0" smtClean="0"/>
              <a:t>. If not, stop.</a:t>
            </a:r>
          </a:p>
          <a:p>
            <a:pPr algn="just"/>
            <a:r>
              <a:rPr lang="en-US" dirty="0" smtClean="0"/>
              <a:t>When the algorithm </a:t>
            </a:r>
            <a:r>
              <a:rPr lang="en-US" b="1" dirty="0" smtClean="0"/>
              <a:t>terminates</a:t>
            </a:r>
            <a:r>
              <a:rPr lang="en-US" dirty="0" smtClean="0"/>
              <a:t>, the temporary maximum is the </a:t>
            </a:r>
            <a:r>
              <a:rPr lang="en-US" b="1" dirty="0" smtClean="0"/>
              <a:t>largest</a:t>
            </a:r>
            <a:r>
              <a:rPr lang="en-US" dirty="0" smtClean="0"/>
              <a:t> integer in the sequence.</a:t>
            </a:r>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5</a:t>
            </a:fld>
            <a:endParaRPr lang="en-US"/>
          </a:p>
        </p:txBody>
      </p:sp>
    </p:spTree>
    <p:extLst>
      <p:ext uri="{BB962C8B-B14F-4D97-AF65-F5344CB8AC3E}">
        <p14:creationId xmlns:p14="http://schemas.microsoft.com/office/powerpoint/2010/main" val="366055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Specifying Algorithms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smtClean="0"/>
              <a:t>Algorithms</a:t>
            </a:r>
            <a:r>
              <a:rPr lang="en-US" dirty="0" smtClean="0"/>
              <a:t> can be specified in different ways. Their steps can be described in </a:t>
            </a:r>
            <a:r>
              <a:rPr lang="en-US" b="1" dirty="0" smtClean="0"/>
              <a:t>English</a:t>
            </a:r>
            <a:r>
              <a:rPr lang="en-US" dirty="0" smtClean="0"/>
              <a:t> or in  </a:t>
            </a:r>
            <a:r>
              <a:rPr lang="en-US" b="1" dirty="0" smtClean="0"/>
              <a:t>pseudocode</a:t>
            </a:r>
            <a:r>
              <a:rPr lang="en-US" dirty="0" smtClean="0"/>
              <a:t>.</a:t>
            </a:r>
          </a:p>
          <a:p>
            <a:pPr algn="just"/>
            <a:r>
              <a:rPr lang="en-US" b="1" dirty="0" smtClean="0"/>
              <a:t>Pseudocode</a:t>
            </a:r>
            <a:r>
              <a:rPr lang="en-US" dirty="0" smtClean="0"/>
              <a:t> is an intermediate step between an English language description of the steps and a coding of these steps using a </a:t>
            </a:r>
            <a:r>
              <a:rPr lang="en-US" b="1" dirty="0" smtClean="0"/>
              <a:t>programming language</a:t>
            </a:r>
            <a:r>
              <a:rPr lang="en-US" dirty="0" smtClean="0"/>
              <a:t>. </a:t>
            </a:r>
          </a:p>
          <a:p>
            <a:pPr algn="just"/>
            <a:r>
              <a:rPr lang="en-US" b="1" dirty="0"/>
              <a:t>Programmers</a:t>
            </a:r>
            <a:r>
              <a:rPr lang="en-US" dirty="0"/>
              <a:t> use </a:t>
            </a:r>
            <a:r>
              <a:rPr lang="en-US" b="1" dirty="0"/>
              <a:t>pseudocode</a:t>
            </a:r>
            <a:r>
              <a:rPr lang="en-US" dirty="0"/>
              <a:t> to later write the same steps in any programming language, like </a:t>
            </a:r>
            <a:r>
              <a:rPr lang="en-US" b="1" dirty="0"/>
              <a:t>C, Java</a:t>
            </a:r>
            <a:r>
              <a:rPr lang="en-US" dirty="0"/>
              <a:t>, or </a:t>
            </a:r>
            <a:r>
              <a:rPr lang="en-US" b="1" dirty="0"/>
              <a:t>Python</a:t>
            </a:r>
            <a:r>
              <a:rPr lang="en-US" b="1" dirty="0" smtClean="0"/>
              <a:t>.</a:t>
            </a:r>
          </a:p>
          <a:p>
            <a:pPr algn="just"/>
            <a:r>
              <a:rPr lang="en-US" b="1" dirty="0"/>
              <a:t>Pseudocode</a:t>
            </a:r>
            <a:r>
              <a:rPr lang="en-US" dirty="0"/>
              <a:t> also helps us understand </a:t>
            </a:r>
            <a:r>
              <a:rPr lang="en-US" b="1" dirty="0"/>
              <a:t>how much time an algorithm takes</a:t>
            </a:r>
            <a:r>
              <a:rPr lang="en-US" dirty="0"/>
              <a:t> to solve a problem, without worrying about which </a:t>
            </a:r>
            <a:r>
              <a:rPr lang="en-US" b="1" dirty="0"/>
              <a:t>programming language</a:t>
            </a:r>
            <a:r>
              <a:rPr lang="en-US" dirty="0"/>
              <a:t> is used.</a:t>
            </a:r>
          </a:p>
        </p:txBody>
      </p:sp>
      <p:sp>
        <p:nvSpPr>
          <p:cNvPr id="4" name="Slide Number Placeholder 3"/>
          <p:cNvSpPr>
            <a:spLocks noGrp="1"/>
          </p:cNvSpPr>
          <p:nvPr>
            <p:ph type="sldNum" sz="quarter" idx="12"/>
          </p:nvPr>
        </p:nvSpPr>
        <p:spPr/>
        <p:txBody>
          <a:bodyPr/>
          <a:lstStyle/>
          <a:p>
            <a:fld id="{E31375A4-56A4-47D6-9801-1991572033F7}" type="slidenum">
              <a:rPr lang="en-US" smtClean="0"/>
              <a:t>6</a:t>
            </a:fld>
            <a:endParaRPr lang="en-US"/>
          </a:p>
        </p:txBody>
      </p:sp>
    </p:spTree>
    <p:extLst>
      <p:ext uri="{BB962C8B-B14F-4D97-AF65-F5344CB8AC3E}">
        <p14:creationId xmlns:p14="http://schemas.microsoft.com/office/powerpoint/2010/main" val="3466204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Algorithms</a:t>
            </a:r>
          </a:p>
        </p:txBody>
      </p:sp>
      <p:sp>
        <p:nvSpPr>
          <p:cNvPr id="5" name="Content Placeholder 4"/>
          <p:cNvSpPr>
            <a:spLocks noGrp="1"/>
          </p:cNvSpPr>
          <p:nvPr>
            <p:ph idx="1"/>
          </p:nvPr>
        </p:nvSpPr>
        <p:spPr/>
        <p:txBody>
          <a:bodyPr>
            <a:normAutofit fontScale="70000" lnSpcReduction="20000"/>
          </a:bodyPr>
          <a:lstStyle/>
          <a:p>
            <a:pPr algn="just"/>
            <a:r>
              <a:rPr lang="en-US" b="1" i="1" dirty="0"/>
              <a:t>Input</a:t>
            </a:r>
            <a:r>
              <a:rPr lang="en-US" b="1" dirty="0" smtClean="0"/>
              <a:t>:</a:t>
            </a:r>
            <a:r>
              <a:rPr lang="en-US" dirty="0" smtClean="0"/>
              <a:t> </a:t>
            </a:r>
            <a:r>
              <a:rPr lang="en-US" dirty="0"/>
              <a:t>An algorithm takes some </a:t>
            </a:r>
            <a:r>
              <a:rPr lang="en-US" b="1" dirty="0"/>
              <a:t>input values</a:t>
            </a:r>
            <a:r>
              <a:rPr lang="en-US" dirty="0"/>
              <a:t> to work on</a:t>
            </a:r>
            <a:r>
              <a:rPr lang="en-US" dirty="0" smtClean="0"/>
              <a:t>.</a:t>
            </a:r>
            <a:endParaRPr lang="en-US" dirty="0"/>
          </a:p>
          <a:p>
            <a:pPr algn="just"/>
            <a:r>
              <a:rPr lang="en-US" b="1" i="1" dirty="0"/>
              <a:t>Output</a:t>
            </a:r>
            <a:r>
              <a:rPr lang="en-US" b="1" dirty="0"/>
              <a:t>:</a:t>
            </a:r>
            <a:r>
              <a:rPr lang="en-US" dirty="0"/>
              <a:t> After processing the </a:t>
            </a:r>
            <a:r>
              <a:rPr lang="en-US" b="1" dirty="0"/>
              <a:t>input</a:t>
            </a:r>
            <a:r>
              <a:rPr lang="en-US" dirty="0"/>
              <a:t>, the algorithm gives an </a:t>
            </a:r>
            <a:r>
              <a:rPr lang="en-US" b="1" dirty="0"/>
              <a:t>output</a:t>
            </a:r>
            <a:r>
              <a:rPr lang="en-US" dirty="0"/>
              <a:t>, which is the answer to the </a:t>
            </a:r>
            <a:r>
              <a:rPr lang="en-US" b="1" dirty="0"/>
              <a:t>problem</a:t>
            </a:r>
            <a:r>
              <a:rPr lang="en-US" dirty="0" smtClean="0"/>
              <a:t>.</a:t>
            </a:r>
          </a:p>
          <a:p>
            <a:pPr algn="just"/>
            <a:r>
              <a:rPr lang="en-US" b="1" i="1" dirty="0" smtClean="0"/>
              <a:t>Correctness</a:t>
            </a:r>
            <a:r>
              <a:rPr lang="en-US" b="1" dirty="0"/>
              <a:t>:</a:t>
            </a:r>
            <a:r>
              <a:rPr lang="en-US" dirty="0"/>
              <a:t> An algorithm should produce the correct output values for each set of input values.</a:t>
            </a:r>
          </a:p>
          <a:p>
            <a:pPr algn="just"/>
            <a:r>
              <a:rPr lang="en-US" b="1" i="1" dirty="0"/>
              <a:t>Finiteness</a:t>
            </a:r>
            <a:r>
              <a:rPr lang="en-US" b="1" dirty="0"/>
              <a:t>:</a:t>
            </a:r>
            <a:r>
              <a:rPr lang="en-US" dirty="0"/>
              <a:t> An algorithm should produce the output after a finite number of steps for any input.</a:t>
            </a:r>
          </a:p>
          <a:p>
            <a:pPr algn="just"/>
            <a:r>
              <a:rPr lang="en-US" b="1" i="1" dirty="0" smtClean="0"/>
              <a:t>Effectiveness</a:t>
            </a:r>
            <a:r>
              <a:rPr lang="en-US" b="1" dirty="0" smtClean="0"/>
              <a:t>:</a:t>
            </a:r>
            <a:r>
              <a:rPr lang="en-US" dirty="0" smtClean="0"/>
              <a:t> Each </a:t>
            </a:r>
            <a:r>
              <a:rPr lang="en-US" dirty="0"/>
              <a:t>step of the </a:t>
            </a:r>
            <a:r>
              <a:rPr lang="en-US" b="1" dirty="0"/>
              <a:t>algorithm</a:t>
            </a:r>
            <a:r>
              <a:rPr lang="en-US" dirty="0"/>
              <a:t> should be </a:t>
            </a:r>
            <a:r>
              <a:rPr lang="en-US" b="1" dirty="0"/>
              <a:t>simple and doable</a:t>
            </a:r>
            <a:r>
              <a:rPr lang="en-US" dirty="0"/>
              <a:t>, and take </a:t>
            </a:r>
            <a:r>
              <a:rPr lang="en-US" dirty="0" smtClean="0"/>
              <a:t>a </a:t>
            </a:r>
            <a:r>
              <a:rPr lang="en-US" b="1" dirty="0"/>
              <a:t>reasonable</a:t>
            </a:r>
            <a:r>
              <a:rPr lang="en-US" dirty="0"/>
              <a:t> amount of time.</a:t>
            </a:r>
            <a:endParaRPr lang="en-US" dirty="0" smtClean="0"/>
          </a:p>
          <a:p>
            <a:pPr algn="just"/>
            <a:r>
              <a:rPr lang="en-US" b="1" i="1" dirty="0" smtClean="0"/>
              <a:t>Generality</a:t>
            </a:r>
            <a:r>
              <a:rPr lang="en-US" b="1" dirty="0"/>
              <a:t>:</a:t>
            </a:r>
            <a:r>
              <a:rPr lang="en-US" dirty="0"/>
              <a:t> The algorithm should work for </a:t>
            </a:r>
            <a:r>
              <a:rPr lang="en-US" b="1" dirty="0"/>
              <a:t>all similar problems</a:t>
            </a:r>
            <a:r>
              <a:rPr lang="en-US" dirty="0"/>
              <a:t>, not just one specific case.</a:t>
            </a:r>
          </a:p>
        </p:txBody>
      </p:sp>
      <p:sp>
        <p:nvSpPr>
          <p:cNvPr id="3" name="Slide Number Placeholder 2"/>
          <p:cNvSpPr>
            <a:spLocks noGrp="1"/>
          </p:cNvSpPr>
          <p:nvPr>
            <p:ph type="sldNum" sz="quarter" idx="12"/>
          </p:nvPr>
        </p:nvSpPr>
        <p:spPr/>
        <p:txBody>
          <a:bodyPr/>
          <a:lstStyle/>
          <a:p>
            <a:fld id="{E31375A4-56A4-47D6-9801-1991572033F7}" type="slidenum">
              <a:rPr lang="en-US" smtClean="0"/>
              <a:t>7</a:t>
            </a:fld>
            <a:endParaRPr lang="en-US"/>
          </a:p>
        </p:txBody>
      </p:sp>
    </p:spTree>
    <p:extLst>
      <p:ext uri="{BB962C8B-B14F-4D97-AF65-F5344CB8AC3E}">
        <p14:creationId xmlns:p14="http://schemas.microsoft.com/office/powerpoint/2010/main" val="887594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the Maximum Element in a Finite Sequence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algorithm in pseudocode:</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Does this algorithm have all the properties listed on the previous slide?   </a:t>
            </a:r>
          </a:p>
          <a:p>
            <a:endParaRPr lang="en-US" dirty="0"/>
          </a:p>
        </p:txBody>
      </p:sp>
      <p:sp>
        <p:nvSpPr>
          <p:cNvPr id="4" name="Content Placeholder 2"/>
          <p:cNvSpPr txBox="1">
            <a:spLocks/>
          </p:cNvSpPr>
          <p:nvPr/>
        </p:nvSpPr>
        <p:spPr>
          <a:xfrm>
            <a:off x="2298896" y="2547427"/>
            <a:ext cx="7363252" cy="2677546"/>
          </a:xfrm>
          <a:prstGeom prst="rect">
            <a:avLst/>
          </a:prstGeom>
          <a:ln>
            <a:solidFill>
              <a:schemeClr val="tx2"/>
            </a:solidFill>
          </a:ln>
        </p:spPr>
        <p:txBody>
          <a:bodyPr vert="horz">
            <a:normAutofit lnSpcReduction="10000"/>
          </a:bodyPr>
          <a:lstStyle/>
          <a:p>
            <a:pPr marL="274320" indent="-274320">
              <a:buClr>
                <a:schemeClr val="accent3"/>
              </a:buClr>
              <a:buSzPct val="95000"/>
              <a:defRPr/>
            </a:pPr>
            <a:r>
              <a:rPr lang="en-US" sz="2600" b="1" dirty="0"/>
              <a:t>procedure</a:t>
            </a:r>
            <a:r>
              <a:rPr lang="en-US" sz="2600" dirty="0"/>
              <a:t> </a:t>
            </a:r>
            <a:r>
              <a:rPr lang="en-US" sz="2600" i="1" dirty="0"/>
              <a:t>max</a:t>
            </a:r>
            <a:r>
              <a:rPr lang="en-US" sz="2600" dirty="0"/>
              <a:t>(</a:t>
            </a:r>
            <a:r>
              <a:rPr lang="en-US" sz="2600" i="1" dirty="0"/>
              <a:t>a</a:t>
            </a:r>
            <a:r>
              <a:rPr lang="en-US" sz="2600" baseline="-25000" dirty="0"/>
              <a:t>1</a:t>
            </a:r>
            <a:r>
              <a:rPr lang="en-US" sz="2600" dirty="0"/>
              <a:t>, </a:t>
            </a:r>
            <a:r>
              <a:rPr lang="en-US" sz="2600" i="1" dirty="0"/>
              <a:t>a</a:t>
            </a:r>
            <a:r>
              <a:rPr lang="en-US" sz="2600" baseline="-25000" dirty="0"/>
              <a:t>2</a:t>
            </a:r>
            <a:r>
              <a:rPr lang="en-US" sz="2600" dirty="0"/>
              <a:t>, …., </a:t>
            </a:r>
            <a:r>
              <a:rPr lang="en-US" sz="2600" i="1" dirty="0"/>
              <a:t>a</a:t>
            </a:r>
            <a:r>
              <a:rPr lang="en-US" sz="2600" baseline="-25000" dirty="0"/>
              <a:t>n</a:t>
            </a:r>
            <a:r>
              <a:rPr lang="en-US" sz="2600" dirty="0"/>
              <a:t>: integers)</a:t>
            </a:r>
          </a:p>
          <a:p>
            <a:pPr marL="274320" indent="-274320">
              <a:spcBef>
                <a:spcPct val="20000"/>
              </a:spcBef>
              <a:buClr>
                <a:schemeClr val="accent3"/>
              </a:buClr>
              <a:buSzPct val="95000"/>
              <a:defRPr/>
            </a:pPr>
            <a:r>
              <a:rPr lang="en-US" sz="2600" dirty="0"/>
              <a:t>    </a:t>
            </a:r>
            <a:r>
              <a:rPr lang="en-US" sz="2600" i="1" dirty="0"/>
              <a:t>max</a:t>
            </a:r>
            <a:r>
              <a:rPr lang="en-US" sz="2600" dirty="0"/>
              <a:t> := </a:t>
            </a:r>
            <a:r>
              <a:rPr lang="en-US" sz="2600" i="1" dirty="0"/>
              <a:t>a</a:t>
            </a:r>
            <a:r>
              <a:rPr lang="en-US" sz="2600" baseline="-25000" dirty="0"/>
              <a:t>1</a:t>
            </a:r>
          </a:p>
          <a:p>
            <a:pPr marL="274320" indent="-274320">
              <a:spcBef>
                <a:spcPct val="20000"/>
              </a:spcBef>
              <a:buClr>
                <a:schemeClr val="accent3"/>
              </a:buClr>
              <a:buSzPct val="95000"/>
              <a:defRPr/>
            </a:pPr>
            <a:r>
              <a:rPr lang="en-US" sz="2600" dirty="0"/>
              <a:t>    </a:t>
            </a:r>
            <a:r>
              <a:rPr lang="en-US" sz="2600" b="1" dirty="0"/>
              <a:t>for</a:t>
            </a:r>
            <a:r>
              <a:rPr lang="en-US" sz="2600" dirty="0"/>
              <a:t> </a:t>
            </a:r>
            <a:r>
              <a:rPr lang="en-US" sz="2600" i="1" dirty="0" err="1"/>
              <a:t>i</a:t>
            </a:r>
            <a:r>
              <a:rPr lang="en-US" sz="2600" dirty="0"/>
              <a:t> := </a:t>
            </a:r>
            <a:r>
              <a:rPr lang="en-US" sz="2600" dirty="0">
                <a:latin typeface="Cambria Math" pitchFamily="18" charset="0"/>
                <a:ea typeface="Cambria Math" pitchFamily="18" charset="0"/>
              </a:rPr>
              <a:t>2</a:t>
            </a:r>
            <a:r>
              <a:rPr lang="en-US" sz="2600" dirty="0"/>
              <a:t> to </a:t>
            </a:r>
            <a:r>
              <a:rPr lang="en-US" sz="2600" i="1" dirty="0"/>
              <a:t>n</a:t>
            </a:r>
          </a:p>
          <a:p>
            <a:pPr marL="274320" indent="-274320">
              <a:spcBef>
                <a:spcPct val="20000"/>
              </a:spcBef>
              <a:buClr>
                <a:schemeClr val="accent3"/>
              </a:buClr>
              <a:buSzPct val="95000"/>
            </a:pPr>
            <a:r>
              <a:rPr lang="en-US" sz="2600" dirty="0"/>
              <a:t>         if </a:t>
            </a:r>
            <a:r>
              <a:rPr lang="en-US" sz="2600" i="1" dirty="0"/>
              <a:t>max</a:t>
            </a:r>
            <a:r>
              <a:rPr lang="en-US" sz="2600" dirty="0"/>
              <a:t> &lt; </a:t>
            </a:r>
            <a:r>
              <a:rPr lang="en-US" sz="2600" i="1" dirty="0" err="1"/>
              <a:t>a</a:t>
            </a:r>
            <a:r>
              <a:rPr lang="en-US" sz="2600" i="1" baseline="-25000" dirty="0" err="1"/>
              <a:t>i</a:t>
            </a:r>
            <a:r>
              <a:rPr lang="en-US" sz="2600" dirty="0"/>
              <a:t> then </a:t>
            </a:r>
            <a:r>
              <a:rPr lang="en-US" sz="2600" i="1" dirty="0"/>
              <a:t>max</a:t>
            </a:r>
            <a:r>
              <a:rPr lang="en-US" sz="2600" dirty="0"/>
              <a:t> := </a:t>
            </a:r>
            <a:r>
              <a:rPr lang="en-US" sz="2600" i="1" dirty="0" err="1"/>
              <a:t>a</a:t>
            </a:r>
            <a:r>
              <a:rPr lang="en-US" sz="2600" i="1" baseline="-25000" dirty="0" err="1"/>
              <a:t>i</a:t>
            </a:r>
            <a:endParaRPr lang="en-US" sz="2600" i="1" baseline="-25000" dirty="0"/>
          </a:p>
          <a:p>
            <a:pPr marL="274320" indent="-274320">
              <a:spcBef>
                <a:spcPct val="20000"/>
              </a:spcBef>
              <a:buClr>
                <a:schemeClr val="accent3"/>
              </a:buClr>
              <a:buSzPct val="95000"/>
            </a:pPr>
            <a:r>
              <a:rPr lang="en-US" sz="2600" dirty="0"/>
              <a:t>    return </a:t>
            </a:r>
            <a:r>
              <a:rPr lang="en-US" sz="2600" i="1" dirty="0"/>
              <a:t>max</a:t>
            </a:r>
            <a:r>
              <a:rPr lang="en-US" sz="2600" dirty="0"/>
              <a:t>{</a:t>
            </a:r>
            <a:r>
              <a:rPr lang="en-US" sz="2600" i="1" dirty="0"/>
              <a:t>max </a:t>
            </a:r>
            <a:r>
              <a:rPr lang="en-US" sz="2600" dirty="0"/>
              <a:t>is the largest element}</a:t>
            </a:r>
          </a:p>
          <a:p>
            <a:pPr marL="274320" indent="-274320">
              <a:spcBef>
                <a:spcPct val="20000"/>
              </a:spcBef>
              <a:buClr>
                <a:schemeClr val="accent3"/>
              </a:buClr>
              <a:buSzPct val="95000"/>
              <a:defRPr/>
            </a:pPr>
            <a:r>
              <a:rPr lang="en-US" sz="2600" dirty="0"/>
              <a:t>    </a:t>
            </a:r>
          </a:p>
          <a:p>
            <a:pPr marL="274320" indent="-274320">
              <a:spcBef>
                <a:spcPct val="20000"/>
              </a:spcBef>
              <a:buClr>
                <a:schemeClr val="accent3"/>
              </a:buClr>
              <a:buSzPct val="95000"/>
              <a:defRPr/>
            </a:pPr>
            <a:endParaRPr lang="en-US" sz="2600" dirty="0"/>
          </a:p>
        </p:txBody>
      </p:sp>
      <p:sp>
        <p:nvSpPr>
          <p:cNvPr id="5" name="Slide Number Placeholder 4"/>
          <p:cNvSpPr>
            <a:spLocks noGrp="1"/>
          </p:cNvSpPr>
          <p:nvPr>
            <p:ph type="sldNum" sz="quarter" idx="12"/>
          </p:nvPr>
        </p:nvSpPr>
        <p:spPr/>
        <p:txBody>
          <a:bodyPr/>
          <a:lstStyle/>
          <a:p>
            <a:fld id="{E31375A4-56A4-47D6-9801-1991572033F7}" type="slidenum">
              <a:rPr lang="en-US" smtClean="0"/>
              <a:t>8</a:t>
            </a:fld>
            <a:endParaRPr lang="en-US"/>
          </a:p>
        </p:txBody>
      </p:sp>
    </p:spTree>
    <p:extLst>
      <p:ext uri="{BB962C8B-B14F-4D97-AF65-F5344CB8AC3E}">
        <p14:creationId xmlns:p14="http://schemas.microsoft.com/office/powerpoint/2010/main" val="148846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Example Algorithm Problems</a:t>
            </a:r>
          </a:p>
        </p:txBody>
      </p:sp>
      <p:sp>
        <p:nvSpPr>
          <p:cNvPr id="3" name="Content Placeholder 2"/>
          <p:cNvSpPr>
            <a:spLocks noGrp="1"/>
          </p:cNvSpPr>
          <p:nvPr>
            <p:ph idx="1"/>
          </p:nvPr>
        </p:nvSpPr>
        <p:spPr/>
        <p:txBody>
          <a:bodyPr/>
          <a:lstStyle/>
          <a:p>
            <a:r>
              <a:rPr lang="en-US" dirty="0" smtClean="0"/>
              <a:t>Classes </a:t>
            </a:r>
            <a:r>
              <a:rPr lang="en-US" dirty="0"/>
              <a:t>of problems </a:t>
            </a:r>
            <a:r>
              <a:rPr lang="en-US" dirty="0" smtClean="0"/>
              <a:t>to be studied </a:t>
            </a:r>
            <a:r>
              <a:rPr lang="en-US" dirty="0"/>
              <a:t>in this section.</a:t>
            </a:r>
          </a:p>
          <a:p>
            <a:pPr marL="651510" indent="-514350">
              <a:buFont typeface="+mj-lt"/>
              <a:buAutoNum type="arabicPeriod"/>
            </a:pPr>
            <a:r>
              <a:rPr lang="en-US" b="1" i="1" dirty="0"/>
              <a:t>Searching Problems</a:t>
            </a:r>
            <a:r>
              <a:rPr lang="en-US" b="1" dirty="0"/>
              <a:t>: </a:t>
            </a:r>
            <a:r>
              <a:rPr lang="en-US" dirty="0"/>
              <a:t>finding the position of a particular element in a  list.</a:t>
            </a:r>
          </a:p>
          <a:p>
            <a:pPr marL="651510" indent="-514350">
              <a:buFont typeface="+mj-lt"/>
              <a:buAutoNum type="arabicPeriod"/>
            </a:pPr>
            <a:r>
              <a:rPr lang="en-US" b="1" i="1" dirty="0"/>
              <a:t>Sorting problems</a:t>
            </a:r>
            <a:r>
              <a:rPr lang="en-US" b="1" dirty="0"/>
              <a:t>: </a:t>
            </a:r>
            <a:r>
              <a:rPr lang="en-US" dirty="0"/>
              <a:t>putting the elements of a list into increasing order</a:t>
            </a:r>
            <a:r>
              <a:rPr lang="en-US" dirty="0" smtClean="0"/>
              <a:t>.</a:t>
            </a:r>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9</a:t>
            </a:fld>
            <a:endParaRPr lang="en-US"/>
          </a:p>
        </p:txBody>
      </p:sp>
    </p:spTree>
    <p:extLst>
      <p:ext uri="{BB962C8B-B14F-4D97-AF65-F5344CB8AC3E}">
        <p14:creationId xmlns:p14="http://schemas.microsoft.com/office/powerpoint/2010/main" val="274387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4771" y="0"/>
            <a:ext cx="9601200" cy="953589"/>
          </a:xfrm>
        </p:spPr>
        <p:txBody>
          <a:bodyPr/>
          <a:lstStyle/>
          <a:p>
            <a:r>
              <a:rPr lang="en-US" dirty="0" smtClean="0"/>
              <a:t>Searching Problems</a:t>
            </a:r>
            <a:endParaRPr lang="en-US" dirty="0"/>
          </a:p>
        </p:txBody>
      </p:sp>
      <p:sp>
        <p:nvSpPr>
          <p:cNvPr id="3" name="Content Placeholder 2"/>
          <p:cNvSpPr>
            <a:spLocks noGrp="1"/>
          </p:cNvSpPr>
          <p:nvPr>
            <p:ph idx="1"/>
          </p:nvPr>
        </p:nvSpPr>
        <p:spPr>
          <a:xfrm>
            <a:off x="1269275" y="1354184"/>
            <a:ext cx="9601200" cy="3809999"/>
          </a:xfrm>
        </p:spPr>
        <p:txBody>
          <a:bodyPr>
            <a:normAutofit fontScale="85000" lnSpcReduction="10000"/>
          </a:bodyPr>
          <a:lstStyle/>
          <a:p>
            <a:pPr marL="0" indent="0">
              <a:buNone/>
            </a:pPr>
            <a:r>
              <a:rPr lang="en-US" b="1" dirty="0" smtClean="0"/>
              <a:t>   You </a:t>
            </a:r>
            <a:r>
              <a:rPr lang="en-US" b="1" dirty="0"/>
              <a:t>are given:</a:t>
            </a:r>
          </a:p>
          <a:p>
            <a:pPr marL="0" indent="0">
              <a:buNone/>
            </a:pPr>
            <a:r>
              <a:rPr lang="en-US" dirty="0" smtClean="0"/>
              <a:t>   A </a:t>
            </a:r>
            <a:r>
              <a:rPr lang="en-US" dirty="0"/>
              <a:t>list of different elements: </a:t>
            </a:r>
            <a:r>
              <a:rPr lang="en-US" b="1" dirty="0">
                <a:solidFill>
                  <a:srgbClr val="0070C0"/>
                </a:solidFill>
              </a:rPr>
              <a:t>a₁, a₂, …, aₙ</a:t>
            </a:r>
          </a:p>
          <a:p>
            <a:pPr marL="0" indent="0">
              <a:buNone/>
            </a:pPr>
            <a:r>
              <a:rPr lang="en-US" dirty="0" smtClean="0"/>
              <a:t>   A </a:t>
            </a:r>
            <a:r>
              <a:rPr lang="en-US" dirty="0"/>
              <a:t>value </a:t>
            </a:r>
            <a:r>
              <a:rPr lang="en-US" b="1" dirty="0">
                <a:solidFill>
                  <a:srgbClr val="0070C0"/>
                </a:solidFill>
              </a:rPr>
              <a:t>x</a:t>
            </a:r>
            <a:r>
              <a:rPr lang="en-US" dirty="0"/>
              <a:t> that you want to find</a:t>
            </a:r>
          </a:p>
          <a:p>
            <a:pPr marL="0" indent="0">
              <a:buNone/>
            </a:pPr>
            <a:r>
              <a:rPr lang="en-US" dirty="0" smtClean="0"/>
              <a:t>   </a:t>
            </a:r>
            <a:r>
              <a:rPr lang="en-US" b="1" dirty="0" smtClean="0"/>
              <a:t>The </a:t>
            </a:r>
            <a:r>
              <a:rPr lang="en-US" b="1" dirty="0"/>
              <a:t>goal is:</a:t>
            </a:r>
          </a:p>
          <a:p>
            <a:r>
              <a:rPr lang="en-US" dirty="0"/>
              <a:t>To check </a:t>
            </a:r>
            <a:r>
              <a:rPr lang="en-US" b="1" dirty="0"/>
              <a:t>whether x is in the list or </a:t>
            </a:r>
            <a:r>
              <a:rPr lang="en-US" b="1" dirty="0" smtClean="0"/>
              <a:t>not.</a:t>
            </a:r>
            <a:endParaRPr lang="en-US" b="1" dirty="0"/>
          </a:p>
          <a:p>
            <a:r>
              <a:rPr lang="en-US" dirty="0" smtClean="0"/>
              <a:t>If </a:t>
            </a:r>
            <a:r>
              <a:rPr lang="en-US" b="1" dirty="0"/>
              <a:t>x is found</a:t>
            </a:r>
            <a:r>
              <a:rPr lang="en-US" dirty="0"/>
              <a:t>, the answer is the </a:t>
            </a:r>
            <a:r>
              <a:rPr lang="en-US" b="1" dirty="0"/>
              <a:t>position (index)</a:t>
            </a:r>
            <a:r>
              <a:rPr lang="en-US" dirty="0"/>
              <a:t> where x is located in the list.</a:t>
            </a:r>
          </a:p>
          <a:p>
            <a:r>
              <a:rPr lang="en-US" dirty="0"/>
              <a:t>If </a:t>
            </a:r>
            <a:r>
              <a:rPr lang="en-US" b="1" dirty="0"/>
              <a:t>x is not found</a:t>
            </a:r>
            <a:r>
              <a:rPr lang="en-US" dirty="0"/>
              <a:t>, the answer is </a:t>
            </a:r>
            <a:r>
              <a:rPr lang="en-US" b="1" dirty="0"/>
              <a:t>0</a:t>
            </a:r>
            <a:r>
              <a:rPr lang="en-US" dirty="0"/>
              <a:t>, which means the value is not in the list.</a:t>
            </a:r>
          </a:p>
          <a:p>
            <a:pPr algn="just"/>
            <a:endParaRPr lang="en-US" dirty="0" smtClean="0"/>
          </a:p>
        </p:txBody>
      </p:sp>
      <p:sp>
        <p:nvSpPr>
          <p:cNvPr id="4" name="Slide Number Placeholder 3"/>
          <p:cNvSpPr>
            <a:spLocks noGrp="1"/>
          </p:cNvSpPr>
          <p:nvPr>
            <p:ph type="sldNum" sz="quarter" idx="12"/>
          </p:nvPr>
        </p:nvSpPr>
        <p:spPr/>
        <p:txBody>
          <a:bodyPr/>
          <a:lstStyle/>
          <a:p>
            <a:fld id="{E31375A4-56A4-47D6-9801-1991572033F7}" type="slidenum">
              <a:rPr lang="en-US" smtClean="0"/>
              <a:t>10</a:t>
            </a:fld>
            <a:endParaRPr lang="en-US"/>
          </a:p>
        </p:txBody>
      </p:sp>
    </p:spTree>
    <p:extLst>
      <p:ext uri="{BB962C8B-B14F-4D97-AF65-F5344CB8AC3E}">
        <p14:creationId xmlns:p14="http://schemas.microsoft.com/office/powerpoint/2010/main" val="409622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Linear Search Algorithm</a:t>
            </a:r>
            <a:endParaRPr lang="en-US" dirty="0"/>
          </a:p>
        </p:txBody>
      </p:sp>
      <p:sp>
        <p:nvSpPr>
          <p:cNvPr id="3" name="Content Placeholder 2"/>
          <p:cNvSpPr>
            <a:spLocks noGrp="1"/>
          </p:cNvSpPr>
          <p:nvPr>
            <p:ph idx="1"/>
          </p:nvPr>
        </p:nvSpPr>
        <p:spPr>
          <a:xfrm>
            <a:off x="1295401" y="1981201"/>
            <a:ext cx="6767052" cy="3809999"/>
          </a:xfrm>
        </p:spPr>
        <p:txBody>
          <a:bodyPr>
            <a:normAutofit fontScale="92500"/>
          </a:bodyPr>
          <a:lstStyle/>
          <a:p>
            <a:pPr algn="just"/>
            <a:r>
              <a:rPr lang="en-US" dirty="0" smtClean="0"/>
              <a:t>The </a:t>
            </a:r>
            <a:r>
              <a:rPr lang="en-US" b="1" dirty="0" smtClean="0"/>
              <a:t>linear search </a:t>
            </a:r>
            <a:r>
              <a:rPr lang="en-US" dirty="0" smtClean="0"/>
              <a:t>algorithm locates an item in a list by examining </a:t>
            </a:r>
            <a:r>
              <a:rPr lang="en-US" b="1" dirty="0" smtClean="0"/>
              <a:t>elements</a:t>
            </a:r>
            <a:r>
              <a:rPr lang="en-US" dirty="0" smtClean="0"/>
              <a:t> in the sequence one at a time, starting at the </a:t>
            </a:r>
            <a:r>
              <a:rPr lang="en-US" b="1" dirty="0" smtClean="0"/>
              <a:t>beginning</a:t>
            </a:r>
            <a:r>
              <a:rPr lang="en-US" dirty="0" smtClean="0"/>
              <a:t>.</a:t>
            </a:r>
          </a:p>
          <a:p>
            <a:pPr algn="just"/>
            <a:r>
              <a:rPr lang="en-US" dirty="0" smtClean="0"/>
              <a:t>First compare </a:t>
            </a:r>
            <a:r>
              <a:rPr lang="en-US" b="1" dirty="0" smtClean="0"/>
              <a:t>x</a:t>
            </a:r>
            <a:r>
              <a:rPr lang="en-US" dirty="0" smtClean="0"/>
              <a:t> with </a:t>
            </a:r>
            <a:r>
              <a:rPr lang="en-US" b="1" dirty="0" smtClean="0"/>
              <a:t>a</a:t>
            </a:r>
            <a:r>
              <a:rPr lang="en-US" b="1" baseline="-25000" dirty="0" smtClean="0"/>
              <a:t>1</a:t>
            </a:r>
            <a:r>
              <a:rPr lang="en-US" dirty="0" smtClean="0"/>
              <a:t>. If they are </a:t>
            </a:r>
            <a:r>
              <a:rPr lang="en-US" b="1" dirty="0" smtClean="0"/>
              <a:t>equal</a:t>
            </a:r>
            <a:r>
              <a:rPr lang="en-US" dirty="0" smtClean="0"/>
              <a:t>, return the position </a:t>
            </a:r>
            <a:r>
              <a:rPr lang="en-US" b="1" dirty="0" smtClean="0"/>
              <a:t>1</a:t>
            </a:r>
            <a:r>
              <a:rPr lang="en-US" dirty="0" smtClean="0"/>
              <a:t>.</a:t>
            </a:r>
          </a:p>
          <a:p>
            <a:pPr algn="just"/>
            <a:r>
              <a:rPr lang="en-US" dirty="0" smtClean="0"/>
              <a:t>If not, try </a:t>
            </a:r>
            <a:r>
              <a:rPr lang="en-US" b="1" dirty="0" smtClean="0"/>
              <a:t>a</a:t>
            </a:r>
            <a:r>
              <a:rPr lang="en-US" b="1" baseline="-25000" dirty="0"/>
              <a:t>2</a:t>
            </a:r>
            <a:r>
              <a:rPr lang="en-US" dirty="0" smtClean="0"/>
              <a:t>. If </a:t>
            </a:r>
            <a:r>
              <a:rPr lang="en-US" b="1" dirty="0" smtClean="0"/>
              <a:t>x = a</a:t>
            </a:r>
            <a:r>
              <a:rPr lang="en-US" b="1" baseline="-25000" dirty="0"/>
              <a:t>2</a:t>
            </a:r>
            <a:r>
              <a:rPr lang="en-US" dirty="0" smtClean="0"/>
              <a:t>, return the position </a:t>
            </a:r>
            <a:r>
              <a:rPr lang="en-US" b="1" dirty="0" smtClean="0"/>
              <a:t>2</a:t>
            </a:r>
            <a:r>
              <a:rPr lang="en-US" dirty="0" smtClean="0"/>
              <a:t>.</a:t>
            </a:r>
          </a:p>
          <a:p>
            <a:pPr algn="just"/>
            <a:r>
              <a:rPr lang="en-US" dirty="0" smtClean="0"/>
              <a:t>Keep going, and if no match is found when the entire list is </a:t>
            </a:r>
            <a:r>
              <a:rPr lang="en-US" b="1" dirty="0" smtClean="0"/>
              <a:t>scanned</a:t>
            </a:r>
            <a:r>
              <a:rPr lang="en-US" dirty="0" smtClean="0"/>
              <a:t>, return </a:t>
            </a:r>
            <a:r>
              <a:rPr lang="en-US" b="1" dirty="0" smtClean="0"/>
              <a:t>0</a:t>
            </a:r>
            <a:r>
              <a:rPr lang="en-US" dirty="0" smtClean="0"/>
              <a:t>.</a:t>
            </a:r>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11</a:t>
            </a:fld>
            <a:endParaRPr lang="en-US"/>
          </a:p>
        </p:txBody>
      </p:sp>
    </p:spTree>
    <p:extLst>
      <p:ext uri="{BB962C8B-B14F-4D97-AF65-F5344CB8AC3E}">
        <p14:creationId xmlns:p14="http://schemas.microsoft.com/office/powerpoint/2010/main" val="357840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027" y="144108"/>
            <a:ext cx="9601200" cy="873313"/>
          </a:xfrm>
        </p:spPr>
        <p:txBody>
          <a:bodyPr/>
          <a:lstStyle/>
          <a:p>
            <a:r>
              <a:rPr lang="en-US" dirty="0" smtClean="0"/>
              <a:t>Linear Search Algorithm</a:t>
            </a:r>
            <a:endParaRPr lang="en-US" dirty="0"/>
          </a:p>
        </p:txBody>
      </p:sp>
      <p:sp>
        <p:nvSpPr>
          <p:cNvPr id="4" name="Content Placeholder 2"/>
          <p:cNvSpPr txBox="1">
            <a:spLocks/>
          </p:cNvSpPr>
          <p:nvPr/>
        </p:nvSpPr>
        <p:spPr>
          <a:xfrm>
            <a:off x="831509" y="1317122"/>
            <a:ext cx="7420087" cy="3651199"/>
          </a:xfrm>
          <a:prstGeom prst="rect">
            <a:avLst/>
          </a:prstGeom>
          <a:ln>
            <a:solidFill>
              <a:schemeClr val="accent1"/>
            </a:solidFill>
          </a:ln>
        </p:spPr>
        <p:txBody>
          <a:bodyPr vert="horz">
            <a:normAutofit fontScale="92500" lnSpcReduction="10000"/>
          </a:bodyPr>
          <a:lstStyle/>
          <a:p>
            <a:pPr marL="274320" indent="-274320">
              <a:spcBef>
                <a:spcPct val="20000"/>
              </a:spcBef>
              <a:buClr>
                <a:schemeClr val="accent3"/>
              </a:buClr>
              <a:buSzPct val="95000"/>
              <a:defRPr/>
            </a:pPr>
            <a:r>
              <a:rPr lang="en-US" sz="2600" b="1" dirty="0"/>
              <a:t>procedure</a:t>
            </a:r>
            <a:r>
              <a:rPr lang="en-US" sz="2600" dirty="0"/>
              <a:t> </a:t>
            </a:r>
            <a:r>
              <a:rPr lang="en-US" sz="2600" i="1" dirty="0"/>
              <a:t>linear </a:t>
            </a:r>
            <a:r>
              <a:rPr lang="en-US" sz="2600" i="1" dirty="0" smtClean="0"/>
              <a:t>search </a:t>
            </a:r>
            <a:r>
              <a:rPr lang="en-US" sz="2600" dirty="0" smtClean="0"/>
              <a:t>(</a:t>
            </a:r>
            <a:r>
              <a:rPr lang="en-US" sz="2600" i="1" dirty="0" smtClean="0"/>
              <a:t>x </a:t>
            </a:r>
            <a:r>
              <a:rPr lang="en-US" sz="2600" dirty="0" smtClean="0"/>
              <a:t>: integer</a:t>
            </a:r>
            <a:r>
              <a:rPr lang="en-US" sz="2600" dirty="0"/>
              <a:t>, </a:t>
            </a:r>
            <a:r>
              <a:rPr lang="en-US" sz="2600" i="1" dirty="0" smtClean="0"/>
              <a:t>a</a:t>
            </a:r>
            <a:r>
              <a:rPr lang="en-US" sz="2600" baseline="-25000" dirty="0" smtClean="0"/>
              <a:t>1</a:t>
            </a:r>
            <a:r>
              <a:rPr lang="en-US" sz="2600" dirty="0"/>
              <a:t>, </a:t>
            </a:r>
            <a:r>
              <a:rPr lang="en-US" sz="2600" i="1" dirty="0"/>
              <a:t>a</a:t>
            </a:r>
            <a:r>
              <a:rPr lang="en-US" sz="2600" baseline="-25000" dirty="0"/>
              <a:t>2</a:t>
            </a:r>
            <a:r>
              <a:rPr lang="en-US" sz="2600" dirty="0"/>
              <a:t>, …,</a:t>
            </a:r>
            <a:r>
              <a:rPr lang="en-US" sz="2600" i="1" dirty="0"/>
              <a:t>a</a:t>
            </a:r>
            <a:r>
              <a:rPr lang="en-US" sz="2600" i="1" baseline="-25000" dirty="0"/>
              <a:t>n</a:t>
            </a:r>
            <a:r>
              <a:rPr lang="en-US" sz="2600" dirty="0"/>
              <a:t>: distinct integers)</a:t>
            </a:r>
          </a:p>
          <a:p>
            <a:pPr marL="274320" indent="-274320">
              <a:spcBef>
                <a:spcPct val="20000"/>
              </a:spcBef>
              <a:buClr>
                <a:schemeClr val="accent3"/>
              </a:buClr>
              <a:buSzPct val="95000"/>
              <a:defRPr/>
            </a:pPr>
            <a:r>
              <a:rPr lang="en-US" sz="2600" i="1" dirty="0" err="1"/>
              <a:t>i</a:t>
            </a:r>
            <a:r>
              <a:rPr lang="en-US" sz="2600" dirty="0"/>
              <a:t> := </a:t>
            </a:r>
            <a:r>
              <a:rPr lang="en-US" sz="2600" dirty="0">
                <a:latin typeface="Cambria Math" pitchFamily="18" charset="0"/>
                <a:ea typeface="Cambria Math" pitchFamily="18" charset="0"/>
              </a:rPr>
              <a:t>1</a:t>
            </a:r>
          </a:p>
          <a:p>
            <a:pPr marL="274320" indent="-274320">
              <a:spcBef>
                <a:spcPct val="20000"/>
              </a:spcBef>
              <a:buClr>
                <a:schemeClr val="accent3"/>
              </a:buClr>
              <a:buSzPct val="95000"/>
              <a:defRPr/>
            </a:pPr>
            <a:r>
              <a:rPr lang="en-US" sz="2600" b="1" dirty="0"/>
              <a:t>while</a:t>
            </a:r>
            <a:r>
              <a:rPr lang="en-US" sz="2600" dirty="0"/>
              <a:t> (</a:t>
            </a:r>
            <a:r>
              <a:rPr lang="en-US" sz="2600" i="1" dirty="0" err="1"/>
              <a:t>i</a:t>
            </a:r>
            <a:r>
              <a:rPr lang="en-US" sz="2600" dirty="0"/>
              <a:t> </a:t>
            </a:r>
            <a:r>
              <a:rPr lang="en-US" sz="2600" dirty="0">
                <a:latin typeface="Cambria Math"/>
                <a:ea typeface="Cambria Math"/>
              </a:rPr>
              <a:t>≤</a:t>
            </a:r>
            <a:r>
              <a:rPr lang="en-US" sz="2600" dirty="0"/>
              <a:t> </a:t>
            </a:r>
            <a:r>
              <a:rPr lang="en-US" sz="2600" i="1" dirty="0"/>
              <a:t>n</a:t>
            </a:r>
            <a:r>
              <a:rPr lang="en-US" sz="2600" dirty="0"/>
              <a:t> and </a:t>
            </a:r>
            <a:r>
              <a:rPr lang="en-US" sz="2600" i="1" dirty="0"/>
              <a:t>x</a:t>
            </a:r>
            <a:r>
              <a:rPr lang="en-US" sz="2600" dirty="0"/>
              <a:t> ≠ </a:t>
            </a:r>
            <a:r>
              <a:rPr lang="en-US" sz="2600" i="1" dirty="0" err="1"/>
              <a:t>a</a:t>
            </a:r>
            <a:r>
              <a:rPr lang="en-US" sz="2600" i="1" baseline="-25000" dirty="0" err="1"/>
              <a:t>i</a:t>
            </a:r>
            <a:r>
              <a:rPr lang="en-US" sz="2600" dirty="0"/>
              <a:t>)</a:t>
            </a:r>
          </a:p>
          <a:p>
            <a:pPr marL="274320" indent="-274320">
              <a:spcBef>
                <a:spcPct val="20000"/>
              </a:spcBef>
              <a:buClr>
                <a:schemeClr val="accent3"/>
              </a:buClr>
              <a:buSzPct val="95000"/>
              <a:defRPr/>
            </a:pPr>
            <a:r>
              <a:rPr lang="en-US" sz="2600" dirty="0"/>
              <a:t>      </a:t>
            </a:r>
            <a:r>
              <a:rPr lang="en-US" sz="2600" i="1" dirty="0" err="1"/>
              <a:t>i</a:t>
            </a:r>
            <a:r>
              <a:rPr lang="en-US" sz="2600" dirty="0"/>
              <a:t> := </a:t>
            </a:r>
            <a:r>
              <a:rPr lang="en-US" sz="2600" i="1" dirty="0" err="1"/>
              <a:t>i</a:t>
            </a:r>
            <a:r>
              <a:rPr lang="en-US" sz="2600" dirty="0"/>
              <a:t> + </a:t>
            </a:r>
            <a:r>
              <a:rPr lang="en-US" sz="2600" dirty="0">
                <a:latin typeface="Cambria Math" pitchFamily="18" charset="0"/>
                <a:ea typeface="Cambria Math" pitchFamily="18" charset="0"/>
              </a:rPr>
              <a:t>1</a:t>
            </a:r>
          </a:p>
          <a:p>
            <a:pPr marL="274320" indent="-274320">
              <a:spcBef>
                <a:spcPct val="20000"/>
              </a:spcBef>
              <a:buClr>
                <a:schemeClr val="accent3"/>
              </a:buClr>
              <a:buSzPct val="95000"/>
            </a:pPr>
            <a:r>
              <a:rPr lang="en-US" sz="2600" b="1" dirty="0" smtClean="0"/>
              <a:t>if</a:t>
            </a:r>
            <a:r>
              <a:rPr lang="en-US" sz="2600" dirty="0" smtClean="0"/>
              <a:t> </a:t>
            </a:r>
            <a:r>
              <a:rPr lang="en-US" sz="2600" i="1" dirty="0" err="1" smtClean="0"/>
              <a:t>i</a:t>
            </a:r>
            <a:r>
              <a:rPr lang="en-US" sz="2600" dirty="0" smtClean="0"/>
              <a:t> </a:t>
            </a:r>
            <a:r>
              <a:rPr lang="en-US" sz="2600" dirty="0" smtClean="0">
                <a:latin typeface="Cambria Math"/>
                <a:ea typeface="Cambria Math"/>
              </a:rPr>
              <a:t>≤</a:t>
            </a:r>
            <a:r>
              <a:rPr lang="en-US" sz="2600" dirty="0" smtClean="0"/>
              <a:t> </a:t>
            </a:r>
            <a:r>
              <a:rPr lang="en-US" sz="2600" i="1" dirty="0" smtClean="0"/>
              <a:t>n</a:t>
            </a:r>
            <a:r>
              <a:rPr lang="en-US" sz="2600" dirty="0" smtClean="0"/>
              <a:t> </a:t>
            </a:r>
            <a:r>
              <a:rPr lang="en-US" sz="2600" b="1" dirty="0" smtClean="0"/>
              <a:t>then</a:t>
            </a:r>
            <a:r>
              <a:rPr lang="en-US" sz="2600" dirty="0" smtClean="0"/>
              <a:t> </a:t>
            </a:r>
            <a:r>
              <a:rPr lang="en-US" sz="2600" i="1" dirty="0" smtClean="0"/>
              <a:t>location</a:t>
            </a:r>
            <a:r>
              <a:rPr lang="en-US" sz="2600" dirty="0" smtClean="0"/>
              <a:t> := </a:t>
            </a:r>
            <a:r>
              <a:rPr lang="en-US" sz="2600" b="1" i="1" dirty="0" err="1" smtClean="0"/>
              <a:t>i</a:t>
            </a:r>
            <a:endParaRPr lang="en-US" sz="2600" b="1" i="1" dirty="0" smtClean="0"/>
          </a:p>
          <a:p>
            <a:pPr marL="274320" indent="-274320">
              <a:spcBef>
                <a:spcPct val="20000"/>
              </a:spcBef>
              <a:buClr>
                <a:schemeClr val="accent3"/>
              </a:buClr>
              <a:buSzPct val="95000"/>
              <a:defRPr/>
            </a:pPr>
            <a:r>
              <a:rPr lang="en-US" sz="2600" b="1" dirty="0" smtClean="0"/>
              <a:t>else</a:t>
            </a:r>
            <a:r>
              <a:rPr lang="en-US" sz="2600" dirty="0" smtClean="0"/>
              <a:t> </a:t>
            </a:r>
            <a:r>
              <a:rPr lang="en-US" sz="2600" i="1" dirty="0"/>
              <a:t>location</a:t>
            </a:r>
            <a:r>
              <a:rPr lang="en-US" sz="2600" dirty="0"/>
              <a:t> := </a:t>
            </a:r>
            <a:r>
              <a:rPr lang="en-US" sz="2600" dirty="0">
                <a:latin typeface="Cambria Math" pitchFamily="18" charset="0"/>
                <a:ea typeface="Cambria Math" pitchFamily="18" charset="0"/>
              </a:rPr>
              <a:t>0</a:t>
            </a:r>
          </a:p>
          <a:p>
            <a:pPr marL="274320" indent="-274320">
              <a:spcBef>
                <a:spcPct val="20000"/>
              </a:spcBef>
              <a:buClr>
                <a:schemeClr val="accent3"/>
              </a:buClr>
              <a:buSzPct val="95000"/>
              <a:defRPr/>
            </a:pPr>
            <a:r>
              <a:rPr lang="en-US" sz="2600" b="1" dirty="0"/>
              <a:t>return</a:t>
            </a:r>
            <a:r>
              <a:rPr lang="en-US" sz="2600" dirty="0"/>
              <a:t> </a:t>
            </a:r>
            <a:r>
              <a:rPr lang="en-US" sz="2600" i="1" dirty="0"/>
              <a:t>location</a:t>
            </a:r>
            <a:r>
              <a:rPr lang="en-US" sz="2600" dirty="0"/>
              <a:t>{</a:t>
            </a:r>
            <a:r>
              <a:rPr lang="en-US" sz="2600" i="1" dirty="0"/>
              <a:t>location</a:t>
            </a:r>
            <a:r>
              <a:rPr lang="en-US" sz="2600" dirty="0"/>
              <a:t> is the subscript of the term that equals </a:t>
            </a:r>
            <a:r>
              <a:rPr lang="en-US" sz="2600" i="1" dirty="0"/>
              <a:t>x</a:t>
            </a:r>
            <a:r>
              <a:rPr lang="en-US" sz="2600" dirty="0"/>
              <a:t>, or is </a:t>
            </a:r>
            <a:r>
              <a:rPr lang="en-US" sz="2600" dirty="0">
                <a:latin typeface="Cambria Math" pitchFamily="18" charset="0"/>
                <a:ea typeface="Cambria Math" pitchFamily="18" charset="0"/>
              </a:rPr>
              <a:t>0</a:t>
            </a:r>
            <a:r>
              <a:rPr lang="en-US" sz="2600" dirty="0"/>
              <a:t> if </a:t>
            </a:r>
            <a:r>
              <a:rPr lang="en-US" sz="2600" i="1" dirty="0"/>
              <a:t>x</a:t>
            </a:r>
            <a:r>
              <a:rPr lang="en-US" sz="2600" dirty="0"/>
              <a:t> is not found}</a:t>
            </a:r>
            <a:endParaRPr lang="en-US" sz="2600" i="1" dirty="0"/>
          </a:p>
        </p:txBody>
      </p:sp>
      <p:sp>
        <p:nvSpPr>
          <p:cNvPr id="5" name="Slide Number Placeholder 4"/>
          <p:cNvSpPr>
            <a:spLocks noGrp="1"/>
          </p:cNvSpPr>
          <p:nvPr>
            <p:ph type="sldNum" sz="quarter" idx="12"/>
          </p:nvPr>
        </p:nvSpPr>
        <p:spPr/>
        <p:txBody>
          <a:bodyPr/>
          <a:lstStyle/>
          <a:p>
            <a:fld id="{E31375A4-56A4-47D6-9801-1991572033F7}" type="slidenum">
              <a:rPr lang="en-US" smtClean="0"/>
              <a:t>12</a:t>
            </a:fld>
            <a:endParaRPr lang="en-US"/>
          </a:p>
        </p:txBody>
      </p:sp>
    </p:spTree>
    <p:extLst>
      <p:ext uri="{BB962C8B-B14F-4D97-AF65-F5344CB8AC3E}">
        <p14:creationId xmlns:p14="http://schemas.microsoft.com/office/powerpoint/2010/main" val="397468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7263" y="7685"/>
            <a:ext cx="9601200" cy="1142385"/>
          </a:xfrm>
        </p:spPr>
        <p:txBody>
          <a:bodyPr/>
          <a:lstStyle/>
          <a:p>
            <a:r>
              <a:rPr lang="en-US" dirty="0" smtClean="0"/>
              <a:t>Binary Search Algorithm</a:t>
            </a:r>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13</a:t>
            </a:fld>
            <a:endParaRPr lang="en-US"/>
          </a:p>
        </p:txBody>
      </p:sp>
      <p:sp>
        <p:nvSpPr>
          <p:cNvPr id="11" name="TextBox 10"/>
          <p:cNvSpPr txBox="1"/>
          <p:nvPr/>
        </p:nvSpPr>
        <p:spPr>
          <a:xfrm>
            <a:off x="994406" y="935235"/>
            <a:ext cx="9426914" cy="3385542"/>
          </a:xfrm>
          <a:prstGeom prst="rect">
            <a:avLst/>
          </a:prstGeom>
          <a:noFill/>
        </p:spPr>
        <p:txBody>
          <a:bodyPr wrap="square" rtlCol="0">
            <a:spAutoFit/>
          </a:bodyPr>
          <a:lstStyle/>
          <a:p>
            <a:pPr>
              <a:buClr>
                <a:srgbClr val="0070C0"/>
              </a:buClr>
            </a:pPr>
            <a:endParaRPr lang="en-US" dirty="0" smtClean="0"/>
          </a:p>
          <a:p>
            <a:pPr marL="285750" indent="-285750">
              <a:buClr>
                <a:srgbClr val="0070C0"/>
              </a:buClr>
              <a:buFont typeface="Wingdings" panose="05000000000000000000" pitchFamily="2" charset="2"/>
              <a:buChar char="§"/>
            </a:pPr>
            <a:endParaRPr lang="en-US" dirty="0"/>
          </a:p>
          <a:p>
            <a:pPr>
              <a:buClr>
                <a:srgbClr val="0070C0"/>
              </a:buClr>
            </a:pPr>
            <a:r>
              <a:rPr lang="en-US" sz="2400" dirty="0"/>
              <a:t>The list must be </a:t>
            </a:r>
            <a:r>
              <a:rPr lang="en-US" sz="2400" b="1" dirty="0"/>
              <a:t>already sorted</a:t>
            </a:r>
            <a:r>
              <a:rPr lang="en-US" sz="2400" dirty="0" smtClean="0"/>
              <a:t>.</a:t>
            </a:r>
          </a:p>
          <a:p>
            <a:pPr marL="285750" indent="-285750">
              <a:buClr>
                <a:srgbClr val="0070C0"/>
              </a:buClr>
              <a:buFont typeface="Wingdings" panose="05000000000000000000" pitchFamily="2" charset="2"/>
              <a:buChar char="§"/>
            </a:pPr>
            <a:r>
              <a:rPr lang="en-US" sz="2200" dirty="0"/>
              <a:t>Start by checking the </a:t>
            </a:r>
            <a:r>
              <a:rPr lang="en-US" sz="2200" b="1" dirty="0"/>
              <a:t>middle element</a:t>
            </a:r>
            <a:r>
              <a:rPr lang="en-US" sz="2200" dirty="0"/>
              <a:t> of the list</a:t>
            </a:r>
            <a:r>
              <a:rPr lang="en-US" sz="2200" dirty="0" smtClean="0"/>
              <a:t>.</a:t>
            </a:r>
          </a:p>
          <a:p>
            <a:pPr marL="285750" indent="-285750">
              <a:buClr>
                <a:srgbClr val="0070C0"/>
              </a:buClr>
              <a:buFont typeface="Wingdings" panose="05000000000000000000" pitchFamily="2" charset="2"/>
              <a:buChar char="§"/>
            </a:pPr>
            <a:r>
              <a:rPr lang="en-US" sz="2200" dirty="0"/>
              <a:t>If the middle element is the one you want, </a:t>
            </a:r>
            <a:r>
              <a:rPr lang="en-US" sz="2200" b="1" dirty="0"/>
              <a:t>stop and return its </a:t>
            </a:r>
            <a:r>
              <a:rPr lang="en-US" sz="2200" b="1" dirty="0" smtClean="0"/>
              <a:t>position</a:t>
            </a:r>
            <a:r>
              <a:rPr lang="en-US" sz="2200" dirty="0" smtClean="0"/>
              <a:t>.</a:t>
            </a:r>
          </a:p>
          <a:p>
            <a:pPr marL="285750" indent="-285750">
              <a:buClr>
                <a:srgbClr val="0070C0"/>
              </a:buClr>
              <a:buFont typeface="Wingdings" panose="05000000000000000000" pitchFamily="2" charset="2"/>
              <a:buChar char="§"/>
            </a:pPr>
            <a:r>
              <a:rPr lang="en-US" altLang="en-US" sz="2200" dirty="0" smtClean="0">
                <a:latin typeface="+mj-lt"/>
              </a:rPr>
              <a:t>If </a:t>
            </a:r>
            <a:r>
              <a:rPr lang="en-US" altLang="en-US" sz="2200" dirty="0">
                <a:latin typeface="+mj-lt"/>
              </a:rPr>
              <a:t>the middle element is </a:t>
            </a:r>
            <a:r>
              <a:rPr lang="en-US" altLang="en-US" sz="2200" b="1" dirty="0">
                <a:latin typeface="+mj-lt"/>
              </a:rPr>
              <a:t>smaller</a:t>
            </a:r>
            <a:r>
              <a:rPr lang="en-US" altLang="en-US" sz="2200" dirty="0">
                <a:latin typeface="+mj-lt"/>
              </a:rPr>
              <a:t> than the required element, search in the </a:t>
            </a:r>
            <a:r>
              <a:rPr lang="en-US" altLang="en-US" sz="2200" b="1" dirty="0">
                <a:latin typeface="+mj-lt"/>
              </a:rPr>
              <a:t>right half</a:t>
            </a:r>
            <a:r>
              <a:rPr lang="en-US" altLang="en-US" sz="2200" dirty="0">
                <a:latin typeface="+mj-lt"/>
              </a:rPr>
              <a:t> of the list</a:t>
            </a:r>
            <a:r>
              <a:rPr lang="en-US" altLang="en-US" sz="2200" dirty="0" smtClean="0">
                <a:latin typeface="+mj-lt"/>
              </a:rPr>
              <a:t>.</a:t>
            </a:r>
          </a:p>
          <a:p>
            <a:pPr marL="285750" indent="-285750">
              <a:buClr>
                <a:srgbClr val="0070C0"/>
              </a:buClr>
              <a:buFont typeface="Wingdings" panose="05000000000000000000" pitchFamily="2" charset="2"/>
              <a:buChar char="§"/>
            </a:pPr>
            <a:r>
              <a:rPr lang="en-US" sz="2200" dirty="0"/>
              <a:t>If the middle element is </a:t>
            </a:r>
            <a:r>
              <a:rPr lang="en-US" sz="2200" b="1" dirty="0"/>
              <a:t>larger</a:t>
            </a:r>
            <a:r>
              <a:rPr lang="en-US" sz="2200" dirty="0"/>
              <a:t>, search in the </a:t>
            </a:r>
            <a:r>
              <a:rPr lang="en-US" sz="2200" b="1" dirty="0"/>
              <a:t>left half</a:t>
            </a:r>
            <a:r>
              <a:rPr lang="en-US" sz="2200" dirty="0"/>
              <a:t> of the list</a:t>
            </a:r>
            <a:r>
              <a:rPr lang="en-US" sz="2200" dirty="0" smtClean="0"/>
              <a:t>.</a:t>
            </a:r>
          </a:p>
          <a:p>
            <a:pPr marL="285750" indent="-285750">
              <a:buClr>
                <a:srgbClr val="0070C0"/>
              </a:buClr>
              <a:buFont typeface="Wingdings" panose="05000000000000000000" pitchFamily="2" charset="2"/>
              <a:buChar char="§"/>
            </a:pPr>
            <a:r>
              <a:rPr lang="en-US" sz="2200" dirty="0"/>
              <a:t>Keep repeating these steps, each time </a:t>
            </a:r>
            <a:r>
              <a:rPr lang="en-US" sz="2200" b="1" dirty="0"/>
              <a:t>cutting the list in half</a:t>
            </a:r>
            <a:r>
              <a:rPr lang="en-US" sz="2200" dirty="0" smtClean="0"/>
              <a:t>.</a:t>
            </a:r>
          </a:p>
          <a:p>
            <a:pPr marL="285750" indent="-285750">
              <a:buClr>
                <a:srgbClr val="0070C0"/>
              </a:buClr>
              <a:buFont typeface="Wingdings" panose="05000000000000000000" pitchFamily="2" charset="2"/>
              <a:buChar char="§"/>
            </a:pPr>
            <a:r>
              <a:rPr lang="en-US" sz="2200" dirty="0"/>
              <a:t>If the list becomes very small and the element is </a:t>
            </a:r>
            <a:r>
              <a:rPr lang="en-US" sz="2200" b="1" dirty="0"/>
              <a:t>still not found</a:t>
            </a:r>
            <a:r>
              <a:rPr lang="en-US" sz="2200" dirty="0"/>
              <a:t>, return </a:t>
            </a:r>
            <a:r>
              <a:rPr lang="en-US" sz="2200" b="1" dirty="0"/>
              <a:t>0</a:t>
            </a:r>
            <a:r>
              <a:rPr lang="en-US" sz="2200" dirty="0"/>
              <a:t>.</a:t>
            </a:r>
            <a:endParaRPr lang="en-US" altLang="en-US" sz="2200" dirty="0">
              <a:latin typeface="Arial" panose="020B0604020202020204" pitchFamily="34" charset="0"/>
            </a:endParaRPr>
          </a:p>
        </p:txBody>
      </p:sp>
    </p:spTree>
    <p:extLst>
      <p:ext uri="{BB962C8B-B14F-4D97-AF65-F5344CB8AC3E}">
        <p14:creationId xmlns:p14="http://schemas.microsoft.com/office/powerpoint/2010/main" val="283257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a:t>
            </a:r>
            <a:r>
              <a:rPr lang="en-US" dirty="0" smtClean="0"/>
              <a:t>Search Algorithm</a:t>
            </a:r>
            <a:endParaRPr lang="en-US" dirty="0"/>
          </a:p>
        </p:txBody>
      </p:sp>
      <p:sp>
        <p:nvSpPr>
          <p:cNvPr id="4" name="Content Placeholder 2"/>
          <p:cNvSpPr txBox="1">
            <a:spLocks/>
          </p:cNvSpPr>
          <p:nvPr/>
        </p:nvSpPr>
        <p:spPr>
          <a:xfrm>
            <a:off x="1218220" y="1750741"/>
            <a:ext cx="9865614" cy="3780281"/>
          </a:xfrm>
          <a:prstGeom prst="rect">
            <a:avLst/>
          </a:prstGeom>
          <a:ln>
            <a:solidFill>
              <a:schemeClr val="accent1"/>
            </a:solidFill>
          </a:ln>
        </p:spPr>
        <p:txBody>
          <a:bodyPr vert="horz">
            <a:normAutofit fontScale="85000" lnSpcReduction="20000"/>
          </a:bodyPr>
          <a:lstStyle/>
          <a:p>
            <a:pPr marL="274320" indent="-274320">
              <a:spcBef>
                <a:spcPct val="20000"/>
              </a:spcBef>
              <a:buClr>
                <a:schemeClr val="accent3"/>
              </a:buClr>
              <a:buSzPct val="95000"/>
              <a:defRPr/>
            </a:pPr>
            <a:r>
              <a:rPr lang="en-US" sz="2600" b="1" dirty="0"/>
              <a:t>   procedure</a:t>
            </a:r>
            <a:r>
              <a:rPr lang="en-US" sz="2600" dirty="0"/>
              <a:t> binary search(</a:t>
            </a:r>
            <a:r>
              <a:rPr lang="en-US" sz="2600" i="1" dirty="0"/>
              <a:t>x</a:t>
            </a:r>
            <a:r>
              <a:rPr lang="en-US" sz="2600" dirty="0"/>
              <a:t>: integer, </a:t>
            </a:r>
            <a:r>
              <a:rPr lang="en-US" sz="2600" i="1" dirty="0"/>
              <a:t>a</a:t>
            </a:r>
            <a:r>
              <a:rPr lang="en-US" sz="2600" baseline="-25000" dirty="0"/>
              <a:t>1</a:t>
            </a:r>
            <a:r>
              <a:rPr lang="en-US" sz="2600" dirty="0"/>
              <a:t>,</a:t>
            </a:r>
            <a:r>
              <a:rPr lang="en-US" sz="2600" i="1" dirty="0"/>
              <a:t>a</a:t>
            </a:r>
            <a:r>
              <a:rPr lang="en-US" sz="2600" baseline="-25000" dirty="0"/>
              <a:t>2</a:t>
            </a:r>
            <a:r>
              <a:rPr lang="en-US" sz="2600" dirty="0"/>
              <a:t>,…, </a:t>
            </a:r>
            <a:r>
              <a:rPr lang="en-US" sz="2600" i="1" dirty="0"/>
              <a:t>a</a:t>
            </a:r>
            <a:r>
              <a:rPr lang="en-US" sz="2600" i="1" baseline="-25000" dirty="0"/>
              <a:t>n</a:t>
            </a:r>
            <a:r>
              <a:rPr lang="en-US" sz="2600" dirty="0"/>
              <a:t>: increasing integers)</a:t>
            </a:r>
          </a:p>
          <a:p>
            <a:pPr marL="274320" indent="-274320">
              <a:spcBef>
                <a:spcPct val="20000"/>
              </a:spcBef>
              <a:buClr>
                <a:schemeClr val="accent3"/>
              </a:buClr>
              <a:buSzPct val="95000"/>
              <a:defRPr/>
            </a:pPr>
            <a:r>
              <a:rPr lang="en-US" sz="2600" i="1" dirty="0"/>
              <a:t>    </a:t>
            </a:r>
            <a:r>
              <a:rPr lang="en-US" sz="2600" i="1" dirty="0" err="1"/>
              <a:t>i</a:t>
            </a:r>
            <a:r>
              <a:rPr lang="en-US" sz="2600" dirty="0"/>
              <a:t> := </a:t>
            </a:r>
            <a:r>
              <a:rPr lang="en-US" sz="2600" dirty="0">
                <a:latin typeface="Cambria Math" pitchFamily="18" charset="0"/>
                <a:ea typeface="Cambria Math" pitchFamily="18" charset="0"/>
              </a:rPr>
              <a:t>1</a:t>
            </a:r>
            <a:r>
              <a:rPr lang="en-US" sz="2600" dirty="0"/>
              <a:t> {</a:t>
            </a:r>
            <a:r>
              <a:rPr lang="en-US" sz="2600" i="1" dirty="0" err="1"/>
              <a:t>i</a:t>
            </a:r>
            <a:r>
              <a:rPr lang="en-US" sz="2600" dirty="0"/>
              <a:t> is the left endpoint of interval}</a:t>
            </a:r>
          </a:p>
          <a:p>
            <a:pPr marL="274320" indent="-274320">
              <a:spcBef>
                <a:spcPct val="20000"/>
              </a:spcBef>
              <a:buClr>
                <a:schemeClr val="accent3"/>
              </a:buClr>
              <a:buSzPct val="95000"/>
              <a:defRPr/>
            </a:pPr>
            <a:r>
              <a:rPr lang="en-US" sz="2600" i="1" dirty="0"/>
              <a:t>    j</a:t>
            </a:r>
            <a:r>
              <a:rPr lang="en-US" sz="2600" dirty="0"/>
              <a:t> := </a:t>
            </a:r>
            <a:r>
              <a:rPr lang="en-US" sz="2600" i="1" dirty="0"/>
              <a:t>n</a:t>
            </a:r>
            <a:r>
              <a:rPr lang="en-US" sz="2600" dirty="0"/>
              <a:t> {</a:t>
            </a:r>
            <a:r>
              <a:rPr lang="en-US" sz="2600" i="1" dirty="0"/>
              <a:t>j</a:t>
            </a:r>
            <a:r>
              <a:rPr lang="en-US" sz="2600" dirty="0"/>
              <a:t> is right endpoint of interval}</a:t>
            </a:r>
          </a:p>
          <a:p>
            <a:pPr marL="274320" indent="-274320">
              <a:spcBef>
                <a:spcPct val="20000"/>
              </a:spcBef>
              <a:buClr>
                <a:schemeClr val="accent3"/>
              </a:buClr>
              <a:buSzPct val="95000"/>
              <a:defRPr/>
            </a:pPr>
            <a:r>
              <a:rPr lang="en-US" sz="2600" dirty="0"/>
              <a:t>    </a:t>
            </a:r>
            <a:r>
              <a:rPr lang="en-US" sz="2600" b="1" dirty="0"/>
              <a:t>while</a:t>
            </a:r>
            <a:r>
              <a:rPr lang="en-US" sz="2600" dirty="0"/>
              <a:t> </a:t>
            </a:r>
            <a:r>
              <a:rPr lang="en-US" sz="2600" i="1" dirty="0" err="1"/>
              <a:t>i</a:t>
            </a:r>
            <a:r>
              <a:rPr lang="en-US" sz="2600" dirty="0"/>
              <a:t> &lt; </a:t>
            </a:r>
            <a:r>
              <a:rPr lang="en-US" sz="2600" i="1" dirty="0"/>
              <a:t>j</a:t>
            </a:r>
          </a:p>
          <a:p>
            <a:pPr marL="274320" indent="-274320">
              <a:spcBef>
                <a:spcPct val="20000"/>
              </a:spcBef>
              <a:buClr>
                <a:schemeClr val="accent3"/>
              </a:buClr>
              <a:buSzPct val="95000"/>
              <a:defRPr/>
            </a:pPr>
            <a:r>
              <a:rPr lang="en-US" sz="2600" dirty="0"/>
              <a:t>           </a:t>
            </a:r>
            <a:r>
              <a:rPr lang="en-US" sz="2600" i="1" dirty="0"/>
              <a:t>m</a:t>
            </a:r>
            <a:r>
              <a:rPr lang="en-US" sz="2600" dirty="0"/>
              <a:t> := </a:t>
            </a:r>
            <a:r>
              <a:rPr lang="en-US" sz="2600" dirty="0">
                <a:latin typeface="Cambria Math"/>
                <a:ea typeface="Cambria Math"/>
              </a:rPr>
              <a:t>⌊</a:t>
            </a:r>
            <a:r>
              <a:rPr lang="en-US" sz="2600" dirty="0"/>
              <a:t>(</a:t>
            </a:r>
            <a:r>
              <a:rPr lang="en-US" sz="2600" i="1" dirty="0" err="1"/>
              <a:t>i</a:t>
            </a:r>
            <a:r>
              <a:rPr lang="en-US" sz="2600" dirty="0"/>
              <a:t> + </a:t>
            </a:r>
            <a:r>
              <a:rPr lang="en-US" sz="2600" i="1" dirty="0"/>
              <a:t>j</a:t>
            </a:r>
            <a:r>
              <a:rPr lang="en-US" sz="2600" dirty="0"/>
              <a:t>)/2</a:t>
            </a:r>
            <a:r>
              <a:rPr lang="en-US" sz="2600" dirty="0">
                <a:latin typeface="Cambria Math"/>
                <a:ea typeface="Cambria Math"/>
              </a:rPr>
              <a:t>⌋</a:t>
            </a:r>
            <a:endParaRPr lang="en-US" sz="2600" dirty="0"/>
          </a:p>
          <a:p>
            <a:pPr marL="274320" indent="-274320">
              <a:spcBef>
                <a:spcPct val="20000"/>
              </a:spcBef>
              <a:buClr>
                <a:schemeClr val="accent3"/>
              </a:buClr>
              <a:buSzPct val="95000"/>
              <a:defRPr/>
            </a:pPr>
            <a:r>
              <a:rPr lang="en-US" sz="2600" dirty="0"/>
              <a:t>           </a:t>
            </a:r>
            <a:r>
              <a:rPr lang="en-US" sz="2600" b="1" dirty="0"/>
              <a:t>if</a:t>
            </a:r>
            <a:r>
              <a:rPr lang="en-US" sz="2600" dirty="0"/>
              <a:t> </a:t>
            </a:r>
            <a:r>
              <a:rPr lang="en-US" sz="2600" i="1" dirty="0"/>
              <a:t>x</a:t>
            </a:r>
            <a:r>
              <a:rPr lang="en-US" sz="2600" dirty="0"/>
              <a:t> &gt; </a:t>
            </a:r>
            <a:r>
              <a:rPr lang="en-US" sz="2600" i="1" dirty="0"/>
              <a:t>a</a:t>
            </a:r>
            <a:r>
              <a:rPr lang="en-US" sz="2600" i="1" baseline="-25000" dirty="0"/>
              <a:t>m</a:t>
            </a:r>
            <a:r>
              <a:rPr lang="en-US" sz="2600" dirty="0"/>
              <a:t> then </a:t>
            </a:r>
            <a:r>
              <a:rPr lang="en-US" sz="2600" i="1" dirty="0" err="1"/>
              <a:t>i</a:t>
            </a:r>
            <a:r>
              <a:rPr lang="en-US" sz="2600" dirty="0"/>
              <a:t> := </a:t>
            </a:r>
            <a:r>
              <a:rPr lang="en-US" sz="2600" i="1" dirty="0"/>
              <a:t>m</a:t>
            </a:r>
            <a:r>
              <a:rPr lang="en-US" sz="2600" dirty="0"/>
              <a:t> + 1</a:t>
            </a:r>
          </a:p>
          <a:p>
            <a:pPr marL="274320" indent="-274320">
              <a:spcBef>
                <a:spcPct val="20000"/>
              </a:spcBef>
              <a:buClr>
                <a:schemeClr val="accent3"/>
              </a:buClr>
              <a:buSzPct val="95000"/>
              <a:defRPr/>
            </a:pPr>
            <a:r>
              <a:rPr lang="en-US" sz="2600" dirty="0"/>
              <a:t>           </a:t>
            </a:r>
            <a:r>
              <a:rPr lang="en-US" sz="2600" b="1" dirty="0"/>
              <a:t>else</a:t>
            </a:r>
            <a:r>
              <a:rPr lang="en-US" sz="2600" dirty="0"/>
              <a:t> </a:t>
            </a:r>
            <a:r>
              <a:rPr lang="en-US" sz="2600" i="1" dirty="0"/>
              <a:t>j</a:t>
            </a:r>
            <a:r>
              <a:rPr lang="en-US" sz="2600" dirty="0"/>
              <a:t> := </a:t>
            </a:r>
            <a:r>
              <a:rPr lang="en-US" sz="2600" i="1" dirty="0"/>
              <a:t>m</a:t>
            </a:r>
          </a:p>
          <a:p>
            <a:pPr marL="274320" indent="-274320">
              <a:spcBef>
                <a:spcPct val="20000"/>
              </a:spcBef>
              <a:buClr>
                <a:schemeClr val="accent3"/>
              </a:buClr>
              <a:buSzPct val="95000"/>
              <a:defRPr/>
            </a:pPr>
            <a:r>
              <a:rPr lang="en-US" sz="2600" dirty="0"/>
              <a:t>     </a:t>
            </a:r>
            <a:r>
              <a:rPr lang="en-US" sz="2600" b="1" dirty="0"/>
              <a:t>if </a:t>
            </a:r>
            <a:r>
              <a:rPr lang="en-US" sz="2600" i="1" dirty="0"/>
              <a:t>x</a:t>
            </a:r>
            <a:r>
              <a:rPr lang="en-US" sz="2600" dirty="0"/>
              <a:t> = </a:t>
            </a:r>
            <a:r>
              <a:rPr lang="en-US" sz="2600" i="1" dirty="0" err="1"/>
              <a:t>a</a:t>
            </a:r>
            <a:r>
              <a:rPr lang="en-US" sz="2600" i="1" baseline="-25000" dirty="0" err="1"/>
              <a:t>i</a:t>
            </a:r>
            <a:r>
              <a:rPr lang="en-US" sz="2600" dirty="0"/>
              <a:t> </a:t>
            </a:r>
            <a:r>
              <a:rPr lang="en-US" sz="2600" b="1" dirty="0"/>
              <a:t>then</a:t>
            </a:r>
            <a:r>
              <a:rPr lang="en-US" sz="2600" dirty="0"/>
              <a:t> </a:t>
            </a:r>
            <a:r>
              <a:rPr lang="en-US" sz="2600" i="1" dirty="0"/>
              <a:t>location</a:t>
            </a:r>
            <a:r>
              <a:rPr lang="en-US" sz="2600" dirty="0"/>
              <a:t> := </a:t>
            </a:r>
            <a:r>
              <a:rPr lang="en-US" sz="2600" i="1" dirty="0" err="1"/>
              <a:t>i</a:t>
            </a:r>
            <a:endParaRPr lang="en-US" sz="2600" dirty="0"/>
          </a:p>
          <a:p>
            <a:pPr marL="274320" indent="-274320">
              <a:spcBef>
                <a:spcPct val="20000"/>
              </a:spcBef>
              <a:buClr>
                <a:schemeClr val="accent3"/>
              </a:buClr>
              <a:buSzPct val="95000"/>
              <a:defRPr/>
            </a:pPr>
            <a:r>
              <a:rPr lang="en-US" sz="2600" dirty="0"/>
              <a:t>     </a:t>
            </a:r>
            <a:r>
              <a:rPr lang="en-US" sz="2600" b="1" dirty="0"/>
              <a:t>else </a:t>
            </a:r>
            <a:r>
              <a:rPr lang="en-US" sz="2600" i="1" dirty="0"/>
              <a:t>location</a:t>
            </a:r>
            <a:r>
              <a:rPr lang="en-US" sz="2600" dirty="0"/>
              <a:t> := </a:t>
            </a:r>
            <a:r>
              <a:rPr lang="en-US" sz="2600" dirty="0">
                <a:latin typeface="Cambria Math" pitchFamily="18" charset="0"/>
                <a:ea typeface="Cambria Math" pitchFamily="18" charset="0"/>
              </a:rPr>
              <a:t>0</a:t>
            </a:r>
            <a:endParaRPr lang="en-US" sz="2600" dirty="0"/>
          </a:p>
          <a:p>
            <a:pPr marL="274320" indent="-274320">
              <a:spcBef>
                <a:spcPct val="20000"/>
              </a:spcBef>
              <a:buClr>
                <a:schemeClr val="accent3"/>
              </a:buClr>
              <a:buSzPct val="95000"/>
              <a:defRPr/>
            </a:pPr>
            <a:r>
              <a:rPr lang="en-US" sz="2600" b="1" dirty="0"/>
              <a:t>     return</a:t>
            </a:r>
            <a:r>
              <a:rPr lang="en-US" sz="2600" dirty="0"/>
              <a:t> </a:t>
            </a:r>
            <a:r>
              <a:rPr lang="en-US" sz="2600" i="1" dirty="0"/>
              <a:t>location</a:t>
            </a:r>
            <a:r>
              <a:rPr lang="en-US" sz="2600" dirty="0"/>
              <a:t>{location is the subscript </a:t>
            </a:r>
            <a:r>
              <a:rPr lang="en-US" sz="2600" i="1" dirty="0" err="1"/>
              <a:t>i</a:t>
            </a:r>
            <a:r>
              <a:rPr lang="en-US" sz="2600" dirty="0"/>
              <a:t> of the term </a:t>
            </a:r>
            <a:r>
              <a:rPr lang="en-US" sz="2600" i="1" dirty="0" err="1"/>
              <a:t>a</a:t>
            </a:r>
            <a:r>
              <a:rPr lang="en-US" sz="2600" i="1" baseline="-25000" dirty="0" err="1"/>
              <a:t>i</a:t>
            </a:r>
            <a:r>
              <a:rPr lang="en-US" sz="2600" dirty="0"/>
              <a:t>  equal to </a:t>
            </a:r>
            <a:r>
              <a:rPr lang="en-US" sz="2600" i="1" dirty="0"/>
              <a:t>x</a:t>
            </a:r>
            <a:r>
              <a:rPr lang="en-US" sz="2600" dirty="0"/>
              <a:t>, </a:t>
            </a:r>
          </a:p>
          <a:p>
            <a:pPr marL="274320" indent="-274320">
              <a:spcBef>
                <a:spcPct val="20000"/>
              </a:spcBef>
              <a:buClr>
                <a:schemeClr val="accent3"/>
              </a:buClr>
              <a:buSzPct val="95000"/>
              <a:defRPr/>
            </a:pPr>
            <a:r>
              <a:rPr lang="en-US" sz="2600" dirty="0"/>
              <a:t>                                             or </a:t>
            </a:r>
            <a:r>
              <a:rPr lang="en-US" sz="2600" dirty="0">
                <a:latin typeface="Cambria Math" pitchFamily="18" charset="0"/>
                <a:ea typeface="Cambria Math" pitchFamily="18" charset="0"/>
              </a:rPr>
              <a:t>0</a:t>
            </a:r>
            <a:r>
              <a:rPr lang="en-US" sz="2600" dirty="0"/>
              <a:t> if </a:t>
            </a:r>
            <a:r>
              <a:rPr lang="en-US" sz="2600" i="1" dirty="0"/>
              <a:t>x</a:t>
            </a:r>
            <a:r>
              <a:rPr lang="en-US" sz="2600" dirty="0"/>
              <a:t> is not found} </a:t>
            </a:r>
            <a:endParaRPr lang="en-US" sz="2600" i="1" dirty="0"/>
          </a:p>
        </p:txBody>
      </p:sp>
      <p:sp>
        <p:nvSpPr>
          <p:cNvPr id="5" name="Slide Number Placeholder 4"/>
          <p:cNvSpPr>
            <a:spLocks noGrp="1"/>
          </p:cNvSpPr>
          <p:nvPr>
            <p:ph type="sldNum" sz="quarter" idx="12"/>
          </p:nvPr>
        </p:nvSpPr>
        <p:spPr/>
        <p:txBody>
          <a:bodyPr/>
          <a:lstStyle/>
          <a:p>
            <a:fld id="{E31375A4-56A4-47D6-9801-1991572033F7}" type="slidenum">
              <a:rPr lang="en-US" smtClean="0"/>
              <a:t>14</a:t>
            </a:fld>
            <a:endParaRPr lang="en-US"/>
          </a:p>
        </p:txBody>
      </p:sp>
    </p:spTree>
    <p:extLst>
      <p:ext uri="{BB962C8B-B14F-4D97-AF65-F5344CB8AC3E}">
        <p14:creationId xmlns:p14="http://schemas.microsoft.com/office/powerpoint/2010/main" val="876878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Binary Search Algorithm</a:t>
            </a:r>
            <a:endParaRPr lang="en-US" dirty="0"/>
          </a:p>
        </p:txBody>
      </p:sp>
      <p:sp>
        <p:nvSpPr>
          <p:cNvPr id="3" name="Content Placeholder 2"/>
          <p:cNvSpPr>
            <a:spLocks noGrp="1"/>
          </p:cNvSpPr>
          <p:nvPr>
            <p:ph idx="1"/>
          </p:nvPr>
        </p:nvSpPr>
        <p:spPr/>
        <p:txBody>
          <a:bodyPr>
            <a:normAutofit fontScale="85000" lnSpcReduction="20000"/>
          </a:bodyPr>
          <a:lstStyle/>
          <a:p>
            <a:pPr algn="just">
              <a:buNone/>
            </a:pPr>
            <a:r>
              <a:rPr lang="en-US" dirty="0" smtClean="0"/>
              <a:t>  </a:t>
            </a:r>
            <a:r>
              <a:rPr lang="en-US" b="1" dirty="0" smtClean="0"/>
              <a:t>Example</a:t>
            </a:r>
            <a:r>
              <a:rPr lang="en-US" dirty="0" smtClean="0"/>
              <a:t>: The steps taken by a binary search for </a:t>
            </a:r>
            <a:r>
              <a:rPr lang="en-US" dirty="0" smtClean="0">
                <a:latin typeface="Cambria Math" pitchFamily="18" charset="0"/>
                <a:ea typeface="Cambria Math" pitchFamily="18" charset="0"/>
              </a:rPr>
              <a:t>19</a:t>
            </a:r>
            <a:r>
              <a:rPr lang="en-US" dirty="0" smtClean="0"/>
              <a:t> in the list:</a:t>
            </a:r>
          </a:p>
          <a:p>
            <a:pPr algn="just">
              <a:buNone/>
            </a:pPr>
            <a:r>
              <a:rPr lang="en-US" dirty="0" smtClean="0"/>
              <a:t>                    </a:t>
            </a:r>
            <a:r>
              <a:rPr lang="en-US" b="1" dirty="0" smtClean="0">
                <a:solidFill>
                  <a:srgbClr val="0070C0"/>
                </a:solidFill>
                <a:latin typeface="Cambria Math" pitchFamily="18" charset="0"/>
                <a:ea typeface="Cambria Math" pitchFamily="18" charset="0"/>
              </a:rPr>
              <a:t>1  2  3  5  6  7  8  10  12  13  15  16  18  19  20  22</a:t>
            </a:r>
          </a:p>
          <a:p>
            <a:pPr marL="514350" indent="-514350" algn="just">
              <a:buFont typeface="+mj-lt"/>
              <a:buAutoNum type="arabicPeriod"/>
            </a:pPr>
            <a:r>
              <a:rPr lang="en-US" dirty="0" smtClean="0">
                <a:latin typeface="Cambria Math" pitchFamily="18" charset="0"/>
                <a:ea typeface="Cambria Math" pitchFamily="18" charset="0"/>
              </a:rPr>
              <a:t>The list has </a:t>
            </a:r>
            <a:r>
              <a:rPr lang="en-US" b="1" dirty="0" smtClean="0">
                <a:latin typeface="Cambria Math" pitchFamily="18" charset="0"/>
                <a:ea typeface="Cambria Math" pitchFamily="18" charset="0"/>
              </a:rPr>
              <a:t>16 </a:t>
            </a:r>
            <a:r>
              <a:rPr lang="en-US" dirty="0" smtClean="0">
                <a:latin typeface="Cambria Math" pitchFamily="18" charset="0"/>
                <a:ea typeface="Cambria Math" pitchFamily="18" charset="0"/>
              </a:rPr>
              <a:t>elements, so the </a:t>
            </a:r>
            <a:r>
              <a:rPr lang="en-US" b="1" dirty="0" smtClean="0">
                <a:latin typeface="Cambria Math" pitchFamily="18" charset="0"/>
                <a:ea typeface="Cambria Math" pitchFamily="18" charset="0"/>
              </a:rPr>
              <a:t>midpoint</a:t>
            </a:r>
            <a:r>
              <a:rPr lang="en-US" dirty="0" smtClean="0">
                <a:latin typeface="Cambria Math" pitchFamily="18" charset="0"/>
                <a:ea typeface="Cambria Math" pitchFamily="18" charset="0"/>
              </a:rPr>
              <a:t> is </a:t>
            </a:r>
            <a:r>
              <a:rPr lang="en-US" b="1" dirty="0" smtClean="0">
                <a:latin typeface="Cambria Math" pitchFamily="18" charset="0"/>
                <a:ea typeface="Cambria Math" pitchFamily="18" charset="0"/>
              </a:rPr>
              <a:t>8</a:t>
            </a:r>
            <a:r>
              <a:rPr lang="en-US" dirty="0" smtClean="0">
                <a:latin typeface="Cambria Math" pitchFamily="18" charset="0"/>
                <a:ea typeface="Cambria Math" pitchFamily="18" charset="0"/>
              </a:rPr>
              <a:t>. The value in the </a:t>
            </a:r>
            <a:r>
              <a:rPr lang="en-US" b="1" dirty="0" smtClean="0">
                <a:latin typeface="Cambria Math" pitchFamily="18" charset="0"/>
                <a:ea typeface="Cambria Math" pitchFamily="18" charset="0"/>
              </a:rPr>
              <a:t>8</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 position is </a:t>
            </a:r>
            <a:r>
              <a:rPr lang="en-US" b="1" dirty="0" smtClean="0">
                <a:latin typeface="Cambria Math" pitchFamily="18" charset="0"/>
                <a:ea typeface="Cambria Math" pitchFamily="18" charset="0"/>
              </a:rPr>
              <a:t>10</a:t>
            </a:r>
            <a:r>
              <a:rPr lang="en-US" dirty="0" smtClean="0">
                <a:latin typeface="Cambria Math" pitchFamily="18" charset="0"/>
                <a:ea typeface="Cambria Math" pitchFamily="18" charset="0"/>
              </a:rPr>
              <a:t>.  Since </a:t>
            </a:r>
            <a:r>
              <a:rPr lang="en-US" b="1" dirty="0" smtClean="0">
                <a:solidFill>
                  <a:srgbClr val="0070C0"/>
                </a:solidFill>
                <a:latin typeface="Cambria Math" pitchFamily="18" charset="0"/>
                <a:ea typeface="Cambria Math" pitchFamily="18" charset="0"/>
              </a:rPr>
              <a:t>19 &gt; 10</a:t>
            </a:r>
            <a:r>
              <a:rPr lang="en-US" dirty="0" smtClean="0">
                <a:latin typeface="Cambria Math" pitchFamily="18" charset="0"/>
                <a:ea typeface="Cambria Math" pitchFamily="18" charset="0"/>
              </a:rPr>
              <a:t>,  further search is restricted to  positions </a:t>
            </a:r>
            <a:r>
              <a:rPr lang="en-US" b="1" dirty="0" smtClean="0">
                <a:latin typeface="Cambria Math" pitchFamily="18" charset="0"/>
                <a:ea typeface="Cambria Math" pitchFamily="18" charset="0"/>
              </a:rPr>
              <a:t>9</a:t>
            </a:r>
            <a:r>
              <a:rPr lang="en-US" baseline="30000" dirty="0" smtClean="0">
                <a:latin typeface="Cambria Math" pitchFamily="18" charset="0"/>
                <a:ea typeface="Cambria Math" pitchFamily="18" charset="0"/>
              </a:rPr>
              <a:t>  </a:t>
            </a:r>
            <a:r>
              <a:rPr lang="en-US" dirty="0" smtClean="0">
                <a:latin typeface="Cambria Math" pitchFamily="18" charset="0"/>
                <a:ea typeface="Cambria Math" pitchFamily="18" charset="0"/>
              </a:rPr>
              <a:t>through </a:t>
            </a:r>
            <a:r>
              <a:rPr lang="en-US" b="1" dirty="0" smtClean="0">
                <a:latin typeface="Cambria Math" pitchFamily="18" charset="0"/>
                <a:ea typeface="Cambria Math" pitchFamily="18" charset="0"/>
              </a:rPr>
              <a:t>16</a:t>
            </a:r>
            <a:r>
              <a:rPr lang="en-US" dirty="0" smtClean="0">
                <a:latin typeface="Cambria Math" pitchFamily="18" charset="0"/>
                <a:ea typeface="Cambria Math" pitchFamily="18" charset="0"/>
              </a:rPr>
              <a:t>.</a:t>
            </a:r>
            <a:endParaRPr lang="en-US" dirty="0" smtClean="0"/>
          </a:p>
          <a:p>
            <a:pPr algn="just">
              <a:buNone/>
            </a:pPr>
            <a:r>
              <a:rPr lang="en-US" dirty="0" smtClean="0">
                <a:latin typeface="Cambria Math" pitchFamily="18" charset="0"/>
                <a:ea typeface="Cambria Math" pitchFamily="18" charset="0"/>
              </a:rPr>
              <a:t>                        1  2  3  5  6  7  8  10</a:t>
            </a:r>
            <a:r>
              <a:rPr lang="en-US" dirty="0" smtClean="0">
                <a:solidFill>
                  <a:srgbClr val="FF0000"/>
                </a:solidFill>
                <a:latin typeface="Cambria Math" pitchFamily="18" charset="0"/>
                <a:ea typeface="Cambria Math" pitchFamily="18" charset="0"/>
              </a:rPr>
              <a:t>  </a:t>
            </a:r>
            <a:r>
              <a:rPr lang="en-US" b="1" dirty="0" smtClean="0">
                <a:solidFill>
                  <a:srgbClr val="0070C0"/>
                </a:solidFill>
                <a:latin typeface="Cambria Math" pitchFamily="18" charset="0"/>
                <a:ea typeface="Cambria Math" pitchFamily="18" charset="0"/>
              </a:rPr>
              <a:t>12  13  15  16  18  19  20  22</a:t>
            </a:r>
          </a:p>
          <a:p>
            <a:pPr marL="514350" indent="-514350" algn="just">
              <a:buFont typeface="+mj-lt"/>
              <a:buAutoNum type="arabicPeriod" startAt="2"/>
            </a:pPr>
            <a:r>
              <a:rPr lang="en-US" dirty="0" smtClean="0">
                <a:latin typeface="Cambria Math" pitchFamily="18" charset="0"/>
                <a:ea typeface="Cambria Math" pitchFamily="18" charset="0"/>
              </a:rPr>
              <a:t>The midpoint of the list (positions </a:t>
            </a:r>
            <a:r>
              <a:rPr lang="en-US" b="1" dirty="0" smtClean="0">
                <a:latin typeface="Cambria Math" pitchFamily="18" charset="0"/>
                <a:ea typeface="Cambria Math" pitchFamily="18" charset="0"/>
              </a:rPr>
              <a:t>9 </a:t>
            </a:r>
            <a:r>
              <a:rPr lang="en-US" dirty="0" smtClean="0">
                <a:latin typeface="Cambria Math" pitchFamily="18" charset="0"/>
                <a:ea typeface="Cambria Math" pitchFamily="18" charset="0"/>
              </a:rPr>
              <a:t>through </a:t>
            </a:r>
            <a:r>
              <a:rPr lang="en-US" b="1" dirty="0" smtClean="0">
                <a:latin typeface="Cambria Math" pitchFamily="18" charset="0"/>
                <a:ea typeface="Cambria Math" pitchFamily="18" charset="0"/>
              </a:rPr>
              <a:t>16</a:t>
            </a:r>
            <a:r>
              <a:rPr lang="en-US" dirty="0" smtClean="0">
                <a:latin typeface="Cambria Math" pitchFamily="18" charset="0"/>
                <a:ea typeface="Cambria Math" pitchFamily="18" charset="0"/>
              </a:rPr>
              <a:t>)  is now  the </a:t>
            </a:r>
            <a:r>
              <a:rPr lang="en-US" b="1" dirty="0" smtClean="0">
                <a:latin typeface="Cambria Math" pitchFamily="18" charset="0"/>
                <a:ea typeface="Cambria Math" pitchFamily="18" charset="0"/>
              </a:rPr>
              <a:t>12</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 position with a value of  </a:t>
            </a:r>
            <a:r>
              <a:rPr lang="en-US" b="1" dirty="0" smtClean="0">
                <a:latin typeface="Cambria Math" pitchFamily="18" charset="0"/>
                <a:ea typeface="Cambria Math" pitchFamily="18" charset="0"/>
              </a:rPr>
              <a:t>16</a:t>
            </a:r>
            <a:r>
              <a:rPr lang="en-US" dirty="0" smtClean="0">
                <a:latin typeface="Cambria Math" pitchFamily="18" charset="0"/>
                <a:ea typeface="Cambria Math" pitchFamily="18" charset="0"/>
              </a:rPr>
              <a:t>.    Since </a:t>
            </a:r>
            <a:r>
              <a:rPr lang="en-US" b="1" dirty="0" smtClean="0">
                <a:solidFill>
                  <a:srgbClr val="0070C0"/>
                </a:solidFill>
                <a:latin typeface="Cambria Math" pitchFamily="18" charset="0"/>
                <a:ea typeface="Cambria Math" pitchFamily="18" charset="0"/>
              </a:rPr>
              <a:t>19 &gt; 16</a:t>
            </a:r>
            <a:r>
              <a:rPr lang="en-US" dirty="0" smtClean="0">
                <a:latin typeface="Cambria Math" pitchFamily="18" charset="0"/>
                <a:ea typeface="Cambria Math" pitchFamily="18" charset="0"/>
              </a:rPr>
              <a:t>,  further search is restricted to the </a:t>
            </a:r>
            <a:r>
              <a:rPr lang="en-US" b="1" dirty="0" smtClean="0">
                <a:latin typeface="Cambria Math" pitchFamily="18" charset="0"/>
                <a:ea typeface="Cambria Math" pitchFamily="18" charset="0"/>
              </a:rPr>
              <a:t>13</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 position and above.</a:t>
            </a:r>
          </a:p>
          <a:p>
            <a:pPr algn="just">
              <a:buNone/>
            </a:pPr>
            <a:r>
              <a:rPr lang="en-US" dirty="0" smtClean="0">
                <a:latin typeface="Cambria Math" pitchFamily="18" charset="0"/>
                <a:ea typeface="Cambria Math" pitchFamily="18" charset="0"/>
              </a:rPr>
              <a:t>                      1  2  3  5  6  7  8  10</a:t>
            </a:r>
            <a:r>
              <a:rPr lang="en-US" dirty="0" smtClean="0">
                <a:solidFill>
                  <a:srgbClr val="FF0000"/>
                </a:solidFill>
                <a:latin typeface="Cambria Math" pitchFamily="18" charset="0"/>
                <a:ea typeface="Cambria Math" pitchFamily="18" charset="0"/>
              </a:rPr>
              <a:t>  </a:t>
            </a:r>
            <a:r>
              <a:rPr lang="en-US" dirty="0" smtClean="0">
                <a:latin typeface="Cambria Math" pitchFamily="18" charset="0"/>
                <a:ea typeface="Cambria Math" pitchFamily="18" charset="0"/>
              </a:rPr>
              <a:t>12  13  15  16  </a:t>
            </a:r>
            <a:r>
              <a:rPr lang="en-US" b="1" dirty="0" smtClean="0">
                <a:solidFill>
                  <a:srgbClr val="0070C0"/>
                </a:solidFill>
                <a:latin typeface="Cambria Math" pitchFamily="18" charset="0"/>
                <a:ea typeface="Cambria Math" pitchFamily="18" charset="0"/>
              </a:rPr>
              <a:t>18  19  20  22</a:t>
            </a:r>
          </a:p>
        </p:txBody>
      </p:sp>
      <p:sp>
        <p:nvSpPr>
          <p:cNvPr id="4" name="Slide Number Placeholder 3"/>
          <p:cNvSpPr>
            <a:spLocks noGrp="1"/>
          </p:cNvSpPr>
          <p:nvPr>
            <p:ph type="sldNum" sz="quarter" idx="12"/>
          </p:nvPr>
        </p:nvSpPr>
        <p:spPr/>
        <p:txBody>
          <a:bodyPr/>
          <a:lstStyle/>
          <a:p>
            <a:fld id="{E31375A4-56A4-47D6-9801-1991572033F7}" type="slidenum">
              <a:rPr lang="en-US" smtClean="0"/>
              <a:t>15</a:t>
            </a:fld>
            <a:endParaRPr lang="en-US"/>
          </a:p>
        </p:txBody>
      </p:sp>
    </p:spTree>
    <p:extLst>
      <p:ext uri="{BB962C8B-B14F-4D97-AF65-F5344CB8AC3E}">
        <p14:creationId xmlns:p14="http://schemas.microsoft.com/office/powerpoint/2010/main" val="35749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Binary Search Algorithm</a:t>
            </a:r>
            <a:endParaRPr lang="en-US" dirty="0"/>
          </a:p>
        </p:txBody>
      </p:sp>
      <p:sp>
        <p:nvSpPr>
          <p:cNvPr id="3" name="Content Placeholder 2"/>
          <p:cNvSpPr>
            <a:spLocks noGrp="1"/>
          </p:cNvSpPr>
          <p:nvPr>
            <p:ph idx="1"/>
          </p:nvPr>
        </p:nvSpPr>
        <p:spPr/>
        <p:txBody>
          <a:bodyPr>
            <a:normAutofit fontScale="85000" lnSpcReduction="20000"/>
          </a:bodyPr>
          <a:lstStyle/>
          <a:p>
            <a:pPr marL="514350" indent="-514350" algn="just">
              <a:buFont typeface="+mj-lt"/>
              <a:buAutoNum type="arabicPeriod" startAt="3"/>
            </a:pPr>
            <a:r>
              <a:rPr lang="en-US" dirty="0" smtClean="0">
                <a:latin typeface="Cambria Math" pitchFamily="18" charset="0"/>
                <a:ea typeface="Cambria Math" pitchFamily="18" charset="0"/>
              </a:rPr>
              <a:t>The </a:t>
            </a:r>
            <a:r>
              <a:rPr lang="en-US" b="1" dirty="0" smtClean="0">
                <a:latin typeface="Cambria Math" pitchFamily="18" charset="0"/>
                <a:ea typeface="Cambria Math" pitchFamily="18" charset="0"/>
              </a:rPr>
              <a:t>midpoint</a:t>
            </a:r>
            <a:r>
              <a:rPr lang="en-US" dirty="0" smtClean="0">
                <a:latin typeface="Cambria Math" pitchFamily="18" charset="0"/>
                <a:ea typeface="Cambria Math" pitchFamily="18" charset="0"/>
              </a:rPr>
              <a:t>  of the current list is now the </a:t>
            </a:r>
            <a:r>
              <a:rPr lang="en-US" b="1" dirty="0" smtClean="0">
                <a:latin typeface="Cambria Math" pitchFamily="18" charset="0"/>
                <a:ea typeface="Cambria Math" pitchFamily="18" charset="0"/>
              </a:rPr>
              <a:t>14</a:t>
            </a:r>
            <a:r>
              <a:rPr lang="en-US" b="1" baseline="30000" dirty="0" smtClean="0">
                <a:latin typeface="Cambria Math" pitchFamily="18" charset="0"/>
                <a:ea typeface="Cambria Math" pitchFamily="18" charset="0"/>
              </a:rPr>
              <a:t>th</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position with a value of </a:t>
            </a:r>
            <a:r>
              <a:rPr lang="en-US" b="1" dirty="0" smtClean="0">
                <a:latin typeface="Cambria Math" pitchFamily="18" charset="0"/>
                <a:ea typeface="Cambria Math" pitchFamily="18" charset="0"/>
              </a:rPr>
              <a:t>19</a:t>
            </a:r>
            <a:r>
              <a:rPr lang="en-US" dirty="0" smtClean="0">
                <a:latin typeface="Cambria Math" pitchFamily="18" charset="0"/>
                <a:ea typeface="Cambria Math" pitchFamily="18" charset="0"/>
              </a:rPr>
              <a:t>.  Since </a:t>
            </a:r>
            <a:r>
              <a:rPr lang="en-US" b="1" dirty="0" smtClean="0">
                <a:solidFill>
                  <a:srgbClr val="00B0F0"/>
                </a:solidFill>
                <a:latin typeface="Cambria Math" pitchFamily="18" charset="0"/>
                <a:ea typeface="Cambria Math" pitchFamily="18" charset="0"/>
              </a:rPr>
              <a:t>19 ≯ 19</a:t>
            </a:r>
            <a:r>
              <a:rPr lang="en-US" dirty="0" smtClean="0">
                <a:latin typeface="Cambria Math" pitchFamily="18" charset="0"/>
                <a:ea typeface="Cambria Math" pitchFamily="18" charset="0"/>
              </a:rPr>
              <a:t>,  further search is restricted to the portion from  the </a:t>
            </a:r>
            <a:r>
              <a:rPr lang="en-US" b="1" dirty="0" smtClean="0">
                <a:latin typeface="Cambria Math" pitchFamily="18" charset="0"/>
                <a:ea typeface="Cambria Math" pitchFamily="18" charset="0"/>
              </a:rPr>
              <a:t>13</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 through the </a:t>
            </a:r>
            <a:r>
              <a:rPr lang="en-US" b="1" dirty="0" smtClean="0">
                <a:latin typeface="Cambria Math" pitchFamily="18" charset="0"/>
                <a:ea typeface="Cambria Math" pitchFamily="18" charset="0"/>
              </a:rPr>
              <a:t>14</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 positions .</a:t>
            </a:r>
          </a:p>
          <a:p>
            <a:pPr algn="just">
              <a:buNone/>
            </a:pPr>
            <a:r>
              <a:rPr lang="en-US" b="1" dirty="0" smtClean="0">
                <a:latin typeface="Cambria Math" pitchFamily="18" charset="0"/>
                <a:ea typeface="Cambria Math" pitchFamily="18" charset="0"/>
              </a:rPr>
              <a:t>                      1  2  3  5  6  7  8  10  12  13  15  16  </a:t>
            </a:r>
            <a:r>
              <a:rPr lang="en-US" b="1" dirty="0" smtClean="0">
                <a:solidFill>
                  <a:srgbClr val="00B0F0"/>
                </a:solidFill>
                <a:latin typeface="Cambria Math" pitchFamily="18" charset="0"/>
                <a:ea typeface="Cambria Math" pitchFamily="18" charset="0"/>
              </a:rPr>
              <a:t>18  19  </a:t>
            </a:r>
            <a:r>
              <a:rPr lang="en-US" b="1" dirty="0" smtClean="0">
                <a:latin typeface="Cambria Math" pitchFamily="18" charset="0"/>
                <a:ea typeface="Cambria Math" pitchFamily="18" charset="0"/>
              </a:rPr>
              <a:t>20  22</a:t>
            </a:r>
          </a:p>
          <a:p>
            <a:pPr marL="514350" indent="-514350" algn="just">
              <a:buFont typeface="+mj-lt"/>
              <a:buAutoNum type="arabicPeriod" startAt="4"/>
            </a:pPr>
            <a:r>
              <a:rPr lang="en-US" dirty="0" smtClean="0">
                <a:latin typeface="Cambria Math" pitchFamily="18" charset="0"/>
                <a:ea typeface="Cambria Math" pitchFamily="18" charset="0"/>
              </a:rPr>
              <a:t>The </a:t>
            </a:r>
            <a:r>
              <a:rPr lang="en-US" b="1" dirty="0" smtClean="0">
                <a:latin typeface="Cambria Math" pitchFamily="18" charset="0"/>
                <a:ea typeface="Cambria Math" pitchFamily="18" charset="0"/>
              </a:rPr>
              <a:t>midpoint</a:t>
            </a:r>
            <a:r>
              <a:rPr lang="en-US" dirty="0" smtClean="0">
                <a:latin typeface="Cambria Math" pitchFamily="18" charset="0"/>
                <a:ea typeface="Cambria Math" pitchFamily="18" charset="0"/>
              </a:rPr>
              <a:t> of the current list  is now the </a:t>
            </a:r>
            <a:r>
              <a:rPr lang="en-US" b="1" dirty="0" smtClean="0">
                <a:latin typeface="Cambria Math" pitchFamily="18" charset="0"/>
                <a:ea typeface="Cambria Math" pitchFamily="18" charset="0"/>
              </a:rPr>
              <a:t>13</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 position with a value of </a:t>
            </a:r>
            <a:r>
              <a:rPr lang="en-US" b="1" dirty="0" smtClean="0">
                <a:latin typeface="Cambria Math" pitchFamily="18" charset="0"/>
                <a:ea typeface="Cambria Math" pitchFamily="18" charset="0"/>
              </a:rPr>
              <a:t>18</a:t>
            </a:r>
            <a:r>
              <a:rPr lang="en-US" dirty="0" smtClean="0">
                <a:latin typeface="Cambria Math" pitchFamily="18" charset="0"/>
                <a:ea typeface="Cambria Math" pitchFamily="18" charset="0"/>
              </a:rPr>
              <a:t>.  Since </a:t>
            </a:r>
            <a:r>
              <a:rPr lang="en-US" b="1" dirty="0" smtClean="0">
                <a:solidFill>
                  <a:srgbClr val="00B0F0"/>
                </a:solidFill>
                <a:latin typeface="Cambria Math" pitchFamily="18" charset="0"/>
                <a:ea typeface="Cambria Math" pitchFamily="18" charset="0"/>
              </a:rPr>
              <a:t>19&gt; 18</a:t>
            </a:r>
            <a:r>
              <a:rPr lang="en-US" dirty="0" smtClean="0">
                <a:latin typeface="Cambria Math" pitchFamily="18" charset="0"/>
                <a:ea typeface="Cambria Math" pitchFamily="18" charset="0"/>
              </a:rPr>
              <a:t>, search is restricted to the  portion from the </a:t>
            </a:r>
            <a:r>
              <a:rPr lang="en-US" b="1" dirty="0" smtClean="0">
                <a:latin typeface="Cambria Math" pitchFamily="18" charset="0"/>
                <a:ea typeface="Cambria Math" pitchFamily="18" charset="0"/>
              </a:rPr>
              <a:t>14</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 position through the </a:t>
            </a:r>
            <a:r>
              <a:rPr lang="en-US" b="1" dirty="0" smtClean="0">
                <a:latin typeface="Cambria Math" pitchFamily="18" charset="0"/>
                <a:ea typeface="Cambria Math" pitchFamily="18" charset="0"/>
              </a:rPr>
              <a:t>14</a:t>
            </a:r>
            <a:r>
              <a:rPr lang="en-US" b="1" baseline="30000" dirty="0" smtClean="0">
                <a:latin typeface="Cambria Math" pitchFamily="18" charset="0"/>
                <a:ea typeface="Cambria Math" pitchFamily="18" charset="0"/>
              </a:rPr>
              <a:t>th</a:t>
            </a:r>
            <a:r>
              <a:rPr lang="en-US" dirty="0" smtClean="0">
                <a:latin typeface="Cambria Math" pitchFamily="18" charset="0"/>
                <a:ea typeface="Cambria Math" pitchFamily="18" charset="0"/>
              </a:rPr>
              <a:t>.</a:t>
            </a:r>
          </a:p>
          <a:p>
            <a:pPr algn="just">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1  2  3  5  6  7  8  10  12  13  15  16  18  </a:t>
            </a:r>
            <a:r>
              <a:rPr lang="en-US" b="1" dirty="0" smtClean="0">
                <a:solidFill>
                  <a:srgbClr val="00B0F0"/>
                </a:solidFill>
                <a:latin typeface="Cambria Math" pitchFamily="18" charset="0"/>
                <a:ea typeface="Cambria Math" pitchFamily="18" charset="0"/>
              </a:rPr>
              <a:t>19</a:t>
            </a:r>
            <a:r>
              <a:rPr lang="en-US" dirty="0" smtClean="0">
                <a:solidFill>
                  <a:srgbClr val="FF0000"/>
                </a:solidFill>
                <a:latin typeface="Cambria Math" pitchFamily="18" charset="0"/>
                <a:ea typeface="Cambria Math" pitchFamily="18" charset="0"/>
              </a:rPr>
              <a:t>  </a:t>
            </a:r>
            <a:r>
              <a:rPr lang="en-US" b="1" dirty="0" smtClean="0">
                <a:latin typeface="Cambria Math" pitchFamily="18" charset="0"/>
                <a:ea typeface="Cambria Math" pitchFamily="18" charset="0"/>
              </a:rPr>
              <a:t>20  22</a:t>
            </a:r>
          </a:p>
          <a:p>
            <a:pPr marL="514350" indent="-514350" algn="just">
              <a:buFont typeface="+mj-lt"/>
              <a:buAutoNum type="arabicPeriod" startAt="5"/>
            </a:pPr>
            <a:r>
              <a:rPr lang="en-US" dirty="0" smtClean="0">
                <a:latin typeface="Cambria Math" pitchFamily="18" charset="0"/>
                <a:ea typeface="Cambria Math" pitchFamily="18" charset="0"/>
              </a:rPr>
              <a:t>Now the list has a single element and the loop ends. Since </a:t>
            </a:r>
            <a:r>
              <a:rPr lang="en-US" b="1" dirty="0" smtClean="0">
                <a:solidFill>
                  <a:srgbClr val="00B0F0"/>
                </a:solidFill>
                <a:latin typeface="Cambria Math" pitchFamily="18" charset="0"/>
                <a:ea typeface="Cambria Math" pitchFamily="18" charset="0"/>
              </a:rPr>
              <a:t>19=19</a:t>
            </a:r>
            <a:r>
              <a:rPr lang="en-US" dirty="0" smtClean="0">
                <a:latin typeface="Cambria Math" pitchFamily="18" charset="0"/>
                <a:ea typeface="Cambria Math" pitchFamily="18" charset="0"/>
              </a:rPr>
              <a:t>, the location </a:t>
            </a:r>
            <a:r>
              <a:rPr lang="en-US" b="1" dirty="0" smtClean="0">
                <a:latin typeface="Cambria Math" pitchFamily="18" charset="0"/>
                <a:ea typeface="Cambria Math" pitchFamily="18" charset="0"/>
              </a:rPr>
              <a:t>14</a:t>
            </a:r>
            <a:r>
              <a:rPr lang="en-US" dirty="0" smtClean="0">
                <a:latin typeface="Cambria Math" pitchFamily="18" charset="0"/>
                <a:ea typeface="Cambria Math" pitchFamily="18" charset="0"/>
              </a:rPr>
              <a:t> is returned.</a:t>
            </a:r>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16</a:t>
            </a:fld>
            <a:endParaRPr lang="en-US"/>
          </a:p>
        </p:txBody>
      </p:sp>
    </p:spTree>
    <p:extLst>
      <p:ext uri="{BB962C8B-B14F-4D97-AF65-F5344CB8AC3E}">
        <p14:creationId xmlns:p14="http://schemas.microsoft.com/office/powerpoint/2010/main" val="391303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Sorting Algorithms</a:t>
            </a:r>
            <a:endParaRPr lang="en-US" dirty="0"/>
          </a:p>
        </p:txBody>
      </p:sp>
      <p:sp>
        <p:nvSpPr>
          <p:cNvPr id="6" name="Text Placeholder 5"/>
          <p:cNvSpPr>
            <a:spLocks noGrp="1"/>
          </p:cNvSpPr>
          <p:nvPr>
            <p:ph type="body" idx="1"/>
          </p:nvPr>
        </p:nvSpPr>
        <p:spPr/>
        <p:txBody>
          <a:bodyPr/>
          <a:lstStyle/>
          <a:p>
            <a:r>
              <a:rPr lang="en-US" dirty="0" smtClean="0"/>
              <a:t>Lecture 3</a:t>
            </a:r>
            <a:endParaRPr lang="en-US" dirty="0"/>
          </a:p>
        </p:txBody>
      </p:sp>
      <p:sp>
        <p:nvSpPr>
          <p:cNvPr id="4" name="Slide Number Placeholder 3"/>
          <p:cNvSpPr>
            <a:spLocks noGrp="1"/>
          </p:cNvSpPr>
          <p:nvPr>
            <p:ph type="sldNum" sz="quarter" idx="4294967295"/>
          </p:nvPr>
        </p:nvSpPr>
        <p:spPr>
          <a:xfrm>
            <a:off x="11272838" y="6289675"/>
            <a:ext cx="919162" cy="222250"/>
          </a:xfrm>
        </p:spPr>
        <p:txBody>
          <a:bodyPr/>
          <a:lstStyle/>
          <a:p>
            <a:fld id="{E31375A4-56A4-47D6-9801-1991572033F7}" type="slidenum">
              <a:rPr lang="en-US" smtClean="0"/>
              <a:t>17</a:t>
            </a:fld>
            <a:endParaRPr lang="en-US"/>
          </a:p>
        </p:txBody>
      </p:sp>
    </p:spTree>
    <p:extLst>
      <p:ext uri="{BB962C8B-B14F-4D97-AF65-F5344CB8AC3E}">
        <p14:creationId xmlns:p14="http://schemas.microsoft.com/office/powerpoint/2010/main" val="209255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a:t>
            </a:r>
          </a:p>
        </p:txBody>
      </p:sp>
      <p:sp>
        <p:nvSpPr>
          <p:cNvPr id="3" name="Content Placeholder 2"/>
          <p:cNvSpPr>
            <a:spLocks noGrp="1"/>
          </p:cNvSpPr>
          <p:nvPr>
            <p:ph idx="1"/>
          </p:nvPr>
        </p:nvSpPr>
        <p:spPr/>
        <p:txBody>
          <a:bodyPr>
            <a:normAutofit fontScale="62500" lnSpcReduction="20000"/>
          </a:bodyPr>
          <a:lstStyle/>
          <a:p>
            <a:r>
              <a:rPr lang="en-US" b="1" dirty="0"/>
              <a:t>Sorting</a:t>
            </a:r>
            <a:r>
              <a:rPr lang="en-US" dirty="0"/>
              <a:t> means arranging the items in a list in a </a:t>
            </a:r>
            <a:r>
              <a:rPr lang="en-US" b="1" dirty="0"/>
              <a:t>proper order</a:t>
            </a:r>
            <a:r>
              <a:rPr lang="en-US" dirty="0"/>
              <a:t>, such </a:t>
            </a:r>
            <a:r>
              <a:rPr lang="en-US" dirty="0" smtClean="0"/>
              <a:t>as:</a:t>
            </a:r>
          </a:p>
          <a:p>
            <a:pPr marL="0" indent="0">
              <a:buNone/>
            </a:pPr>
            <a:r>
              <a:rPr lang="en-US" dirty="0" smtClean="0"/>
              <a:t>      </a:t>
            </a:r>
            <a:r>
              <a:rPr lang="en-US" b="1" dirty="0" smtClean="0"/>
              <a:t>1.</a:t>
            </a:r>
            <a:r>
              <a:rPr lang="en-US" dirty="0" smtClean="0"/>
              <a:t> Numbers </a:t>
            </a:r>
            <a:r>
              <a:rPr lang="en-US" dirty="0"/>
              <a:t>from </a:t>
            </a:r>
            <a:r>
              <a:rPr lang="en-US" b="1" dirty="0"/>
              <a:t>small to </a:t>
            </a:r>
            <a:r>
              <a:rPr lang="en-US" b="1" dirty="0" smtClean="0"/>
              <a:t>large</a:t>
            </a:r>
            <a:endParaRPr lang="en-US" dirty="0" smtClean="0"/>
          </a:p>
          <a:p>
            <a:pPr marL="0" indent="0">
              <a:buNone/>
            </a:pPr>
            <a:r>
              <a:rPr lang="en-US" dirty="0"/>
              <a:t> </a:t>
            </a:r>
            <a:r>
              <a:rPr lang="en-US" dirty="0" smtClean="0"/>
              <a:t>     </a:t>
            </a:r>
            <a:r>
              <a:rPr lang="en-US" b="1" dirty="0" smtClean="0"/>
              <a:t>2.</a:t>
            </a:r>
            <a:r>
              <a:rPr lang="en-US" dirty="0" smtClean="0"/>
              <a:t> Words </a:t>
            </a:r>
            <a:r>
              <a:rPr lang="en-US" dirty="0"/>
              <a:t>in </a:t>
            </a:r>
            <a:r>
              <a:rPr lang="en-US" b="1" dirty="0"/>
              <a:t>alphabetical order</a:t>
            </a:r>
            <a:endParaRPr lang="en-US" dirty="0"/>
          </a:p>
          <a:p>
            <a:pPr algn="just"/>
            <a:r>
              <a:rPr lang="en-US" sz="3200" b="1" dirty="0" smtClean="0"/>
              <a:t>Sorting </a:t>
            </a:r>
            <a:r>
              <a:rPr lang="en-US" sz="3200" b="1" dirty="0"/>
              <a:t>is an important problem because</a:t>
            </a:r>
            <a:r>
              <a:rPr lang="en-US" sz="3200" b="1" dirty="0" smtClean="0"/>
              <a:t>:</a:t>
            </a:r>
          </a:p>
          <a:p>
            <a:pPr algn="just"/>
            <a:r>
              <a:rPr lang="en-US" sz="3200" dirty="0"/>
              <a:t>Computers spend a </a:t>
            </a:r>
            <a:r>
              <a:rPr lang="en-US" sz="3200" b="1" dirty="0"/>
              <a:t>lot of time and power</a:t>
            </a:r>
            <a:r>
              <a:rPr lang="en-US" sz="3200" dirty="0"/>
              <a:t> sorting data</a:t>
            </a:r>
            <a:r>
              <a:rPr lang="en-US" sz="3200" dirty="0" smtClean="0"/>
              <a:t>.</a:t>
            </a:r>
          </a:p>
          <a:p>
            <a:r>
              <a:rPr lang="en-US" sz="3200" dirty="0"/>
              <a:t>Many real-life applications need data in a </a:t>
            </a:r>
            <a:r>
              <a:rPr lang="en-US" sz="3200" b="1" dirty="0"/>
              <a:t>specific order</a:t>
            </a:r>
            <a:r>
              <a:rPr lang="en-US" sz="3200" dirty="0"/>
              <a:t>, for example:</a:t>
            </a:r>
          </a:p>
          <a:p>
            <a:pPr marL="0" indent="0">
              <a:buNone/>
            </a:pPr>
            <a:r>
              <a:rPr lang="en-US" sz="3200" dirty="0" smtClean="0"/>
              <a:t>    1. Customer </a:t>
            </a:r>
            <a:r>
              <a:rPr lang="en-US" sz="3200" dirty="0"/>
              <a:t>names in </a:t>
            </a:r>
            <a:r>
              <a:rPr lang="en-US" sz="3200" b="1" dirty="0"/>
              <a:t>alphabetical </a:t>
            </a:r>
            <a:r>
              <a:rPr lang="en-US" sz="3200" b="1" dirty="0" smtClean="0"/>
              <a:t>order</a:t>
            </a:r>
          </a:p>
          <a:p>
            <a:pPr marL="0" indent="0">
              <a:buNone/>
            </a:pPr>
            <a:r>
              <a:rPr lang="en-US" sz="3200" dirty="0" smtClean="0"/>
              <a:t>    2. </a:t>
            </a:r>
            <a:r>
              <a:rPr lang="en-US" sz="3200" dirty="0"/>
              <a:t>P</a:t>
            </a:r>
            <a:r>
              <a:rPr lang="en-US" sz="3200" dirty="0" smtClean="0"/>
              <a:t>roduct </a:t>
            </a:r>
            <a:r>
              <a:rPr lang="en-US" sz="3200" dirty="0"/>
              <a:t>or part numbers in </a:t>
            </a:r>
            <a:r>
              <a:rPr lang="en-US" sz="3200" b="1" dirty="0"/>
              <a:t>numeric order</a:t>
            </a:r>
          </a:p>
          <a:p>
            <a:pPr marL="0" indent="0">
              <a:buNone/>
            </a:pPr>
            <a:r>
              <a:rPr lang="en-US" sz="3200" dirty="0" smtClean="0"/>
              <a:t>    3. </a:t>
            </a:r>
            <a:r>
              <a:rPr lang="en-US" sz="3200" dirty="0"/>
              <a:t>R</a:t>
            </a:r>
            <a:r>
              <a:rPr lang="en-US" sz="3200" dirty="0" smtClean="0"/>
              <a:t>ecords </a:t>
            </a:r>
            <a:r>
              <a:rPr lang="en-US" sz="3200" dirty="0"/>
              <a:t>in </a:t>
            </a:r>
            <a:r>
              <a:rPr lang="en-US" sz="3200" b="1" dirty="0"/>
              <a:t>large databases </a:t>
            </a:r>
            <a:r>
              <a:rPr lang="en-US" sz="3200" dirty="0"/>
              <a:t>arranged neatly</a:t>
            </a:r>
          </a:p>
          <a:p>
            <a:pPr algn="just"/>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18</a:t>
            </a:fld>
            <a:endParaRPr lang="en-US"/>
          </a:p>
        </p:txBody>
      </p:sp>
    </p:spTree>
    <p:extLst>
      <p:ext uri="{BB962C8B-B14F-4D97-AF65-F5344CB8AC3E}">
        <p14:creationId xmlns:p14="http://schemas.microsoft.com/office/powerpoint/2010/main" val="342989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p:txBody>
          <a:bodyPr/>
          <a:lstStyle/>
          <a:p>
            <a:pPr algn="just"/>
            <a:r>
              <a:rPr lang="en-US" b="1" i="1" dirty="0"/>
              <a:t>Bubble sort </a:t>
            </a:r>
            <a:r>
              <a:rPr lang="en-US" dirty="0"/>
              <a:t>makes multiple passes through a list. Every pair of </a:t>
            </a:r>
            <a:r>
              <a:rPr lang="en-US" b="1" dirty="0"/>
              <a:t>elements</a:t>
            </a:r>
            <a:r>
              <a:rPr lang="en-US" dirty="0"/>
              <a:t> that are </a:t>
            </a:r>
            <a:r>
              <a:rPr lang="en-US" b="1" dirty="0"/>
              <a:t>found</a:t>
            </a:r>
            <a:r>
              <a:rPr lang="en-US" dirty="0"/>
              <a:t> to be out of </a:t>
            </a:r>
            <a:r>
              <a:rPr lang="en-US" b="1" dirty="0"/>
              <a:t>order</a:t>
            </a:r>
            <a:r>
              <a:rPr lang="en-US" dirty="0"/>
              <a:t> are </a:t>
            </a:r>
            <a:r>
              <a:rPr lang="en-US" b="1" dirty="0"/>
              <a:t>interchanged.</a:t>
            </a:r>
          </a:p>
          <a:p>
            <a:pPr algn="just"/>
            <a:endParaRPr lang="en-US" dirty="0"/>
          </a:p>
          <a:p>
            <a:pPr algn="just"/>
            <a:endParaRPr lang="en-US" dirty="0"/>
          </a:p>
        </p:txBody>
      </p:sp>
      <p:sp>
        <p:nvSpPr>
          <p:cNvPr id="4" name="Content Placeholder 2"/>
          <p:cNvSpPr txBox="1">
            <a:spLocks/>
          </p:cNvSpPr>
          <p:nvPr/>
        </p:nvSpPr>
        <p:spPr>
          <a:xfrm>
            <a:off x="2177415" y="2872096"/>
            <a:ext cx="7837170" cy="2950464"/>
          </a:xfrm>
          <a:prstGeom prst="rect">
            <a:avLst/>
          </a:prstGeom>
          <a:ln>
            <a:solidFill>
              <a:schemeClr val="accent1"/>
            </a:solidFill>
          </a:ln>
        </p:spPr>
        <p:txBody>
          <a:bodyPr vert="horz">
            <a:normAutofit/>
          </a:bodyPr>
          <a:lstStyle/>
          <a:p>
            <a:pPr marL="274320" indent="-274320">
              <a:spcBef>
                <a:spcPct val="20000"/>
              </a:spcBef>
              <a:buClr>
                <a:schemeClr val="accent3"/>
              </a:buClr>
              <a:buSzPct val="95000"/>
              <a:defRPr/>
            </a:pPr>
            <a:r>
              <a:rPr lang="en-US" sz="2600" b="1" dirty="0"/>
              <a:t>procedure </a:t>
            </a:r>
            <a:r>
              <a:rPr lang="en-US" sz="2600" i="1" dirty="0" err="1"/>
              <a:t>bubblesort</a:t>
            </a:r>
            <a:r>
              <a:rPr lang="en-US" sz="2600" dirty="0"/>
              <a:t>(</a:t>
            </a:r>
            <a:r>
              <a:rPr lang="en-US" sz="2600" i="1" dirty="0"/>
              <a:t>a</a:t>
            </a:r>
            <a:r>
              <a:rPr lang="en-US" sz="2600" baseline="-25000" dirty="0"/>
              <a:t>1</a:t>
            </a:r>
            <a:r>
              <a:rPr lang="en-US" sz="2600" dirty="0"/>
              <a:t>,…,</a:t>
            </a:r>
            <a:r>
              <a:rPr lang="en-US" sz="2600" i="1" dirty="0"/>
              <a:t>a</a:t>
            </a:r>
            <a:r>
              <a:rPr lang="en-US" sz="2600" i="1" baseline="-25000" dirty="0"/>
              <a:t>n</a:t>
            </a:r>
            <a:r>
              <a:rPr lang="en-US" sz="2600" dirty="0"/>
              <a:t>: real numbers </a:t>
            </a:r>
          </a:p>
          <a:p>
            <a:pPr marL="274320" indent="-274320">
              <a:spcBef>
                <a:spcPct val="20000"/>
              </a:spcBef>
              <a:buClr>
                <a:schemeClr val="accent3"/>
              </a:buClr>
              <a:buSzPct val="95000"/>
              <a:defRPr/>
            </a:pPr>
            <a:r>
              <a:rPr lang="en-US" sz="2600" dirty="0"/>
              <a:t>                            with </a:t>
            </a:r>
            <a:r>
              <a:rPr lang="en-US" sz="2600" i="1" dirty="0"/>
              <a:t>n</a:t>
            </a:r>
            <a:r>
              <a:rPr lang="en-US" sz="2600" dirty="0"/>
              <a:t> ≥ </a:t>
            </a:r>
            <a:r>
              <a:rPr lang="en-US" sz="2600" dirty="0">
                <a:latin typeface="Cambria Math" pitchFamily="18" charset="0"/>
                <a:ea typeface="Cambria Math" pitchFamily="18" charset="0"/>
              </a:rPr>
              <a:t>2</a:t>
            </a:r>
            <a:r>
              <a:rPr lang="en-US" sz="2600" dirty="0"/>
              <a:t>)</a:t>
            </a:r>
          </a:p>
          <a:p>
            <a:pPr marL="274320" indent="-274320">
              <a:spcBef>
                <a:spcPct val="20000"/>
              </a:spcBef>
              <a:buClr>
                <a:schemeClr val="accent3"/>
              </a:buClr>
              <a:buSzPct val="95000"/>
              <a:defRPr/>
            </a:pPr>
            <a:r>
              <a:rPr lang="en-US" sz="2600" dirty="0"/>
              <a:t>    </a:t>
            </a:r>
            <a:r>
              <a:rPr lang="en-US" sz="2600" b="1" dirty="0"/>
              <a:t>for</a:t>
            </a:r>
            <a:r>
              <a:rPr lang="en-US" sz="2600" dirty="0"/>
              <a:t> </a:t>
            </a:r>
            <a:r>
              <a:rPr lang="en-US" sz="2600" i="1" dirty="0"/>
              <a:t>i </a:t>
            </a:r>
            <a:r>
              <a:rPr lang="en-US" sz="2600" dirty="0"/>
              <a:t>:= </a:t>
            </a:r>
            <a:r>
              <a:rPr lang="en-US" sz="2600" dirty="0">
                <a:latin typeface="Cambria Math" pitchFamily="18" charset="0"/>
                <a:ea typeface="Cambria Math" pitchFamily="18" charset="0"/>
              </a:rPr>
              <a:t>1</a:t>
            </a:r>
            <a:r>
              <a:rPr lang="en-US" sz="2600" dirty="0"/>
              <a:t> to </a:t>
            </a:r>
            <a:r>
              <a:rPr lang="en-US" sz="2600" i="1" dirty="0"/>
              <a:t>n</a:t>
            </a:r>
            <a:r>
              <a:rPr lang="en-US" sz="2600" i="1" dirty="0">
                <a:latin typeface="Cambria Math"/>
                <a:ea typeface="Cambria Math"/>
              </a:rPr>
              <a:t>− </a:t>
            </a:r>
            <a:r>
              <a:rPr lang="en-US" sz="2600" dirty="0">
                <a:latin typeface="Cambria Math" pitchFamily="18" charset="0"/>
                <a:ea typeface="Cambria Math" pitchFamily="18" charset="0"/>
              </a:rPr>
              <a:t>1</a:t>
            </a:r>
          </a:p>
          <a:p>
            <a:pPr marL="274320" indent="-274320">
              <a:spcBef>
                <a:spcPct val="20000"/>
              </a:spcBef>
              <a:buClr>
                <a:schemeClr val="accent3"/>
              </a:buClr>
              <a:buSzPct val="95000"/>
              <a:defRPr/>
            </a:pPr>
            <a:r>
              <a:rPr lang="en-US" sz="2600" dirty="0"/>
              <a:t>        </a:t>
            </a:r>
            <a:r>
              <a:rPr lang="en-US" sz="2600" b="1" dirty="0"/>
              <a:t>for </a:t>
            </a:r>
            <a:r>
              <a:rPr lang="en-US" sz="2600" i="1" dirty="0"/>
              <a:t>j</a:t>
            </a:r>
            <a:r>
              <a:rPr lang="en-US" sz="2600" dirty="0"/>
              <a:t> := </a:t>
            </a:r>
            <a:r>
              <a:rPr lang="en-US" sz="2600" dirty="0">
                <a:latin typeface="Cambria Math" pitchFamily="18" charset="0"/>
                <a:ea typeface="Cambria Math" pitchFamily="18" charset="0"/>
              </a:rPr>
              <a:t>1</a:t>
            </a:r>
            <a:r>
              <a:rPr lang="en-US" sz="2600" dirty="0"/>
              <a:t> to </a:t>
            </a:r>
            <a:r>
              <a:rPr lang="en-US" sz="2600" i="1" dirty="0"/>
              <a:t>n</a:t>
            </a:r>
            <a:r>
              <a:rPr lang="en-US" sz="2600" i="1" dirty="0">
                <a:latin typeface="Cambria Math"/>
                <a:ea typeface="Cambria Math"/>
              </a:rPr>
              <a:t> − </a:t>
            </a:r>
            <a:r>
              <a:rPr lang="en-US" sz="2600" i="1" dirty="0" err="1"/>
              <a:t>i</a:t>
            </a:r>
            <a:endParaRPr lang="en-US" sz="2600" i="1" dirty="0"/>
          </a:p>
          <a:p>
            <a:pPr marL="274320" indent="-274320">
              <a:spcBef>
                <a:spcPct val="20000"/>
              </a:spcBef>
              <a:buClr>
                <a:schemeClr val="accent3"/>
              </a:buClr>
              <a:buSzPct val="95000"/>
              <a:defRPr/>
            </a:pPr>
            <a:r>
              <a:rPr lang="en-US" sz="2600" dirty="0"/>
              <a:t>             </a:t>
            </a:r>
            <a:r>
              <a:rPr lang="en-US" sz="2600" b="1" dirty="0"/>
              <a:t>if</a:t>
            </a:r>
            <a:r>
              <a:rPr lang="en-US" sz="2600" dirty="0"/>
              <a:t> </a:t>
            </a:r>
            <a:r>
              <a:rPr lang="en-US" sz="2600" i="1" dirty="0" err="1"/>
              <a:t>a</a:t>
            </a:r>
            <a:r>
              <a:rPr lang="en-US" sz="2600" i="1" baseline="-25000" dirty="0" err="1"/>
              <a:t>j</a:t>
            </a:r>
            <a:r>
              <a:rPr lang="en-US" sz="2600" dirty="0"/>
              <a:t> &gt;</a:t>
            </a:r>
            <a:r>
              <a:rPr lang="en-US" sz="2600" i="1" dirty="0"/>
              <a:t>a</a:t>
            </a:r>
            <a:r>
              <a:rPr lang="en-US" sz="2600" i="1" baseline="-25000" dirty="0"/>
              <a:t>j</a:t>
            </a:r>
            <a:r>
              <a:rPr lang="en-US" sz="2600" baseline="-25000" dirty="0"/>
              <a:t>+1</a:t>
            </a:r>
            <a:r>
              <a:rPr lang="en-US" sz="2600" dirty="0"/>
              <a:t> </a:t>
            </a:r>
            <a:r>
              <a:rPr lang="en-US" sz="2600" b="1" dirty="0"/>
              <a:t>then</a:t>
            </a:r>
            <a:r>
              <a:rPr lang="en-US" sz="2600" dirty="0"/>
              <a:t> interchange </a:t>
            </a:r>
            <a:r>
              <a:rPr lang="en-US" sz="2600" i="1" dirty="0" err="1"/>
              <a:t>a</a:t>
            </a:r>
            <a:r>
              <a:rPr lang="en-US" sz="2600" i="1" baseline="-25000" dirty="0" err="1"/>
              <a:t>j</a:t>
            </a:r>
            <a:r>
              <a:rPr lang="en-US" sz="2600" dirty="0"/>
              <a:t> and </a:t>
            </a:r>
            <a:r>
              <a:rPr lang="en-US" sz="2600" i="1" dirty="0"/>
              <a:t>a</a:t>
            </a:r>
            <a:r>
              <a:rPr lang="en-US" sz="2600" i="1" baseline="-25000" dirty="0"/>
              <a:t>j</a:t>
            </a:r>
            <a:r>
              <a:rPr lang="en-US" sz="2600" baseline="-25000" dirty="0"/>
              <a:t>+1</a:t>
            </a:r>
          </a:p>
          <a:p>
            <a:pPr marL="274320" indent="-274320">
              <a:spcBef>
                <a:spcPct val="20000"/>
              </a:spcBef>
              <a:buClr>
                <a:schemeClr val="accent3"/>
              </a:buClr>
              <a:buSzPct val="95000"/>
              <a:defRPr/>
            </a:pPr>
            <a:r>
              <a:rPr lang="en-US" sz="2600" dirty="0"/>
              <a:t>{</a:t>
            </a:r>
            <a:r>
              <a:rPr lang="en-US" sz="2600" i="1" dirty="0"/>
              <a:t>a</a:t>
            </a:r>
            <a:r>
              <a:rPr lang="en-US" sz="2600" baseline="-25000" dirty="0"/>
              <a:t>1</a:t>
            </a:r>
            <a:r>
              <a:rPr lang="en-US" sz="2600" dirty="0"/>
              <a:t>,…, </a:t>
            </a:r>
            <a:r>
              <a:rPr lang="en-US" sz="2600" i="1" dirty="0"/>
              <a:t>a</a:t>
            </a:r>
            <a:r>
              <a:rPr lang="en-US" sz="2600" i="1" baseline="-25000" dirty="0"/>
              <a:t>n</a:t>
            </a:r>
            <a:r>
              <a:rPr lang="en-US" sz="2600" dirty="0"/>
              <a:t> is now in increasing order}</a:t>
            </a:r>
          </a:p>
        </p:txBody>
      </p:sp>
      <p:sp>
        <p:nvSpPr>
          <p:cNvPr id="5" name="Slide Number Placeholder 4"/>
          <p:cNvSpPr>
            <a:spLocks noGrp="1"/>
          </p:cNvSpPr>
          <p:nvPr>
            <p:ph type="sldNum" sz="quarter" idx="12"/>
          </p:nvPr>
        </p:nvSpPr>
        <p:spPr/>
        <p:txBody>
          <a:bodyPr/>
          <a:lstStyle/>
          <a:p>
            <a:fld id="{E31375A4-56A4-47D6-9801-1991572033F7}" type="slidenum">
              <a:rPr lang="en-US" smtClean="0"/>
              <a:t>19</a:t>
            </a:fld>
            <a:endParaRPr lang="en-US"/>
          </a:p>
        </p:txBody>
      </p:sp>
    </p:spTree>
    <p:extLst>
      <p:ext uri="{BB962C8B-B14F-4D97-AF65-F5344CB8AC3E}">
        <p14:creationId xmlns:p14="http://schemas.microsoft.com/office/powerpoint/2010/main" val="150022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Bubble Sort</a:t>
            </a:r>
            <a:endParaRPr lang="en-US" dirty="0"/>
          </a:p>
        </p:txBody>
      </p:sp>
      <p:sp>
        <p:nvSpPr>
          <p:cNvPr id="3" name="Content Placeholder 2"/>
          <p:cNvSpPr>
            <a:spLocks noGrp="1"/>
          </p:cNvSpPr>
          <p:nvPr>
            <p:ph idx="1"/>
          </p:nvPr>
        </p:nvSpPr>
        <p:spPr/>
        <p:txBody>
          <a:bodyPr>
            <a:normAutofit/>
          </a:bodyPr>
          <a:lstStyle/>
          <a:p>
            <a:pPr algn="just"/>
            <a:r>
              <a:rPr lang="en-US" b="1" dirty="0" smtClean="0"/>
              <a:t>Example: </a:t>
            </a:r>
            <a:r>
              <a:rPr lang="en-US" dirty="0" smtClean="0"/>
              <a:t> Show the steps of </a:t>
            </a:r>
            <a:r>
              <a:rPr lang="en-US" b="1" dirty="0" smtClean="0"/>
              <a:t>bubble sort </a:t>
            </a:r>
            <a:r>
              <a:rPr lang="en-US" dirty="0" smtClean="0"/>
              <a:t>with  </a:t>
            </a:r>
            <a:r>
              <a:rPr lang="en-US" b="1" dirty="0" smtClean="0">
                <a:solidFill>
                  <a:srgbClr val="00B0F0"/>
                </a:solidFill>
              </a:rPr>
              <a:t>3  2  4  1  5</a:t>
            </a:r>
          </a:p>
          <a:p>
            <a:r>
              <a:rPr lang="en-US" dirty="0"/>
              <a:t>In the first pass, the </a:t>
            </a:r>
            <a:r>
              <a:rPr lang="en-US" b="1" dirty="0"/>
              <a:t>largest number moves to its correct place</a:t>
            </a:r>
            <a:r>
              <a:rPr lang="en-US" dirty="0"/>
              <a:t>.</a:t>
            </a:r>
          </a:p>
          <a:p>
            <a:r>
              <a:rPr lang="en-US" dirty="0"/>
              <a:t>In the second pass, the </a:t>
            </a:r>
            <a:r>
              <a:rPr lang="en-US" b="1" dirty="0"/>
              <a:t>second largest number moves to its correct place</a:t>
            </a:r>
            <a:r>
              <a:rPr lang="en-US" dirty="0"/>
              <a:t>.</a:t>
            </a:r>
          </a:p>
          <a:p>
            <a:r>
              <a:rPr lang="en-US" dirty="0"/>
              <a:t>Each new pass puts </a:t>
            </a:r>
            <a:r>
              <a:rPr lang="en-US" b="1" dirty="0"/>
              <a:t>one more number in the correct position</a:t>
            </a:r>
            <a:r>
              <a:rPr lang="en-US" dirty="0"/>
              <a:t>.</a:t>
            </a:r>
          </a:p>
          <a:p>
            <a:endParaRPr lang="en-US" dirty="0"/>
          </a:p>
        </p:txBody>
      </p:sp>
      <p:sp>
        <p:nvSpPr>
          <p:cNvPr id="9" name="Slide Number Placeholder 8"/>
          <p:cNvSpPr>
            <a:spLocks noGrp="1"/>
          </p:cNvSpPr>
          <p:nvPr>
            <p:ph type="sldNum" sz="quarter" idx="12"/>
          </p:nvPr>
        </p:nvSpPr>
        <p:spPr/>
        <p:txBody>
          <a:bodyPr/>
          <a:lstStyle/>
          <a:p>
            <a:fld id="{E31375A4-56A4-47D6-9801-1991572033F7}" type="slidenum">
              <a:rPr lang="en-US" smtClean="0"/>
              <a:t>20</a:t>
            </a:fld>
            <a:endParaRPr lang="en-US"/>
          </a:p>
        </p:txBody>
      </p:sp>
    </p:spTree>
    <p:extLst>
      <p:ext uri="{BB962C8B-B14F-4D97-AF65-F5344CB8AC3E}">
        <p14:creationId xmlns:p14="http://schemas.microsoft.com/office/powerpoint/2010/main" val="3837477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Bubble Sort</a:t>
            </a:r>
            <a:endParaRPr lang="en-US" dirty="0"/>
          </a:p>
        </p:txBody>
      </p:sp>
      <p:pic>
        <p:nvPicPr>
          <p:cNvPr id="8" name="Content Placeholder 3" descr="0302.jpg"/>
          <p:cNvPicPr>
            <a:picLocks noGrp="1" noChangeAspect="1"/>
          </p:cNvPicPr>
          <p:nvPr>
            <p:ph idx="1"/>
          </p:nvPr>
        </p:nvPicPr>
        <p:blipFill>
          <a:blip r:embed="rId2" cstate="print"/>
          <a:stretch>
            <a:fillRect/>
          </a:stretch>
        </p:blipFill>
        <p:spPr>
          <a:xfrm>
            <a:off x="813536" y="1911399"/>
            <a:ext cx="10564929" cy="3949600"/>
          </a:xfrm>
          <a:prstGeom prst="rect">
            <a:avLst/>
          </a:prstGeom>
        </p:spPr>
      </p:pic>
      <p:sp>
        <p:nvSpPr>
          <p:cNvPr id="9" name="Slide Number Placeholder 8"/>
          <p:cNvSpPr>
            <a:spLocks noGrp="1"/>
          </p:cNvSpPr>
          <p:nvPr>
            <p:ph type="sldNum" sz="quarter" idx="12"/>
          </p:nvPr>
        </p:nvSpPr>
        <p:spPr/>
        <p:txBody>
          <a:bodyPr/>
          <a:lstStyle/>
          <a:p>
            <a:fld id="{E31375A4-56A4-47D6-9801-1991572033F7}" type="slidenum">
              <a:rPr lang="en-US" smtClean="0"/>
              <a:t>21</a:t>
            </a:fld>
            <a:endParaRPr lang="en-US"/>
          </a:p>
        </p:txBody>
      </p:sp>
    </p:spTree>
    <p:extLst>
      <p:ext uri="{BB962C8B-B14F-4D97-AF65-F5344CB8AC3E}">
        <p14:creationId xmlns:p14="http://schemas.microsoft.com/office/powerpoint/2010/main" val="47104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 – Illustration</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3347" y="1869498"/>
            <a:ext cx="6125306" cy="3675184"/>
          </a:xfrm>
        </p:spPr>
      </p:pic>
      <p:sp>
        <p:nvSpPr>
          <p:cNvPr id="4" name="Slide Number Placeholder 3"/>
          <p:cNvSpPr>
            <a:spLocks noGrp="1"/>
          </p:cNvSpPr>
          <p:nvPr>
            <p:ph type="sldNum" sz="quarter" idx="12"/>
          </p:nvPr>
        </p:nvSpPr>
        <p:spPr/>
        <p:txBody>
          <a:bodyPr/>
          <a:lstStyle/>
          <a:p>
            <a:fld id="{E31375A4-56A4-47D6-9801-1991572033F7}" type="slidenum">
              <a:rPr lang="en-US" smtClean="0"/>
              <a:t>22</a:t>
            </a:fld>
            <a:endParaRPr lang="en-US"/>
          </a:p>
        </p:txBody>
      </p:sp>
      <p:sp>
        <p:nvSpPr>
          <p:cNvPr id="6" name="Rectangle 5"/>
          <p:cNvSpPr/>
          <p:nvPr/>
        </p:nvSpPr>
        <p:spPr>
          <a:xfrm>
            <a:off x="1633423" y="5764195"/>
            <a:ext cx="8925154" cy="369332"/>
          </a:xfrm>
          <a:prstGeom prst="rect">
            <a:avLst/>
          </a:prstGeom>
        </p:spPr>
        <p:txBody>
          <a:bodyPr>
            <a:spAutoFit/>
          </a:bodyPr>
          <a:lstStyle/>
          <a:p>
            <a:pPr algn="ctr"/>
            <a:r>
              <a:rPr lang="en-US" dirty="0"/>
              <a:t>https://en.wikipedia.org/wiki/Bubble_sort#/media/File:Bubble-sort-example-300px.gif</a:t>
            </a:r>
          </a:p>
        </p:txBody>
      </p:sp>
    </p:spTree>
    <p:extLst>
      <p:ext uri="{BB962C8B-B14F-4D97-AF65-F5344CB8AC3E}">
        <p14:creationId xmlns:p14="http://schemas.microsoft.com/office/powerpoint/2010/main" val="1983527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Insertion Sort</a:t>
            </a:r>
            <a:endParaRPr lang="en-US" dirty="0"/>
          </a:p>
        </p:txBody>
      </p:sp>
      <p:sp>
        <p:nvSpPr>
          <p:cNvPr id="3" name="Content Placeholder 2"/>
          <p:cNvSpPr>
            <a:spLocks noGrp="1"/>
          </p:cNvSpPr>
          <p:nvPr>
            <p:ph idx="1"/>
          </p:nvPr>
        </p:nvSpPr>
        <p:spPr/>
        <p:txBody>
          <a:bodyPr/>
          <a:lstStyle/>
          <a:p>
            <a:pPr algn="just"/>
            <a:r>
              <a:rPr lang="en-US" b="1" dirty="0" smtClean="0"/>
              <a:t>Insertion sort </a:t>
            </a:r>
            <a:r>
              <a:rPr lang="en-US" dirty="0" smtClean="0"/>
              <a:t>begins with the </a:t>
            </a:r>
            <a:r>
              <a:rPr lang="en-US" b="1" dirty="0" smtClean="0"/>
              <a:t>2nd element</a:t>
            </a:r>
            <a:r>
              <a:rPr lang="en-US" dirty="0" smtClean="0"/>
              <a:t>. It compares the </a:t>
            </a:r>
            <a:r>
              <a:rPr lang="en-US" b="1" dirty="0" smtClean="0"/>
              <a:t>2nd element</a:t>
            </a:r>
            <a:r>
              <a:rPr lang="en-US" dirty="0" smtClean="0"/>
              <a:t> with the </a:t>
            </a:r>
            <a:r>
              <a:rPr lang="en-US" b="1" dirty="0" smtClean="0"/>
              <a:t>1st</a:t>
            </a:r>
            <a:r>
              <a:rPr lang="en-US" dirty="0" smtClean="0"/>
              <a:t> and puts it before the </a:t>
            </a:r>
            <a:r>
              <a:rPr lang="en-US" b="1" dirty="0" smtClean="0"/>
              <a:t>first</a:t>
            </a:r>
            <a:r>
              <a:rPr lang="en-US" dirty="0" smtClean="0"/>
              <a:t> if it is not larger.</a:t>
            </a:r>
          </a:p>
          <a:p>
            <a:pPr algn="just">
              <a:buClr>
                <a:schemeClr val="tx2">
                  <a:lumMod val="60000"/>
                  <a:lumOff val="40000"/>
                </a:schemeClr>
              </a:buClr>
              <a:buFont typeface="Arial" pitchFamily="34" charset="0"/>
              <a:buChar char="•"/>
            </a:pPr>
            <a:r>
              <a:rPr lang="en-US" dirty="0"/>
              <a:t>Next the </a:t>
            </a:r>
            <a:r>
              <a:rPr lang="en-US" b="1" dirty="0"/>
              <a:t>3</a:t>
            </a:r>
            <a:r>
              <a:rPr lang="en-US" b="1" baseline="30000" dirty="0"/>
              <a:t>rd</a:t>
            </a:r>
            <a:r>
              <a:rPr lang="en-US" dirty="0"/>
              <a:t> element is put into the correct position among the first </a:t>
            </a:r>
            <a:r>
              <a:rPr lang="en-US" b="1" dirty="0"/>
              <a:t>3</a:t>
            </a:r>
            <a:r>
              <a:rPr lang="en-US" dirty="0"/>
              <a:t> elements. </a:t>
            </a:r>
          </a:p>
          <a:p>
            <a:pPr algn="just">
              <a:buClr>
                <a:schemeClr val="tx2">
                  <a:lumMod val="60000"/>
                  <a:lumOff val="40000"/>
                </a:schemeClr>
              </a:buClr>
              <a:buFont typeface="Arial" pitchFamily="34" charset="0"/>
              <a:buChar char="•"/>
            </a:pPr>
            <a:r>
              <a:rPr lang="en-US" dirty="0"/>
              <a:t>In each subsequent pass, the </a:t>
            </a:r>
            <a:r>
              <a:rPr lang="en-US" b="1" i="1" dirty="0"/>
              <a:t>n</a:t>
            </a:r>
            <a:r>
              <a:rPr lang="en-US" b="1" dirty="0"/>
              <a:t>+</a:t>
            </a:r>
            <a:r>
              <a:rPr lang="en-US" b="1" dirty="0">
                <a:latin typeface="Cambria Math" pitchFamily="18" charset="0"/>
                <a:ea typeface="Cambria Math" pitchFamily="18" charset="0"/>
              </a:rPr>
              <a:t>1</a:t>
            </a:r>
            <a:r>
              <a:rPr lang="en-US" b="1" baseline="30000" dirty="0"/>
              <a:t>st</a:t>
            </a:r>
            <a:r>
              <a:rPr lang="en-US" dirty="0"/>
              <a:t> element is put into its correct position among the first </a:t>
            </a:r>
            <a:r>
              <a:rPr lang="en-US" b="1" i="1" dirty="0"/>
              <a:t>n</a:t>
            </a:r>
            <a:r>
              <a:rPr lang="en-US" b="1" dirty="0"/>
              <a:t>+</a:t>
            </a:r>
            <a:r>
              <a:rPr lang="en-US" b="1" dirty="0">
                <a:latin typeface="Cambria Math" pitchFamily="18" charset="0"/>
                <a:ea typeface="Cambria Math" pitchFamily="18" charset="0"/>
              </a:rPr>
              <a:t>1</a:t>
            </a:r>
            <a:r>
              <a:rPr lang="en-US" dirty="0"/>
              <a:t> elements.</a:t>
            </a:r>
          </a:p>
          <a:p>
            <a:pPr algn="just">
              <a:buClr>
                <a:schemeClr val="tx2">
                  <a:lumMod val="60000"/>
                  <a:lumOff val="40000"/>
                </a:schemeClr>
              </a:buClr>
              <a:buFont typeface="Arial" pitchFamily="34" charset="0"/>
              <a:buChar char="•"/>
            </a:pPr>
            <a:r>
              <a:rPr lang="en-US" b="1" dirty="0"/>
              <a:t>Linear search </a:t>
            </a:r>
            <a:r>
              <a:rPr lang="en-US" dirty="0"/>
              <a:t>is used to find the correct position</a:t>
            </a:r>
            <a:r>
              <a:rPr lang="en-US" dirty="0" smtClean="0"/>
              <a:t>.</a:t>
            </a:r>
          </a:p>
          <a:p>
            <a:pPr algn="just"/>
            <a:endParaRPr lang="en-US" dirty="0"/>
          </a:p>
        </p:txBody>
      </p:sp>
      <p:sp>
        <p:nvSpPr>
          <p:cNvPr id="8" name="Slide Number Placeholder 7"/>
          <p:cNvSpPr>
            <a:spLocks noGrp="1"/>
          </p:cNvSpPr>
          <p:nvPr>
            <p:ph type="sldNum" sz="quarter" idx="12"/>
          </p:nvPr>
        </p:nvSpPr>
        <p:spPr/>
        <p:txBody>
          <a:bodyPr/>
          <a:lstStyle/>
          <a:p>
            <a:fld id="{E31375A4-56A4-47D6-9801-1991572033F7}" type="slidenum">
              <a:rPr lang="en-US" smtClean="0"/>
              <a:t>23</a:t>
            </a:fld>
            <a:endParaRPr lang="en-US"/>
          </a:p>
        </p:txBody>
      </p:sp>
    </p:spTree>
    <p:extLst>
      <p:ext uri="{BB962C8B-B14F-4D97-AF65-F5344CB8AC3E}">
        <p14:creationId xmlns:p14="http://schemas.microsoft.com/office/powerpoint/2010/main" val="80328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Content Placeholder 2"/>
          <p:cNvSpPr>
            <a:spLocks noGrp="1"/>
          </p:cNvSpPr>
          <p:nvPr>
            <p:ph idx="1"/>
          </p:nvPr>
        </p:nvSpPr>
        <p:spPr/>
        <p:txBody>
          <a:bodyPr/>
          <a:lstStyle/>
          <a:p>
            <a:r>
              <a:rPr lang="en-US" b="1" dirty="0" smtClean="0"/>
              <a:t>Example</a:t>
            </a:r>
            <a:r>
              <a:rPr lang="en-US" dirty="0"/>
              <a:t>: Show all the steps of  insertion sort with the input:  </a:t>
            </a:r>
            <a:endParaRPr lang="en-US" dirty="0" smtClean="0"/>
          </a:p>
          <a:p>
            <a:r>
              <a:rPr lang="en-US" dirty="0" smtClean="0">
                <a:latin typeface="Cambria Math" pitchFamily="18" charset="0"/>
                <a:ea typeface="Cambria Math" pitchFamily="18" charset="0"/>
              </a:rPr>
              <a:t> 				3  </a:t>
            </a:r>
            <a:r>
              <a:rPr lang="en-US" dirty="0">
                <a:latin typeface="Cambria Math" pitchFamily="18" charset="0"/>
                <a:ea typeface="Cambria Math" pitchFamily="18" charset="0"/>
              </a:rPr>
              <a:t>2  4  1  5</a:t>
            </a:r>
          </a:p>
          <a:p>
            <a:pPr marL="571500" indent="-571500">
              <a:buFont typeface="+mj-lt"/>
              <a:buAutoNum type="romanLcPeriod"/>
            </a:pPr>
            <a:r>
              <a:rPr lang="en-US" dirty="0">
                <a:solidFill>
                  <a:srgbClr val="FF0000"/>
                </a:solidFill>
                <a:latin typeface="Cambria Math" pitchFamily="18" charset="0"/>
                <a:ea typeface="Cambria Math" pitchFamily="18" charset="0"/>
              </a:rPr>
              <a:t>2  3</a:t>
            </a:r>
            <a:r>
              <a:rPr lang="en-US" dirty="0">
                <a:latin typeface="Cambria Math" pitchFamily="18" charset="0"/>
                <a:ea typeface="Cambria Math" pitchFamily="18" charset="0"/>
              </a:rPr>
              <a:t>  4  1  5   </a:t>
            </a:r>
            <a:r>
              <a:rPr lang="en-US" i="1" dirty="0">
                <a:ea typeface="Cambria Math" pitchFamily="18" charset="0"/>
              </a:rPr>
              <a:t>(first two positions are interchanged)</a:t>
            </a:r>
          </a:p>
          <a:p>
            <a:pPr marL="571500" indent="-571500">
              <a:buFont typeface="+mj-lt"/>
              <a:buAutoNum type="romanLcPeriod"/>
            </a:pPr>
            <a:r>
              <a:rPr lang="en-US" dirty="0">
                <a:solidFill>
                  <a:srgbClr val="FF0000"/>
                </a:solidFill>
                <a:latin typeface="Cambria Math" pitchFamily="18" charset="0"/>
                <a:ea typeface="Cambria Math" pitchFamily="18" charset="0"/>
              </a:rPr>
              <a:t>2  3</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4</a:t>
            </a:r>
            <a:r>
              <a:rPr lang="en-US" dirty="0">
                <a:latin typeface="Cambria Math" pitchFamily="18" charset="0"/>
                <a:ea typeface="Cambria Math" pitchFamily="18" charset="0"/>
              </a:rPr>
              <a:t>  1  5   </a:t>
            </a:r>
            <a:r>
              <a:rPr lang="en-US" i="1" dirty="0">
                <a:ea typeface="Cambria Math" pitchFamily="18" charset="0"/>
              </a:rPr>
              <a:t>(third element remains in its position)             </a:t>
            </a:r>
          </a:p>
          <a:p>
            <a:pPr marL="571500" indent="-571500">
              <a:buFont typeface="+mj-lt"/>
              <a:buAutoNum type="romanLcPeriod"/>
            </a:pPr>
            <a:r>
              <a:rPr lang="en-US" dirty="0">
                <a:solidFill>
                  <a:srgbClr val="FF0000"/>
                </a:solidFill>
                <a:latin typeface="Cambria Math" pitchFamily="18" charset="0"/>
                <a:ea typeface="Cambria Math" pitchFamily="18" charset="0"/>
              </a:rPr>
              <a:t>1 2  3</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4</a:t>
            </a:r>
            <a:r>
              <a:rPr lang="en-US" dirty="0">
                <a:latin typeface="Cambria Math" pitchFamily="18" charset="0"/>
                <a:ea typeface="Cambria Math" pitchFamily="18" charset="0"/>
              </a:rPr>
              <a:t>  5    </a:t>
            </a:r>
            <a:r>
              <a:rPr lang="en-US" i="1" dirty="0">
                <a:ea typeface="Cambria Math" pitchFamily="18" charset="0"/>
              </a:rPr>
              <a:t>(fourth is placed at beginning)</a:t>
            </a:r>
          </a:p>
          <a:p>
            <a:pPr marL="571500" indent="-571500">
              <a:buFont typeface="+mj-lt"/>
              <a:buAutoNum type="romanLcPeriod"/>
            </a:pPr>
            <a:r>
              <a:rPr lang="en-US" dirty="0">
                <a:solidFill>
                  <a:srgbClr val="FF0000"/>
                </a:solidFill>
                <a:latin typeface="Cambria Math" pitchFamily="18" charset="0"/>
                <a:ea typeface="Cambria Math" pitchFamily="18" charset="0"/>
              </a:rPr>
              <a:t>1 2  3</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4</a:t>
            </a:r>
            <a:r>
              <a:rPr lang="en-US" dirty="0">
                <a:latin typeface="Cambria Math" pitchFamily="18" charset="0"/>
                <a:ea typeface="Cambria Math" pitchFamily="18" charset="0"/>
              </a:rPr>
              <a:t>  </a:t>
            </a:r>
            <a:r>
              <a:rPr lang="en-US" dirty="0">
                <a:solidFill>
                  <a:srgbClr val="FF0000"/>
                </a:solidFill>
                <a:latin typeface="Cambria Math" pitchFamily="18" charset="0"/>
                <a:ea typeface="Cambria Math" pitchFamily="18" charset="0"/>
              </a:rPr>
              <a:t>5     </a:t>
            </a:r>
            <a:r>
              <a:rPr lang="en-US" i="1" dirty="0">
                <a:ea typeface="Cambria Math" pitchFamily="18" charset="0"/>
              </a:rPr>
              <a:t>(fifth  element remains in its position)</a:t>
            </a:r>
          </a:p>
          <a:p>
            <a:pPr marL="571500" indent="-571500">
              <a:buFont typeface="+mj-lt"/>
              <a:buAutoNum type="romanLcPeriod"/>
            </a:pPr>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24</a:t>
            </a:fld>
            <a:endParaRPr lang="en-US"/>
          </a:p>
        </p:txBody>
      </p:sp>
      <p:sp>
        <p:nvSpPr>
          <p:cNvPr id="5" name="TextBox 4"/>
          <p:cNvSpPr txBox="1"/>
          <p:nvPr/>
        </p:nvSpPr>
        <p:spPr>
          <a:xfrm>
            <a:off x="7916091" y="5671107"/>
            <a:ext cx="3850982" cy="369332"/>
          </a:xfrm>
          <a:prstGeom prst="rect">
            <a:avLst/>
          </a:prstGeom>
          <a:noFill/>
        </p:spPr>
        <p:txBody>
          <a:bodyPr wrap="square" rtlCol="0">
            <a:spAutoFit/>
          </a:bodyPr>
          <a:lstStyle/>
          <a:p>
            <a:r>
              <a:rPr lang="en-US" b="1" dirty="0" smtClean="0"/>
              <a:t>Continue on Next Slide …..</a:t>
            </a:r>
            <a:endParaRPr lang="en-US" b="1" dirty="0"/>
          </a:p>
        </p:txBody>
      </p:sp>
    </p:spTree>
    <p:extLst>
      <p:ext uri="{BB962C8B-B14F-4D97-AF65-F5344CB8AC3E}">
        <p14:creationId xmlns:p14="http://schemas.microsoft.com/office/powerpoint/2010/main" val="388130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1375A4-56A4-47D6-9801-1991572033F7}" type="slidenum">
              <a:rPr lang="en-US" smtClean="0"/>
              <a:t>25</a:t>
            </a:fld>
            <a:endParaRPr lang="en-US"/>
          </a:p>
        </p:txBody>
      </p:sp>
      <p:sp>
        <p:nvSpPr>
          <p:cNvPr id="5" name="Rectangle 1"/>
          <p:cNvSpPr>
            <a:spLocks noGrp="1" noChangeArrowheads="1"/>
          </p:cNvSpPr>
          <p:nvPr>
            <p:ph idx="1"/>
          </p:nvPr>
        </p:nvSpPr>
        <p:spPr bwMode="auto">
          <a:xfrm>
            <a:off x="1164772" y="1500268"/>
            <a:ext cx="889362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Step 1: Start with the second element (2)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Compare </a:t>
            </a:r>
            <a:r>
              <a:rPr kumimoji="0" lang="en-US" altLang="en-US" sz="1800" b="1" i="0" u="none" strike="noStrike" cap="none" normalizeH="0" baseline="0" dirty="0" smtClean="0">
                <a:ln>
                  <a:noFill/>
                </a:ln>
                <a:solidFill>
                  <a:schemeClr val="tx1"/>
                </a:solidFill>
                <a:effectLst/>
                <a:latin typeface="Arial" panose="020B0604020202020204" pitchFamily="34" charset="0"/>
              </a:rPr>
              <a:t>2</a:t>
            </a:r>
            <a:r>
              <a:rPr kumimoji="0" lang="en-US" altLang="en-US" sz="1800" b="0" i="0" u="none" strike="noStrike" cap="none" normalizeH="0" baseline="0" dirty="0" smtClean="0">
                <a:ln>
                  <a:noFill/>
                </a:ln>
                <a:solidFill>
                  <a:schemeClr val="tx1"/>
                </a:solidFill>
                <a:effectLst/>
                <a:latin typeface="Arial" panose="020B0604020202020204" pitchFamily="34" charset="0"/>
              </a:rPr>
              <a:t> with the first element </a:t>
            </a:r>
            <a:r>
              <a:rPr kumimoji="0" lang="en-US" altLang="en-US" sz="1800" b="1" i="0" u="none" strike="noStrike" cap="none" normalizeH="0" baseline="0" dirty="0" smtClean="0">
                <a:ln>
                  <a:noFill/>
                </a:ln>
                <a:solidFill>
                  <a:schemeClr val="tx1"/>
                </a:solidFill>
                <a:effectLst/>
                <a:latin typeface="Arial" panose="020B0604020202020204" pitchFamily="34" charset="0"/>
              </a:rPr>
              <a:t>3</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Since </a:t>
            </a:r>
            <a:r>
              <a:rPr kumimoji="0" lang="en-US" altLang="en-US" sz="1800" b="1" i="0" u="none" strike="noStrike" cap="none" normalizeH="0" baseline="0" dirty="0" smtClean="0">
                <a:ln>
                  <a:noFill/>
                </a:ln>
                <a:solidFill>
                  <a:srgbClr val="00B0F0"/>
                </a:solidFill>
                <a:effectLst/>
                <a:latin typeface="Arial" panose="020B0604020202020204" pitchFamily="34" charset="0"/>
              </a:rPr>
              <a:t>2 &lt; 3</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swap them</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List now:</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rgbClr val="00B0F0"/>
                </a:solidFill>
                <a:effectLst/>
                <a:latin typeface="Arial Unicode MS"/>
              </a:rPr>
              <a:t>2 3</a:t>
            </a:r>
            <a:r>
              <a:rPr kumimoji="0" lang="en-US" altLang="en-US" sz="1800" b="0" i="0" u="none" strike="noStrike" cap="none" normalizeH="0" baseline="0" dirty="0" smtClean="0">
                <a:ln>
                  <a:noFill/>
                </a:ln>
                <a:solidFill>
                  <a:schemeClr val="tx1"/>
                </a:solidFill>
                <a:effectLst/>
                <a:latin typeface="Arial Unicode MS"/>
              </a:rPr>
              <a:t> 4 1 5</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1164772" y="3795346"/>
            <a:ext cx="479169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Step 2: Take the third element (4)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panose="020B0604020202020204" pitchFamily="34" charset="0"/>
              </a:rPr>
              <a:t>Compare</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smtClean="0">
                <a:ln>
                  <a:noFill/>
                </a:ln>
                <a:solidFill>
                  <a:schemeClr val="tx1"/>
                </a:solidFill>
                <a:effectLst/>
                <a:latin typeface="Arial" panose="020B0604020202020204" pitchFamily="34" charset="0"/>
              </a:rPr>
              <a:t>4</a:t>
            </a:r>
            <a:r>
              <a:rPr kumimoji="0" lang="en-US" altLang="en-US" b="0" i="0" u="none" strike="noStrike" cap="none" normalizeH="0" baseline="0" dirty="0" smtClean="0">
                <a:ln>
                  <a:noFill/>
                </a:ln>
                <a:solidFill>
                  <a:schemeClr val="tx1"/>
                </a:solidFill>
                <a:effectLst/>
                <a:latin typeface="Arial" panose="020B0604020202020204" pitchFamily="34" charset="0"/>
              </a:rPr>
              <a:t> with elements before it: </a:t>
            </a:r>
            <a:r>
              <a:rPr kumimoji="0" lang="en-US" altLang="en-US" b="1" i="0" u="none" strike="noStrike" cap="none" normalizeH="0" baseline="0" dirty="0" smtClean="0">
                <a:ln>
                  <a:noFill/>
                </a:ln>
                <a:solidFill>
                  <a:schemeClr val="tx1"/>
                </a:solidFill>
                <a:effectLst/>
                <a:latin typeface="Arial" panose="020B0604020202020204" pitchFamily="34" charset="0"/>
              </a:rPr>
              <a:t>3</a:t>
            </a:r>
            <a:r>
              <a:rPr kumimoji="0" lang="en-US" altLang="en-US" b="0" i="0" u="none" strike="noStrike" cap="none" normalizeH="0" baseline="0" dirty="0" smtClean="0">
                <a:ln>
                  <a:noFill/>
                </a:ln>
                <a:solidFill>
                  <a:schemeClr val="tx1"/>
                </a:solidFill>
                <a:effectLst/>
                <a:latin typeface="Arial" panose="020B0604020202020204" pitchFamily="34" charset="0"/>
              </a:rPr>
              <a:t> and </a:t>
            </a:r>
            <a:r>
              <a:rPr kumimoji="0" lang="en-US" altLang="en-US" b="1" i="0" u="none" strike="noStrike" cap="none" normalizeH="0" baseline="0" dirty="0" smtClean="0">
                <a:ln>
                  <a:noFill/>
                </a:ln>
                <a:solidFill>
                  <a:schemeClr val="tx1"/>
                </a:solidFill>
                <a:effectLst/>
                <a:latin typeface="Arial" panose="020B0604020202020204" pitchFamily="34" charset="0"/>
              </a:rPr>
              <a:t>2</a:t>
            </a:r>
            <a:r>
              <a:rPr kumimoji="0" lang="en-US" altLang="en-US"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B0F0"/>
                </a:solidFill>
                <a:effectLst/>
                <a:latin typeface="Arial" panose="020B0604020202020204" pitchFamily="34" charset="0"/>
              </a:rPr>
              <a:t> 4 &gt; 3 </a:t>
            </a:r>
            <a:r>
              <a:rPr kumimoji="0" lang="en-US" altLang="en-US" b="0" i="0" u="none" strike="noStrike" cap="none" normalizeH="0" baseline="0" dirty="0" smtClean="0">
                <a:ln>
                  <a:noFill/>
                </a:ln>
                <a:solidFill>
                  <a:schemeClr val="tx1"/>
                </a:solidFill>
                <a:effectLst/>
                <a:latin typeface="Arial" panose="020B0604020202020204" pitchFamily="34" charset="0"/>
              </a:rPr>
              <a:t>→ it’s already in the right position.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List now:</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smtClean="0">
                <a:ln>
                  <a:noFill/>
                </a:ln>
                <a:solidFill>
                  <a:srgbClr val="00B0F0"/>
                </a:solidFill>
                <a:effectLst/>
                <a:latin typeface="Arial Unicode MS"/>
              </a:rPr>
              <a:t>2 3 4 </a:t>
            </a:r>
            <a:r>
              <a:rPr kumimoji="0" lang="en-US" altLang="en-US" b="0" i="0" u="none" strike="noStrike" cap="none" normalizeH="0" baseline="0" dirty="0" smtClean="0">
                <a:ln>
                  <a:noFill/>
                </a:ln>
                <a:solidFill>
                  <a:schemeClr val="tx1"/>
                </a:solidFill>
                <a:effectLst/>
                <a:latin typeface="Arial Unicode MS"/>
              </a:rPr>
              <a:t>1 5</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7221582" y="1412655"/>
            <a:ext cx="4495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Step 3: Take the fourth element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Compare </a:t>
            </a:r>
            <a:r>
              <a:rPr kumimoji="0" lang="en-US" altLang="en-US" b="1" i="0" u="none" strike="noStrike" cap="none" normalizeH="0" baseline="0" dirty="0" smtClean="0">
                <a:ln>
                  <a:noFill/>
                </a:ln>
                <a:solidFill>
                  <a:schemeClr val="tx1"/>
                </a:solidFill>
                <a:effectLst/>
                <a:latin typeface="Arial" panose="020B0604020202020204" pitchFamily="34" charset="0"/>
              </a:rPr>
              <a:t>1</a:t>
            </a:r>
            <a:r>
              <a:rPr kumimoji="0" lang="en-US" altLang="en-US" b="0" i="0" u="none" strike="noStrike" cap="none" normalizeH="0" baseline="0" dirty="0" smtClean="0">
                <a:ln>
                  <a:noFill/>
                </a:ln>
                <a:solidFill>
                  <a:schemeClr val="tx1"/>
                </a:solidFill>
                <a:effectLst/>
                <a:latin typeface="Arial" panose="020B0604020202020204" pitchFamily="34" charset="0"/>
              </a:rPr>
              <a:t> with </a:t>
            </a:r>
            <a:r>
              <a:rPr kumimoji="0" lang="en-US" altLang="en-US" b="1" i="0" u="none" strike="noStrike" cap="none" normalizeH="0" baseline="0" dirty="0" smtClean="0">
                <a:ln>
                  <a:noFill/>
                </a:ln>
                <a:effectLst/>
                <a:latin typeface="Arial" panose="020B0604020202020204" pitchFamily="34" charset="0"/>
              </a:rPr>
              <a:t>4</a:t>
            </a:r>
            <a:r>
              <a:rPr kumimoji="0" lang="en-US" altLang="en-US" b="1" i="0" u="none" strike="noStrike" cap="none" normalizeH="0" baseline="0" dirty="0" smtClean="0">
                <a:ln>
                  <a:noFill/>
                </a:ln>
                <a:solidFill>
                  <a:srgbClr val="00B0F0"/>
                </a:solidFill>
                <a:effectLst/>
                <a:latin typeface="Arial" panose="020B0604020202020204" pitchFamily="34" charset="0"/>
              </a:rPr>
              <a:t> → 1 &lt; 4</a:t>
            </a:r>
            <a:r>
              <a:rPr kumimoji="0" lang="en-US" altLang="en-US" b="0" i="0" u="none" strike="noStrike" cap="none" normalizeH="0" baseline="0" dirty="0" smtClean="0">
                <a:ln>
                  <a:noFill/>
                </a:ln>
                <a:solidFill>
                  <a:schemeClr val="tx1"/>
                </a:solidFill>
                <a:effectLst/>
                <a:latin typeface="Arial" panose="020B0604020202020204" pitchFamily="34" charset="0"/>
              </a:rPr>
              <a:t>, move 4 right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Compare </a:t>
            </a:r>
            <a:r>
              <a:rPr kumimoji="0" lang="en-US" altLang="en-US" b="1" i="0" u="none" strike="noStrike" cap="none" normalizeH="0" baseline="0" dirty="0" smtClean="0">
                <a:ln>
                  <a:noFill/>
                </a:ln>
                <a:solidFill>
                  <a:schemeClr val="tx1"/>
                </a:solidFill>
                <a:effectLst/>
                <a:latin typeface="Arial" panose="020B0604020202020204" pitchFamily="34" charset="0"/>
              </a:rPr>
              <a:t>1</a:t>
            </a:r>
            <a:r>
              <a:rPr kumimoji="0" lang="en-US" altLang="en-US" b="0" i="0" u="none" strike="noStrike" cap="none" normalizeH="0" baseline="0" dirty="0" smtClean="0">
                <a:ln>
                  <a:noFill/>
                </a:ln>
                <a:solidFill>
                  <a:schemeClr val="tx1"/>
                </a:solidFill>
                <a:effectLst/>
                <a:latin typeface="Arial" panose="020B0604020202020204" pitchFamily="34" charset="0"/>
              </a:rPr>
              <a:t> with </a:t>
            </a:r>
            <a:r>
              <a:rPr kumimoji="0" lang="en-US" altLang="en-US" b="1" i="0" u="none" strike="noStrike" cap="none" normalizeH="0" baseline="0" dirty="0" smtClean="0">
                <a:ln>
                  <a:noFill/>
                </a:ln>
                <a:solidFill>
                  <a:schemeClr val="tx1"/>
                </a:solidFill>
                <a:effectLst/>
                <a:latin typeface="Arial" panose="020B0604020202020204" pitchFamily="34" charset="0"/>
              </a:rPr>
              <a:t>3</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smtClean="0">
                <a:ln>
                  <a:noFill/>
                </a:ln>
                <a:solidFill>
                  <a:srgbClr val="00B0F0"/>
                </a:solidFill>
                <a:effectLst/>
                <a:latin typeface="Arial" panose="020B0604020202020204" pitchFamily="34" charset="0"/>
              </a:rPr>
              <a:t>→ 1 &lt; 3</a:t>
            </a:r>
            <a:r>
              <a:rPr kumimoji="0" lang="en-US" altLang="en-US" b="0" i="0" u="none" strike="noStrike" cap="none" normalizeH="0" baseline="0" dirty="0" smtClean="0">
                <a:ln>
                  <a:noFill/>
                </a:ln>
                <a:solidFill>
                  <a:schemeClr val="tx1"/>
                </a:solidFill>
                <a:effectLst/>
                <a:latin typeface="Arial" panose="020B0604020202020204" pitchFamily="34" charset="0"/>
              </a:rPr>
              <a:t>, move 3 right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Compare </a:t>
            </a:r>
            <a:r>
              <a:rPr kumimoji="0" lang="en-US" altLang="en-US" b="1" i="0" u="none" strike="noStrike" cap="none" normalizeH="0" baseline="0" dirty="0" smtClean="0">
                <a:ln>
                  <a:noFill/>
                </a:ln>
                <a:solidFill>
                  <a:schemeClr val="tx1"/>
                </a:solidFill>
                <a:effectLst/>
                <a:latin typeface="Arial" panose="020B0604020202020204" pitchFamily="34" charset="0"/>
              </a:rPr>
              <a:t>1</a:t>
            </a:r>
            <a:r>
              <a:rPr kumimoji="0" lang="en-US" altLang="en-US" b="0" i="0" u="none" strike="noStrike" cap="none" normalizeH="0" baseline="0" dirty="0" smtClean="0">
                <a:ln>
                  <a:noFill/>
                </a:ln>
                <a:solidFill>
                  <a:schemeClr val="tx1"/>
                </a:solidFill>
                <a:effectLst/>
                <a:latin typeface="Arial" panose="020B0604020202020204" pitchFamily="34" charset="0"/>
              </a:rPr>
              <a:t> with </a:t>
            </a:r>
            <a:r>
              <a:rPr kumimoji="0" lang="en-US" altLang="en-US" b="1" i="0" u="none" strike="noStrike" cap="none" normalizeH="0" baseline="0" dirty="0" smtClean="0">
                <a:ln>
                  <a:noFill/>
                </a:ln>
                <a:effectLst/>
                <a:latin typeface="Arial" panose="020B0604020202020204" pitchFamily="34" charset="0"/>
              </a:rPr>
              <a:t>2</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smtClean="0">
                <a:ln>
                  <a:noFill/>
                </a:ln>
                <a:solidFill>
                  <a:srgbClr val="00B0F0"/>
                </a:solidFill>
                <a:effectLst/>
                <a:latin typeface="Arial" panose="020B0604020202020204" pitchFamily="34" charset="0"/>
              </a:rPr>
              <a:t>→ 1 &lt; 2</a:t>
            </a:r>
            <a:r>
              <a:rPr kumimoji="0" lang="en-US" altLang="en-US" b="0" i="0" u="none" strike="noStrike" cap="none" normalizeH="0" baseline="0" dirty="0" smtClean="0">
                <a:ln>
                  <a:noFill/>
                </a:ln>
                <a:solidFill>
                  <a:schemeClr val="tx1"/>
                </a:solidFill>
                <a:effectLst/>
                <a:latin typeface="Arial" panose="020B0604020202020204" pitchFamily="34" charset="0"/>
              </a:rPr>
              <a:t>, move 2 right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Place 1 at the beginning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List now:</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smtClean="0">
                <a:ln>
                  <a:noFill/>
                </a:ln>
                <a:solidFill>
                  <a:srgbClr val="00B0F0"/>
                </a:solidFill>
                <a:effectLst/>
                <a:latin typeface="Arial Unicode MS"/>
              </a:rPr>
              <a:t>1 2 3 4</a:t>
            </a:r>
            <a:r>
              <a:rPr kumimoji="0" lang="en-US" altLang="en-US" b="0" i="0" u="none" strike="noStrike" cap="none" normalizeH="0" baseline="0" dirty="0" smtClean="0">
                <a:ln>
                  <a:noFill/>
                </a:ln>
                <a:solidFill>
                  <a:schemeClr val="tx1"/>
                </a:solidFill>
                <a:effectLst/>
                <a:latin typeface="Arial Unicode MS"/>
              </a:rPr>
              <a:t> 5</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
        <p:nvSpPr>
          <p:cNvPr id="8" name="Rectangle 4"/>
          <p:cNvSpPr>
            <a:spLocks noChangeArrowheads="1"/>
          </p:cNvSpPr>
          <p:nvPr/>
        </p:nvSpPr>
        <p:spPr bwMode="auto">
          <a:xfrm>
            <a:off x="7221582" y="3795345"/>
            <a:ext cx="4495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Step 4: Take the fifth element (5)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Compare </a:t>
            </a:r>
            <a:r>
              <a:rPr kumimoji="0" lang="en-US" altLang="en-US" b="1" i="0" u="none" strike="noStrike" cap="none" normalizeH="0" baseline="0" dirty="0" smtClean="0">
                <a:ln>
                  <a:noFill/>
                </a:ln>
                <a:solidFill>
                  <a:schemeClr val="tx1"/>
                </a:solidFill>
                <a:effectLst/>
                <a:latin typeface="Arial" panose="020B0604020202020204" pitchFamily="34" charset="0"/>
              </a:rPr>
              <a:t>5</a:t>
            </a:r>
            <a:r>
              <a:rPr kumimoji="0" lang="en-US" altLang="en-US" b="0" i="0" u="none" strike="noStrike" cap="none" normalizeH="0" baseline="0" dirty="0" smtClean="0">
                <a:ln>
                  <a:noFill/>
                </a:ln>
                <a:solidFill>
                  <a:schemeClr val="tx1"/>
                </a:solidFill>
                <a:effectLst/>
                <a:latin typeface="Arial" panose="020B0604020202020204" pitchFamily="34" charset="0"/>
              </a:rPr>
              <a:t> with </a:t>
            </a:r>
            <a:r>
              <a:rPr kumimoji="0" lang="en-US" altLang="en-US" b="1" i="0" u="none" strike="noStrike" cap="none" normalizeH="0" baseline="0" dirty="0" smtClean="0">
                <a:ln>
                  <a:noFill/>
                </a:ln>
                <a:solidFill>
                  <a:schemeClr val="tx1"/>
                </a:solidFill>
                <a:effectLst/>
                <a:latin typeface="Arial" panose="020B0604020202020204" pitchFamily="34" charset="0"/>
              </a:rPr>
              <a:t>4</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smtClean="0">
                <a:ln>
                  <a:noFill/>
                </a:ln>
                <a:solidFill>
                  <a:srgbClr val="00B0F0"/>
                </a:solidFill>
                <a:effectLst/>
                <a:latin typeface="Arial" panose="020B0604020202020204" pitchFamily="34" charset="0"/>
              </a:rPr>
              <a:t>→ 5 &gt; 4</a:t>
            </a:r>
            <a:r>
              <a:rPr kumimoji="0" lang="en-US" altLang="en-US" b="0" i="0" u="none" strike="noStrike" cap="none" normalizeH="0" baseline="0" dirty="0" smtClean="0">
                <a:ln>
                  <a:noFill/>
                </a:ln>
                <a:solidFill>
                  <a:schemeClr val="tx1"/>
                </a:solidFill>
                <a:effectLst/>
                <a:latin typeface="Arial" panose="020B0604020202020204" pitchFamily="34" charset="0"/>
              </a:rPr>
              <a:t>, so it stays in place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Final sorted list:</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1" i="0" u="none" strike="noStrike" cap="none" normalizeH="0" baseline="0" dirty="0" smtClean="0">
                <a:ln>
                  <a:noFill/>
                </a:ln>
                <a:solidFill>
                  <a:srgbClr val="00B0F0"/>
                </a:solidFill>
                <a:effectLst/>
                <a:latin typeface="Arial Unicode MS"/>
              </a:rPr>
              <a:t>1 2 3 4 5</a:t>
            </a:r>
            <a:endParaRPr kumimoji="0" lang="en-US" altLang="en-US" b="1" i="0" u="none" strike="noStrike" cap="none" normalizeH="0" baseline="0" dirty="0" smtClean="0">
              <a:ln>
                <a:noFill/>
              </a:ln>
              <a:solidFill>
                <a:srgbClr val="00B0F0"/>
              </a:solidFill>
              <a:effectLst/>
              <a:latin typeface="Arial" panose="020B0604020202020204" pitchFamily="34" charset="0"/>
            </a:endParaRPr>
          </a:p>
        </p:txBody>
      </p:sp>
      <p:sp>
        <p:nvSpPr>
          <p:cNvPr id="9" name="Title 1"/>
          <p:cNvSpPr>
            <a:spLocks noGrp="1"/>
          </p:cNvSpPr>
          <p:nvPr>
            <p:ph type="title"/>
          </p:nvPr>
        </p:nvSpPr>
        <p:spPr>
          <a:xfrm>
            <a:off x="1164772" y="461507"/>
            <a:ext cx="9601200" cy="658741"/>
          </a:xfrm>
        </p:spPr>
        <p:txBody>
          <a:bodyPr/>
          <a:lstStyle/>
          <a:p>
            <a:r>
              <a:rPr lang="en-US" dirty="0"/>
              <a:t>Insertion </a:t>
            </a:r>
            <a:r>
              <a:rPr lang="en-US" dirty="0" smtClean="0"/>
              <a:t>Sort (Further Explanation)</a:t>
            </a:r>
            <a:endParaRPr lang="en-US" dirty="0"/>
          </a:p>
        </p:txBody>
      </p:sp>
    </p:spTree>
    <p:extLst>
      <p:ext uri="{BB962C8B-B14F-4D97-AF65-F5344CB8AC3E}">
        <p14:creationId xmlns:p14="http://schemas.microsoft.com/office/powerpoint/2010/main" val="82078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Insertion Sort – Illustration</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3347" y="1680963"/>
            <a:ext cx="6125306" cy="3675184"/>
          </a:xfrm>
        </p:spPr>
      </p:pic>
      <p:sp>
        <p:nvSpPr>
          <p:cNvPr id="4" name="Slide Number Placeholder 3"/>
          <p:cNvSpPr>
            <a:spLocks noGrp="1"/>
          </p:cNvSpPr>
          <p:nvPr>
            <p:ph type="sldNum" sz="quarter" idx="12"/>
          </p:nvPr>
        </p:nvSpPr>
        <p:spPr/>
        <p:txBody>
          <a:bodyPr/>
          <a:lstStyle/>
          <a:p>
            <a:fld id="{E31375A4-56A4-47D6-9801-1991572033F7}" type="slidenum">
              <a:rPr lang="en-US" smtClean="0"/>
              <a:t>26</a:t>
            </a:fld>
            <a:endParaRPr lang="en-US"/>
          </a:p>
        </p:txBody>
      </p:sp>
      <p:sp>
        <p:nvSpPr>
          <p:cNvPr id="6" name="Rectangle 5"/>
          <p:cNvSpPr/>
          <p:nvPr/>
        </p:nvSpPr>
        <p:spPr>
          <a:xfrm>
            <a:off x="1828399" y="5550728"/>
            <a:ext cx="8535202" cy="369332"/>
          </a:xfrm>
          <a:prstGeom prst="rect">
            <a:avLst/>
          </a:prstGeom>
        </p:spPr>
        <p:txBody>
          <a:bodyPr wrap="square">
            <a:spAutoFit/>
          </a:bodyPr>
          <a:lstStyle/>
          <a:p>
            <a:r>
              <a:rPr lang="en-US" dirty="0"/>
              <a:t>https://en.wikipedia.org/wiki/Insertion_sort#/media/File:Insertion-sort-example-300px.gif</a:t>
            </a:r>
          </a:p>
        </p:txBody>
      </p:sp>
    </p:spTree>
    <p:extLst>
      <p:ext uri="{BB962C8B-B14F-4D97-AF65-F5344CB8AC3E}">
        <p14:creationId xmlns:p14="http://schemas.microsoft.com/office/powerpoint/2010/main" val="2728472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4" name="Content Placeholder 2"/>
          <p:cNvSpPr txBox="1">
            <a:spLocks/>
          </p:cNvSpPr>
          <p:nvPr/>
        </p:nvSpPr>
        <p:spPr>
          <a:xfrm>
            <a:off x="2518686" y="1981201"/>
            <a:ext cx="7154628" cy="3810000"/>
          </a:xfrm>
          <a:prstGeom prst="rect">
            <a:avLst/>
          </a:prstGeom>
          <a:ln>
            <a:solidFill>
              <a:schemeClr val="accent1"/>
            </a:solidFill>
          </a:ln>
        </p:spPr>
        <p:txBody>
          <a:bodyPr vert="horz">
            <a:normAutofit fontScale="25000" lnSpcReduction="20000"/>
          </a:bodyPr>
          <a:lstStyle/>
          <a:p>
            <a:pPr marL="274320" indent="-274320">
              <a:spcBef>
                <a:spcPct val="20000"/>
              </a:spcBef>
              <a:buClr>
                <a:schemeClr val="accent3"/>
              </a:buClr>
              <a:buSzPct val="95000"/>
              <a:defRPr/>
            </a:pPr>
            <a:r>
              <a:rPr lang="en-US" sz="8000" b="1" dirty="0"/>
              <a:t>procedure</a:t>
            </a:r>
            <a:r>
              <a:rPr lang="en-US" sz="8000" dirty="0"/>
              <a:t> </a:t>
            </a:r>
            <a:r>
              <a:rPr lang="en-US" sz="8000" i="1" dirty="0"/>
              <a:t>insertion sort</a:t>
            </a:r>
          </a:p>
          <a:p>
            <a:pPr marL="274320" indent="-274320">
              <a:spcBef>
                <a:spcPct val="20000"/>
              </a:spcBef>
              <a:buClr>
                <a:schemeClr val="accent3"/>
              </a:buClr>
              <a:buSzPct val="95000"/>
              <a:defRPr/>
            </a:pPr>
            <a:r>
              <a:rPr lang="en-US" sz="8000" i="1" dirty="0"/>
              <a:t>  </a:t>
            </a:r>
            <a:r>
              <a:rPr lang="en-US" sz="8000" dirty="0"/>
              <a:t>(</a:t>
            </a:r>
            <a:r>
              <a:rPr lang="en-US" sz="8000" i="1" dirty="0"/>
              <a:t>a</a:t>
            </a:r>
            <a:r>
              <a:rPr lang="en-US" sz="8000" baseline="-25000" dirty="0"/>
              <a:t>1</a:t>
            </a:r>
            <a:r>
              <a:rPr lang="en-US" sz="8000" dirty="0"/>
              <a:t>,…,</a:t>
            </a:r>
            <a:r>
              <a:rPr lang="en-US" sz="8000" i="1" dirty="0"/>
              <a:t>a</a:t>
            </a:r>
            <a:r>
              <a:rPr lang="en-US" sz="8000" i="1" baseline="-25000" dirty="0"/>
              <a:t>n</a:t>
            </a:r>
            <a:r>
              <a:rPr lang="en-US" sz="8000" dirty="0"/>
              <a:t>: </a:t>
            </a:r>
          </a:p>
          <a:p>
            <a:pPr marL="274320" indent="-274320">
              <a:spcBef>
                <a:spcPct val="20000"/>
              </a:spcBef>
              <a:buClr>
                <a:schemeClr val="accent3"/>
              </a:buClr>
              <a:buSzPct val="95000"/>
              <a:defRPr/>
            </a:pPr>
            <a:r>
              <a:rPr lang="en-US" sz="8000" dirty="0"/>
              <a:t>      real numbers with </a:t>
            </a:r>
            <a:r>
              <a:rPr lang="en-US" sz="8000" i="1" dirty="0"/>
              <a:t>n</a:t>
            </a:r>
            <a:r>
              <a:rPr lang="en-US" sz="8000" dirty="0"/>
              <a:t> ≥ </a:t>
            </a:r>
            <a:r>
              <a:rPr lang="en-US" sz="8000" dirty="0">
                <a:latin typeface="Cambria Math" pitchFamily="18" charset="0"/>
                <a:ea typeface="Cambria Math" pitchFamily="18" charset="0"/>
              </a:rPr>
              <a:t>2</a:t>
            </a:r>
            <a:r>
              <a:rPr lang="en-US" sz="8000" dirty="0"/>
              <a:t>)</a:t>
            </a:r>
          </a:p>
          <a:p>
            <a:pPr marL="274320" indent="-274320">
              <a:spcBef>
                <a:spcPct val="20000"/>
              </a:spcBef>
              <a:buClr>
                <a:schemeClr val="accent3"/>
              </a:buClr>
              <a:buSzPct val="95000"/>
              <a:defRPr/>
            </a:pPr>
            <a:r>
              <a:rPr lang="en-US" sz="8000" b="1" dirty="0"/>
              <a:t>     for </a:t>
            </a:r>
            <a:r>
              <a:rPr lang="en-US" sz="8000" i="1" dirty="0"/>
              <a:t>j</a:t>
            </a:r>
            <a:r>
              <a:rPr lang="en-US" sz="8000" dirty="0"/>
              <a:t> := </a:t>
            </a:r>
            <a:r>
              <a:rPr lang="en-US" sz="8000" dirty="0">
                <a:latin typeface="Cambria Math" pitchFamily="18" charset="0"/>
                <a:ea typeface="Cambria Math" pitchFamily="18" charset="0"/>
              </a:rPr>
              <a:t>2</a:t>
            </a:r>
            <a:r>
              <a:rPr lang="en-US" sz="8000" dirty="0"/>
              <a:t> to </a:t>
            </a:r>
            <a:r>
              <a:rPr lang="en-US" sz="8000" i="1" dirty="0"/>
              <a:t>n</a:t>
            </a:r>
          </a:p>
          <a:p>
            <a:pPr marL="274320" indent="-274320">
              <a:spcBef>
                <a:spcPct val="20000"/>
              </a:spcBef>
              <a:buClr>
                <a:schemeClr val="accent3"/>
              </a:buClr>
              <a:buSzPct val="95000"/>
              <a:defRPr/>
            </a:pPr>
            <a:r>
              <a:rPr lang="en-US" sz="8000" dirty="0"/>
              <a:t>         </a:t>
            </a:r>
            <a:r>
              <a:rPr lang="en-US" sz="8000" i="1" dirty="0" err="1"/>
              <a:t>i</a:t>
            </a:r>
            <a:r>
              <a:rPr lang="en-US" sz="8000" dirty="0"/>
              <a:t> := </a:t>
            </a:r>
            <a:r>
              <a:rPr lang="en-US" sz="8000" dirty="0">
                <a:latin typeface="Cambria Math" pitchFamily="18" charset="0"/>
                <a:ea typeface="Cambria Math" pitchFamily="18" charset="0"/>
              </a:rPr>
              <a:t>1</a:t>
            </a:r>
          </a:p>
          <a:p>
            <a:pPr marL="274320" indent="-274320">
              <a:spcBef>
                <a:spcPct val="20000"/>
              </a:spcBef>
              <a:buClr>
                <a:schemeClr val="accent3"/>
              </a:buClr>
              <a:buSzPct val="95000"/>
              <a:defRPr/>
            </a:pPr>
            <a:r>
              <a:rPr lang="en-US" sz="8000" dirty="0"/>
              <a:t>         </a:t>
            </a:r>
            <a:r>
              <a:rPr lang="en-US" sz="8000" b="1" dirty="0"/>
              <a:t>while</a:t>
            </a:r>
            <a:r>
              <a:rPr lang="en-US" sz="8000" dirty="0"/>
              <a:t> </a:t>
            </a:r>
            <a:r>
              <a:rPr lang="en-US" sz="8000" i="1" dirty="0" err="1"/>
              <a:t>a</a:t>
            </a:r>
            <a:r>
              <a:rPr lang="en-US" sz="8000" i="1" baseline="-25000" dirty="0" err="1"/>
              <a:t>j</a:t>
            </a:r>
            <a:r>
              <a:rPr lang="en-US" sz="8000" dirty="0"/>
              <a:t> &gt; </a:t>
            </a:r>
            <a:r>
              <a:rPr lang="en-US" sz="8000" i="1" dirty="0" err="1"/>
              <a:t>a</a:t>
            </a:r>
            <a:r>
              <a:rPr lang="en-US" sz="8000" i="1" baseline="-25000" dirty="0" err="1"/>
              <a:t>i</a:t>
            </a:r>
            <a:endParaRPr lang="en-US" sz="8000" i="1" dirty="0"/>
          </a:p>
          <a:p>
            <a:pPr marL="274320" indent="-274320">
              <a:spcBef>
                <a:spcPct val="20000"/>
              </a:spcBef>
              <a:buClr>
                <a:schemeClr val="accent3"/>
              </a:buClr>
              <a:buSzPct val="95000"/>
              <a:defRPr/>
            </a:pPr>
            <a:r>
              <a:rPr lang="en-US" sz="8000" dirty="0"/>
              <a:t>              </a:t>
            </a:r>
            <a:r>
              <a:rPr lang="en-US" sz="8000" i="1" dirty="0" err="1"/>
              <a:t>i</a:t>
            </a:r>
            <a:r>
              <a:rPr lang="en-US" sz="8000" dirty="0"/>
              <a:t> := </a:t>
            </a:r>
            <a:r>
              <a:rPr lang="en-US" sz="8000" i="1" dirty="0" err="1"/>
              <a:t>i</a:t>
            </a:r>
            <a:r>
              <a:rPr lang="en-US" sz="8000" dirty="0"/>
              <a:t> + </a:t>
            </a:r>
            <a:r>
              <a:rPr lang="en-US" sz="8000" dirty="0">
                <a:latin typeface="Cambria Math" pitchFamily="18" charset="0"/>
                <a:ea typeface="Cambria Math" pitchFamily="18" charset="0"/>
              </a:rPr>
              <a:t>1</a:t>
            </a:r>
          </a:p>
          <a:p>
            <a:pPr marL="274320" indent="-274320">
              <a:spcBef>
                <a:spcPct val="20000"/>
              </a:spcBef>
              <a:buClr>
                <a:schemeClr val="accent3"/>
              </a:buClr>
              <a:buSzPct val="95000"/>
              <a:defRPr/>
            </a:pPr>
            <a:r>
              <a:rPr lang="en-US" sz="8000" dirty="0"/>
              <a:t>          </a:t>
            </a:r>
            <a:r>
              <a:rPr lang="en-US" sz="8000" i="1" dirty="0"/>
              <a:t>m</a:t>
            </a:r>
            <a:r>
              <a:rPr lang="en-US" sz="8000" dirty="0"/>
              <a:t> := </a:t>
            </a:r>
            <a:r>
              <a:rPr lang="en-US" sz="8000" i="1" dirty="0" err="1"/>
              <a:t>a</a:t>
            </a:r>
            <a:r>
              <a:rPr lang="en-US" sz="8000" i="1" baseline="-25000" dirty="0" err="1"/>
              <a:t>j</a:t>
            </a:r>
            <a:endParaRPr lang="en-US" sz="8000" i="1" baseline="-25000" dirty="0"/>
          </a:p>
          <a:p>
            <a:pPr marL="274320" indent="-274320">
              <a:spcBef>
                <a:spcPct val="20000"/>
              </a:spcBef>
              <a:buClr>
                <a:schemeClr val="accent3"/>
              </a:buClr>
              <a:buSzPct val="95000"/>
              <a:defRPr/>
            </a:pPr>
            <a:r>
              <a:rPr lang="en-US" sz="8000" dirty="0"/>
              <a:t>          </a:t>
            </a:r>
            <a:r>
              <a:rPr lang="en-US" sz="8000" b="1" dirty="0"/>
              <a:t>for</a:t>
            </a:r>
            <a:r>
              <a:rPr lang="en-US" sz="8000" dirty="0"/>
              <a:t> </a:t>
            </a:r>
            <a:r>
              <a:rPr lang="en-US" sz="8000" i="1" dirty="0"/>
              <a:t>k</a:t>
            </a:r>
            <a:r>
              <a:rPr lang="en-US" sz="8000" dirty="0"/>
              <a:t> := </a:t>
            </a:r>
            <a:r>
              <a:rPr lang="en-US" sz="8000" dirty="0">
                <a:latin typeface="Cambria Math" pitchFamily="18" charset="0"/>
                <a:ea typeface="Cambria Math" pitchFamily="18" charset="0"/>
              </a:rPr>
              <a:t>0</a:t>
            </a:r>
            <a:r>
              <a:rPr lang="en-US" sz="8000" dirty="0"/>
              <a:t> to </a:t>
            </a:r>
            <a:r>
              <a:rPr lang="en-US" sz="8000" i="1" dirty="0"/>
              <a:t>j</a:t>
            </a:r>
            <a:r>
              <a:rPr lang="en-US" sz="8000" dirty="0"/>
              <a:t>  </a:t>
            </a:r>
            <a:r>
              <a:rPr lang="en-US" sz="8000" dirty="0">
                <a:latin typeface="Cambria Math"/>
                <a:ea typeface="Cambria Math"/>
              </a:rPr>
              <a:t>−</a:t>
            </a:r>
            <a:r>
              <a:rPr lang="en-US" sz="8000" dirty="0"/>
              <a:t> </a:t>
            </a:r>
            <a:r>
              <a:rPr lang="en-US" sz="8000" i="1" dirty="0" err="1"/>
              <a:t>i</a:t>
            </a:r>
            <a:r>
              <a:rPr lang="en-US" sz="8000" i="1" dirty="0"/>
              <a:t> </a:t>
            </a:r>
            <a:r>
              <a:rPr lang="en-US" sz="8000" dirty="0">
                <a:latin typeface="Cambria Math"/>
                <a:ea typeface="Cambria Math"/>
              </a:rPr>
              <a:t>− </a:t>
            </a:r>
            <a:r>
              <a:rPr lang="en-US" sz="8000" dirty="0">
                <a:latin typeface="Cambria Math" pitchFamily="18" charset="0"/>
                <a:ea typeface="Cambria Math" pitchFamily="18" charset="0"/>
              </a:rPr>
              <a:t>1</a:t>
            </a:r>
          </a:p>
          <a:p>
            <a:pPr marL="274320" indent="-274320">
              <a:spcBef>
                <a:spcPct val="20000"/>
              </a:spcBef>
              <a:buClr>
                <a:schemeClr val="accent3"/>
              </a:buClr>
              <a:buSzPct val="95000"/>
              <a:defRPr/>
            </a:pPr>
            <a:r>
              <a:rPr lang="en-US" sz="8000" dirty="0"/>
              <a:t>               </a:t>
            </a:r>
            <a:r>
              <a:rPr lang="en-US" sz="8000" i="1" dirty="0" err="1"/>
              <a:t>a</a:t>
            </a:r>
            <a:r>
              <a:rPr lang="en-US" sz="8000" i="1" baseline="-25000" dirty="0" err="1"/>
              <a:t>j</a:t>
            </a:r>
            <a:r>
              <a:rPr lang="en-US" sz="8000" baseline="-25000" dirty="0"/>
              <a:t>-</a:t>
            </a:r>
            <a:r>
              <a:rPr lang="en-US" sz="8000" i="1" baseline="-25000" dirty="0"/>
              <a:t>k</a:t>
            </a:r>
            <a:r>
              <a:rPr lang="en-US" sz="8000" dirty="0"/>
              <a:t> := </a:t>
            </a:r>
            <a:r>
              <a:rPr lang="en-US" sz="8000" i="1" dirty="0"/>
              <a:t>a</a:t>
            </a:r>
            <a:r>
              <a:rPr lang="en-US" sz="8000" i="1" baseline="-25000" dirty="0"/>
              <a:t>j</a:t>
            </a:r>
            <a:r>
              <a:rPr lang="en-US" sz="8000" baseline="-25000" dirty="0"/>
              <a:t>-</a:t>
            </a:r>
            <a:r>
              <a:rPr lang="en-US" sz="8000" i="1" baseline="-25000" dirty="0"/>
              <a:t>k-1</a:t>
            </a:r>
          </a:p>
          <a:p>
            <a:pPr marL="274320" indent="-274320">
              <a:spcBef>
                <a:spcPct val="20000"/>
              </a:spcBef>
              <a:buClr>
                <a:schemeClr val="accent3"/>
              </a:buClr>
              <a:buSzPct val="95000"/>
              <a:defRPr/>
            </a:pPr>
            <a:r>
              <a:rPr lang="en-US" sz="8000" dirty="0"/>
              <a:t>           </a:t>
            </a:r>
            <a:r>
              <a:rPr lang="en-US" sz="8000" i="1" dirty="0" err="1"/>
              <a:t>a</a:t>
            </a:r>
            <a:r>
              <a:rPr lang="en-US" sz="8000" i="1" baseline="-25000" dirty="0" err="1"/>
              <a:t>i</a:t>
            </a:r>
            <a:r>
              <a:rPr lang="en-US" sz="8000" dirty="0"/>
              <a:t> := </a:t>
            </a:r>
            <a:r>
              <a:rPr lang="en-US" sz="8000" i="1" dirty="0"/>
              <a:t>m</a:t>
            </a:r>
          </a:p>
          <a:p>
            <a:pPr marL="274320" indent="-274320">
              <a:spcBef>
                <a:spcPct val="20000"/>
              </a:spcBef>
              <a:buClr>
                <a:schemeClr val="accent3"/>
              </a:buClr>
              <a:buSzPct val="95000"/>
              <a:defRPr/>
            </a:pPr>
            <a:r>
              <a:rPr lang="en-US" sz="8000" dirty="0"/>
              <a:t>{Now </a:t>
            </a:r>
            <a:r>
              <a:rPr lang="en-US" sz="8000" i="1" dirty="0"/>
              <a:t>a</a:t>
            </a:r>
            <a:r>
              <a:rPr lang="en-US" sz="8000" baseline="-25000" dirty="0"/>
              <a:t>1</a:t>
            </a:r>
            <a:r>
              <a:rPr lang="en-US" sz="8000" dirty="0"/>
              <a:t>,…,</a:t>
            </a:r>
            <a:r>
              <a:rPr lang="en-US" sz="8000" i="1" dirty="0"/>
              <a:t>a</a:t>
            </a:r>
            <a:r>
              <a:rPr lang="en-US" sz="8000" i="1" baseline="-25000" dirty="0"/>
              <a:t>n</a:t>
            </a:r>
            <a:r>
              <a:rPr lang="en-US" sz="8000" dirty="0"/>
              <a:t> is in increasing order}</a:t>
            </a:r>
          </a:p>
          <a:p>
            <a:pPr marL="274320" indent="-274320">
              <a:spcBef>
                <a:spcPct val="20000"/>
              </a:spcBef>
              <a:buClr>
                <a:schemeClr val="accent3"/>
              </a:buClr>
              <a:buSzPct val="95000"/>
              <a:defRPr/>
            </a:pPr>
            <a:r>
              <a:rPr lang="en-US" sz="8000" dirty="0"/>
              <a:t>          </a:t>
            </a:r>
          </a:p>
          <a:p>
            <a:pPr marL="274320" indent="-274320">
              <a:spcBef>
                <a:spcPct val="20000"/>
              </a:spcBef>
              <a:buClr>
                <a:schemeClr val="accent3"/>
              </a:buClr>
              <a:buSzPct val="95000"/>
              <a:defRPr/>
            </a:pPr>
            <a:r>
              <a:rPr lang="en-US" sz="2600" dirty="0"/>
              <a:t>    </a:t>
            </a:r>
          </a:p>
        </p:txBody>
      </p:sp>
      <p:sp>
        <p:nvSpPr>
          <p:cNvPr id="6" name="Slide Number Placeholder 5"/>
          <p:cNvSpPr>
            <a:spLocks noGrp="1"/>
          </p:cNvSpPr>
          <p:nvPr>
            <p:ph type="sldNum" sz="quarter" idx="12"/>
          </p:nvPr>
        </p:nvSpPr>
        <p:spPr/>
        <p:txBody>
          <a:bodyPr/>
          <a:lstStyle/>
          <a:p>
            <a:fld id="{E31375A4-56A4-47D6-9801-1991572033F7}" type="slidenum">
              <a:rPr lang="en-US" smtClean="0"/>
              <a:t>27</a:t>
            </a:fld>
            <a:endParaRPr lang="en-US"/>
          </a:p>
        </p:txBody>
      </p:sp>
    </p:spTree>
    <p:extLst>
      <p:ext uri="{BB962C8B-B14F-4D97-AF65-F5344CB8AC3E}">
        <p14:creationId xmlns:p14="http://schemas.microsoft.com/office/powerpoint/2010/main" val="258653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4111" y="340337"/>
            <a:ext cx="9601200" cy="1142385"/>
          </a:xfrm>
        </p:spPr>
        <p:txBody>
          <a:bodyPr/>
          <a:lstStyle/>
          <a:p>
            <a:r>
              <a:rPr lang="en-US" dirty="0"/>
              <a:t>Complexity </a:t>
            </a:r>
            <a:r>
              <a:rPr lang="en-US" dirty="0" smtClean="0"/>
              <a:t>of Algorithms</a:t>
            </a:r>
            <a:endParaRPr lang="en-US" dirty="0"/>
          </a:p>
        </p:txBody>
      </p:sp>
      <p:sp>
        <p:nvSpPr>
          <p:cNvPr id="3" name="Content Placeholder 2"/>
          <p:cNvSpPr>
            <a:spLocks noGrp="1"/>
          </p:cNvSpPr>
          <p:nvPr>
            <p:ph idx="1"/>
          </p:nvPr>
        </p:nvSpPr>
        <p:spPr/>
        <p:txBody>
          <a:bodyPr/>
          <a:lstStyle/>
          <a:p>
            <a:r>
              <a:rPr lang="en-US" b="1" dirty="0" smtClean="0"/>
              <a:t>How can </a:t>
            </a:r>
            <a:r>
              <a:rPr lang="en-US" b="1" dirty="0"/>
              <a:t>the efficiency of an algorithm be analyzed</a:t>
            </a:r>
            <a:r>
              <a:rPr lang="en-US" b="1" dirty="0" smtClean="0"/>
              <a:t>?</a:t>
            </a:r>
            <a:endParaRPr lang="en-US" b="1" dirty="0"/>
          </a:p>
          <a:p>
            <a:r>
              <a:rPr lang="en-US" dirty="0"/>
              <a:t>One measure of efficiency is the time used by a computer to solve a problem using the algorithm, when input values are of a specified size. </a:t>
            </a:r>
            <a:endParaRPr lang="en-US" dirty="0" smtClean="0"/>
          </a:p>
          <a:p>
            <a:r>
              <a:rPr lang="en-US" dirty="0" smtClean="0"/>
              <a:t>A </a:t>
            </a:r>
            <a:r>
              <a:rPr lang="en-US" dirty="0"/>
              <a:t>second measure is the amount of computer </a:t>
            </a:r>
            <a:r>
              <a:rPr lang="en-US" dirty="0" smtClean="0"/>
              <a:t>memory required </a:t>
            </a:r>
            <a:r>
              <a:rPr lang="en-US" dirty="0"/>
              <a:t>to implement the algorithm when input values are of a specified size.</a:t>
            </a:r>
          </a:p>
        </p:txBody>
      </p:sp>
      <p:sp>
        <p:nvSpPr>
          <p:cNvPr id="4" name="Slide Number Placeholder 3"/>
          <p:cNvSpPr>
            <a:spLocks noGrp="1"/>
          </p:cNvSpPr>
          <p:nvPr>
            <p:ph type="sldNum" sz="quarter" idx="12"/>
          </p:nvPr>
        </p:nvSpPr>
        <p:spPr/>
        <p:txBody>
          <a:bodyPr/>
          <a:lstStyle/>
          <a:p>
            <a:fld id="{E31375A4-56A4-47D6-9801-1991572033F7}" type="slidenum">
              <a:rPr lang="en-US" smtClean="0"/>
              <a:t>28</a:t>
            </a:fld>
            <a:endParaRPr lang="en-US"/>
          </a:p>
        </p:txBody>
      </p:sp>
    </p:spTree>
    <p:extLst>
      <p:ext uri="{BB962C8B-B14F-4D97-AF65-F5344CB8AC3E}">
        <p14:creationId xmlns:p14="http://schemas.microsoft.com/office/powerpoint/2010/main" val="1695599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381" y="0"/>
            <a:ext cx="9601200" cy="1142385"/>
          </a:xfrm>
        </p:spPr>
        <p:txBody>
          <a:bodyPr/>
          <a:lstStyle/>
          <a:p>
            <a:r>
              <a:rPr lang="en-US" dirty="0"/>
              <a:t>Time Complexity</a:t>
            </a:r>
          </a:p>
        </p:txBody>
      </p:sp>
      <p:sp>
        <p:nvSpPr>
          <p:cNvPr id="3" name="Content Placeholder 2"/>
          <p:cNvSpPr>
            <a:spLocks noGrp="1"/>
          </p:cNvSpPr>
          <p:nvPr>
            <p:ph idx="1"/>
          </p:nvPr>
        </p:nvSpPr>
        <p:spPr>
          <a:xfrm>
            <a:off x="717884" y="1259307"/>
            <a:ext cx="11474116" cy="3809999"/>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The time complexity of an algorithm can be expressed in terms of the number of operations used by the algorithm when the input has a particular size. The operations used to measure time complexity can be the comparison of integers, the addition of integers, the multiplication of integers, the division of integers, or any other basic operation</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Time complexity is described in terms of the number of operations required instead of actual </a:t>
            </a:r>
            <a:r>
              <a:rPr lang="en-US" sz="2400" dirty="0">
                <a:latin typeface="Times New Roman" panose="02020603050405020304" pitchFamily="18" charset="0"/>
                <a:cs typeface="Times New Roman" panose="02020603050405020304" pitchFamily="18" charset="0"/>
              </a:rPr>
              <a:t>computer time because of the difference in time needed for different computers to perform basic operations.</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fastest computers in existence can perform basic bit operations (for instance, adding, multiplying, comparing, or exchanging two bits) in </a:t>
            </a:r>
            <a:r>
              <a:rPr lang="en-US" sz="2400" b="1" dirty="0">
                <a:latin typeface="Times New Roman" panose="02020603050405020304" pitchFamily="18" charset="0"/>
                <a:cs typeface="Times New Roman" panose="02020603050405020304" pitchFamily="18" charset="0"/>
              </a:rPr>
              <a:t>10−11 second </a:t>
            </a:r>
            <a:r>
              <a:rPr lang="en-US" sz="2400" dirty="0">
                <a:latin typeface="Times New Roman" panose="02020603050405020304" pitchFamily="18" charset="0"/>
                <a:cs typeface="Times New Roman" panose="02020603050405020304" pitchFamily="18" charset="0"/>
              </a:rPr>
              <a:t>(10 picoseconds), but personal computers may require </a:t>
            </a:r>
            <a:r>
              <a:rPr lang="en-US" sz="2400" b="1" dirty="0">
                <a:latin typeface="Times New Roman" panose="02020603050405020304" pitchFamily="18" charset="0"/>
                <a:cs typeface="Times New Roman" panose="02020603050405020304" pitchFamily="18" charset="0"/>
              </a:rPr>
              <a:t>10−8 second </a:t>
            </a:r>
            <a:r>
              <a:rPr lang="en-US" sz="2400" dirty="0">
                <a:latin typeface="Times New Roman" panose="02020603050405020304" pitchFamily="18" charset="0"/>
                <a:cs typeface="Times New Roman" panose="02020603050405020304" pitchFamily="18" charset="0"/>
              </a:rPr>
              <a:t>(10 nanoseconds), which is </a:t>
            </a:r>
            <a:r>
              <a:rPr lang="en-US" sz="2400" b="1" dirty="0">
                <a:latin typeface="Times New Roman" panose="02020603050405020304" pitchFamily="18" charset="0"/>
                <a:cs typeface="Times New Roman" panose="02020603050405020304" pitchFamily="18" charset="0"/>
              </a:rPr>
              <a:t>1000</a:t>
            </a:r>
            <a:r>
              <a:rPr lang="en-US" sz="2400" dirty="0">
                <a:latin typeface="Times New Roman" panose="02020603050405020304" pitchFamily="18" charset="0"/>
                <a:cs typeface="Times New Roman" panose="02020603050405020304" pitchFamily="18" charset="0"/>
              </a:rPr>
              <a:t> times as long, to do the same operations.</a:t>
            </a:r>
          </a:p>
        </p:txBody>
      </p:sp>
      <p:sp>
        <p:nvSpPr>
          <p:cNvPr id="4" name="Slide Number Placeholder 3"/>
          <p:cNvSpPr>
            <a:spLocks noGrp="1"/>
          </p:cNvSpPr>
          <p:nvPr>
            <p:ph type="sldNum" sz="quarter" idx="12"/>
          </p:nvPr>
        </p:nvSpPr>
        <p:spPr/>
        <p:txBody>
          <a:bodyPr/>
          <a:lstStyle/>
          <a:p>
            <a:fld id="{E31375A4-56A4-47D6-9801-1991572033F7}" type="slidenum">
              <a:rPr lang="en-US" smtClean="0"/>
              <a:t>29</a:t>
            </a:fld>
            <a:endParaRPr lang="en-US"/>
          </a:p>
        </p:txBody>
      </p:sp>
    </p:spTree>
    <p:extLst>
      <p:ext uri="{BB962C8B-B14F-4D97-AF65-F5344CB8AC3E}">
        <p14:creationId xmlns:p14="http://schemas.microsoft.com/office/powerpoint/2010/main" val="3327039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4111" y="1432561"/>
            <a:ext cx="9601200" cy="3809999"/>
          </a:xfrm>
        </p:spPr>
        <p:txBody>
          <a:bodyPr>
            <a:normAutofit/>
          </a:bodyPr>
          <a:lstStyle/>
          <a:p>
            <a:r>
              <a:rPr lang="en-US" sz="2400" dirty="0" smtClean="0"/>
              <a:t>Describe the </a:t>
            </a:r>
            <a:r>
              <a:rPr lang="en-US" sz="2400" dirty="0"/>
              <a:t>time complexity </a:t>
            </a:r>
            <a:r>
              <a:rPr lang="en-US" sz="2400" dirty="0" smtClean="0"/>
              <a:t>of Algorithm 1 </a:t>
            </a:r>
            <a:r>
              <a:rPr lang="en-US" sz="2400" dirty="0"/>
              <a:t>for finding the maximum element in a finite set of </a:t>
            </a:r>
            <a:r>
              <a:rPr lang="en-US" sz="2400" dirty="0" smtClean="0"/>
              <a:t>integers.</a:t>
            </a:r>
          </a:p>
          <a:p>
            <a:endParaRPr lang="en-US" sz="2400" dirty="0"/>
          </a:p>
        </p:txBody>
      </p:sp>
      <p:sp>
        <p:nvSpPr>
          <p:cNvPr id="4" name="Slide Number Placeholder 3"/>
          <p:cNvSpPr>
            <a:spLocks noGrp="1"/>
          </p:cNvSpPr>
          <p:nvPr>
            <p:ph type="sldNum" sz="quarter" idx="12"/>
          </p:nvPr>
        </p:nvSpPr>
        <p:spPr/>
        <p:txBody>
          <a:bodyPr/>
          <a:lstStyle/>
          <a:p>
            <a:fld id="{E31375A4-56A4-47D6-9801-1991572033F7}" type="slidenum">
              <a:rPr lang="en-US" smtClean="0"/>
              <a:t>30</a:t>
            </a:fld>
            <a:endParaRPr lang="en-US"/>
          </a:p>
        </p:txBody>
      </p:sp>
      <p:sp>
        <p:nvSpPr>
          <p:cNvPr id="5" name="Title 1"/>
          <p:cNvSpPr>
            <a:spLocks noGrp="1"/>
          </p:cNvSpPr>
          <p:nvPr>
            <p:ph type="title"/>
          </p:nvPr>
        </p:nvSpPr>
        <p:spPr>
          <a:xfrm>
            <a:off x="871889" y="118842"/>
            <a:ext cx="9601200" cy="1142385"/>
          </a:xfrm>
        </p:spPr>
        <p:txBody>
          <a:bodyPr/>
          <a:lstStyle/>
          <a:p>
            <a:r>
              <a:rPr lang="en-US" dirty="0"/>
              <a:t>Complexity </a:t>
            </a:r>
            <a:r>
              <a:rPr lang="en-US" dirty="0" smtClean="0"/>
              <a:t>of Algorithms</a:t>
            </a:r>
            <a:endParaRPr lang="en-US" dirty="0"/>
          </a:p>
        </p:txBody>
      </p:sp>
      <p:sp>
        <p:nvSpPr>
          <p:cNvPr id="6" name="Rectangle 1"/>
          <p:cNvSpPr>
            <a:spLocks noChangeArrowheads="1"/>
          </p:cNvSpPr>
          <p:nvPr/>
        </p:nvSpPr>
        <p:spPr bwMode="auto">
          <a:xfrm>
            <a:off x="1276093" y="2241737"/>
            <a:ext cx="79486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The </a:t>
            </a:r>
            <a:r>
              <a:rPr lang="en-US" altLang="en-US" dirty="0">
                <a:latin typeface="Times New Roman" panose="02020603050405020304" pitchFamily="18" charset="0"/>
                <a:cs typeface="Times New Roman" panose="02020603050405020304" pitchFamily="18" charset="0"/>
              </a:rPr>
              <a:t>algorithm starts by taking the </a:t>
            </a:r>
            <a:r>
              <a:rPr lang="en-US" altLang="en-US" b="1" dirty="0">
                <a:latin typeface="Times New Roman" panose="02020603050405020304" pitchFamily="18" charset="0"/>
                <a:cs typeface="Times New Roman" panose="02020603050405020304" pitchFamily="18" charset="0"/>
              </a:rPr>
              <a:t>first element</a:t>
            </a:r>
            <a:r>
              <a:rPr lang="en-US" altLang="en-US" dirty="0">
                <a:latin typeface="Times New Roman" panose="02020603050405020304" pitchFamily="18" charset="0"/>
                <a:cs typeface="Times New Roman" panose="02020603050405020304" pitchFamily="18" charset="0"/>
              </a:rPr>
              <a:t> as the temporary maximum</a:t>
            </a:r>
            <a:r>
              <a:rPr lang="en-US" altLang="en-US" dirty="0" smtClean="0">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then compares this maximum with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each of the remaining elements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one by 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If a larger element is found, the maximum is updated.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process continues until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all n elements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have been checked.</a:t>
            </a:r>
          </a:p>
        </p:txBody>
      </p:sp>
      <p:sp>
        <p:nvSpPr>
          <p:cNvPr id="9" name="Rectangle 8"/>
          <p:cNvSpPr/>
          <p:nvPr/>
        </p:nvSpPr>
        <p:spPr>
          <a:xfrm>
            <a:off x="1342230" y="3694977"/>
            <a:ext cx="9389218" cy="1261884"/>
          </a:xfrm>
          <a:prstGeom prst="rect">
            <a:avLst/>
          </a:prstGeom>
        </p:spPr>
        <p:txBody>
          <a:bodyPr wrap="square">
            <a:spAutoFit/>
          </a:bodyPr>
          <a:lstStyle/>
          <a:p>
            <a:r>
              <a:rPr lang="en-US" b="1" dirty="0"/>
              <a:t>Number of comparisons</a:t>
            </a:r>
          </a:p>
          <a:p>
            <a:pPr>
              <a:buFont typeface="Arial" panose="020B0604020202020204" pitchFamily="34" charset="0"/>
              <a:buChar char="•"/>
            </a:pPr>
            <a:r>
              <a:rPr lang="en-US" b="1" dirty="0"/>
              <a:t>The first element is taken without comparison.</a:t>
            </a:r>
          </a:p>
          <a:p>
            <a:pPr>
              <a:buFont typeface="Arial" panose="020B0604020202020204" pitchFamily="34" charset="0"/>
              <a:buChar char="•"/>
            </a:pPr>
            <a:r>
              <a:rPr lang="en-US" sz="2000" dirty="0"/>
              <a:t>Each of the remaining </a:t>
            </a:r>
            <a:r>
              <a:rPr lang="en-US" sz="2000" b="1" dirty="0"/>
              <a:t>(n − 1)</a:t>
            </a:r>
            <a:r>
              <a:rPr lang="en-US" sz="2000" dirty="0"/>
              <a:t> elements is compared once with the current maximum.</a:t>
            </a:r>
          </a:p>
          <a:p>
            <a:r>
              <a:rPr lang="en-US" sz="2000" dirty="0"/>
              <a:t>So, total comparisons ≈ </a:t>
            </a:r>
            <a:r>
              <a:rPr lang="en-US" sz="2000" b="1" dirty="0"/>
              <a:t>n − 1</a:t>
            </a:r>
            <a:r>
              <a:rPr lang="en-US" sz="2000" dirty="0"/>
              <a:t>.</a:t>
            </a:r>
          </a:p>
        </p:txBody>
      </p:sp>
      <p:sp>
        <p:nvSpPr>
          <p:cNvPr id="10" name="Rectangle 9"/>
          <p:cNvSpPr/>
          <p:nvPr/>
        </p:nvSpPr>
        <p:spPr>
          <a:xfrm>
            <a:off x="1342230" y="4999684"/>
            <a:ext cx="2032929" cy="400110"/>
          </a:xfrm>
          <a:prstGeom prst="rect">
            <a:avLst/>
          </a:prstGeom>
        </p:spPr>
        <p:txBody>
          <a:bodyPr wrap="none">
            <a:spAutoFit/>
          </a:bodyPr>
          <a:lstStyle/>
          <a:p>
            <a:r>
              <a:rPr lang="en-US" sz="2000" b="1" dirty="0">
                <a:solidFill>
                  <a:srgbClr val="0070C0"/>
                </a:solidFill>
              </a:rPr>
              <a:t>Time complexity</a:t>
            </a:r>
          </a:p>
        </p:txBody>
      </p:sp>
      <p:pic>
        <p:nvPicPr>
          <p:cNvPr id="11" name="Picture 10"/>
          <p:cNvPicPr>
            <a:picLocks noChangeAspect="1"/>
          </p:cNvPicPr>
          <p:nvPr/>
        </p:nvPicPr>
        <p:blipFill>
          <a:blip r:embed="rId2"/>
          <a:stretch>
            <a:fillRect/>
          </a:stretch>
        </p:blipFill>
        <p:spPr>
          <a:xfrm>
            <a:off x="2584901" y="5438069"/>
            <a:ext cx="3103630" cy="693223"/>
          </a:xfrm>
          <a:prstGeom prst="rect">
            <a:avLst/>
          </a:prstGeom>
        </p:spPr>
      </p:pic>
    </p:spTree>
    <p:extLst>
      <p:ext uri="{BB962C8B-B14F-4D97-AF65-F5344CB8AC3E}">
        <p14:creationId xmlns:p14="http://schemas.microsoft.com/office/powerpoint/2010/main" val="187938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504" y="51467"/>
            <a:ext cx="9601200" cy="531418"/>
          </a:xfrm>
        </p:spPr>
        <p:txBody>
          <a:bodyPr>
            <a:normAutofit/>
          </a:bodyPr>
          <a:lstStyle/>
          <a:p>
            <a:r>
              <a:rPr lang="en-US" dirty="0" smtClean="0"/>
              <a:t>Time Complexity </a:t>
            </a:r>
            <a:r>
              <a:rPr lang="en-US" dirty="0"/>
              <a:t>of L</a:t>
            </a:r>
            <a:r>
              <a:rPr lang="en-US" dirty="0" smtClean="0"/>
              <a:t>inear Search Algorithm</a:t>
            </a:r>
            <a:endParaRPr lang="en-US" dirty="0"/>
          </a:p>
        </p:txBody>
      </p:sp>
      <p:sp>
        <p:nvSpPr>
          <p:cNvPr id="3" name="Content Placeholder 2"/>
          <p:cNvSpPr>
            <a:spLocks noGrp="1"/>
          </p:cNvSpPr>
          <p:nvPr>
            <p:ph idx="1"/>
          </p:nvPr>
        </p:nvSpPr>
        <p:spPr>
          <a:xfrm>
            <a:off x="496504" y="783386"/>
            <a:ext cx="9119134" cy="5506293"/>
          </a:xfrm>
        </p:spPr>
        <p:txBody>
          <a:bodyPr>
            <a:normAutofit/>
          </a:bodyPr>
          <a:lstStyle/>
          <a:p>
            <a:pPr marL="0" indent="0">
              <a:buNone/>
            </a:pPr>
            <a:r>
              <a:rPr lang="en-US" sz="2000" b="1" dirty="0" smtClean="0"/>
              <a:t>Example: Describe </a:t>
            </a:r>
            <a:r>
              <a:rPr lang="en-US" sz="2000" b="1" dirty="0"/>
              <a:t>the time complexity of the linear search </a:t>
            </a:r>
            <a:r>
              <a:rPr lang="en-US" sz="2000" b="1" dirty="0" smtClean="0"/>
              <a:t>algorithm.</a:t>
            </a:r>
          </a:p>
          <a:p>
            <a:pPr marL="0" indent="0">
              <a:buNone/>
            </a:pPr>
            <a:r>
              <a:rPr lang="en-US" sz="2000" b="1" dirty="0" smtClean="0"/>
              <a:t>Solution: </a:t>
            </a:r>
            <a:r>
              <a:rPr lang="en-US" sz="2000" dirty="0" smtClean="0"/>
              <a:t>The </a:t>
            </a:r>
            <a:r>
              <a:rPr lang="en-US" sz="2000" dirty="0"/>
              <a:t>algorithm checks elements </a:t>
            </a:r>
            <a:r>
              <a:rPr lang="en-US" sz="2000" b="1" dirty="0"/>
              <a:t>one by one</a:t>
            </a:r>
            <a:r>
              <a:rPr lang="en-US" sz="2000" dirty="0"/>
              <a:t> starting from the </a:t>
            </a:r>
            <a:r>
              <a:rPr lang="en-US" sz="2000" dirty="0" smtClean="0"/>
              <a:t>first</a:t>
            </a:r>
            <a:r>
              <a:rPr lang="en-US" sz="2000" dirty="0"/>
              <a:t>.</a:t>
            </a:r>
          </a:p>
          <a:p>
            <a:r>
              <a:rPr lang="en-US" sz="2000" dirty="0"/>
              <a:t>It stops when:</a:t>
            </a:r>
          </a:p>
          <a:p>
            <a:pPr lvl="1"/>
            <a:r>
              <a:rPr lang="en-US" sz="2000" dirty="0"/>
              <a:t>the element </a:t>
            </a:r>
            <a:r>
              <a:rPr lang="en-US" sz="2000" b="1" dirty="0"/>
              <a:t>x is found</a:t>
            </a:r>
            <a:r>
              <a:rPr lang="en-US" sz="2000" dirty="0"/>
              <a:t>, or</a:t>
            </a:r>
          </a:p>
          <a:p>
            <a:pPr lvl="1"/>
            <a:r>
              <a:rPr lang="en-US" sz="2000" dirty="0"/>
              <a:t>the </a:t>
            </a:r>
            <a:r>
              <a:rPr lang="en-US" sz="2000" b="1" dirty="0"/>
              <a:t>end of the list</a:t>
            </a:r>
            <a:r>
              <a:rPr lang="en-US" sz="2000" dirty="0"/>
              <a:t> is reached.</a:t>
            </a:r>
          </a:p>
          <a:p>
            <a:pPr marL="0" indent="0">
              <a:buNone/>
            </a:pPr>
            <a:r>
              <a:rPr lang="en-US" sz="2000" b="1" dirty="0"/>
              <a:t>Number of </a:t>
            </a:r>
            <a:r>
              <a:rPr lang="en-US" sz="2000" b="1" dirty="0" smtClean="0"/>
              <a:t>comparisons:</a:t>
            </a:r>
            <a:endParaRPr lang="en-US" sz="2000" b="1" dirty="0"/>
          </a:p>
          <a:p>
            <a:pPr marL="0" indent="0">
              <a:buNone/>
            </a:pPr>
            <a:r>
              <a:rPr lang="en-US" sz="2000" dirty="0" smtClean="0"/>
              <a:t> At </a:t>
            </a:r>
            <a:r>
              <a:rPr lang="en-US" sz="2000" b="1" dirty="0"/>
              <a:t>each step</a:t>
            </a:r>
            <a:r>
              <a:rPr lang="en-US" sz="2000" dirty="0"/>
              <a:t>, two comparisons are made:</a:t>
            </a:r>
          </a:p>
          <a:p>
            <a:r>
              <a:rPr lang="en-US" sz="2000" dirty="0"/>
              <a:t>Check if we have reached the end of the </a:t>
            </a:r>
            <a:r>
              <a:rPr lang="en-US" sz="2000" dirty="0" smtClean="0"/>
              <a:t>list</a:t>
            </a:r>
          </a:p>
          <a:p>
            <a:r>
              <a:rPr lang="en-US" sz="2000" dirty="0" smtClean="0"/>
              <a:t>Compare </a:t>
            </a:r>
            <a:r>
              <a:rPr lang="en-US" sz="2000" b="1" dirty="0"/>
              <a:t>x</a:t>
            </a:r>
            <a:r>
              <a:rPr lang="en-US" sz="2000" dirty="0"/>
              <a:t> with the current element</a:t>
            </a:r>
          </a:p>
          <a:p>
            <a:pPr marL="0" indent="0">
              <a:buNone/>
            </a:pPr>
            <a:endParaRPr lang="en-US" sz="2000" dirty="0"/>
          </a:p>
        </p:txBody>
      </p:sp>
      <p:sp>
        <p:nvSpPr>
          <p:cNvPr id="4" name="Slide Number Placeholder 3"/>
          <p:cNvSpPr>
            <a:spLocks noGrp="1"/>
          </p:cNvSpPr>
          <p:nvPr>
            <p:ph type="sldNum" sz="quarter" idx="12"/>
          </p:nvPr>
        </p:nvSpPr>
        <p:spPr/>
        <p:txBody>
          <a:bodyPr/>
          <a:lstStyle/>
          <a:p>
            <a:fld id="{E31375A4-56A4-47D6-9801-1991572033F7}" type="slidenum">
              <a:rPr lang="en-US" smtClean="0"/>
              <a:t>31</a:t>
            </a:fld>
            <a:endParaRPr lang="en-US"/>
          </a:p>
        </p:txBody>
      </p:sp>
      <p:sp>
        <p:nvSpPr>
          <p:cNvPr id="5" name="TextBox 4"/>
          <p:cNvSpPr txBox="1"/>
          <p:nvPr/>
        </p:nvSpPr>
        <p:spPr>
          <a:xfrm>
            <a:off x="7324118" y="1617089"/>
            <a:ext cx="4215865" cy="1908215"/>
          </a:xfrm>
          <a:prstGeom prst="rect">
            <a:avLst/>
          </a:prstGeom>
          <a:noFill/>
        </p:spPr>
        <p:txBody>
          <a:bodyPr wrap="square" rtlCol="0">
            <a:spAutoFit/>
          </a:bodyPr>
          <a:lstStyle/>
          <a:p>
            <a:r>
              <a:rPr lang="en-US" sz="2000" b="1" dirty="0" smtClean="0">
                <a:solidFill>
                  <a:srgbClr val="0070C0"/>
                </a:solidFill>
              </a:rPr>
              <a:t>Case </a:t>
            </a:r>
            <a:r>
              <a:rPr lang="en-US" sz="2000" b="1" dirty="0">
                <a:solidFill>
                  <a:srgbClr val="0070C0"/>
                </a:solidFill>
              </a:rPr>
              <a:t>1: When x is found</a:t>
            </a:r>
          </a:p>
          <a:p>
            <a:r>
              <a:rPr lang="en-US" sz="2000" dirty="0"/>
              <a:t>Suppose </a:t>
            </a:r>
            <a:r>
              <a:rPr lang="en-US" sz="2000" b="1" dirty="0"/>
              <a:t>x is found at position </a:t>
            </a:r>
            <a:r>
              <a:rPr lang="en-US" sz="2000" b="1" dirty="0" err="1"/>
              <a:t>i</a:t>
            </a:r>
            <a:endParaRPr lang="en-US" sz="2000" dirty="0"/>
          </a:p>
          <a:p>
            <a:r>
              <a:rPr lang="en-US" sz="2000" dirty="0"/>
              <a:t>Comparisons used ≈ </a:t>
            </a:r>
            <a:r>
              <a:rPr lang="en-US" sz="2000" b="1" dirty="0"/>
              <a:t>2i + 1</a:t>
            </a:r>
            <a:endParaRPr lang="en-US" sz="2000" dirty="0"/>
          </a:p>
          <a:p>
            <a:r>
              <a:rPr lang="en-US" sz="2000" dirty="0"/>
              <a:t>If </a:t>
            </a:r>
            <a:r>
              <a:rPr lang="en-US" sz="2000" b="1" dirty="0"/>
              <a:t>x</a:t>
            </a:r>
            <a:r>
              <a:rPr lang="en-US" sz="2000" dirty="0"/>
              <a:t> is found early → fewer comparisons</a:t>
            </a:r>
          </a:p>
          <a:p>
            <a:endParaRPr lang="en-US" dirty="0"/>
          </a:p>
        </p:txBody>
      </p:sp>
      <p:sp>
        <p:nvSpPr>
          <p:cNvPr id="6" name="Rectangle 5"/>
          <p:cNvSpPr/>
          <p:nvPr/>
        </p:nvSpPr>
        <p:spPr>
          <a:xfrm>
            <a:off x="7368328" y="3275931"/>
            <a:ext cx="6096000" cy="1938992"/>
          </a:xfrm>
          <a:prstGeom prst="rect">
            <a:avLst/>
          </a:prstGeom>
        </p:spPr>
        <p:txBody>
          <a:bodyPr>
            <a:spAutoFit/>
          </a:bodyPr>
          <a:lstStyle/>
          <a:p>
            <a:r>
              <a:rPr lang="en-US" sz="2000" b="1" dirty="0">
                <a:solidFill>
                  <a:srgbClr val="0070C0"/>
                </a:solidFill>
              </a:rPr>
              <a:t>Case 2: Worst case (x is NOT in the list)</a:t>
            </a:r>
          </a:p>
          <a:p>
            <a:pPr>
              <a:buFont typeface="Arial" panose="020B0604020202020204" pitchFamily="34" charset="0"/>
              <a:buChar char="•"/>
            </a:pPr>
            <a:r>
              <a:rPr lang="en-US" sz="2000" dirty="0"/>
              <a:t>The algorithm checks </a:t>
            </a:r>
            <a:r>
              <a:rPr lang="en-US" sz="2000" b="1" dirty="0"/>
              <a:t>all n elements</a:t>
            </a:r>
            <a:endParaRPr lang="en-US" sz="2000" dirty="0"/>
          </a:p>
          <a:p>
            <a:pPr>
              <a:buFont typeface="Arial" panose="020B0604020202020204" pitchFamily="34" charset="0"/>
              <a:buChar char="•"/>
            </a:pPr>
            <a:r>
              <a:rPr lang="en-US" sz="2000" dirty="0"/>
              <a:t>For each element → 2 comparisons → </a:t>
            </a:r>
            <a:r>
              <a:rPr lang="en-US" sz="2000" b="1" dirty="0"/>
              <a:t>2n</a:t>
            </a:r>
            <a:endParaRPr lang="en-US" sz="2000" dirty="0"/>
          </a:p>
          <a:p>
            <a:pPr>
              <a:buFont typeface="Arial" panose="020B0604020202020204" pitchFamily="34" charset="0"/>
              <a:buChar char="•"/>
            </a:pPr>
            <a:r>
              <a:rPr lang="en-US" sz="2000" dirty="0"/>
              <a:t>One comparison to exit the loop</a:t>
            </a:r>
          </a:p>
          <a:p>
            <a:pPr>
              <a:buFont typeface="Arial" panose="020B0604020202020204" pitchFamily="34" charset="0"/>
              <a:buChar char="•"/>
            </a:pPr>
            <a:r>
              <a:rPr lang="en-US" sz="2000" dirty="0"/>
              <a:t>One comparison outside the loop</a:t>
            </a:r>
          </a:p>
          <a:p>
            <a:r>
              <a:rPr lang="en-US" sz="2000" b="1" dirty="0"/>
              <a:t>Total comparisons = 2n + 2</a:t>
            </a:r>
            <a:endParaRPr lang="en-US" sz="2000" dirty="0"/>
          </a:p>
        </p:txBody>
      </p:sp>
      <p:sp>
        <p:nvSpPr>
          <p:cNvPr id="7" name="Rectangle 6"/>
          <p:cNvSpPr/>
          <p:nvPr/>
        </p:nvSpPr>
        <p:spPr>
          <a:xfrm>
            <a:off x="594827" y="5211771"/>
            <a:ext cx="10205987" cy="707886"/>
          </a:xfrm>
          <a:prstGeom prst="rect">
            <a:avLst/>
          </a:prstGeom>
        </p:spPr>
        <p:txBody>
          <a:bodyPr wrap="square">
            <a:spAutoFit/>
          </a:bodyPr>
          <a:lstStyle/>
          <a:p>
            <a:r>
              <a:rPr lang="en-US" sz="2000" b="1" dirty="0">
                <a:solidFill>
                  <a:srgbClr val="0070C0"/>
                </a:solidFill>
              </a:rPr>
              <a:t>Time complexity</a:t>
            </a:r>
          </a:p>
          <a:p>
            <a:r>
              <a:rPr lang="en-US" sz="2000" b="1" dirty="0">
                <a:solidFill>
                  <a:srgbClr val="0070C0"/>
                </a:solidFill>
              </a:rPr>
              <a:t>Since the number of comparisons increases directly with n, the time complexity is:</a:t>
            </a:r>
          </a:p>
        </p:txBody>
      </p:sp>
      <p:pic>
        <p:nvPicPr>
          <p:cNvPr id="8" name="Picture 7"/>
          <p:cNvPicPr>
            <a:picLocks noChangeAspect="1"/>
          </p:cNvPicPr>
          <p:nvPr/>
        </p:nvPicPr>
        <p:blipFill rotWithShape="1">
          <a:blip r:embed="rId2"/>
          <a:srcRect l="22646" t="12312" r="19428" b="27095"/>
          <a:stretch/>
        </p:blipFill>
        <p:spPr>
          <a:xfrm>
            <a:off x="9713961" y="5418522"/>
            <a:ext cx="1029904" cy="667557"/>
          </a:xfrm>
          <a:prstGeom prst="rect">
            <a:avLst/>
          </a:prstGeom>
        </p:spPr>
      </p:pic>
    </p:spTree>
    <p:extLst>
      <p:ext uri="{BB962C8B-B14F-4D97-AF65-F5344CB8AC3E}">
        <p14:creationId xmlns:p14="http://schemas.microsoft.com/office/powerpoint/2010/main" val="2482325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992" y="315029"/>
            <a:ext cx="9601200" cy="574176"/>
          </a:xfrm>
        </p:spPr>
        <p:txBody>
          <a:bodyPr/>
          <a:lstStyle/>
          <a:p>
            <a:r>
              <a:rPr lang="en-US" dirty="0" smtClean="0"/>
              <a:t>WORST-CASE COMPLEXITY</a:t>
            </a:r>
            <a:endParaRPr lang="en-US" dirty="0"/>
          </a:p>
        </p:txBody>
      </p:sp>
      <p:sp>
        <p:nvSpPr>
          <p:cNvPr id="3" name="Content Placeholder 2"/>
          <p:cNvSpPr>
            <a:spLocks noGrp="1"/>
          </p:cNvSpPr>
          <p:nvPr>
            <p:ph idx="1"/>
          </p:nvPr>
        </p:nvSpPr>
        <p:spPr>
          <a:xfrm>
            <a:off x="554254" y="893546"/>
            <a:ext cx="11637745" cy="3809999"/>
          </a:xfrm>
        </p:spPr>
        <p:txBody>
          <a:bodyPr>
            <a:normAutofit/>
          </a:bodyPr>
          <a:lstStyle/>
          <a:p>
            <a:r>
              <a:rPr lang="en-US" sz="2000" b="1" dirty="0" smtClean="0"/>
              <a:t>EXAMPLE 3 </a:t>
            </a:r>
            <a:r>
              <a:rPr lang="en-US" sz="2000" b="1" dirty="0"/>
              <a:t>Describe the time complexity of the binary search algorithm </a:t>
            </a:r>
            <a:r>
              <a:rPr lang="en-US" sz="2000" b="1" dirty="0" smtClean="0"/>
              <a:t>in </a:t>
            </a:r>
            <a:r>
              <a:rPr lang="en-US" sz="2000" b="1" dirty="0"/>
              <a:t>terms of the number of comparisons used (and ignoring the time required to compute m = (</a:t>
            </a:r>
            <a:r>
              <a:rPr lang="en-US" sz="2000" b="1" dirty="0" err="1"/>
              <a:t>i</a:t>
            </a:r>
            <a:r>
              <a:rPr lang="en-US" sz="2000" b="1" dirty="0"/>
              <a:t> +j)/2 in each iteration of the loop in the algorithm</a:t>
            </a:r>
            <a:r>
              <a:rPr lang="en-US" sz="2000" b="1" dirty="0" smtClean="0"/>
              <a:t>).</a:t>
            </a:r>
            <a:endParaRPr lang="en-US" sz="2000" b="1" dirty="0"/>
          </a:p>
          <a:p>
            <a:pPr marL="0" indent="0">
              <a:buNone/>
            </a:pPr>
            <a:r>
              <a:rPr lang="en-US" sz="2000" b="1" dirty="0" smtClean="0"/>
              <a:t> How </a:t>
            </a:r>
            <a:r>
              <a:rPr lang="en-US" sz="2000" b="1" dirty="0"/>
              <a:t>binary search works </a:t>
            </a:r>
            <a:r>
              <a:rPr lang="en-US" sz="2000" b="1" dirty="0">
                <a:solidFill>
                  <a:srgbClr val="0070C0"/>
                </a:solidFill>
              </a:rPr>
              <a:t>(quick </a:t>
            </a:r>
            <a:r>
              <a:rPr lang="en-US" sz="2000" b="1" dirty="0" smtClean="0">
                <a:solidFill>
                  <a:srgbClr val="0070C0"/>
                </a:solidFill>
              </a:rPr>
              <a:t>reminder)</a:t>
            </a:r>
          </a:p>
          <a:p>
            <a:pPr marL="0">
              <a:lnSpc>
                <a:spcPct val="100000"/>
              </a:lnSpc>
              <a:spcBef>
                <a:spcPts val="0"/>
              </a:spcBef>
            </a:pPr>
            <a:r>
              <a:rPr lang="en-US" sz="2000" dirty="0" smtClean="0"/>
              <a:t>Compare the search value </a:t>
            </a:r>
            <a:r>
              <a:rPr lang="en-US" sz="2000" b="1" dirty="0" smtClean="0"/>
              <a:t>x</a:t>
            </a:r>
            <a:r>
              <a:rPr lang="en-US" sz="2000" dirty="0" smtClean="0"/>
              <a:t> with the </a:t>
            </a:r>
            <a:r>
              <a:rPr lang="en-US" sz="2000" b="1" dirty="0" smtClean="0"/>
              <a:t>middle element</a:t>
            </a:r>
            <a:r>
              <a:rPr lang="en-US" sz="2000" dirty="0" smtClean="0"/>
              <a:t> of the list.</a:t>
            </a:r>
          </a:p>
          <a:p>
            <a:pPr marL="0">
              <a:lnSpc>
                <a:spcPct val="100000"/>
              </a:lnSpc>
              <a:spcBef>
                <a:spcPts val="0"/>
              </a:spcBef>
            </a:pPr>
            <a:r>
              <a:rPr lang="en-US" sz="2000" dirty="0" smtClean="0"/>
              <a:t>If </a:t>
            </a:r>
            <a:r>
              <a:rPr lang="en-US" sz="2000" dirty="0"/>
              <a:t>x is smaller, search the </a:t>
            </a:r>
            <a:r>
              <a:rPr lang="en-US" sz="2000" b="1" dirty="0"/>
              <a:t>left half</a:t>
            </a:r>
            <a:r>
              <a:rPr lang="en-US" sz="2000" dirty="0"/>
              <a:t>.</a:t>
            </a:r>
          </a:p>
          <a:p>
            <a:pPr marL="0">
              <a:lnSpc>
                <a:spcPct val="100000"/>
              </a:lnSpc>
              <a:spcBef>
                <a:spcPts val="0"/>
              </a:spcBef>
            </a:pPr>
            <a:r>
              <a:rPr lang="en-US" sz="2000" dirty="0" smtClean="0"/>
              <a:t>If </a:t>
            </a:r>
            <a:r>
              <a:rPr lang="en-US" sz="2000" dirty="0"/>
              <a:t>x is larger, search the </a:t>
            </a:r>
            <a:r>
              <a:rPr lang="en-US" sz="2000" b="1" dirty="0"/>
              <a:t>right half</a:t>
            </a:r>
            <a:r>
              <a:rPr lang="en-US" sz="2000" dirty="0"/>
              <a:t>.</a:t>
            </a:r>
          </a:p>
          <a:p>
            <a:pPr marL="0">
              <a:lnSpc>
                <a:spcPct val="100000"/>
              </a:lnSpc>
              <a:spcBef>
                <a:spcPts val="0"/>
              </a:spcBef>
            </a:pPr>
            <a:r>
              <a:rPr lang="en-US" sz="2000" dirty="0" smtClean="0"/>
              <a:t>Repeat </a:t>
            </a:r>
            <a:r>
              <a:rPr lang="en-US" sz="2000" dirty="0"/>
              <a:t>this process until the element is found or only one element is left.</a:t>
            </a:r>
          </a:p>
          <a:p>
            <a:pPr marL="0" indent="0">
              <a:spcBef>
                <a:spcPts val="0"/>
              </a:spcBef>
              <a:buNone/>
            </a:pPr>
            <a:endParaRPr lang="en-US" sz="2000" b="1" dirty="0"/>
          </a:p>
        </p:txBody>
      </p:sp>
      <p:sp>
        <p:nvSpPr>
          <p:cNvPr id="4" name="Slide Number Placeholder 3"/>
          <p:cNvSpPr>
            <a:spLocks noGrp="1"/>
          </p:cNvSpPr>
          <p:nvPr>
            <p:ph type="sldNum" sz="quarter" idx="12"/>
          </p:nvPr>
        </p:nvSpPr>
        <p:spPr/>
        <p:txBody>
          <a:bodyPr/>
          <a:lstStyle/>
          <a:p>
            <a:fld id="{E31375A4-56A4-47D6-9801-1991572033F7}" type="slidenum">
              <a:rPr lang="en-US" smtClean="0"/>
              <a:t>32</a:t>
            </a:fld>
            <a:endParaRPr lang="en-US"/>
          </a:p>
        </p:txBody>
      </p:sp>
      <p:sp>
        <p:nvSpPr>
          <p:cNvPr id="8" name="Rectangle 7"/>
          <p:cNvSpPr/>
          <p:nvPr/>
        </p:nvSpPr>
        <p:spPr>
          <a:xfrm>
            <a:off x="648929" y="3740685"/>
            <a:ext cx="6096000" cy="1323439"/>
          </a:xfrm>
          <a:prstGeom prst="rect">
            <a:avLst/>
          </a:prstGeom>
        </p:spPr>
        <p:txBody>
          <a:bodyPr>
            <a:spAutoFit/>
          </a:bodyPr>
          <a:lstStyle/>
          <a:p>
            <a:r>
              <a:rPr lang="en-US" sz="2000" b="1" dirty="0"/>
              <a:t>Number of comparisons</a:t>
            </a:r>
          </a:p>
          <a:p>
            <a:pPr>
              <a:buFont typeface="Arial" panose="020B0604020202020204" pitchFamily="34" charset="0"/>
              <a:buChar char="•"/>
            </a:pPr>
            <a:r>
              <a:rPr lang="en-US" sz="2000" dirty="0"/>
              <a:t>At </a:t>
            </a:r>
            <a:r>
              <a:rPr lang="en-US" sz="2000" b="1" dirty="0"/>
              <a:t>each step</a:t>
            </a:r>
            <a:r>
              <a:rPr lang="en-US" sz="2000" dirty="0"/>
              <a:t>, the algorithm:</a:t>
            </a:r>
          </a:p>
          <a:p>
            <a:pPr marL="742950" lvl="1" indent="-285750">
              <a:buFont typeface="Arial" panose="020B0604020202020204" pitchFamily="34" charset="0"/>
              <a:buChar char="•"/>
            </a:pPr>
            <a:r>
              <a:rPr lang="en-US" sz="2000" dirty="0"/>
              <a:t>checks whether the search range is empty</a:t>
            </a:r>
          </a:p>
          <a:p>
            <a:pPr marL="742950" lvl="1" indent="-285750">
              <a:buFont typeface="Arial" panose="020B0604020202020204" pitchFamily="34" charset="0"/>
              <a:buChar char="•"/>
            </a:pPr>
            <a:r>
              <a:rPr lang="en-US" sz="2000" dirty="0"/>
              <a:t>compares </a:t>
            </a:r>
            <a:r>
              <a:rPr lang="en-US" sz="2000" b="1" dirty="0"/>
              <a:t>x</a:t>
            </a:r>
            <a:r>
              <a:rPr lang="en-US" sz="2000" dirty="0"/>
              <a:t> with the middle element</a:t>
            </a:r>
          </a:p>
        </p:txBody>
      </p:sp>
      <p:sp>
        <p:nvSpPr>
          <p:cNvPr id="9" name="Rectangle 8"/>
          <p:cNvSpPr/>
          <p:nvPr/>
        </p:nvSpPr>
        <p:spPr>
          <a:xfrm>
            <a:off x="7875639" y="1899642"/>
            <a:ext cx="6096000" cy="1323439"/>
          </a:xfrm>
          <a:prstGeom prst="rect">
            <a:avLst/>
          </a:prstGeom>
        </p:spPr>
        <p:txBody>
          <a:bodyPr>
            <a:spAutoFit/>
          </a:bodyPr>
          <a:lstStyle/>
          <a:p>
            <a:r>
              <a:rPr lang="en-US" sz="2000" b="1" dirty="0"/>
              <a:t>How many steps are needed?</a:t>
            </a:r>
          </a:p>
          <a:p>
            <a:pPr>
              <a:buFont typeface="Arial" panose="020B0604020202020204" pitchFamily="34" charset="0"/>
              <a:buChar char="•"/>
            </a:pPr>
            <a:r>
              <a:rPr lang="en-US" sz="2000" dirty="0"/>
              <a:t>Each step reduces the list size by </a:t>
            </a:r>
            <a:r>
              <a:rPr lang="en-US" sz="2000" b="1" dirty="0"/>
              <a:t>half</a:t>
            </a:r>
            <a:r>
              <a:rPr lang="en-US" sz="2000" dirty="0"/>
              <a:t>.</a:t>
            </a:r>
          </a:p>
          <a:p>
            <a:pPr>
              <a:buFont typeface="Arial" panose="020B0604020202020204" pitchFamily="34" charset="0"/>
              <a:buChar char="•"/>
            </a:pPr>
            <a:r>
              <a:rPr lang="en-US" sz="2000" dirty="0"/>
              <a:t>A list of size </a:t>
            </a:r>
            <a:r>
              <a:rPr lang="en-US" sz="2000" b="1" dirty="0"/>
              <a:t>n</a:t>
            </a:r>
            <a:r>
              <a:rPr lang="en-US" sz="2000" dirty="0"/>
              <a:t> can be halved </a:t>
            </a:r>
            <a:r>
              <a:rPr lang="en-US" sz="2000" b="1" dirty="0"/>
              <a:t>log₂ n times</a:t>
            </a:r>
            <a:r>
              <a:rPr lang="en-US" sz="2000" dirty="0"/>
              <a:t>.</a:t>
            </a:r>
          </a:p>
          <a:p>
            <a:r>
              <a:rPr lang="en-US" sz="2000" dirty="0"/>
              <a:t>So, total steps ≈ </a:t>
            </a:r>
            <a:r>
              <a:rPr lang="en-US" sz="2000" b="1" dirty="0"/>
              <a:t>log₂ n</a:t>
            </a:r>
            <a:r>
              <a:rPr lang="en-US" sz="2000" dirty="0"/>
              <a:t>.</a:t>
            </a:r>
          </a:p>
        </p:txBody>
      </p:sp>
      <p:pic>
        <p:nvPicPr>
          <p:cNvPr id="10" name="Picture 9"/>
          <p:cNvPicPr>
            <a:picLocks noChangeAspect="1"/>
          </p:cNvPicPr>
          <p:nvPr/>
        </p:nvPicPr>
        <p:blipFill>
          <a:blip r:embed="rId2"/>
          <a:stretch>
            <a:fillRect/>
          </a:stretch>
        </p:blipFill>
        <p:spPr>
          <a:xfrm>
            <a:off x="7761569" y="3624145"/>
            <a:ext cx="4439396" cy="1096636"/>
          </a:xfrm>
          <a:prstGeom prst="rect">
            <a:avLst/>
          </a:prstGeom>
        </p:spPr>
      </p:pic>
      <p:sp>
        <p:nvSpPr>
          <p:cNvPr id="11" name="Rectangle 10"/>
          <p:cNvSpPr/>
          <p:nvPr/>
        </p:nvSpPr>
        <p:spPr>
          <a:xfrm>
            <a:off x="648928" y="5034947"/>
            <a:ext cx="9871587" cy="707886"/>
          </a:xfrm>
          <a:prstGeom prst="rect">
            <a:avLst/>
          </a:prstGeom>
        </p:spPr>
        <p:txBody>
          <a:bodyPr wrap="square">
            <a:spAutoFit/>
          </a:bodyPr>
          <a:lstStyle/>
          <a:p>
            <a:r>
              <a:rPr lang="en-US" sz="2000" b="1" dirty="0">
                <a:solidFill>
                  <a:srgbClr val="0070C0"/>
                </a:solidFill>
              </a:rPr>
              <a:t>Time complexity</a:t>
            </a:r>
          </a:p>
          <a:p>
            <a:r>
              <a:rPr lang="en-US" sz="2000" b="1" dirty="0">
                <a:solidFill>
                  <a:srgbClr val="0070C0"/>
                </a:solidFill>
              </a:rPr>
              <a:t>Since the number of comparisons grows with log n, the time complexity is:</a:t>
            </a:r>
          </a:p>
        </p:txBody>
      </p:sp>
      <p:pic>
        <p:nvPicPr>
          <p:cNvPr id="12" name="Picture 11"/>
          <p:cNvPicPr>
            <a:picLocks noChangeAspect="1"/>
          </p:cNvPicPr>
          <p:nvPr/>
        </p:nvPicPr>
        <p:blipFill>
          <a:blip r:embed="rId3"/>
          <a:stretch>
            <a:fillRect/>
          </a:stretch>
        </p:blipFill>
        <p:spPr>
          <a:xfrm>
            <a:off x="9109456" y="5305656"/>
            <a:ext cx="2207472" cy="656591"/>
          </a:xfrm>
          <a:prstGeom prst="rect">
            <a:avLst/>
          </a:prstGeom>
        </p:spPr>
      </p:pic>
    </p:spTree>
    <p:extLst>
      <p:ext uri="{BB962C8B-B14F-4D97-AF65-F5344CB8AC3E}">
        <p14:creationId xmlns:p14="http://schemas.microsoft.com/office/powerpoint/2010/main" val="10519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12" y="-89774"/>
            <a:ext cx="9601200" cy="622303"/>
          </a:xfrm>
        </p:spPr>
        <p:txBody>
          <a:bodyPr>
            <a:normAutofit/>
          </a:bodyPr>
          <a:lstStyle/>
          <a:p>
            <a:r>
              <a:rPr lang="en-US" sz="2800" dirty="0"/>
              <a:t>AVERAGE-CASE COMPLEXITY</a:t>
            </a:r>
          </a:p>
        </p:txBody>
      </p:sp>
      <p:sp>
        <p:nvSpPr>
          <p:cNvPr id="3" name="Content Placeholder 2"/>
          <p:cNvSpPr>
            <a:spLocks noGrp="1"/>
          </p:cNvSpPr>
          <p:nvPr>
            <p:ph idx="1"/>
          </p:nvPr>
        </p:nvSpPr>
        <p:spPr>
          <a:xfrm>
            <a:off x="-49162" y="474030"/>
            <a:ext cx="12797849" cy="3809999"/>
          </a:xfrm>
        </p:spPr>
        <p:txBody>
          <a:bodyPr>
            <a:normAutofit/>
          </a:bodyPr>
          <a:lstStyle/>
          <a:p>
            <a:r>
              <a:rPr lang="en-US" sz="2000" b="1" dirty="0" smtClean="0"/>
              <a:t>EXAMPLE 4</a:t>
            </a:r>
            <a:r>
              <a:rPr lang="en-US" sz="2000" dirty="0" smtClean="0"/>
              <a:t> </a:t>
            </a:r>
            <a:r>
              <a:rPr lang="en-US" sz="2000" b="1" dirty="0"/>
              <a:t>Describe the average-case performance of the linear search algorithm in terms of the average number of comparisons used, assuming that the integer x is in the list and it is equally likely that x is in any position</a:t>
            </a:r>
          </a:p>
        </p:txBody>
      </p:sp>
      <p:sp>
        <p:nvSpPr>
          <p:cNvPr id="4" name="Slide Number Placeholder 3"/>
          <p:cNvSpPr>
            <a:spLocks noGrp="1"/>
          </p:cNvSpPr>
          <p:nvPr>
            <p:ph type="sldNum" sz="quarter" idx="12"/>
          </p:nvPr>
        </p:nvSpPr>
        <p:spPr/>
        <p:txBody>
          <a:bodyPr/>
          <a:lstStyle/>
          <a:p>
            <a:fld id="{E31375A4-56A4-47D6-9801-1991572033F7}" type="slidenum">
              <a:rPr lang="en-US" smtClean="0"/>
              <a:t>33</a:t>
            </a:fld>
            <a:endParaRPr lang="en-US"/>
          </a:p>
        </p:txBody>
      </p:sp>
      <p:sp>
        <p:nvSpPr>
          <p:cNvPr id="5" name="Rectangle 1"/>
          <p:cNvSpPr>
            <a:spLocks noChangeArrowheads="1"/>
          </p:cNvSpPr>
          <p:nvPr/>
        </p:nvSpPr>
        <p:spPr bwMode="auto">
          <a:xfrm>
            <a:off x="117986" y="1309771"/>
            <a:ext cx="8671285"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Step 1: Understanding comparisons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At </a:t>
            </a:r>
            <a:r>
              <a:rPr kumimoji="0" lang="en-US" altLang="en-US" sz="2000" b="1" i="0" u="none" strike="noStrike" cap="none" normalizeH="0" baseline="0" dirty="0" smtClean="0">
                <a:ln>
                  <a:noFill/>
                </a:ln>
                <a:solidFill>
                  <a:schemeClr val="tx1"/>
                </a:solidFill>
                <a:effectLst/>
                <a:latin typeface="Arial" panose="020B0604020202020204" pitchFamily="34" charset="0"/>
              </a:rPr>
              <a:t>each step</a:t>
            </a:r>
            <a:r>
              <a:rPr kumimoji="0" lang="en-US" altLang="en-US" sz="2000" b="0" i="0" u="none" strike="noStrike" cap="none" normalizeH="0" baseline="0" dirty="0" smtClean="0">
                <a:ln>
                  <a:noFill/>
                </a:ln>
                <a:solidFill>
                  <a:schemeClr val="tx1"/>
                </a:solidFill>
                <a:effectLst/>
                <a:latin typeface="Arial" panose="020B0604020202020204" pitchFamily="34" charset="0"/>
              </a:rPr>
              <a:t> of the loop, we check </a:t>
            </a:r>
            <a:r>
              <a:rPr kumimoji="0" lang="en-US" altLang="en-US" sz="2000" b="1" i="0" u="none" strike="noStrike" cap="none" normalizeH="0" baseline="0" dirty="0" smtClean="0">
                <a:ln>
                  <a:noFill/>
                </a:ln>
                <a:solidFill>
                  <a:schemeClr val="tx1"/>
                </a:solidFill>
                <a:effectLst/>
                <a:latin typeface="Arial" panose="020B0604020202020204" pitchFamily="34" charset="0"/>
              </a:rPr>
              <a:t>two things</a:t>
            </a:r>
            <a:r>
              <a:rPr kumimoji="0" lang="en-US" altLang="en-US" sz="20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Is </a:t>
            </a:r>
            <a:r>
              <a:rPr kumimoji="0" lang="en-US" altLang="en-US" sz="2000" b="1" i="0" u="none" strike="noStrike" cap="none" normalizeH="0" baseline="0" dirty="0" err="1" smtClean="0">
                <a:ln>
                  <a:noFill/>
                </a:ln>
                <a:solidFill>
                  <a:schemeClr val="tx1"/>
                </a:solidFill>
                <a:effectLst/>
                <a:latin typeface="Arial Unicode MS"/>
              </a:rPr>
              <a:t>i</a:t>
            </a:r>
            <a:r>
              <a:rPr kumimoji="0" lang="en-US" altLang="en-US" sz="2000" b="1" i="0" u="none" strike="noStrike" cap="none" normalizeH="0" baseline="0" dirty="0" smtClean="0">
                <a:ln>
                  <a:noFill/>
                </a:ln>
                <a:solidFill>
                  <a:schemeClr val="tx1"/>
                </a:solidFill>
                <a:effectLst/>
                <a:latin typeface="Arial Unicode MS"/>
              </a:rPr>
              <a:t> ≤ n</a:t>
            </a:r>
            <a:r>
              <a:rPr kumimoji="0" lang="en-US" altLang="en-US" sz="2000" b="1"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rPr>
              <a:t>(Have we reached the end of the list?)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Is </a:t>
            </a:r>
            <a:r>
              <a:rPr kumimoji="0" lang="en-US" altLang="en-US" sz="2000" b="1" i="0" u="none" strike="noStrike" cap="none" normalizeH="0" baseline="0" dirty="0" smtClean="0">
                <a:ln>
                  <a:noFill/>
                </a:ln>
                <a:solidFill>
                  <a:schemeClr val="tx1"/>
                </a:solidFill>
                <a:effectLst/>
                <a:latin typeface="Arial Unicode MS"/>
              </a:rPr>
              <a:t>x = </a:t>
            </a:r>
            <a:r>
              <a:rPr kumimoji="0" lang="en-US" altLang="en-US" sz="2000" b="1" i="0" u="none" strike="noStrike" cap="none" normalizeH="0" baseline="0" dirty="0" err="1" smtClean="0">
                <a:ln>
                  <a:noFill/>
                </a:ln>
                <a:solidFill>
                  <a:schemeClr val="tx1"/>
                </a:solidFill>
                <a:effectLst/>
                <a:latin typeface="Arial Unicode MS"/>
              </a:rPr>
              <a:t>ai</a:t>
            </a:r>
            <a:r>
              <a:rPr kumimoji="0" lang="en-US" altLang="en-US" sz="2000" b="1" i="0" u="none" strike="noStrike" cap="none" normalizeH="0" baseline="0" dirty="0" smtClean="0">
                <a:ln>
                  <a:noFill/>
                </a:ln>
                <a:solidFill>
                  <a:schemeClr val="tx1"/>
                </a:solidFill>
                <a:effectLst/>
              </a:rPr>
              <a:t>?</a:t>
            </a:r>
            <a:r>
              <a:rPr kumimoji="0" lang="en-US" altLang="en-US" sz="2000" b="0" i="0" u="none" strike="noStrike" cap="none" normalizeH="0" baseline="0" dirty="0" smtClean="0">
                <a:ln>
                  <a:noFill/>
                </a:ln>
                <a:solidFill>
                  <a:schemeClr val="tx1"/>
                </a:solidFill>
                <a:effectLst/>
              </a:rPr>
              <a:t> (Does the current element match </a:t>
            </a:r>
            <a:r>
              <a:rPr kumimoji="0" lang="en-US" altLang="en-US" sz="2000" b="0" i="0" u="none" strike="noStrike" cap="none" normalizeH="0" baseline="0" dirty="0" smtClean="0">
                <a:ln>
                  <a:noFill/>
                </a:ln>
                <a:solidFill>
                  <a:schemeClr val="tx1"/>
                </a:solidFill>
                <a:effectLst/>
                <a:latin typeface="Arial Unicode MS"/>
              </a:rPr>
              <a:t>x</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After the loop finishes, there is </a:t>
            </a:r>
            <a:r>
              <a:rPr kumimoji="0" lang="en-US" altLang="en-US" sz="2000" b="1" i="0" u="none" strike="noStrike" cap="none" normalizeH="0" baseline="0" dirty="0" smtClean="0">
                <a:ln>
                  <a:noFill/>
                </a:ln>
                <a:solidFill>
                  <a:schemeClr val="tx1"/>
                </a:solidFill>
                <a:effectLst/>
                <a:latin typeface="Arial" panose="020B0604020202020204" pitchFamily="34" charset="0"/>
              </a:rPr>
              <a:t>one extra comparison</a:t>
            </a:r>
            <a:r>
              <a:rPr kumimoji="0" lang="en-US" altLang="en-US" sz="2000" b="0" i="0" u="none" strike="noStrike" cap="none" normalizeH="0" baseline="0" dirty="0" smtClean="0">
                <a:ln>
                  <a:noFill/>
                </a:ln>
                <a:solidFill>
                  <a:schemeClr val="tx1"/>
                </a:solidFill>
                <a:effectLst/>
                <a:latin typeface="Arial" panose="020B0604020202020204" pitchFamily="34" charset="0"/>
              </a:rPr>
              <a:t> to check </a:t>
            </a:r>
            <a:r>
              <a:rPr kumimoji="0" lang="en-US" altLang="en-US" sz="2000" b="1" i="0" u="none" strike="noStrike" cap="none" normalizeH="0" baseline="0" dirty="0" err="1" smtClean="0">
                <a:ln>
                  <a:noFill/>
                </a:ln>
                <a:solidFill>
                  <a:schemeClr val="tx1"/>
                </a:solidFill>
                <a:effectLst/>
                <a:latin typeface="Arial Unicode MS"/>
              </a:rPr>
              <a:t>i</a:t>
            </a:r>
            <a:r>
              <a:rPr kumimoji="0" lang="en-US" altLang="en-US" sz="2000" b="1" i="0" u="none" strike="noStrike" cap="none" normalizeH="0" baseline="0" dirty="0" smtClean="0">
                <a:ln>
                  <a:noFill/>
                </a:ln>
                <a:solidFill>
                  <a:schemeClr val="tx1"/>
                </a:solidFill>
                <a:effectLst/>
                <a:latin typeface="Arial Unicode MS"/>
              </a:rPr>
              <a:t> ≤ n</a:t>
            </a:r>
            <a:r>
              <a:rPr kumimoji="0" lang="en-US" altLang="en-US" sz="2000" b="1"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rPr>
              <a:t>again.</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186812" y="2956749"/>
            <a:ext cx="8091949"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Step 2: Number of comparisons for each position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70C0"/>
                </a:solidFill>
                <a:effectLst/>
                <a:latin typeface="Arial" panose="020B0604020202020204" pitchFamily="34" charset="0"/>
              </a:rPr>
              <a:t>If </a:t>
            </a:r>
            <a:r>
              <a:rPr kumimoji="0" lang="en-US" altLang="en-US" sz="2000" b="1" i="0" u="none" strike="noStrike" cap="none" normalizeH="0" baseline="0" dirty="0" smtClean="0">
                <a:ln>
                  <a:noFill/>
                </a:ln>
                <a:solidFill>
                  <a:srgbClr val="0070C0"/>
                </a:solidFill>
                <a:effectLst/>
                <a:latin typeface="Arial Unicode MS"/>
              </a:rPr>
              <a:t>x = a1</a:t>
            </a:r>
            <a:r>
              <a:rPr kumimoji="0" lang="en-US" altLang="en-US" sz="2000" b="1" i="0" u="none" strike="noStrike" cap="none" normalizeH="0" baseline="0" dirty="0" smtClean="0">
                <a:ln>
                  <a:noFill/>
                </a:ln>
                <a:solidFill>
                  <a:srgbClr val="0070C0"/>
                </a:solidFill>
                <a:effectLst/>
              </a:rPr>
              <a:t> (first element):</a:t>
            </a:r>
            <a:endParaRPr kumimoji="0" lang="en-US" altLang="en-US" sz="2000" b="1" i="0" u="none" strike="noStrike" cap="none" normalizeH="0" baseline="0" dirty="0" smtClean="0">
              <a:ln>
                <a:noFill/>
              </a:ln>
              <a:solidFill>
                <a:srgbClr val="0070C0"/>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1 comparison for </a:t>
            </a:r>
            <a:r>
              <a:rPr kumimoji="0" lang="en-US" altLang="en-US" sz="2000" b="1" i="0" u="none" strike="noStrike" cap="none" normalizeH="0" baseline="0" dirty="0" err="1" smtClean="0">
                <a:ln>
                  <a:noFill/>
                </a:ln>
                <a:solidFill>
                  <a:schemeClr val="tx1"/>
                </a:solidFill>
                <a:effectLst/>
                <a:latin typeface="Arial Unicode MS"/>
              </a:rPr>
              <a:t>i</a:t>
            </a:r>
            <a:r>
              <a:rPr kumimoji="0" lang="en-US" altLang="en-US" sz="2000" b="1" i="0" u="none" strike="noStrike" cap="none" normalizeH="0" baseline="0" dirty="0" smtClean="0">
                <a:ln>
                  <a:noFill/>
                </a:ln>
                <a:solidFill>
                  <a:schemeClr val="tx1"/>
                </a:solidFill>
                <a:effectLst/>
                <a:latin typeface="Arial Unicode MS"/>
              </a:rPr>
              <a:t> ≤ n</a:t>
            </a:r>
            <a:endParaRPr kumimoji="0" lang="en-US" altLang="en-US" sz="2000" b="1"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1 comparison for </a:t>
            </a:r>
            <a:r>
              <a:rPr kumimoji="0" lang="en-US" altLang="en-US" sz="2000" b="1" i="0" u="none" strike="noStrike" cap="none" normalizeH="0" baseline="0" dirty="0" smtClean="0">
                <a:ln>
                  <a:noFill/>
                </a:ln>
                <a:solidFill>
                  <a:schemeClr val="tx1"/>
                </a:solidFill>
                <a:effectLst/>
                <a:latin typeface="Arial Unicode MS"/>
              </a:rPr>
              <a:t>x = a1</a:t>
            </a:r>
            <a:endParaRPr kumimoji="0" lang="en-US" altLang="en-US" sz="2000" b="1"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1 comparison after </a:t>
            </a:r>
            <a:r>
              <a:rPr kumimoji="0" lang="en-US" altLang="en-US" sz="2000" b="1" i="0" u="none" strike="noStrike" cap="none" normalizeH="0" baseline="0" dirty="0" smtClean="0">
                <a:ln>
                  <a:noFill/>
                </a:ln>
                <a:solidFill>
                  <a:schemeClr val="tx1"/>
                </a:solidFill>
                <a:effectLst/>
                <a:latin typeface="Arial" panose="020B0604020202020204" pitchFamily="34" charset="0"/>
              </a:rPr>
              <a:t>loop</a:t>
            </a:r>
            <a:r>
              <a:rPr kumimoji="0" lang="en-US" altLang="en-US" sz="2000" b="0" i="0" u="none" strike="noStrike" cap="none" normalizeH="0" baseline="0" dirty="0" smtClean="0">
                <a:ln>
                  <a:noFill/>
                </a:ln>
                <a:solidFill>
                  <a:schemeClr val="tx1"/>
                </a:solidFill>
                <a:effectLst/>
                <a:latin typeface="Arial" panose="020B0604020202020204" pitchFamily="34"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1" i="0" u="none" strike="noStrike" cap="none" normalizeH="0" baseline="0" dirty="0" smtClean="0">
                <a:ln>
                  <a:noFill/>
                </a:ln>
                <a:solidFill>
                  <a:schemeClr val="tx1"/>
                </a:solidFill>
                <a:effectLst/>
                <a:latin typeface="Arial" panose="020B0604020202020204" pitchFamily="34" charset="0"/>
              </a:rPr>
              <a:t>Total = 3 comparisons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70C0"/>
                </a:solidFill>
                <a:effectLst/>
                <a:latin typeface="Arial" panose="020B0604020202020204" pitchFamily="34" charset="0"/>
              </a:rPr>
              <a:t>If </a:t>
            </a:r>
            <a:r>
              <a:rPr kumimoji="0" lang="en-US" altLang="en-US" sz="2000" b="1" i="0" u="none" strike="noStrike" cap="none" normalizeH="0" baseline="0" dirty="0" smtClean="0">
                <a:ln>
                  <a:noFill/>
                </a:ln>
                <a:solidFill>
                  <a:srgbClr val="0070C0"/>
                </a:solidFill>
                <a:effectLst/>
                <a:latin typeface="Arial Unicode MS"/>
              </a:rPr>
              <a:t>x = a2</a:t>
            </a:r>
            <a:r>
              <a:rPr kumimoji="0" lang="en-US" altLang="en-US" sz="2000" b="1" i="0" u="none" strike="noStrike" cap="none" normalizeH="0" baseline="0" dirty="0" smtClean="0">
                <a:ln>
                  <a:noFill/>
                </a:ln>
                <a:solidFill>
                  <a:srgbClr val="0070C0"/>
                </a:solidFill>
                <a:effectLst/>
              </a:rPr>
              <a:t> (second element):</a:t>
            </a:r>
            <a:endParaRPr kumimoji="0" lang="en-US" altLang="en-US" sz="2000" b="1" i="0" u="none" strike="noStrike" cap="none" normalizeH="0" baseline="0" dirty="0" smtClean="0">
              <a:ln>
                <a:noFill/>
              </a:ln>
              <a:solidFill>
                <a:srgbClr val="0070C0"/>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Step 1: 2 comparisons </a:t>
            </a:r>
            <a:r>
              <a:rPr kumimoji="0" lang="en-US" altLang="en-US" sz="2000" b="1" i="0" u="none" strike="noStrike" cap="none" normalizeH="0" baseline="0" dirty="0" smtClean="0">
                <a:ln>
                  <a:noFill/>
                </a:ln>
                <a:solidFill>
                  <a:schemeClr val="tx1"/>
                </a:solidFill>
                <a:effectLst/>
                <a:latin typeface="Arial" panose="020B0604020202020204" pitchFamily="34" charset="0"/>
              </a:rPr>
              <a:t>(</a:t>
            </a:r>
            <a:r>
              <a:rPr kumimoji="0" lang="en-US" altLang="en-US" sz="2000" b="1" i="0" u="none" strike="noStrike" cap="none" normalizeH="0" baseline="0" dirty="0" err="1" smtClean="0">
                <a:ln>
                  <a:noFill/>
                </a:ln>
                <a:solidFill>
                  <a:schemeClr val="tx1"/>
                </a:solidFill>
                <a:effectLst/>
                <a:latin typeface="Arial" panose="020B0604020202020204" pitchFamily="34" charset="0"/>
              </a:rPr>
              <a:t>i</a:t>
            </a:r>
            <a:r>
              <a:rPr kumimoji="0" lang="en-US" altLang="en-US" sz="2000" b="1" i="0" u="none" strike="noStrike" cap="none" normalizeH="0" baseline="0" dirty="0" smtClean="0">
                <a:ln>
                  <a:noFill/>
                </a:ln>
                <a:solidFill>
                  <a:schemeClr val="tx1"/>
                </a:solidFill>
                <a:effectLst/>
                <a:latin typeface="Arial" panose="020B0604020202020204" pitchFamily="34" charset="0"/>
              </a:rPr>
              <a:t> ≤ n, x = a1)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Step 2: 2 comparisons </a:t>
            </a:r>
            <a:r>
              <a:rPr kumimoji="0" lang="en-US" altLang="en-US" sz="2000" b="1" i="0" u="none" strike="noStrike" cap="none" normalizeH="0" baseline="0" dirty="0" smtClean="0">
                <a:ln>
                  <a:noFill/>
                </a:ln>
                <a:solidFill>
                  <a:schemeClr val="tx1"/>
                </a:solidFill>
                <a:effectLst/>
                <a:latin typeface="Arial" panose="020B0604020202020204" pitchFamily="34" charset="0"/>
              </a:rPr>
              <a:t>(</a:t>
            </a:r>
            <a:r>
              <a:rPr kumimoji="0" lang="en-US" altLang="en-US" sz="2000" b="1" i="0" u="none" strike="noStrike" cap="none" normalizeH="0" baseline="0" dirty="0" err="1" smtClean="0">
                <a:ln>
                  <a:noFill/>
                </a:ln>
                <a:solidFill>
                  <a:schemeClr val="tx1"/>
                </a:solidFill>
                <a:effectLst/>
                <a:latin typeface="Arial" panose="020B0604020202020204" pitchFamily="34" charset="0"/>
              </a:rPr>
              <a:t>i</a:t>
            </a:r>
            <a:r>
              <a:rPr kumimoji="0" lang="en-US" altLang="en-US" sz="2000" b="1" i="0" u="none" strike="noStrike" cap="none" normalizeH="0" baseline="0" dirty="0" smtClean="0">
                <a:ln>
                  <a:noFill/>
                </a:ln>
                <a:solidFill>
                  <a:schemeClr val="tx1"/>
                </a:solidFill>
                <a:effectLst/>
                <a:latin typeface="Arial" panose="020B0604020202020204" pitchFamily="34" charset="0"/>
              </a:rPr>
              <a:t> ≤ n, x = a2)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After loop: 1 comparison</a:t>
            </a:r>
            <a:br>
              <a:rPr kumimoji="0" lang="en-US" altLang="en-US" sz="2000" b="0" i="0" u="none" strike="noStrike" cap="none" normalizeH="0" baseline="0" dirty="0" smtClean="0">
                <a:ln>
                  <a:noFill/>
                </a:ln>
                <a:solidFill>
                  <a:schemeClr val="tx1"/>
                </a:solidFill>
                <a:effectLst/>
                <a:latin typeface="Arial" panose="020B0604020202020204" pitchFamily="34" charset="0"/>
              </a:rPr>
            </a:br>
            <a:r>
              <a:rPr kumimoji="0" lang="en-US" altLang="en-US" sz="2000" b="1" i="0" u="none" strike="noStrike" cap="none" normalizeH="0" baseline="0" dirty="0" smtClean="0">
                <a:ln>
                  <a:noFill/>
                </a:ln>
                <a:solidFill>
                  <a:schemeClr val="tx1"/>
                </a:solidFill>
                <a:effectLst/>
                <a:latin typeface="Arial" panose="020B0604020202020204" pitchFamily="34" charset="0"/>
              </a:rPr>
              <a:t>Total = 5 comparisons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smtClean="0">
                <a:ln>
                  <a:noFill/>
                </a:ln>
                <a:solidFill>
                  <a:schemeClr val="tx1"/>
                </a:solidFill>
                <a:effectLst/>
                <a:latin typeface="Arial" panose="020B0604020202020204" pitchFamily="34" charset="0"/>
              </a:rPr>
              <a:t>In general</a:t>
            </a:r>
            <a:r>
              <a:rPr kumimoji="0" lang="en-US" altLang="en-US" sz="1900" b="0" i="0" u="none" strike="noStrike" cap="none" normalizeH="0" baseline="0" dirty="0" smtClean="0">
                <a:ln>
                  <a:noFill/>
                </a:ln>
                <a:solidFill>
                  <a:schemeClr val="tx1"/>
                </a:solidFill>
                <a:effectLst/>
                <a:latin typeface="Arial" panose="020B0604020202020204" pitchFamily="34" charset="0"/>
              </a:rPr>
              <a:t>, if </a:t>
            </a:r>
            <a:r>
              <a:rPr kumimoji="0" lang="en-US" altLang="en-US" sz="1900" b="1" i="0" u="none" strike="noStrike" cap="none" normalizeH="0" baseline="0" dirty="0" smtClean="0">
                <a:ln>
                  <a:noFill/>
                </a:ln>
                <a:solidFill>
                  <a:schemeClr val="tx1"/>
                </a:solidFill>
                <a:effectLst/>
                <a:latin typeface="Arial Unicode MS"/>
              </a:rPr>
              <a:t>x = </a:t>
            </a:r>
            <a:r>
              <a:rPr kumimoji="0" lang="en-US" altLang="en-US" sz="1900" b="1" i="0" u="none" strike="noStrike" cap="none" normalizeH="0" baseline="0" dirty="0" err="1" smtClean="0">
                <a:ln>
                  <a:noFill/>
                </a:ln>
                <a:solidFill>
                  <a:schemeClr val="tx1"/>
                </a:solidFill>
                <a:effectLst/>
                <a:latin typeface="Arial Unicode MS"/>
              </a:rPr>
              <a:t>ai</a:t>
            </a:r>
            <a:r>
              <a:rPr kumimoji="0" lang="en-US" altLang="en-US" sz="1900" b="1" i="0" u="none" strike="noStrike" cap="none" normalizeH="0" baseline="0" dirty="0" smtClean="0">
                <a:ln>
                  <a:noFill/>
                </a:ln>
                <a:solidFill>
                  <a:schemeClr val="tx1"/>
                </a:solidFill>
                <a:effectLst/>
              </a:rPr>
              <a:t> </a:t>
            </a:r>
            <a:r>
              <a:rPr kumimoji="0" lang="en-US" altLang="en-US" sz="1900" b="0" i="0" u="none" strike="noStrike" cap="none" normalizeH="0" baseline="0" dirty="0" smtClean="0">
                <a:ln>
                  <a:noFill/>
                </a:ln>
                <a:solidFill>
                  <a:schemeClr val="tx1"/>
                </a:solidFill>
                <a:effectLst/>
              </a:rPr>
              <a:t>(</a:t>
            </a:r>
            <a:r>
              <a:rPr kumimoji="0" lang="en-US" altLang="en-US" sz="1900" b="0" i="0" u="none" strike="noStrike" cap="none" normalizeH="0" baseline="0" dirty="0" err="1" smtClean="0">
                <a:ln>
                  <a:noFill/>
                </a:ln>
                <a:solidFill>
                  <a:schemeClr val="tx1"/>
                </a:solidFill>
                <a:effectLst/>
              </a:rPr>
              <a:t>ith</a:t>
            </a:r>
            <a:r>
              <a:rPr kumimoji="0" lang="en-US" altLang="en-US" sz="1900" b="0" i="0" u="none" strike="noStrike" cap="none" normalizeH="0" baseline="0" dirty="0" smtClean="0">
                <a:ln>
                  <a:noFill/>
                </a:ln>
                <a:solidFill>
                  <a:schemeClr val="tx1"/>
                </a:solidFill>
                <a:effectLst/>
              </a:rPr>
              <a:t> element):</a:t>
            </a:r>
            <a:endParaRPr kumimoji="0" lang="en-US" altLang="en-US" sz="19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4158660" y="6247384"/>
            <a:ext cx="2838596" cy="463574"/>
          </a:xfrm>
          <a:prstGeom prst="rect">
            <a:avLst/>
          </a:prstGeom>
        </p:spPr>
      </p:pic>
    </p:spTree>
    <p:extLst>
      <p:ext uri="{BB962C8B-B14F-4D97-AF65-F5344CB8AC3E}">
        <p14:creationId xmlns:p14="http://schemas.microsoft.com/office/powerpoint/2010/main" val="142613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31375A4-56A4-47D6-9801-1991572033F7}" type="slidenum">
              <a:rPr lang="en-US" smtClean="0"/>
              <a:t>34</a:t>
            </a:fld>
            <a:endParaRPr lang="en-US"/>
          </a:p>
        </p:txBody>
      </p:sp>
      <p:sp>
        <p:nvSpPr>
          <p:cNvPr id="5" name="Rectangle 1"/>
          <p:cNvSpPr>
            <a:spLocks noGrp="1" noChangeArrowheads="1"/>
          </p:cNvSpPr>
          <p:nvPr>
            <p:ph idx="1"/>
          </p:nvPr>
        </p:nvSpPr>
        <p:spPr bwMode="auto">
          <a:xfrm>
            <a:off x="621631" y="1434536"/>
            <a:ext cx="630858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Step 3: Average number of comparisons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If all elements are </a:t>
            </a:r>
            <a:r>
              <a:rPr kumimoji="0" lang="en-US" altLang="en-US" sz="2000" b="1" i="0" u="none" strike="noStrike" cap="none" normalizeH="0" baseline="0" dirty="0" smtClean="0">
                <a:ln>
                  <a:noFill/>
                </a:ln>
                <a:solidFill>
                  <a:schemeClr val="tx1"/>
                </a:solidFill>
                <a:effectLst/>
                <a:latin typeface="Arial" panose="020B0604020202020204" pitchFamily="34" charset="0"/>
              </a:rPr>
              <a:t>equally likely</a:t>
            </a:r>
            <a:r>
              <a:rPr kumimoji="0" lang="en-US" altLang="en-US" sz="2000" b="0" i="0" u="none" strike="noStrike" cap="none" normalizeH="0" baseline="0" dirty="0" smtClean="0">
                <a:ln>
                  <a:noFill/>
                </a:ln>
                <a:solidFill>
                  <a:schemeClr val="tx1"/>
                </a:solidFill>
                <a:effectLst/>
                <a:latin typeface="Arial" panose="020B0604020202020204" pitchFamily="34" charset="0"/>
              </a:rPr>
              <a:t> to be </a:t>
            </a:r>
            <a:r>
              <a:rPr kumimoji="0" lang="en-US" altLang="en-US" sz="2000" b="0" i="0" u="none" strike="noStrike" cap="none" normalizeH="0" baseline="0" dirty="0" smtClean="0">
                <a:ln>
                  <a:noFill/>
                </a:ln>
                <a:solidFill>
                  <a:schemeClr val="tx1"/>
                </a:solidFill>
                <a:effectLst/>
                <a:latin typeface="Arial Unicode MS"/>
              </a:rPr>
              <a:t>x</a:t>
            </a:r>
            <a:r>
              <a:rPr kumimoji="0" lang="en-US" altLang="en-US" sz="2000" b="0" i="0" u="none" strike="noStrike" cap="none" normalizeH="0" baseline="0" dirty="0" smtClean="0">
                <a:ln>
                  <a:noFill/>
                </a:ln>
                <a:solidFill>
                  <a:schemeClr val="tx1"/>
                </a:solidFill>
                <a:effectLst/>
              </a:rPr>
              <a:t>, the average is: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638829" y="2381632"/>
            <a:ext cx="10485923" cy="3701534"/>
          </a:xfrm>
          <a:prstGeom prst="rect">
            <a:avLst/>
          </a:prstGeom>
        </p:spPr>
      </p:pic>
      <p:sp>
        <p:nvSpPr>
          <p:cNvPr id="7" name="Title 1"/>
          <p:cNvSpPr>
            <a:spLocks noGrp="1"/>
          </p:cNvSpPr>
          <p:nvPr>
            <p:ph type="title"/>
          </p:nvPr>
        </p:nvSpPr>
        <p:spPr>
          <a:xfrm>
            <a:off x="533321" y="603245"/>
            <a:ext cx="9601200" cy="622303"/>
          </a:xfrm>
        </p:spPr>
        <p:txBody>
          <a:bodyPr>
            <a:normAutofit/>
          </a:bodyPr>
          <a:lstStyle/>
          <a:p>
            <a:r>
              <a:rPr lang="en-US" sz="2800" dirty="0"/>
              <a:t>AVERAGE-CASE COMPLEXITY</a:t>
            </a:r>
          </a:p>
        </p:txBody>
      </p:sp>
    </p:spTree>
    <p:extLst>
      <p:ext uri="{BB962C8B-B14F-4D97-AF65-F5344CB8AC3E}">
        <p14:creationId xmlns:p14="http://schemas.microsoft.com/office/powerpoint/2010/main" val="36925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251" y="70717"/>
            <a:ext cx="11573576" cy="603052"/>
          </a:xfrm>
        </p:spPr>
        <p:txBody>
          <a:bodyPr>
            <a:normAutofit/>
          </a:bodyPr>
          <a:lstStyle/>
          <a:p>
            <a:r>
              <a:rPr lang="en-US" sz="2400" dirty="0"/>
              <a:t>WORST-CASE COMPLEXITY OF TWO SORTING ALGORITHMS</a:t>
            </a:r>
          </a:p>
        </p:txBody>
      </p:sp>
      <p:sp>
        <p:nvSpPr>
          <p:cNvPr id="3" name="Content Placeholder 2"/>
          <p:cNvSpPr>
            <a:spLocks noGrp="1"/>
          </p:cNvSpPr>
          <p:nvPr>
            <p:ph idx="1"/>
          </p:nvPr>
        </p:nvSpPr>
        <p:spPr>
          <a:xfrm>
            <a:off x="400250" y="673769"/>
            <a:ext cx="11791749" cy="3809999"/>
          </a:xfrm>
        </p:spPr>
        <p:txBody>
          <a:bodyPr>
            <a:normAutofit/>
          </a:bodyPr>
          <a:lstStyle/>
          <a:p>
            <a:r>
              <a:rPr lang="en-US" sz="2000" b="1" dirty="0" smtClean="0"/>
              <a:t>EXAMPLE 5 </a:t>
            </a:r>
            <a:r>
              <a:rPr lang="en-US" sz="2000" b="1" dirty="0"/>
              <a:t>What is the worst-case complexity of the bubble sort in terms of the number of comparisons made</a:t>
            </a:r>
            <a:r>
              <a:rPr lang="en-US" sz="2000" b="1" dirty="0" smtClean="0"/>
              <a:t>?</a:t>
            </a:r>
            <a:endParaRPr lang="en-US" sz="2000" b="1" dirty="0"/>
          </a:p>
          <a:p>
            <a:pPr>
              <a:spcBef>
                <a:spcPts val="0"/>
              </a:spcBef>
            </a:pPr>
            <a:r>
              <a:rPr lang="en-US" sz="2000" b="1" dirty="0" smtClean="0"/>
              <a:t>Step 1: Suppose </a:t>
            </a:r>
            <a:r>
              <a:rPr lang="en-US" sz="2000" b="1" dirty="0"/>
              <a:t>the list has n elements.</a:t>
            </a:r>
          </a:p>
          <a:p>
            <a:pPr>
              <a:spcBef>
                <a:spcPts val="0"/>
              </a:spcBef>
            </a:pPr>
            <a:r>
              <a:rPr lang="en-US" sz="2000" dirty="0"/>
              <a:t>On the </a:t>
            </a:r>
            <a:r>
              <a:rPr lang="en-US" sz="2000" b="1" dirty="0"/>
              <a:t>first pass</a:t>
            </a:r>
            <a:r>
              <a:rPr lang="en-US" sz="2000" dirty="0"/>
              <a:t>, we compare </a:t>
            </a:r>
            <a:r>
              <a:rPr lang="en-US" sz="2000" b="1" dirty="0"/>
              <a:t>n − 1 pairs</a:t>
            </a:r>
            <a:r>
              <a:rPr lang="en-US" sz="2000" dirty="0"/>
              <a:t> (because there are n − 1 adjacent pairs).</a:t>
            </a:r>
          </a:p>
          <a:p>
            <a:pPr>
              <a:spcBef>
                <a:spcPts val="0"/>
              </a:spcBef>
            </a:pPr>
            <a:r>
              <a:rPr lang="en-US" sz="2000" dirty="0"/>
              <a:t>On the </a:t>
            </a:r>
            <a:r>
              <a:rPr lang="en-US" sz="2000" b="1" dirty="0"/>
              <a:t>second pass</a:t>
            </a:r>
            <a:r>
              <a:rPr lang="en-US" sz="2000" dirty="0"/>
              <a:t>, we compare </a:t>
            </a:r>
            <a:r>
              <a:rPr lang="en-US" sz="2000" b="1" dirty="0"/>
              <a:t>n − 2 pairs</a:t>
            </a:r>
            <a:r>
              <a:rPr lang="en-US" sz="2000" dirty="0"/>
              <a:t>.</a:t>
            </a:r>
          </a:p>
          <a:p>
            <a:pPr>
              <a:spcBef>
                <a:spcPts val="0"/>
              </a:spcBef>
            </a:pPr>
            <a:r>
              <a:rPr lang="en-US" sz="2000" dirty="0"/>
              <a:t>On the </a:t>
            </a:r>
            <a:r>
              <a:rPr lang="en-US" sz="2000" b="1" dirty="0"/>
              <a:t>third pass</a:t>
            </a:r>
            <a:r>
              <a:rPr lang="en-US" sz="2000" dirty="0"/>
              <a:t>, we compare </a:t>
            </a:r>
            <a:r>
              <a:rPr lang="en-US" sz="2000" b="1" dirty="0"/>
              <a:t>n − 3 pairs</a:t>
            </a:r>
            <a:r>
              <a:rPr lang="en-US" sz="2000" dirty="0"/>
              <a:t>, and so on…</a:t>
            </a:r>
          </a:p>
          <a:p>
            <a:pPr>
              <a:spcBef>
                <a:spcPts val="0"/>
              </a:spcBef>
            </a:pPr>
            <a:r>
              <a:rPr lang="en-US" sz="2000" dirty="0"/>
              <a:t>On the </a:t>
            </a:r>
            <a:r>
              <a:rPr lang="en-US" sz="2000" b="1" dirty="0"/>
              <a:t>last pass</a:t>
            </a:r>
            <a:r>
              <a:rPr lang="en-US" sz="2000" dirty="0"/>
              <a:t>, we compare </a:t>
            </a:r>
            <a:r>
              <a:rPr lang="en-US" sz="2000" b="1" dirty="0"/>
              <a:t>1 pair</a:t>
            </a:r>
            <a:r>
              <a:rPr lang="en-US" sz="2000" dirty="0"/>
              <a:t>.</a:t>
            </a:r>
          </a:p>
          <a:p>
            <a:pPr>
              <a:spcBef>
                <a:spcPts val="0"/>
              </a:spcBef>
            </a:pPr>
            <a:r>
              <a:rPr lang="en-US" sz="2000" dirty="0"/>
              <a:t>So, total comparisons =</a:t>
            </a:r>
          </a:p>
          <a:p>
            <a:endParaRPr lang="en-US" sz="2000" dirty="0"/>
          </a:p>
        </p:txBody>
      </p:sp>
      <p:sp>
        <p:nvSpPr>
          <p:cNvPr id="4" name="Slide Number Placeholder 3"/>
          <p:cNvSpPr>
            <a:spLocks noGrp="1"/>
          </p:cNvSpPr>
          <p:nvPr>
            <p:ph type="sldNum" sz="quarter" idx="12"/>
          </p:nvPr>
        </p:nvSpPr>
        <p:spPr/>
        <p:txBody>
          <a:bodyPr/>
          <a:lstStyle/>
          <a:p>
            <a:fld id="{E31375A4-56A4-47D6-9801-1991572033F7}" type="slidenum">
              <a:rPr lang="en-US" smtClean="0"/>
              <a:t>35</a:t>
            </a:fld>
            <a:endParaRPr lang="en-US"/>
          </a:p>
        </p:txBody>
      </p:sp>
      <p:pic>
        <p:nvPicPr>
          <p:cNvPr id="5" name="Picture 4"/>
          <p:cNvPicPr>
            <a:picLocks noChangeAspect="1"/>
          </p:cNvPicPr>
          <p:nvPr/>
        </p:nvPicPr>
        <p:blipFill>
          <a:blip r:embed="rId2"/>
          <a:stretch>
            <a:fillRect/>
          </a:stretch>
        </p:blipFill>
        <p:spPr>
          <a:xfrm>
            <a:off x="1478302" y="3094879"/>
            <a:ext cx="3486329" cy="311166"/>
          </a:xfrm>
          <a:prstGeom prst="rect">
            <a:avLst/>
          </a:prstGeom>
        </p:spPr>
      </p:pic>
      <p:sp>
        <p:nvSpPr>
          <p:cNvPr id="6" name="Rectangle 5"/>
          <p:cNvSpPr/>
          <p:nvPr/>
        </p:nvSpPr>
        <p:spPr>
          <a:xfrm>
            <a:off x="506930" y="3551988"/>
            <a:ext cx="6096000" cy="707886"/>
          </a:xfrm>
          <a:prstGeom prst="rect">
            <a:avLst/>
          </a:prstGeom>
        </p:spPr>
        <p:txBody>
          <a:bodyPr>
            <a:spAutoFit/>
          </a:bodyPr>
          <a:lstStyle/>
          <a:p>
            <a:r>
              <a:rPr lang="en-US" sz="2000" b="1" dirty="0"/>
              <a:t>Step </a:t>
            </a:r>
            <a:r>
              <a:rPr lang="en-US" sz="2000" b="1" dirty="0" smtClean="0"/>
              <a:t>2: </a:t>
            </a:r>
            <a:r>
              <a:rPr lang="en-US" sz="2000" b="1" dirty="0"/>
              <a:t>Use formula for sum of numbers</a:t>
            </a:r>
          </a:p>
          <a:p>
            <a:pPr>
              <a:buFont typeface="Arial" panose="020B0604020202020204" pitchFamily="34" charset="0"/>
              <a:buChar char="•"/>
            </a:pPr>
            <a:r>
              <a:rPr lang="en-US" sz="2000" dirty="0"/>
              <a:t>The sum of numbers from 1 to (n−1) is:</a:t>
            </a:r>
          </a:p>
        </p:txBody>
      </p:sp>
      <p:pic>
        <p:nvPicPr>
          <p:cNvPr id="7" name="Picture 6"/>
          <p:cNvPicPr>
            <a:picLocks noChangeAspect="1"/>
          </p:cNvPicPr>
          <p:nvPr/>
        </p:nvPicPr>
        <p:blipFill>
          <a:blip r:embed="rId3"/>
          <a:stretch>
            <a:fillRect/>
          </a:stretch>
        </p:blipFill>
        <p:spPr>
          <a:xfrm>
            <a:off x="1540865" y="4396808"/>
            <a:ext cx="5808023" cy="1625684"/>
          </a:xfrm>
          <a:prstGeom prst="rect">
            <a:avLst/>
          </a:prstGeom>
        </p:spPr>
      </p:pic>
      <p:sp>
        <p:nvSpPr>
          <p:cNvPr id="8" name="Rectangle 7"/>
          <p:cNvSpPr/>
          <p:nvPr/>
        </p:nvSpPr>
        <p:spPr>
          <a:xfrm>
            <a:off x="5712593" y="2480117"/>
            <a:ext cx="6554804" cy="1323439"/>
          </a:xfrm>
          <a:prstGeom prst="rect">
            <a:avLst/>
          </a:prstGeom>
        </p:spPr>
        <p:txBody>
          <a:bodyPr wrap="square">
            <a:spAutoFit/>
          </a:bodyPr>
          <a:lstStyle/>
          <a:p>
            <a:r>
              <a:rPr lang="en-US" sz="2000" b="1" dirty="0">
                <a:solidFill>
                  <a:srgbClr val="0070C0"/>
                </a:solidFill>
              </a:rPr>
              <a:t>Complexity</a:t>
            </a:r>
          </a:p>
          <a:p>
            <a:pPr>
              <a:buFont typeface="Arial" panose="020B0604020202020204" pitchFamily="34" charset="0"/>
              <a:buChar char="•"/>
            </a:pPr>
            <a:r>
              <a:rPr lang="en-US" sz="2000" b="1" dirty="0">
                <a:solidFill>
                  <a:srgbClr val="0070C0"/>
                </a:solidFill>
              </a:rPr>
              <a:t>Bubble sort always does this many comparisons, even if the list gets sorted early.</a:t>
            </a:r>
          </a:p>
          <a:p>
            <a:pPr>
              <a:buFont typeface="Arial" panose="020B0604020202020204" pitchFamily="34" charset="0"/>
              <a:buChar char="•"/>
            </a:pPr>
            <a:r>
              <a:rPr lang="en-US" sz="2000" b="1" dirty="0">
                <a:solidFill>
                  <a:srgbClr val="0070C0"/>
                </a:solidFill>
              </a:rPr>
              <a:t>Therefore, the worst-case complexity (and average too) is:</a:t>
            </a:r>
          </a:p>
        </p:txBody>
      </p:sp>
      <p:pic>
        <p:nvPicPr>
          <p:cNvPr id="9" name="Picture 8"/>
          <p:cNvPicPr>
            <a:picLocks noChangeAspect="1"/>
          </p:cNvPicPr>
          <p:nvPr/>
        </p:nvPicPr>
        <p:blipFill>
          <a:blip r:embed="rId4"/>
          <a:stretch>
            <a:fillRect/>
          </a:stretch>
        </p:blipFill>
        <p:spPr>
          <a:xfrm>
            <a:off x="8094846" y="3826307"/>
            <a:ext cx="1790299" cy="570501"/>
          </a:xfrm>
          <a:prstGeom prst="rect">
            <a:avLst/>
          </a:prstGeom>
        </p:spPr>
      </p:pic>
    </p:spTree>
    <p:extLst>
      <p:ext uri="{BB962C8B-B14F-4D97-AF65-F5344CB8AC3E}">
        <p14:creationId xmlns:p14="http://schemas.microsoft.com/office/powerpoint/2010/main" val="427545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250" y="130377"/>
            <a:ext cx="9601200" cy="539015"/>
          </a:xfrm>
        </p:spPr>
        <p:txBody>
          <a:bodyPr/>
          <a:lstStyle/>
          <a:p>
            <a:r>
              <a:rPr lang="en-US" dirty="0" smtClean="0"/>
              <a:t>Insertion Sort</a:t>
            </a:r>
            <a:endParaRPr lang="en-US" dirty="0"/>
          </a:p>
        </p:txBody>
      </p:sp>
      <p:sp>
        <p:nvSpPr>
          <p:cNvPr id="3" name="Content Placeholder 2"/>
          <p:cNvSpPr>
            <a:spLocks noGrp="1"/>
          </p:cNvSpPr>
          <p:nvPr>
            <p:ph idx="1"/>
          </p:nvPr>
        </p:nvSpPr>
        <p:spPr>
          <a:xfrm>
            <a:off x="330803" y="810903"/>
            <a:ext cx="9601200" cy="3809999"/>
          </a:xfrm>
        </p:spPr>
        <p:txBody>
          <a:bodyPr>
            <a:normAutofit/>
          </a:bodyPr>
          <a:lstStyle/>
          <a:p>
            <a:r>
              <a:rPr lang="en-US" sz="2000" b="1" dirty="0" smtClean="0"/>
              <a:t>EXAMPLE 6 What is the worst-case </a:t>
            </a:r>
            <a:r>
              <a:rPr lang="en-US" sz="2000" b="1" dirty="0"/>
              <a:t>complexity of the insertion sort in terms of the number of comparisons made?</a:t>
            </a:r>
          </a:p>
        </p:txBody>
      </p:sp>
      <p:sp>
        <p:nvSpPr>
          <p:cNvPr id="4" name="Slide Number Placeholder 3"/>
          <p:cNvSpPr>
            <a:spLocks noGrp="1"/>
          </p:cNvSpPr>
          <p:nvPr>
            <p:ph type="sldNum" sz="quarter" idx="12"/>
          </p:nvPr>
        </p:nvSpPr>
        <p:spPr/>
        <p:txBody>
          <a:bodyPr/>
          <a:lstStyle/>
          <a:p>
            <a:fld id="{E31375A4-56A4-47D6-9801-1991572033F7}" type="slidenum">
              <a:rPr lang="en-US" smtClean="0"/>
              <a:t>36</a:t>
            </a:fld>
            <a:endParaRPr lang="en-US"/>
          </a:p>
        </p:txBody>
      </p:sp>
      <p:sp>
        <p:nvSpPr>
          <p:cNvPr id="8" name="Rectangle 3"/>
          <p:cNvSpPr>
            <a:spLocks noChangeArrowheads="1"/>
          </p:cNvSpPr>
          <p:nvPr/>
        </p:nvSpPr>
        <p:spPr bwMode="auto">
          <a:xfrm>
            <a:off x="400250" y="1238866"/>
            <a:ext cx="1153392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Insertion sort </a:t>
            </a:r>
            <a:r>
              <a:rPr kumimoji="0" lang="en-US" altLang="en-US" sz="2000" b="1" i="0" u="none" strike="noStrike" cap="none" normalizeH="0" baseline="0" dirty="0" smtClean="0">
                <a:ln>
                  <a:noFill/>
                </a:ln>
                <a:solidFill>
                  <a:schemeClr val="tx1"/>
                </a:solidFill>
                <a:effectLst/>
                <a:latin typeface="Arial" panose="020B0604020202020204" pitchFamily="34" charset="0"/>
              </a:rPr>
              <a:t>builds a sorted list one element at a time</a:t>
            </a:r>
            <a:r>
              <a:rPr kumimoji="0" lang="en-US" altLang="en-US"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At step </a:t>
            </a:r>
            <a:r>
              <a:rPr kumimoji="0" lang="en-US" altLang="en-US" sz="2000" b="0" i="0" u="none" strike="noStrike" cap="none" normalizeH="0" baseline="0" dirty="0" smtClean="0">
                <a:ln>
                  <a:noFill/>
                </a:ln>
                <a:solidFill>
                  <a:schemeClr val="tx1"/>
                </a:solidFill>
                <a:effectLst/>
                <a:latin typeface="Arial Unicode MS"/>
              </a:rPr>
              <a:t>j</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takes the</a:t>
            </a:r>
            <a:r>
              <a:rPr kumimoji="0" lang="en-US" altLang="en-US" sz="2000" b="0" i="0" u="none" strike="noStrike" cap="none" normalizeH="0" baseline="0" dirty="0" smtClean="0">
                <a:ln>
                  <a:noFill/>
                </a:ln>
                <a:solidFill>
                  <a:schemeClr val="tx1"/>
                </a:solidFill>
                <a:effectLst/>
              </a:rPr>
              <a:t> </a:t>
            </a:r>
            <a:r>
              <a:rPr kumimoji="0" lang="en-US" altLang="en-US" sz="2000" b="1" i="0" u="none" strike="noStrike" cap="none" normalizeH="0" baseline="0" dirty="0" err="1" smtClean="0">
                <a:ln>
                  <a:noFill/>
                </a:ln>
                <a:solidFill>
                  <a:schemeClr val="tx1"/>
                </a:solidFill>
                <a:effectLst/>
                <a:latin typeface="Arial" panose="020B0604020202020204" pitchFamily="34" charset="0"/>
              </a:rPr>
              <a:t>jth</a:t>
            </a:r>
            <a:r>
              <a:rPr kumimoji="0" lang="en-US" altLang="en-US" sz="2000" b="1" i="0" u="none" strike="noStrike" cap="none" normalizeH="0" baseline="0" dirty="0" smtClean="0">
                <a:ln>
                  <a:noFill/>
                </a:ln>
                <a:solidFill>
                  <a:schemeClr val="tx1"/>
                </a:solidFill>
                <a:effectLst/>
                <a:latin typeface="Arial" panose="020B0604020202020204" pitchFamily="34" charset="0"/>
              </a:rPr>
              <a:t> element</a:t>
            </a:r>
            <a:r>
              <a:rPr kumimoji="0" lang="en-US" altLang="en-US" sz="2000" b="0" i="0" u="none" strike="noStrike" cap="none" normalizeH="0" baseline="0" dirty="0" smtClean="0">
                <a:ln>
                  <a:noFill/>
                </a:ln>
                <a:solidFill>
                  <a:schemeClr val="tx1"/>
                </a:solidFill>
                <a:effectLst/>
                <a:latin typeface="Arial" panose="020B0604020202020204" pitchFamily="34" charset="0"/>
              </a:rPr>
              <a:t> and inserts it into its </a:t>
            </a:r>
            <a:r>
              <a:rPr kumimoji="0" lang="en-US" altLang="en-US" sz="2000" b="1" i="0" u="none" strike="noStrike" cap="none" normalizeH="0" baseline="0" dirty="0" smtClean="0">
                <a:ln>
                  <a:noFill/>
                </a:ln>
                <a:solidFill>
                  <a:schemeClr val="tx1"/>
                </a:solidFill>
                <a:effectLst/>
                <a:latin typeface="Arial" panose="020B0604020202020204" pitchFamily="34" charset="0"/>
              </a:rPr>
              <a:t>correct position</a:t>
            </a:r>
            <a:r>
              <a:rPr kumimoji="0" lang="en-US" altLang="en-US" sz="2000" b="0" i="0" u="none" strike="noStrike" cap="none" normalizeH="0" baseline="0" dirty="0" smtClean="0">
                <a:ln>
                  <a:noFill/>
                </a:ln>
                <a:solidFill>
                  <a:schemeClr val="tx1"/>
                </a:solidFill>
                <a:effectLst/>
                <a:latin typeface="Arial" panose="020B0604020202020204" pitchFamily="34" charset="0"/>
              </a:rPr>
              <a:t> among the first </a:t>
            </a:r>
            <a:r>
              <a:rPr kumimoji="0" lang="en-US" altLang="en-US" sz="2000" b="0" i="0" u="none" strike="noStrike" cap="none" normalizeH="0" baseline="0" dirty="0" smtClean="0">
                <a:ln>
                  <a:noFill/>
                </a:ln>
                <a:solidFill>
                  <a:schemeClr val="tx1"/>
                </a:solidFill>
                <a:effectLst/>
                <a:latin typeface="Arial Unicode MS"/>
              </a:rPr>
              <a:t>j − 1</a:t>
            </a:r>
            <a:r>
              <a:rPr kumimoji="0" lang="en-US" altLang="en-US" sz="2000" b="0" i="0" u="none" strike="noStrike" cap="none" normalizeH="0" baseline="0" dirty="0" smtClean="0">
                <a:ln>
                  <a:noFill/>
                </a:ln>
                <a:solidFill>
                  <a:schemeClr val="tx1"/>
                </a:solidFill>
                <a:effectLst/>
              </a:rPr>
              <a:t> elements.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It does this by </a:t>
            </a:r>
            <a:r>
              <a:rPr kumimoji="0" lang="en-US" altLang="en-US" sz="2000" b="1" i="0" u="none" strike="noStrike" cap="none" normalizeH="0" baseline="0" dirty="0" smtClean="0">
                <a:ln>
                  <a:noFill/>
                </a:ln>
                <a:solidFill>
                  <a:schemeClr val="tx1"/>
                </a:solidFill>
                <a:effectLst/>
                <a:latin typeface="Arial" panose="020B0604020202020204" pitchFamily="34" charset="0"/>
              </a:rPr>
              <a:t>comparing the </a:t>
            </a:r>
            <a:r>
              <a:rPr kumimoji="0" lang="en-US" altLang="en-US" sz="2000" b="1" i="0" u="none" strike="noStrike" cap="none" normalizeH="0" baseline="0" dirty="0" err="1" smtClean="0">
                <a:ln>
                  <a:noFill/>
                </a:ln>
                <a:solidFill>
                  <a:schemeClr val="tx1"/>
                </a:solidFill>
                <a:effectLst/>
                <a:latin typeface="Arial" panose="020B0604020202020204" pitchFamily="34" charset="0"/>
              </a:rPr>
              <a:t>jth</a:t>
            </a:r>
            <a:r>
              <a:rPr kumimoji="0" lang="en-US" altLang="en-US" sz="2000" b="1" i="0" u="none" strike="noStrike" cap="none" normalizeH="0" baseline="0" dirty="0" smtClean="0">
                <a:ln>
                  <a:noFill/>
                </a:ln>
                <a:solidFill>
                  <a:schemeClr val="tx1"/>
                </a:solidFill>
                <a:effectLst/>
                <a:latin typeface="Arial" panose="020B0604020202020204" pitchFamily="34" charset="0"/>
              </a:rPr>
              <a:t> element</a:t>
            </a:r>
            <a:r>
              <a:rPr kumimoji="0" lang="en-US" altLang="en-US" sz="2000" b="0" i="0" u="none" strike="noStrike" cap="none" normalizeH="0" baseline="0" dirty="0" smtClean="0">
                <a:ln>
                  <a:noFill/>
                </a:ln>
                <a:solidFill>
                  <a:schemeClr val="tx1"/>
                </a:solidFill>
                <a:effectLst/>
                <a:latin typeface="Arial" panose="020B0604020202020204" pitchFamily="34" charset="0"/>
              </a:rPr>
              <a:t> with the elements before it until it finds where it belongs.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481988" y="2633551"/>
            <a:ext cx="9684774" cy="1631216"/>
          </a:xfrm>
          <a:prstGeom prst="rect">
            <a:avLst/>
          </a:prstGeom>
        </p:spPr>
        <p:txBody>
          <a:bodyPr wrap="square">
            <a:spAutoFit/>
          </a:bodyPr>
          <a:lstStyle/>
          <a:p>
            <a:r>
              <a:rPr lang="en-US" sz="2000" b="1" dirty="0"/>
              <a:t>Step 2: Comparisons for each element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the </a:t>
            </a:r>
            <a:r>
              <a:rPr lang="en-US" sz="2000" b="1" dirty="0">
                <a:latin typeface="Times New Roman" panose="02020603050405020304" pitchFamily="18" charset="0"/>
                <a:cs typeface="Times New Roman" panose="02020603050405020304" pitchFamily="18" charset="0"/>
              </a:rPr>
              <a:t>2nd element</a:t>
            </a:r>
            <a:r>
              <a:rPr lang="en-US" sz="2000" dirty="0">
                <a:latin typeface="Times New Roman" panose="02020603050405020304" pitchFamily="18" charset="0"/>
                <a:cs typeface="Times New Roman" panose="02020603050405020304" pitchFamily="18" charset="0"/>
              </a:rPr>
              <a:t>, it may do </a:t>
            </a:r>
            <a:r>
              <a:rPr lang="en-US" sz="2000" b="1" dirty="0">
                <a:latin typeface="Times New Roman" panose="02020603050405020304" pitchFamily="18" charset="0"/>
                <a:cs typeface="Times New Roman" panose="02020603050405020304" pitchFamily="18" charset="0"/>
              </a:rPr>
              <a:t>2 comparisons</a:t>
            </a:r>
            <a:r>
              <a:rPr lang="en-US" sz="2000" dirty="0">
                <a:latin typeface="Times New Roman" panose="02020603050405020304" pitchFamily="18" charset="0"/>
                <a:cs typeface="Times New Roman" panose="02020603050405020304" pitchFamily="18" charset="0"/>
              </a:rPr>
              <a:t> (worst case).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the </a:t>
            </a:r>
            <a:r>
              <a:rPr lang="en-US" sz="2000" b="1" dirty="0">
                <a:latin typeface="Times New Roman" panose="02020603050405020304" pitchFamily="18" charset="0"/>
                <a:cs typeface="Times New Roman" panose="02020603050405020304" pitchFamily="18" charset="0"/>
              </a:rPr>
              <a:t>3rd element</a:t>
            </a:r>
            <a:r>
              <a:rPr lang="en-US" sz="2000" dirty="0">
                <a:latin typeface="Times New Roman" panose="02020603050405020304" pitchFamily="18" charset="0"/>
                <a:cs typeface="Times New Roman" panose="02020603050405020304" pitchFamily="18" charset="0"/>
              </a:rPr>
              <a:t>, it may do </a:t>
            </a:r>
            <a:r>
              <a:rPr lang="en-US" sz="2000" b="1" dirty="0">
                <a:latin typeface="Times New Roman" panose="02020603050405020304" pitchFamily="18" charset="0"/>
                <a:cs typeface="Times New Roman" panose="02020603050405020304" pitchFamily="18" charset="0"/>
              </a:rPr>
              <a:t>3 comparisons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the </a:t>
            </a:r>
            <a:r>
              <a:rPr lang="en-US" sz="2000" b="1" dirty="0">
                <a:latin typeface="Times New Roman" panose="02020603050405020304" pitchFamily="18" charset="0"/>
                <a:cs typeface="Times New Roman" panose="02020603050405020304" pitchFamily="18" charset="0"/>
              </a:rPr>
              <a:t>nth element</a:t>
            </a:r>
            <a:r>
              <a:rPr lang="en-US" sz="2000" dirty="0">
                <a:latin typeface="Times New Roman" panose="02020603050405020304" pitchFamily="18" charset="0"/>
                <a:cs typeface="Times New Roman" panose="02020603050405020304" pitchFamily="18" charset="0"/>
              </a:rPr>
              <a:t>, it may do </a:t>
            </a:r>
            <a:r>
              <a:rPr lang="en-US" sz="2000" b="1" dirty="0">
                <a:latin typeface="Times New Roman" panose="02020603050405020304" pitchFamily="18" charset="0"/>
                <a:cs typeface="Times New Roman" panose="02020603050405020304" pitchFamily="18" charset="0"/>
              </a:rPr>
              <a:t>n comparisons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So total comparisons in </a:t>
            </a:r>
            <a:r>
              <a:rPr lang="en-US" sz="2000" b="1" dirty="0">
                <a:latin typeface="Times New Roman" panose="02020603050405020304" pitchFamily="18" charset="0"/>
                <a:cs typeface="Times New Roman" panose="02020603050405020304" pitchFamily="18" charset="0"/>
              </a:rPr>
              <a:t>worst case</a:t>
            </a:r>
            <a:r>
              <a:rPr lang="en-US" sz="2000" dirty="0">
                <a:latin typeface="Times New Roman" panose="02020603050405020304" pitchFamily="18" charset="0"/>
                <a:cs typeface="Times New Roman" panose="02020603050405020304" pitchFamily="18" charset="0"/>
              </a:rPr>
              <a:t>:</a:t>
            </a:r>
          </a:p>
        </p:txBody>
      </p:sp>
      <p:pic>
        <p:nvPicPr>
          <p:cNvPr id="10" name="Picture 9"/>
          <p:cNvPicPr>
            <a:picLocks noChangeAspect="1"/>
          </p:cNvPicPr>
          <p:nvPr/>
        </p:nvPicPr>
        <p:blipFill>
          <a:blip r:embed="rId2"/>
          <a:stretch>
            <a:fillRect/>
          </a:stretch>
        </p:blipFill>
        <p:spPr>
          <a:xfrm>
            <a:off x="2912413" y="4283881"/>
            <a:ext cx="2660614" cy="470999"/>
          </a:xfrm>
          <a:prstGeom prst="rect">
            <a:avLst/>
          </a:prstGeom>
        </p:spPr>
      </p:pic>
      <p:pic>
        <p:nvPicPr>
          <p:cNvPr id="11" name="Picture 10"/>
          <p:cNvPicPr>
            <a:picLocks noChangeAspect="1"/>
          </p:cNvPicPr>
          <p:nvPr/>
        </p:nvPicPr>
        <p:blipFill>
          <a:blip r:embed="rId3"/>
          <a:stretch>
            <a:fillRect/>
          </a:stretch>
        </p:blipFill>
        <p:spPr>
          <a:xfrm>
            <a:off x="7082135" y="2633551"/>
            <a:ext cx="5109865" cy="2607510"/>
          </a:xfrm>
          <a:prstGeom prst="rect">
            <a:avLst/>
          </a:prstGeom>
        </p:spPr>
      </p:pic>
      <p:sp>
        <p:nvSpPr>
          <p:cNvPr id="13" name="Rectangle 12"/>
          <p:cNvSpPr/>
          <p:nvPr/>
        </p:nvSpPr>
        <p:spPr>
          <a:xfrm>
            <a:off x="481988" y="4736122"/>
            <a:ext cx="7612858" cy="1107996"/>
          </a:xfrm>
          <a:prstGeom prst="rect">
            <a:avLst/>
          </a:prstGeom>
        </p:spPr>
        <p:txBody>
          <a:bodyPr wrap="square">
            <a:spAutoFit/>
          </a:bodyPr>
          <a:lstStyle/>
          <a:p>
            <a:r>
              <a:rPr lang="en-US" sz="2200" b="1" dirty="0">
                <a:solidFill>
                  <a:srgbClr val="0070C0"/>
                </a:solidFill>
              </a:rPr>
              <a:t>Step 4: Complexity</a:t>
            </a:r>
          </a:p>
          <a:p>
            <a:pPr>
              <a:buFont typeface="Arial" panose="020B0604020202020204" pitchFamily="34" charset="0"/>
              <a:buChar char="•"/>
            </a:pPr>
            <a:r>
              <a:rPr lang="en-US" sz="2200" b="1" dirty="0">
                <a:solidFill>
                  <a:srgbClr val="0070C0"/>
                </a:solidFill>
              </a:rPr>
              <a:t>In the worst case, insertion sort does ~ n²/2 comparisons.</a:t>
            </a:r>
          </a:p>
          <a:p>
            <a:pPr>
              <a:buFont typeface="Arial" panose="020B0604020202020204" pitchFamily="34" charset="0"/>
              <a:buChar char="•"/>
            </a:pPr>
            <a:r>
              <a:rPr lang="en-US" sz="2200" b="1" dirty="0">
                <a:solidFill>
                  <a:srgbClr val="0070C0"/>
                </a:solidFill>
              </a:rPr>
              <a:t>So the time complexity </a:t>
            </a:r>
            <a:r>
              <a:rPr lang="en-US" sz="2200" b="1" dirty="0" smtClean="0">
                <a:solidFill>
                  <a:srgbClr val="0070C0"/>
                </a:solidFill>
              </a:rPr>
              <a:t>=</a:t>
            </a:r>
            <a:r>
              <a:rPr lang="en-US" sz="2000" b="1" dirty="0" smtClean="0">
                <a:solidFill>
                  <a:srgbClr val="0070C0"/>
                </a:solidFill>
              </a:rPr>
              <a:t> </a:t>
            </a:r>
            <a:endParaRPr lang="en-US" sz="2000" b="1" dirty="0">
              <a:solidFill>
                <a:srgbClr val="0070C0"/>
              </a:solidFill>
            </a:endParaRPr>
          </a:p>
        </p:txBody>
      </p:sp>
      <p:pic>
        <p:nvPicPr>
          <p:cNvPr id="14" name="Picture 13"/>
          <p:cNvPicPr>
            <a:picLocks noChangeAspect="1"/>
          </p:cNvPicPr>
          <p:nvPr/>
        </p:nvPicPr>
        <p:blipFill>
          <a:blip r:embed="rId4"/>
          <a:stretch>
            <a:fillRect/>
          </a:stretch>
        </p:blipFill>
        <p:spPr>
          <a:xfrm>
            <a:off x="3857245" y="5472903"/>
            <a:ext cx="1274158" cy="697754"/>
          </a:xfrm>
          <a:prstGeom prst="rect">
            <a:avLst/>
          </a:prstGeom>
        </p:spPr>
      </p:pic>
    </p:spTree>
    <p:extLst>
      <p:ext uri="{BB962C8B-B14F-4D97-AF65-F5344CB8AC3E}">
        <p14:creationId xmlns:p14="http://schemas.microsoft.com/office/powerpoint/2010/main" val="304338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Garamond">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5671</TotalTime>
  <Words>3034</Words>
  <Application>Microsoft Office PowerPoint</Application>
  <PresentationFormat>Custom</PresentationFormat>
  <Paragraphs>327</Paragraphs>
  <Slides>36</Slides>
  <Notes>1</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Diamond Grid 16x9</vt:lpstr>
      <vt:lpstr>Discrete Structures</vt:lpstr>
      <vt:lpstr>Algorithms</vt:lpstr>
      <vt:lpstr>Problems and Algorithms</vt:lpstr>
      <vt:lpstr>Algorithms</vt:lpstr>
      <vt:lpstr>Algorithms</vt:lpstr>
      <vt:lpstr>Specifying Algorithms</vt:lpstr>
      <vt:lpstr>Properties of Algorithms</vt:lpstr>
      <vt:lpstr>Finding the Maximum Element in a Finite Sequence</vt:lpstr>
      <vt:lpstr>Some Example Algorithm Problems</vt:lpstr>
      <vt:lpstr>Searching Problems</vt:lpstr>
      <vt:lpstr>Linear Search Algorithm</vt:lpstr>
      <vt:lpstr>Linear Search Algorithm</vt:lpstr>
      <vt:lpstr>Binary Search Algorithm</vt:lpstr>
      <vt:lpstr>Binary Search Algorithm</vt:lpstr>
      <vt:lpstr>Binary Search Algorithm</vt:lpstr>
      <vt:lpstr>Binary Search Algorithm</vt:lpstr>
      <vt:lpstr>Sorting Algorithms</vt:lpstr>
      <vt:lpstr>Sorting</vt:lpstr>
      <vt:lpstr>Bubble Sort</vt:lpstr>
      <vt:lpstr>Bubble Sort</vt:lpstr>
      <vt:lpstr>Bubble Sort</vt:lpstr>
      <vt:lpstr>Bubble Sort – Illustration</vt:lpstr>
      <vt:lpstr>Insertion Sort</vt:lpstr>
      <vt:lpstr>Insertion Sort</vt:lpstr>
      <vt:lpstr>Insertion Sort (Further Explanation)</vt:lpstr>
      <vt:lpstr>Insertion Sort – Illustration</vt:lpstr>
      <vt:lpstr>Insertion Sort</vt:lpstr>
      <vt:lpstr>Complexity of Algorithms</vt:lpstr>
      <vt:lpstr>Time Complexity</vt:lpstr>
      <vt:lpstr>Complexity of Algorithms</vt:lpstr>
      <vt:lpstr>Time Complexity of Linear Search Algorithm</vt:lpstr>
      <vt:lpstr>WORST-CASE COMPLEXITY</vt:lpstr>
      <vt:lpstr>AVERAGE-CASE COMPLEXITY</vt:lpstr>
      <vt:lpstr>AVERAGE-CASE COMPLEXITY</vt:lpstr>
      <vt:lpstr>WORST-CASE COMPLEXITY OF TWO SORTING ALGORITHMS</vt:lpstr>
      <vt:lpstr>Insertion Sort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HP</dc:creator>
  <cp:lastModifiedBy>Supreme_Traders</cp:lastModifiedBy>
  <cp:revision>281</cp:revision>
  <dcterms:created xsi:type="dcterms:W3CDTF">2023-03-06T04:46:25Z</dcterms:created>
  <dcterms:modified xsi:type="dcterms:W3CDTF">2026-03-15T11:28:02Z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