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8"/>
  </p:notesMasterIdLst>
  <p:sldIdLst>
    <p:sldId id="256" r:id="rId2"/>
    <p:sldId id="315" r:id="rId3"/>
    <p:sldId id="294" r:id="rId4"/>
    <p:sldId id="317" r:id="rId5"/>
    <p:sldId id="295" r:id="rId6"/>
    <p:sldId id="297" r:id="rId7"/>
    <p:sldId id="362" r:id="rId8"/>
    <p:sldId id="343" r:id="rId9"/>
    <p:sldId id="298" r:id="rId10"/>
    <p:sldId id="299" r:id="rId11"/>
    <p:sldId id="300" r:id="rId12"/>
    <p:sldId id="301" r:id="rId13"/>
    <p:sldId id="306" r:id="rId14"/>
    <p:sldId id="307" r:id="rId15"/>
    <p:sldId id="346" r:id="rId16"/>
    <p:sldId id="309" r:id="rId17"/>
    <p:sldId id="318" r:id="rId18"/>
    <p:sldId id="319" r:id="rId19"/>
    <p:sldId id="324" r:id="rId20"/>
    <p:sldId id="367" r:id="rId21"/>
    <p:sldId id="325" r:id="rId22"/>
    <p:sldId id="368" r:id="rId23"/>
    <p:sldId id="326" r:id="rId24"/>
    <p:sldId id="329" r:id="rId25"/>
    <p:sldId id="328" r:id="rId26"/>
    <p:sldId id="369" r:id="rId27"/>
    <p:sldId id="330" r:id="rId28"/>
    <p:sldId id="331" r:id="rId29"/>
    <p:sldId id="370" r:id="rId30"/>
    <p:sldId id="332" r:id="rId31"/>
    <p:sldId id="333" r:id="rId32"/>
    <p:sldId id="334" r:id="rId33"/>
    <p:sldId id="335" r:id="rId34"/>
    <p:sldId id="336" r:id="rId35"/>
    <p:sldId id="371" r:id="rId36"/>
    <p:sldId id="320" r:id="rId37"/>
    <p:sldId id="321" r:id="rId38"/>
    <p:sldId id="348" r:id="rId39"/>
    <p:sldId id="366" r:id="rId40"/>
    <p:sldId id="347" r:id="rId41"/>
    <p:sldId id="349" r:id="rId42"/>
    <p:sldId id="350" r:id="rId43"/>
    <p:sldId id="351" r:id="rId44"/>
    <p:sldId id="355" r:id="rId45"/>
    <p:sldId id="352" r:id="rId46"/>
    <p:sldId id="354" r:id="rId47"/>
    <p:sldId id="322" r:id="rId48"/>
    <p:sldId id="323" r:id="rId49"/>
    <p:sldId id="356" r:id="rId50"/>
    <p:sldId id="357" r:id="rId51"/>
    <p:sldId id="358" r:id="rId52"/>
    <p:sldId id="359" r:id="rId53"/>
    <p:sldId id="360" r:id="rId54"/>
    <p:sldId id="361" r:id="rId55"/>
    <p:sldId id="364" r:id="rId56"/>
    <p:sldId id="365" r:id="rId5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43" autoAdjust="0"/>
    <p:restoredTop sz="94660"/>
  </p:normalViewPr>
  <p:slideViewPr>
    <p:cSldViewPr>
      <p:cViewPr>
        <p:scale>
          <a:sx n="63" d="100"/>
          <a:sy n="63" d="100"/>
        </p:scale>
        <p:origin x="1404" y="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62EE97F-2327-4FE9-8874-2C0F3581839A}" type="datetimeFigureOut">
              <a:rPr lang="en-US" smtClean="0"/>
              <a:pPr/>
              <a:t>3/26/2026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A6B134D-0EB3-42CB-9322-AA369738187D}" type="slidenum">
              <a:rPr lang="en-US" smtClean="0"/>
              <a:pPr/>
              <a:t>‹#›</a:t>
            </a:fld>
            <a:endParaRPr lang="en-US"/>
          </a:p>
        </p:txBody>
      </p:sp>
    </p:spTree>
    <p:extLst>
      <p:ext uri="{BB962C8B-B14F-4D97-AF65-F5344CB8AC3E}">
        <p14:creationId xmlns:p14="http://schemas.microsoft.com/office/powerpoint/2010/main" val="22413465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A6B134D-0EB3-42CB-9322-AA369738187D}" type="slidenum">
              <a:rPr lang="en-US" smtClean="0"/>
              <a:pPr/>
              <a:t>9</a:t>
            </a:fld>
            <a:endParaRPr lang="en-US"/>
          </a:p>
        </p:txBody>
      </p:sp>
    </p:spTree>
    <p:extLst>
      <p:ext uri="{BB962C8B-B14F-4D97-AF65-F5344CB8AC3E}">
        <p14:creationId xmlns:p14="http://schemas.microsoft.com/office/powerpoint/2010/main" val="22135406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A6B134D-0EB3-42CB-9322-AA369738187D}" type="slidenum">
              <a:rPr lang="en-US" smtClean="0"/>
              <a:pPr/>
              <a:t>25</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A6B134D-0EB3-42CB-9322-AA369738187D}" type="slidenum">
              <a:rPr lang="en-US" smtClean="0"/>
              <a:pPr/>
              <a:t>29</a:t>
            </a:fld>
            <a:endParaRPr lang="en-US"/>
          </a:p>
        </p:txBody>
      </p:sp>
    </p:spTree>
    <p:extLst>
      <p:ext uri="{BB962C8B-B14F-4D97-AF65-F5344CB8AC3E}">
        <p14:creationId xmlns:p14="http://schemas.microsoft.com/office/powerpoint/2010/main" val="17169586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A6B134D-0EB3-42CB-9322-AA369738187D}" type="slidenum">
              <a:rPr lang="en-US" smtClean="0"/>
              <a:pPr/>
              <a:t>46</a:t>
            </a:fld>
            <a:endParaRPr lang="en-US"/>
          </a:p>
        </p:txBody>
      </p:sp>
    </p:spTree>
    <p:extLst>
      <p:ext uri="{BB962C8B-B14F-4D97-AF65-F5344CB8AC3E}">
        <p14:creationId xmlns:p14="http://schemas.microsoft.com/office/powerpoint/2010/main" val="29210163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74223539-C274-414E-836E-21403C9CE2AE}" type="datetimeFigureOut">
              <a:rPr lang="en-US" smtClean="0"/>
              <a:pPr/>
              <a:t>3/26/2026</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8CD41AC4-40F7-4FE0-8905-74C6698904F3}"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4223539-C274-414E-836E-21403C9CE2AE}" type="datetimeFigureOut">
              <a:rPr lang="en-US" smtClean="0"/>
              <a:pPr/>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74223539-C274-414E-836E-21403C9CE2AE}" type="datetimeFigureOut">
              <a:rPr lang="en-US" smtClean="0"/>
              <a:pPr/>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D41AC4-40F7-4FE0-8905-74C6698904F3}"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4223539-C274-414E-836E-21403C9CE2AE}" type="datetimeFigureOut">
              <a:rPr lang="en-US" smtClean="0"/>
              <a:pPr/>
              <a:t>3/26/2026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74223539-C274-414E-836E-21403C9CE2AE}" type="datetimeFigureOut">
              <a:rPr lang="en-US" smtClean="0"/>
              <a:pPr/>
              <a:t>3/26/2026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74223539-C274-414E-836E-21403C9CE2AE}" type="datetimeFigureOut">
              <a:rPr lang="en-US" smtClean="0"/>
              <a:pPr/>
              <a:t>3/26/2026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223539-C274-414E-836E-21403C9CE2AE}" type="datetimeFigureOut">
              <a:rPr lang="en-US" smtClean="0"/>
              <a:pPr/>
              <a:t>3/26/2026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4223539-C274-414E-836E-21403C9CE2AE}" type="datetimeFigureOut">
              <a:rPr lang="en-US" smtClean="0"/>
              <a:pPr/>
              <a:t>3/26/2026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74223539-C274-414E-836E-21403C9CE2AE}" type="datetimeFigureOut">
              <a:rPr lang="en-US" smtClean="0"/>
              <a:pPr/>
              <a:t>3/26/2026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8CD41AC4-40F7-4FE0-8905-74C6698904F3}"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4223539-C274-414E-836E-21403C9CE2AE}" type="datetimeFigureOut">
              <a:rPr lang="en-US" smtClean="0"/>
              <a:pPr/>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4223539-C274-414E-836E-21403C9CE2AE}" type="datetimeFigureOut">
              <a:rPr lang="en-US" smtClean="0"/>
              <a:pPr/>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74223539-C274-414E-836E-21403C9CE2AE}" type="datetimeFigureOut">
              <a:rPr lang="en-US" smtClean="0"/>
              <a:pPr/>
              <a:t>3/26/2026</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8CD41AC4-40F7-4FE0-8905-74C6698904F3}"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oleObject" Target="../embeddings/oleObject2.bin"/><Relationship Id="rId4" Type="http://schemas.openxmlformats.org/officeDocument/2006/relationships/image" Target="../media/image3.w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2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Relations</a:t>
            </a:r>
            <a:endParaRPr lang="en-US" dirty="0"/>
          </a:p>
        </p:txBody>
      </p:sp>
      <p:sp>
        <p:nvSpPr>
          <p:cNvPr id="3" name="Subtitle 2"/>
          <p:cNvSpPr>
            <a:spLocks noGrp="1"/>
          </p:cNvSpPr>
          <p:nvPr>
            <p:ph type="subTitle" idx="1"/>
          </p:nvPr>
        </p:nvSpPr>
        <p:spPr/>
        <p:txBody>
          <a:bodyPr/>
          <a:lstStyle/>
          <a:p>
            <a:r>
              <a:rPr lang="en-US" dirty="0" smtClean="0"/>
              <a:t>Chapter 9</a:t>
            </a:r>
            <a:endParaRPr lang="en-US" dirty="0"/>
          </a:p>
        </p:txBody>
      </p:sp>
      <p:sp>
        <p:nvSpPr>
          <p:cNvPr id="4" name="Text Box 3"/>
          <p:cNvSpPr txBox="1">
            <a:spLocks noChangeArrowheads="1"/>
          </p:cNvSpPr>
          <p:nvPr/>
        </p:nvSpPr>
        <p:spPr bwMode="auto">
          <a:xfrm>
            <a:off x="0" y="6553200"/>
            <a:ext cx="9144000" cy="25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2833" tIns="51417" rIns="102833" bIns="5141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spcBef>
                <a:spcPct val="50000"/>
              </a:spcBef>
              <a:buFontTx/>
              <a:buNone/>
            </a:pPr>
            <a:r>
              <a:rPr lang="en-US" altLang="en-US" sz="1000" dirty="0"/>
              <a:t>Copyright ©  McGraw-Hill Education.  All rights reserved. No reproduction or distribution without the prior written consent of McGraw-Hill </a:t>
            </a:r>
            <a:r>
              <a:rPr lang="en-US" altLang="en-US" sz="1000" dirty="0" smtClean="0"/>
              <a:t>Education.</a:t>
            </a:r>
            <a:endParaRPr lang="en-US" altLang="en-US" sz="10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Chapter Summary</a:t>
            </a:r>
            <a:endParaRPr lang="en-US" dirty="0"/>
          </a:p>
        </p:txBody>
      </p:sp>
      <p:sp>
        <p:nvSpPr>
          <p:cNvPr id="3" name="Content Placeholder 2"/>
          <p:cNvSpPr>
            <a:spLocks noGrp="1"/>
          </p:cNvSpPr>
          <p:nvPr>
            <p:ph idx="1"/>
          </p:nvPr>
        </p:nvSpPr>
        <p:spPr/>
        <p:txBody>
          <a:bodyPr>
            <a:normAutofit/>
          </a:bodyPr>
          <a:lstStyle/>
          <a:p>
            <a:r>
              <a:rPr lang="en-US" dirty="0" smtClean="0"/>
              <a:t>Relations and Their Properties</a:t>
            </a:r>
          </a:p>
          <a:p>
            <a:r>
              <a:rPr lang="en-US" i="1" dirty="0" smtClean="0"/>
              <a:t>n</a:t>
            </a:r>
            <a:r>
              <a:rPr lang="en-US" dirty="0" smtClean="0"/>
              <a:t>-</a:t>
            </a:r>
            <a:r>
              <a:rPr lang="en-US" dirty="0" err="1" smtClean="0"/>
              <a:t>ary</a:t>
            </a:r>
            <a:r>
              <a:rPr lang="en-US" dirty="0" smtClean="0"/>
              <a:t> Relations and Their Applications (</a:t>
            </a:r>
            <a:r>
              <a:rPr lang="en-US" i="1" dirty="0" smtClean="0"/>
              <a:t>not currently included in overheads</a:t>
            </a:r>
            <a:r>
              <a:rPr lang="en-US" dirty="0" smtClean="0"/>
              <a:t>)</a:t>
            </a:r>
          </a:p>
          <a:p>
            <a:r>
              <a:rPr lang="en-US" dirty="0" smtClean="0"/>
              <a:t>Representing Relations</a:t>
            </a:r>
          </a:p>
          <a:p>
            <a:r>
              <a:rPr lang="en-US" dirty="0" smtClean="0"/>
              <a:t>Closures of Relations (</a:t>
            </a:r>
            <a:r>
              <a:rPr lang="en-US" i="1" dirty="0" smtClean="0"/>
              <a:t>not currently included in  overheads</a:t>
            </a:r>
            <a:r>
              <a:rPr lang="en-US" dirty="0" smtClean="0"/>
              <a:t>)</a:t>
            </a:r>
          </a:p>
          <a:p>
            <a:r>
              <a:rPr lang="en-US" dirty="0" smtClean="0"/>
              <a:t>Equivalence Relations</a:t>
            </a:r>
          </a:p>
          <a:p>
            <a:r>
              <a:rPr lang="en-US" dirty="0" smtClean="0"/>
              <a:t>Partial Orderings</a:t>
            </a:r>
          </a:p>
          <a:p>
            <a:pPr lvl="1">
              <a:buNone/>
            </a:pPr>
            <a:endParaRPr lang="en-US" dirty="0" smtClean="0"/>
          </a:p>
          <a:p>
            <a:endParaRPr lang="en-US" dirty="0" smtClean="0"/>
          </a:p>
          <a:p>
            <a:pPr lvl="1">
              <a:buNone/>
            </a:pPr>
            <a:endParaRPr lang="en-US" dirty="0" smtClean="0"/>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Relations and Their Properties</a:t>
            </a:r>
            <a:endParaRPr lang="en-US" dirty="0"/>
          </a:p>
        </p:txBody>
      </p:sp>
      <p:sp>
        <p:nvSpPr>
          <p:cNvPr id="3" name="Subtitle 2"/>
          <p:cNvSpPr>
            <a:spLocks noGrp="1"/>
          </p:cNvSpPr>
          <p:nvPr>
            <p:ph type="subTitle" idx="1"/>
          </p:nvPr>
        </p:nvSpPr>
        <p:spPr/>
        <p:txBody>
          <a:bodyPr/>
          <a:lstStyle/>
          <a:p>
            <a:r>
              <a:rPr lang="en-US" dirty="0" smtClean="0"/>
              <a:t>Section 9.1</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Section Summary</a:t>
            </a:r>
            <a:endParaRPr lang="en-US" dirty="0"/>
          </a:p>
        </p:txBody>
      </p:sp>
      <p:sp>
        <p:nvSpPr>
          <p:cNvPr id="3" name="Content Placeholder 2"/>
          <p:cNvSpPr>
            <a:spLocks noGrp="1"/>
          </p:cNvSpPr>
          <p:nvPr>
            <p:ph idx="1"/>
          </p:nvPr>
        </p:nvSpPr>
        <p:spPr/>
        <p:txBody>
          <a:bodyPr>
            <a:normAutofit/>
          </a:bodyPr>
          <a:lstStyle/>
          <a:p>
            <a:r>
              <a:rPr lang="en-US" dirty="0" smtClean="0"/>
              <a:t>Relations and Functions</a:t>
            </a:r>
          </a:p>
          <a:p>
            <a:r>
              <a:rPr lang="en-US" dirty="0" smtClean="0"/>
              <a:t>Properties of Relations</a:t>
            </a:r>
          </a:p>
          <a:p>
            <a:pPr lvl="1"/>
            <a:r>
              <a:rPr lang="en-US" dirty="0" smtClean="0"/>
              <a:t>Reflexive Relations</a:t>
            </a:r>
          </a:p>
          <a:p>
            <a:pPr lvl="1"/>
            <a:r>
              <a:rPr lang="en-US" dirty="0" smtClean="0"/>
              <a:t>Symmetric and </a:t>
            </a:r>
            <a:r>
              <a:rPr lang="en-US" dirty="0" err="1" smtClean="0"/>
              <a:t>Antisymmetric</a:t>
            </a:r>
            <a:r>
              <a:rPr lang="en-US" dirty="0" smtClean="0"/>
              <a:t> Relations</a:t>
            </a:r>
          </a:p>
          <a:p>
            <a:pPr lvl="1"/>
            <a:r>
              <a:rPr lang="en-US" dirty="0" smtClean="0"/>
              <a:t>Transitive Relations</a:t>
            </a:r>
          </a:p>
          <a:p>
            <a:r>
              <a:rPr lang="en-US" dirty="0" smtClean="0"/>
              <a:t>Combining Relations</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Binary Relations</a:t>
            </a:r>
            <a:endParaRPr lang="en-US" dirty="0"/>
          </a:p>
        </p:txBody>
      </p:sp>
      <p:sp>
        <p:nvSpPr>
          <p:cNvPr id="3" name="Content Placeholder 2"/>
          <p:cNvSpPr>
            <a:spLocks noGrp="1"/>
          </p:cNvSpPr>
          <p:nvPr>
            <p:ph idx="1"/>
          </p:nvPr>
        </p:nvSpPr>
        <p:spPr/>
        <p:txBody>
          <a:bodyPr/>
          <a:lstStyle/>
          <a:p>
            <a:pPr>
              <a:buNone/>
            </a:pPr>
            <a:r>
              <a:rPr lang="en-US" b="1" dirty="0" smtClean="0"/>
              <a:t>   Definition:</a:t>
            </a:r>
            <a:r>
              <a:rPr lang="en-US" dirty="0" smtClean="0"/>
              <a:t> A </a:t>
            </a:r>
            <a:r>
              <a:rPr lang="en-US" i="1" dirty="0" smtClean="0"/>
              <a:t>binary relation </a:t>
            </a:r>
            <a:r>
              <a:rPr lang="en-US" b="1" i="1" dirty="0" smtClean="0"/>
              <a:t>R</a:t>
            </a:r>
            <a:r>
              <a:rPr lang="en-US" dirty="0" smtClean="0"/>
              <a:t> from a set </a:t>
            </a:r>
            <a:r>
              <a:rPr lang="en-US" b="1" i="1" dirty="0" smtClean="0"/>
              <a:t>A</a:t>
            </a:r>
            <a:r>
              <a:rPr lang="en-US" dirty="0" smtClean="0"/>
              <a:t> to a set </a:t>
            </a:r>
            <a:r>
              <a:rPr lang="en-US" b="1" i="1" dirty="0" smtClean="0"/>
              <a:t>B</a:t>
            </a:r>
            <a:r>
              <a:rPr lang="en-US" dirty="0" smtClean="0"/>
              <a:t> is a subset </a:t>
            </a:r>
            <a:r>
              <a:rPr lang="en-US" b="1" i="1" dirty="0" smtClean="0"/>
              <a:t>R </a:t>
            </a:r>
            <a:r>
              <a:rPr lang="en-US" b="1" dirty="0" smtClean="0">
                <a:latin typeface="Cambria Math"/>
                <a:ea typeface="Cambria Math"/>
              </a:rPr>
              <a:t>⊆</a:t>
            </a:r>
            <a:r>
              <a:rPr lang="en-US" b="1" i="1" dirty="0" smtClean="0">
                <a:latin typeface="Cambria Math"/>
                <a:ea typeface="Cambria Math"/>
              </a:rPr>
              <a:t> A </a:t>
            </a:r>
            <a:r>
              <a:rPr lang="en-US" b="1" dirty="0" smtClean="0">
                <a:latin typeface="Cambria Math"/>
                <a:ea typeface="Cambria Math"/>
              </a:rPr>
              <a:t>×</a:t>
            </a:r>
            <a:r>
              <a:rPr lang="en-US" b="1" i="1" dirty="0" smtClean="0">
                <a:latin typeface="Cambria Math"/>
                <a:ea typeface="Cambria Math"/>
              </a:rPr>
              <a:t> B.</a:t>
            </a:r>
          </a:p>
          <a:p>
            <a:pPr>
              <a:buNone/>
            </a:pPr>
            <a:r>
              <a:rPr lang="en-US" b="1" dirty="0" smtClean="0">
                <a:ea typeface="Cambria Math"/>
              </a:rPr>
              <a:t>    Example</a:t>
            </a:r>
            <a:r>
              <a:rPr lang="en-US" dirty="0" smtClean="0">
                <a:ea typeface="Cambria Math"/>
              </a:rPr>
              <a:t>:</a:t>
            </a:r>
          </a:p>
          <a:p>
            <a:pPr lvl="1"/>
            <a:r>
              <a:rPr lang="en-US" b="1" dirty="0" smtClean="0">
                <a:ea typeface="Cambria Math"/>
              </a:rPr>
              <a:t>Let </a:t>
            </a:r>
            <a:r>
              <a:rPr lang="en-US" b="1" i="1" dirty="0" smtClean="0">
                <a:ea typeface="Cambria Math"/>
              </a:rPr>
              <a:t>A = </a:t>
            </a:r>
            <a:r>
              <a:rPr lang="en-US" b="1" dirty="0" smtClean="0">
                <a:ea typeface="Cambria Math"/>
              </a:rPr>
              <a:t>{</a:t>
            </a:r>
            <a:r>
              <a:rPr lang="en-US" b="1" dirty="0" smtClean="0">
                <a:latin typeface="Cambria Math" pitchFamily="18" charset="0"/>
                <a:ea typeface="Cambria Math" pitchFamily="18" charset="0"/>
              </a:rPr>
              <a:t>0</a:t>
            </a:r>
            <a:r>
              <a:rPr lang="en-US" b="1" dirty="0" smtClean="0">
                <a:ea typeface="Cambria Math"/>
              </a:rPr>
              <a:t>,</a:t>
            </a:r>
            <a:r>
              <a:rPr lang="en-US" b="1" dirty="0" smtClean="0">
                <a:latin typeface="Cambria Math" pitchFamily="18" charset="0"/>
                <a:ea typeface="Cambria Math" pitchFamily="18" charset="0"/>
              </a:rPr>
              <a:t>1,2</a:t>
            </a:r>
            <a:r>
              <a:rPr lang="en-US" b="1" dirty="0" smtClean="0">
                <a:ea typeface="Cambria Math"/>
              </a:rPr>
              <a:t>}</a:t>
            </a:r>
            <a:r>
              <a:rPr lang="en-US" b="1" i="1" dirty="0" smtClean="0">
                <a:ea typeface="Cambria Math"/>
              </a:rPr>
              <a:t> </a:t>
            </a:r>
            <a:r>
              <a:rPr lang="en-US" b="1" dirty="0" smtClean="0">
                <a:ea typeface="Cambria Math"/>
              </a:rPr>
              <a:t>and</a:t>
            </a:r>
            <a:r>
              <a:rPr lang="en-US" b="1" i="1" dirty="0" smtClean="0">
                <a:ea typeface="Cambria Math"/>
              </a:rPr>
              <a:t> B = </a:t>
            </a:r>
            <a:r>
              <a:rPr lang="en-US" b="1" dirty="0" smtClean="0">
                <a:ea typeface="Cambria Math"/>
              </a:rPr>
              <a:t>{</a:t>
            </a:r>
            <a:r>
              <a:rPr lang="en-US" b="1" i="1" dirty="0" err="1" smtClean="0">
                <a:ea typeface="Cambria Math"/>
              </a:rPr>
              <a:t>a,b</a:t>
            </a:r>
            <a:r>
              <a:rPr lang="en-US" b="1" dirty="0" smtClean="0">
                <a:ea typeface="Cambria Math"/>
              </a:rPr>
              <a:t>} </a:t>
            </a:r>
          </a:p>
          <a:p>
            <a:pPr lvl="1"/>
            <a:r>
              <a:rPr lang="en-US" dirty="0" smtClean="0">
                <a:ea typeface="Cambria Math"/>
              </a:rPr>
              <a:t>{(</a:t>
            </a:r>
            <a:r>
              <a:rPr lang="en-US" dirty="0" smtClean="0">
                <a:latin typeface="Cambria Math" pitchFamily="18" charset="0"/>
                <a:ea typeface="Cambria Math" pitchFamily="18" charset="0"/>
              </a:rPr>
              <a:t>0, </a:t>
            </a:r>
            <a:r>
              <a:rPr lang="en-US" i="1" dirty="0" smtClean="0">
                <a:ea typeface="Cambria Math"/>
              </a:rPr>
              <a:t>a</a:t>
            </a:r>
            <a:r>
              <a:rPr lang="en-US" dirty="0" smtClean="0">
                <a:ea typeface="Cambria Math"/>
              </a:rPr>
              <a:t>)</a:t>
            </a:r>
            <a:r>
              <a:rPr lang="en-US" i="1" dirty="0" smtClean="0">
                <a:ea typeface="Cambria Math"/>
              </a:rPr>
              <a:t>, </a:t>
            </a:r>
            <a:r>
              <a:rPr lang="en-US" dirty="0" smtClean="0">
                <a:ea typeface="Cambria Math"/>
              </a:rPr>
              <a:t>(</a:t>
            </a:r>
            <a:r>
              <a:rPr lang="en-US" dirty="0" smtClean="0">
                <a:latin typeface="Cambria Math" pitchFamily="18" charset="0"/>
                <a:ea typeface="Cambria Math" pitchFamily="18" charset="0"/>
              </a:rPr>
              <a:t>0, </a:t>
            </a:r>
            <a:r>
              <a:rPr lang="en-US" i="1" dirty="0" smtClean="0">
                <a:ea typeface="Cambria Math"/>
              </a:rPr>
              <a:t>b</a:t>
            </a:r>
            <a:r>
              <a:rPr lang="en-US" dirty="0" smtClean="0">
                <a:ea typeface="Cambria Math"/>
              </a:rPr>
              <a:t>)</a:t>
            </a:r>
            <a:r>
              <a:rPr lang="en-US" i="1" dirty="0" smtClean="0">
                <a:ea typeface="Cambria Math"/>
              </a:rPr>
              <a:t>, </a:t>
            </a:r>
            <a:r>
              <a:rPr lang="en-US" dirty="0" smtClean="0">
                <a:ea typeface="Cambria Math"/>
              </a:rPr>
              <a:t>(</a:t>
            </a:r>
            <a:r>
              <a:rPr lang="en-US" dirty="0" smtClean="0">
                <a:latin typeface="Cambria Math" pitchFamily="18" charset="0"/>
                <a:ea typeface="Cambria Math" pitchFamily="18" charset="0"/>
              </a:rPr>
              <a:t>1,</a:t>
            </a:r>
            <a:r>
              <a:rPr lang="en-US" i="1" dirty="0" smtClean="0">
                <a:ea typeface="Cambria Math"/>
              </a:rPr>
              <a:t>a</a:t>
            </a:r>
            <a:r>
              <a:rPr lang="en-US" dirty="0" smtClean="0">
                <a:ea typeface="Cambria Math"/>
              </a:rPr>
              <a:t>) </a:t>
            </a:r>
            <a:r>
              <a:rPr lang="en-US" i="1" dirty="0" smtClean="0">
                <a:ea typeface="Cambria Math"/>
              </a:rPr>
              <a:t>, </a:t>
            </a:r>
            <a:r>
              <a:rPr lang="en-US" dirty="0" smtClean="0">
                <a:ea typeface="Cambria Math"/>
              </a:rPr>
              <a:t>(</a:t>
            </a:r>
            <a:r>
              <a:rPr lang="en-US" dirty="0" smtClean="0">
                <a:latin typeface="Cambria Math" pitchFamily="18" charset="0"/>
                <a:ea typeface="Cambria Math" pitchFamily="18" charset="0"/>
              </a:rPr>
              <a:t>2, </a:t>
            </a:r>
            <a:r>
              <a:rPr lang="en-US" i="1" dirty="0" smtClean="0">
                <a:ea typeface="Cambria Math"/>
              </a:rPr>
              <a:t>b</a:t>
            </a:r>
            <a:r>
              <a:rPr lang="en-US" dirty="0" smtClean="0">
                <a:ea typeface="Cambria Math"/>
              </a:rPr>
              <a:t>)} is a relation from </a:t>
            </a:r>
            <a:r>
              <a:rPr lang="en-US" i="1" dirty="0" smtClean="0">
                <a:ea typeface="Cambria Math"/>
              </a:rPr>
              <a:t>A</a:t>
            </a:r>
            <a:r>
              <a:rPr lang="en-US" dirty="0" smtClean="0">
                <a:ea typeface="Cambria Math"/>
              </a:rPr>
              <a:t> to </a:t>
            </a:r>
            <a:r>
              <a:rPr lang="en-US" i="1" dirty="0" smtClean="0">
                <a:ea typeface="Cambria Math"/>
              </a:rPr>
              <a:t>B</a:t>
            </a:r>
            <a:r>
              <a:rPr lang="en-US" dirty="0" smtClean="0">
                <a:ea typeface="Cambria Math"/>
              </a:rPr>
              <a:t>. </a:t>
            </a:r>
          </a:p>
          <a:p>
            <a:pPr lvl="1"/>
            <a:r>
              <a:rPr lang="en-US" dirty="0" smtClean="0">
                <a:ea typeface="Cambria Math"/>
              </a:rPr>
              <a:t>We can represent relations from a set </a:t>
            </a:r>
            <a:r>
              <a:rPr lang="en-US" i="1" dirty="0" smtClean="0">
                <a:ea typeface="Cambria Math"/>
              </a:rPr>
              <a:t>A</a:t>
            </a:r>
            <a:r>
              <a:rPr lang="en-US" dirty="0" smtClean="0">
                <a:ea typeface="Cambria Math"/>
              </a:rPr>
              <a:t> to a set </a:t>
            </a:r>
            <a:r>
              <a:rPr lang="en-US" i="1" dirty="0" smtClean="0">
                <a:ea typeface="Cambria Math"/>
              </a:rPr>
              <a:t>B</a:t>
            </a:r>
            <a:r>
              <a:rPr lang="en-US" dirty="0" smtClean="0">
                <a:ea typeface="Cambria Math"/>
              </a:rPr>
              <a:t> graphically or using a table:</a:t>
            </a:r>
          </a:p>
          <a:p>
            <a:endParaRPr lang="en-US" dirty="0">
              <a:latin typeface="+mj-lt"/>
            </a:endParaRPr>
          </a:p>
        </p:txBody>
      </p:sp>
      <p:pic>
        <p:nvPicPr>
          <p:cNvPr id="4" name="Picture 3" descr="0801.jpg"/>
          <p:cNvPicPr>
            <a:picLocks noChangeAspect="1"/>
          </p:cNvPicPr>
          <p:nvPr/>
        </p:nvPicPr>
        <p:blipFill>
          <a:blip r:embed="rId2" cstate="print"/>
          <a:stretch>
            <a:fillRect/>
          </a:stretch>
        </p:blipFill>
        <p:spPr>
          <a:xfrm>
            <a:off x="1676400" y="5105400"/>
            <a:ext cx="2394204" cy="1338834"/>
          </a:xfrm>
          <a:prstGeom prst="rect">
            <a:avLst/>
          </a:prstGeom>
        </p:spPr>
      </p:pic>
      <p:sp>
        <p:nvSpPr>
          <p:cNvPr id="5" name="TextBox 4"/>
          <p:cNvSpPr txBox="1"/>
          <p:nvPr/>
        </p:nvSpPr>
        <p:spPr>
          <a:xfrm>
            <a:off x="4607560" y="5147385"/>
            <a:ext cx="3886200" cy="1200329"/>
          </a:xfrm>
          <a:prstGeom prst="rect">
            <a:avLst/>
          </a:prstGeom>
          <a:noFill/>
          <a:ln>
            <a:solidFill>
              <a:schemeClr val="accent1"/>
            </a:solidFill>
          </a:ln>
        </p:spPr>
        <p:txBody>
          <a:bodyPr wrap="square" rtlCol="0">
            <a:spAutoFit/>
          </a:bodyPr>
          <a:lstStyle/>
          <a:p>
            <a:r>
              <a:rPr lang="en-US" dirty="0" smtClean="0"/>
              <a:t>Relations are more general than functions. A function is a relation where exactly one element of </a:t>
            </a:r>
            <a:r>
              <a:rPr lang="en-US" i="1" dirty="0" smtClean="0"/>
              <a:t>B</a:t>
            </a:r>
            <a:r>
              <a:rPr lang="en-US" dirty="0" smtClean="0"/>
              <a:t> is related to each element of </a:t>
            </a:r>
            <a:r>
              <a:rPr lang="en-US" i="1" dirty="0" smtClean="0"/>
              <a:t>A.</a:t>
            </a:r>
            <a:r>
              <a:rPr lang="en-US" dirty="0" smtClean="0"/>
              <a:t> </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Binary Relation on a Set</a:t>
            </a:r>
            <a:endParaRPr lang="en-US" dirty="0"/>
          </a:p>
        </p:txBody>
      </p:sp>
      <p:sp>
        <p:nvSpPr>
          <p:cNvPr id="3" name="Content Placeholder 2"/>
          <p:cNvSpPr>
            <a:spLocks noGrp="1"/>
          </p:cNvSpPr>
          <p:nvPr>
            <p:ph idx="1"/>
          </p:nvPr>
        </p:nvSpPr>
        <p:spPr>
          <a:xfrm>
            <a:off x="609600" y="2133600"/>
            <a:ext cx="8229600" cy="4389120"/>
          </a:xfrm>
        </p:spPr>
        <p:txBody>
          <a:bodyPr>
            <a:normAutofit/>
          </a:bodyPr>
          <a:lstStyle/>
          <a:p>
            <a:pPr>
              <a:buNone/>
            </a:pPr>
            <a:r>
              <a:rPr lang="en-US" b="1" dirty="0" smtClean="0"/>
              <a:t>   Definition:</a:t>
            </a:r>
            <a:r>
              <a:rPr lang="en-US" dirty="0" smtClean="0"/>
              <a:t> A binary relation </a:t>
            </a:r>
            <a:r>
              <a:rPr lang="en-US" b="1" i="1" dirty="0" smtClean="0"/>
              <a:t>R</a:t>
            </a:r>
            <a:r>
              <a:rPr lang="en-US" dirty="0" smtClean="0"/>
              <a:t> </a:t>
            </a:r>
            <a:r>
              <a:rPr lang="en-US" i="1" dirty="0" smtClean="0"/>
              <a:t>on a set </a:t>
            </a:r>
            <a:r>
              <a:rPr lang="en-US" b="1" i="1" dirty="0" smtClean="0"/>
              <a:t>A</a:t>
            </a:r>
            <a:r>
              <a:rPr lang="en-US" dirty="0" smtClean="0"/>
              <a:t> is a subset of </a:t>
            </a:r>
            <a:r>
              <a:rPr lang="en-US" b="1" i="1" dirty="0" smtClean="0"/>
              <a:t>A </a:t>
            </a:r>
            <a:r>
              <a:rPr lang="en-US" b="1" dirty="0" smtClean="0">
                <a:latin typeface="Cambria Math"/>
                <a:ea typeface="Cambria Math"/>
              </a:rPr>
              <a:t>×</a:t>
            </a:r>
            <a:r>
              <a:rPr lang="en-US" b="1" i="1" dirty="0" smtClean="0"/>
              <a:t> A </a:t>
            </a:r>
            <a:r>
              <a:rPr lang="en-US" dirty="0" smtClean="0"/>
              <a:t>or a relation from </a:t>
            </a:r>
            <a:r>
              <a:rPr lang="en-US" b="1" i="1" dirty="0" smtClean="0"/>
              <a:t>A</a:t>
            </a:r>
            <a:r>
              <a:rPr lang="en-US" dirty="0" smtClean="0"/>
              <a:t> to </a:t>
            </a:r>
            <a:r>
              <a:rPr lang="en-US" b="1" i="1" dirty="0" smtClean="0"/>
              <a:t>A</a:t>
            </a:r>
            <a:r>
              <a:rPr lang="en-US" b="1" dirty="0" smtClean="0"/>
              <a:t>.</a:t>
            </a:r>
          </a:p>
          <a:p>
            <a:pPr>
              <a:buNone/>
            </a:pPr>
            <a:r>
              <a:rPr lang="en-US" b="1" dirty="0" smtClean="0"/>
              <a:t>   Example</a:t>
            </a:r>
            <a:r>
              <a:rPr lang="en-US" dirty="0" smtClean="0"/>
              <a:t>:</a:t>
            </a:r>
          </a:p>
          <a:p>
            <a:pPr lvl="1"/>
            <a:r>
              <a:rPr lang="en-US" b="1" dirty="0" smtClean="0"/>
              <a:t>Suppose that </a:t>
            </a:r>
            <a:r>
              <a:rPr lang="en-US" b="1" i="1" dirty="0" smtClean="0"/>
              <a:t>   A = </a:t>
            </a:r>
            <a:r>
              <a:rPr lang="en-US" b="1" dirty="0" smtClean="0"/>
              <a:t>{</a:t>
            </a:r>
            <a:r>
              <a:rPr lang="en-US" b="1" i="1" dirty="0" err="1" smtClean="0"/>
              <a:t>a,b,c</a:t>
            </a:r>
            <a:r>
              <a:rPr lang="en-US" b="1" dirty="0" smtClean="0"/>
              <a:t>}. Then</a:t>
            </a:r>
            <a:r>
              <a:rPr lang="en-US" b="1" i="1" dirty="0" smtClean="0"/>
              <a:t> R = </a:t>
            </a:r>
            <a:r>
              <a:rPr lang="en-US" b="1" dirty="0" smtClean="0"/>
              <a:t>{(</a:t>
            </a:r>
            <a:r>
              <a:rPr lang="en-US" b="1" i="1" dirty="0" err="1" smtClean="0"/>
              <a:t>a,a</a:t>
            </a:r>
            <a:r>
              <a:rPr lang="en-US" b="1" dirty="0" smtClean="0"/>
              <a:t>)</a:t>
            </a:r>
            <a:r>
              <a:rPr lang="en-US" b="1" i="1" dirty="0" smtClean="0"/>
              <a:t>,</a:t>
            </a:r>
            <a:r>
              <a:rPr lang="en-US" b="1" dirty="0" smtClean="0"/>
              <a:t>(</a:t>
            </a:r>
            <a:r>
              <a:rPr lang="en-US" b="1" i="1" dirty="0" err="1" smtClean="0"/>
              <a:t>a,b</a:t>
            </a:r>
            <a:r>
              <a:rPr lang="en-US" b="1" dirty="0" smtClean="0"/>
              <a:t>)</a:t>
            </a:r>
            <a:r>
              <a:rPr lang="en-US" b="1" i="1" dirty="0" smtClean="0"/>
              <a:t>, </a:t>
            </a:r>
            <a:r>
              <a:rPr lang="en-US" b="1" dirty="0" smtClean="0"/>
              <a:t>(</a:t>
            </a:r>
            <a:r>
              <a:rPr lang="en-US" b="1" i="1" dirty="0" err="1" smtClean="0"/>
              <a:t>a,c</a:t>
            </a:r>
            <a:r>
              <a:rPr lang="en-US" b="1" dirty="0" smtClean="0"/>
              <a:t>)} is a relation on </a:t>
            </a:r>
            <a:r>
              <a:rPr lang="en-US" b="1" i="1" dirty="0" smtClean="0"/>
              <a:t>A</a:t>
            </a:r>
            <a:r>
              <a:rPr lang="en-US" b="1" dirty="0" smtClean="0"/>
              <a:t>. </a:t>
            </a:r>
          </a:p>
          <a:p>
            <a:pPr lvl="1"/>
            <a:r>
              <a:rPr lang="en-US" dirty="0" smtClean="0"/>
              <a:t>Let  </a:t>
            </a:r>
            <a:r>
              <a:rPr lang="en-US" i="1" dirty="0" smtClean="0"/>
              <a:t>A = </a:t>
            </a:r>
            <a:r>
              <a:rPr lang="en-US" dirty="0" smtClean="0"/>
              <a:t>{</a:t>
            </a:r>
            <a:r>
              <a:rPr lang="en-US" dirty="0" smtClean="0">
                <a:latin typeface="Cambria Math" pitchFamily="18" charset="0"/>
                <a:ea typeface="Cambria Math" pitchFamily="18" charset="0"/>
              </a:rPr>
              <a:t>1, 2, 3, 4</a:t>
            </a:r>
            <a:r>
              <a:rPr lang="en-US" dirty="0" smtClean="0"/>
              <a:t>}. The ordered pairs in the relation                  R </a:t>
            </a:r>
            <a:r>
              <a:rPr lang="en-US" baseline="-25000" dirty="0" smtClean="0">
                <a:latin typeface="Cambria Math" pitchFamily="18" charset="0"/>
                <a:ea typeface="Cambria Math" pitchFamily="18" charset="0"/>
              </a:rPr>
              <a:t> </a:t>
            </a:r>
            <a:r>
              <a:rPr lang="en-US" dirty="0" smtClean="0"/>
              <a:t>= {(</a:t>
            </a:r>
            <a:r>
              <a:rPr lang="en-US" i="1" dirty="0" err="1" smtClean="0"/>
              <a:t>a</a:t>
            </a:r>
            <a:r>
              <a:rPr lang="en-US" dirty="0" err="1" smtClean="0"/>
              <a:t>,</a:t>
            </a:r>
            <a:r>
              <a:rPr lang="en-US" i="1" dirty="0" err="1" smtClean="0"/>
              <a:t>b</a:t>
            </a:r>
            <a:r>
              <a:rPr lang="en-US" dirty="0" smtClean="0"/>
              <a:t>) | </a:t>
            </a:r>
            <a:r>
              <a:rPr lang="en-US" i="1" dirty="0" smtClean="0"/>
              <a:t>a</a:t>
            </a:r>
            <a:r>
              <a:rPr lang="en-US" dirty="0" smtClean="0"/>
              <a:t> </a:t>
            </a:r>
            <a:r>
              <a:rPr lang="en-US" dirty="0" smtClean="0">
                <a:latin typeface="Cambria Math"/>
                <a:ea typeface="Cambria Math"/>
              </a:rPr>
              <a:t>divides </a:t>
            </a:r>
            <a:r>
              <a:rPr lang="en-US" i="1" dirty="0" smtClean="0">
                <a:latin typeface="Cambria Math"/>
                <a:ea typeface="Cambria Math"/>
              </a:rPr>
              <a:t>b</a:t>
            </a:r>
            <a:r>
              <a:rPr lang="en-US" dirty="0" smtClean="0">
                <a:latin typeface="Cambria Math"/>
                <a:ea typeface="Cambria Math"/>
              </a:rPr>
              <a:t>} are</a:t>
            </a:r>
          </a:p>
          <a:p>
            <a:pPr lvl="1">
              <a:buNone/>
            </a:pPr>
            <a:r>
              <a:rPr lang="en-US" dirty="0" smtClean="0">
                <a:latin typeface="Cambria Math"/>
                <a:ea typeface="Cambria Math"/>
              </a:rPr>
              <a:t>     </a:t>
            </a:r>
            <a:r>
              <a:rPr lang="en-US" b="1" dirty="0" smtClean="0">
                <a:solidFill>
                  <a:srgbClr val="0070C0"/>
                </a:solidFill>
                <a:latin typeface="Cambria Math"/>
                <a:ea typeface="Cambria Math"/>
              </a:rPr>
              <a:t>(1,1), (1, 2), (1,3), (1, 4), (2, 2), (2, 4), (3, 3), and  (4, 4).</a:t>
            </a:r>
            <a:endParaRPr lang="en-US" b="1" i="1" dirty="0" smtClean="0">
              <a:solidFill>
                <a:srgbClr val="0070C0"/>
              </a:solidFill>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Binary Relation on a Set (</a:t>
            </a:r>
            <a:r>
              <a:rPr lang="en-US" i="1" dirty="0" smtClean="0"/>
              <a:t>cont.</a:t>
            </a:r>
            <a:r>
              <a:rPr lang="en-US" dirty="0" smtClean="0"/>
              <a:t>)</a:t>
            </a:r>
            <a:endParaRPr lang="en-US" dirty="0"/>
          </a:p>
        </p:txBody>
      </p:sp>
      <p:sp>
        <p:nvSpPr>
          <p:cNvPr id="3" name="Content Placeholder 2"/>
          <p:cNvSpPr>
            <a:spLocks noGrp="1"/>
          </p:cNvSpPr>
          <p:nvPr>
            <p:ph idx="1"/>
          </p:nvPr>
        </p:nvSpPr>
        <p:spPr/>
        <p:txBody>
          <a:bodyPr/>
          <a:lstStyle/>
          <a:p>
            <a:pPr marL="274320" lvl="2" indent="-274320">
              <a:buClr>
                <a:schemeClr val="accent3"/>
              </a:buClr>
              <a:buSzPct val="95000"/>
              <a:buNone/>
            </a:pPr>
            <a:r>
              <a:rPr lang="en-US" b="1" dirty="0" smtClean="0"/>
              <a:t>    </a:t>
            </a:r>
            <a:r>
              <a:rPr lang="en-US" sz="2400" b="1" dirty="0" smtClean="0"/>
              <a:t>Question</a:t>
            </a:r>
            <a:r>
              <a:rPr lang="en-US" sz="2400" dirty="0" smtClean="0"/>
              <a:t>: </a:t>
            </a:r>
            <a:r>
              <a:rPr lang="en-US" sz="2400" b="1" dirty="0" smtClean="0"/>
              <a:t>How many relations are there on a set </a:t>
            </a:r>
            <a:r>
              <a:rPr lang="en-US" sz="2400" b="1" i="1" dirty="0" smtClean="0"/>
              <a:t>A</a:t>
            </a:r>
            <a:r>
              <a:rPr lang="en-US" sz="2400" b="1" dirty="0" smtClean="0"/>
              <a:t>? </a:t>
            </a:r>
          </a:p>
          <a:p>
            <a:pPr marL="274320" lvl="2" indent="-274320">
              <a:buClr>
                <a:schemeClr val="accent3"/>
              </a:buClr>
              <a:buSzPct val="95000"/>
              <a:buNone/>
            </a:pPr>
            <a:endParaRPr lang="en-US" sz="2400" b="1" dirty="0" smtClean="0"/>
          </a:p>
          <a:p>
            <a:pPr marL="274320" lvl="2" indent="0">
              <a:spcBef>
                <a:spcPts val="0"/>
              </a:spcBef>
              <a:buNone/>
            </a:pPr>
            <a:r>
              <a:rPr lang="en-US" sz="2400" b="1" dirty="0" smtClean="0"/>
              <a:t>Solution</a:t>
            </a:r>
            <a:r>
              <a:rPr lang="en-US" sz="2400" dirty="0" smtClean="0"/>
              <a:t>:  Because a relation on </a:t>
            </a:r>
            <a:r>
              <a:rPr lang="en-US" sz="2400" b="1" i="1" dirty="0" smtClean="0"/>
              <a:t>A</a:t>
            </a:r>
            <a:r>
              <a:rPr lang="en-US" sz="2400" dirty="0" smtClean="0"/>
              <a:t> is the same thing as a subset of </a:t>
            </a:r>
            <a:r>
              <a:rPr lang="en-US" sz="2400" b="1" i="1" dirty="0" smtClean="0"/>
              <a:t>A</a:t>
            </a:r>
            <a:r>
              <a:rPr lang="en-US" sz="2400" b="1" dirty="0" smtClean="0"/>
              <a:t> </a:t>
            </a:r>
            <a:r>
              <a:rPr lang="en-US" sz="2400" b="1" dirty="0" smtClean="0">
                <a:latin typeface="Cambria Math"/>
                <a:ea typeface="Cambria Math"/>
              </a:rPr>
              <a:t>⨉</a:t>
            </a:r>
            <a:r>
              <a:rPr lang="en-US" sz="2400" b="1" dirty="0" smtClean="0"/>
              <a:t> </a:t>
            </a:r>
            <a:r>
              <a:rPr lang="en-US" sz="2400" b="1" i="1" dirty="0" smtClean="0"/>
              <a:t>A</a:t>
            </a:r>
            <a:r>
              <a:rPr lang="en-US" sz="2400" dirty="0" smtClean="0"/>
              <a:t>, we count the subsets of </a:t>
            </a:r>
            <a:r>
              <a:rPr lang="en-US" sz="2400" b="1" i="1" dirty="0" smtClean="0"/>
              <a:t>A </a:t>
            </a:r>
            <a:r>
              <a:rPr lang="en-US" sz="2400" b="1" dirty="0" smtClean="0">
                <a:latin typeface="Cambria Math"/>
                <a:ea typeface="Cambria Math"/>
              </a:rPr>
              <a:t>×</a:t>
            </a:r>
            <a:r>
              <a:rPr lang="en-US" sz="2400" b="1" dirty="0" smtClean="0"/>
              <a:t> </a:t>
            </a:r>
            <a:r>
              <a:rPr lang="en-US" sz="2400" b="1" i="1" dirty="0" smtClean="0"/>
              <a:t>A</a:t>
            </a:r>
            <a:r>
              <a:rPr lang="en-US" sz="2400" dirty="0" smtClean="0"/>
              <a:t>.</a:t>
            </a:r>
            <a:r>
              <a:rPr lang="en-US" sz="2400" dirty="0" smtClean="0">
                <a:latin typeface="Cambria Math" pitchFamily="18" charset="0"/>
                <a:ea typeface="Cambria Math" pitchFamily="18" charset="0"/>
              </a:rPr>
              <a:t> </a:t>
            </a:r>
            <a:r>
              <a:rPr lang="en-US" sz="2400" dirty="0" smtClean="0">
                <a:ea typeface="Cambria Math" pitchFamily="18" charset="0"/>
              </a:rPr>
              <a:t>Since            </a:t>
            </a:r>
            <a:r>
              <a:rPr lang="en-US" sz="2400" b="1" i="1" dirty="0" smtClean="0"/>
              <a:t>A </a:t>
            </a:r>
            <a:r>
              <a:rPr lang="en-US" sz="2400" b="1" dirty="0" smtClean="0">
                <a:latin typeface="Cambria Math"/>
                <a:ea typeface="Cambria Math"/>
              </a:rPr>
              <a:t>×</a:t>
            </a:r>
            <a:r>
              <a:rPr lang="en-US" sz="2400" b="1" dirty="0" smtClean="0"/>
              <a:t> </a:t>
            </a:r>
            <a:r>
              <a:rPr lang="en-US" sz="2400" b="1" i="1" dirty="0" smtClean="0"/>
              <a:t>A</a:t>
            </a:r>
            <a:r>
              <a:rPr lang="en-US" sz="2400" b="1" dirty="0" smtClean="0">
                <a:ea typeface="Cambria Math" pitchFamily="18" charset="0"/>
              </a:rPr>
              <a:t> </a:t>
            </a:r>
            <a:r>
              <a:rPr lang="en-US" sz="2400" dirty="0" smtClean="0">
                <a:ea typeface="Cambria Math" pitchFamily="18" charset="0"/>
              </a:rPr>
              <a:t>has </a:t>
            </a:r>
            <a:r>
              <a:rPr lang="en-US" sz="2400" b="1" i="1" dirty="0" smtClean="0">
                <a:ea typeface="Cambria Math" pitchFamily="18" charset="0"/>
              </a:rPr>
              <a:t>n</a:t>
            </a:r>
            <a:r>
              <a:rPr lang="en-US" sz="2400" b="1" baseline="30000" dirty="0" smtClean="0">
                <a:latin typeface="Cambria Math" pitchFamily="18" charset="0"/>
                <a:ea typeface="Cambria Math" pitchFamily="18" charset="0"/>
              </a:rPr>
              <a:t>2</a:t>
            </a:r>
            <a:r>
              <a:rPr lang="en-US" sz="2400" dirty="0" smtClean="0">
                <a:ea typeface="Cambria Math" pitchFamily="18" charset="0"/>
              </a:rPr>
              <a:t> elements when </a:t>
            </a:r>
            <a:r>
              <a:rPr lang="en-US" sz="2400" b="1" i="1" dirty="0" smtClean="0">
                <a:ea typeface="Cambria Math" pitchFamily="18" charset="0"/>
              </a:rPr>
              <a:t>A</a:t>
            </a:r>
            <a:r>
              <a:rPr lang="en-US" sz="2400" dirty="0" smtClean="0">
                <a:ea typeface="Cambria Math" pitchFamily="18" charset="0"/>
              </a:rPr>
              <a:t> has </a:t>
            </a:r>
            <a:r>
              <a:rPr lang="en-US" sz="2400" b="1" i="1" dirty="0" smtClean="0">
                <a:ea typeface="Cambria Math" pitchFamily="18" charset="0"/>
              </a:rPr>
              <a:t>n</a:t>
            </a:r>
            <a:r>
              <a:rPr lang="en-US" sz="2400" dirty="0" smtClean="0">
                <a:ea typeface="Cambria Math" pitchFamily="18" charset="0"/>
              </a:rPr>
              <a:t> elements, and a set with </a:t>
            </a:r>
            <a:r>
              <a:rPr lang="en-US" sz="2400" b="1" i="1" dirty="0" smtClean="0">
                <a:ea typeface="Cambria Math" pitchFamily="18" charset="0"/>
              </a:rPr>
              <a:t>m</a:t>
            </a:r>
            <a:r>
              <a:rPr lang="en-US" sz="2400" dirty="0" smtClean="0">
                <a:ea typeface="Cambria Math" pitchFamily="18" charset="0"/>
              </a:rPr>
              <a:t> elements has </a:t>
            </a:r>
            <a:r>
              <a:rPr lang="en-US" sz="2400" b="1" dirty="0" smtClean="0">
                <a:latin typeface="Cambria Math" pitchFamily="18" charset="0"/>
                <a:ea typeface="Cambria Math" pitchFamily="18" charset="0"/>
              </a:rPr>
              <a:t>2</a:t>
            </a:r>
            <a:r>
              <a:rPr lang="en-US" sz="2400" b="1" i="1" baseline="30000" dirty="0" smtClean="0">
                <a:ea typeface="Cambria Math" pitchFamily="18" charset="0"/>
              </a:rPr>
              <a:t>m</a:t>
            </a:r>
            <a:r>
              <a:rPr lang="en-US" sz="2400" dirty="0" smtClean="0">
                <a:ea typeface="Cambria Math" pitchFamily="18" charset="0"/>
              </a:rPr>
              <a:t> subsets, there are         subsets of  </a:t>
            </a:r>
            <a:r>
              <a:rPr lang="en-US" sz="2400" b="1" i="1" dirty="0" smtClean="0"/>
              <a:t>A </a:t>
            </a:r>
            <a:r>
              <a:rPr lang="en-US" sz="2400" b="1" dirty="0" smtClean="0">
                <a:latin typeface="Cambria Math"/>
                <a:ea typeface="Cambria Math"/>
              </a:rPr>
              <a:t>×</a:t>
            </a:r>
            <a:r>
              <a:rPr lang="en-US" sz="2400" b="1" dirty="0" smtClean="0"/>
              <a:t> </a:t>
            </a:r>
            <a:r>
              <a:rPr lang="en-US" sz="2400" b="1" i="1" dirty="0" smtClean="0"/>
              <a:t>A</a:t>
            </a:r>
            <a:r>
              <a:rPr lang="en-US" sz="2400" b="1" dirty="0" smtClean="0">
                <a:ea typeface="Cambria Math" pitchFamily="18" charset="0"/>
              </a:rPr>
              <a:t>. </a:t>
            </a:r>
            <a:r>
              <a:rPr lang="en-US" sz="2400" dirty="0" smtClean="0">
                <a:ea typeface="Cambria Math" pitchFamily="18" charset="0"/>
              </a:rPr>
              <a:t>Therefore,  there are        relations on a set </a:t>
            </a:r>
            <a:r>
              <a:rPr lang="en-US" sz="2400" b="1" i="1" dirty="0" smtClean="0">
                <a:ea typeface="Cambria Math" pitchFamily="18" charset="0"/>
              </a:rPr>
              <a:t>A</a:t>
            </a:r>
            <a:r>
              <a:rPr lang="en-US" sz="2400" dirty="0" smtClean="0">
                <a:ea typeface="Cambria Math" pitchFamily="18" charset="0"/>
              </a:rPr>
              <a:t>.</a:t>
            </a:r>
          </a:p>
          <a:p>
            <a:pPr>
              <a:buNone/>
            </a:pPr>
            <a:endParaRPr lang="en-US" sz="2400" dirty="0"/>
          </a:p>
        </p:txBody>
      </p:sp>
      <p:graphicFrame>
        <p:nvGraphicFramePr>
          <p:cNvPr id="40964" name="Object 4"/>
          <p:cNvGraphicFramePr>
            <a:graphicFrameLocks noChangeAspect="1"/>
          </p:cNvGraphicFramePr>
          <p:nvPr/>
        </p:nvGraphicFramePr>
        <p:xfrm>
          <a:off x="6324600" y="3733800"/>
          <a:ext cx="612775" cy="728663"/>
        </p:xfrm>
        <a:graphic>
          <a:graphicData uri="http://schemas.openxmlformats.org/presentationml/2006/ole">
            <mc:AlternateContent xmlns:mc="http://schemas.openxmlformats.org/markup-compatibility/2006">
              <mc:Choice xmlns:v="urn:schemas-microsoft-com:vml" Requires="v">
                <p:oleObj spid="_x0000_s41012" name="Equation" r:id="rId3" imgW="203040" imgH="241200" progId="Equation.DSMT4">
                  <p:embed/>
                </p:oleObj>
              </mc:Choice>
              <mc:Fallback>
                <p:oleObj name="Equation" r:id="rId3" imgW="203040" imgH="241200" progId="Equation.DSMT4">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4600" y="3733800"/>
                        <a:ext cx="612775" cy="728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965" name="Object 5"/>
          <p:cNvGraphicFramePr>
            <a:graphicFrameLocks noChangeAspect="1"/>
          </p:cNvGraphicFramePr>
          <p:nvPr/>
        </p:nvGraphicFramePr>
        <p:xfrm>
          <a:off x="4419600" y="4114800"/>
          <a:ext cx="612775" cy="728663"/>
        </p:xfrm>
        <a:graphic>
          <a:graphicData uri="http://schemas.openxmlformats.org/presentationml/2006/ole">
            <mc:AlternateContent xmlns:mc="http://schemas.openxmlformats.org/markup-compatibility/2006">
              <mc:Choice xmlns:v="urn:schemas-microsoft-com:vml" Requires="v">
                <p:oleObj spid="_x0000_s41013" name="Equation" r:id="rId5" imgW="203040" imgH="241200" progId="Equation.DSMT4">
                  <p:embed/>
                </p:oleObj>
              </mc:Choice>
              <mc:Fallback>
                <p:oleObj name="Equation" r:id="rId5" imgW="203040" imgH="241200" progId="Equation.DSMT4">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19600" y="4114800"/>
                        <a:ext cx="612775" cy="728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
            <a:ext cx="8229600" cy="1143000"/>
          </a:xfrm>
        </p:spPr>
        <p:txBody>
          <a:bodyPr>
            <a:normAutofit/>
          </a:bodyPr>
          <a:lstStyle/>
          <a:p>
            <a:r>
              <a:rPr lang="en-US" dirty="0" smtClean="0"/>
              <a:t>Binary Relations on a Set (</a:t>
            </a:r>
            <a:r>
              <a:rPr lang="en-US" i="1" dirty="0" smtClean="0"/>
              <a:t>cont</a:t>
            </a:r>
            <a:r>
              <a:rPr lang="en-US" dirty="0" smtClean="0"/>
              <a:t>.)</a:t>
            </a:r>
            <a:endParaRPr lang="en-US" dirty="0"/>
          </a:p>
        </p:txBody>
      </p:sp>
      <p:sp>
        <p:nvSpPr>
          <p:cNvPr id="3" name="Content Placeholder 2"/>
          <p:cNvSpPr>
            <a:spLocks noGrp="1"/>
          </p:cNvSpPr>
          <p:nvPr>
            <p:ph idx="1"/>
          </p:nvPr>
        </p:nvSpPr>
        <p:spPr>
          <a:xfrm>
            <a:off x="335280" y="1490990"/>
            <a:ext cx="8839200" cy="5595610"/>
          </a:xfrm>
        </p:spPr>
        <p:txBody>
          <a:bodyPr>
            <a:normAutofit fontScale="55000" lnSpcReduction="20000"/>
          </a:bodyPr>
          <a:lstStyle/>
          <a:p>
            <a:pPr>
              <a:buNone/>
            </a:pPr>
            <a:r>
              <a:rPr lang="en-US" dirty="0" smtClean="0"/>
              <a:t>   </a:t>
            </a:r>
            <a:r>
              <a:rPr lang="en-US" sz="3200" b="1" dirty="0" smtClean="0"/>
              <a:t>Example</a:t>
            </a:r>
            <a:r>
              <a:rPr lang="en-US" sz="3200" dirty="0" smtClean="0"/>
              <a:t>: </a:t>
            </a:r>
            <a:r>
              <a:rPr lang="en-US" sz="3200" b="1" dirty="0" smtClean="0"/>
              <a:t>Consider these relations on the set of integers:</a:t>
            </a:r>
          </a:p>
          <a:p>
            <a:pPr lvl="1">
              <a:buNone/>
            </a:pPr>
            <a:r>
              <a:rPr lang="en-US" sz="2900" b="1" i="1" dirty="0" smtClean="0"/>
              <a:t>R</a:t>
            </a:r>
            <a:r>
              <a:rPr lang="en-US" sz="2900" b="1" baseline="-25000" dirty="0" smtClean="0">
                <a:latin typeface="Cambria Math" pitchFamily="18" charset="0"/>
                <a:ea typeface="Cambria Math" pitchFamily="18" charset="0"/>
              </a:rPr>
              <a:t>1 </a:t>
            </a:r>
            <a:r>
              <a:rPr lang="en-US" sz="2900" b="1" dirty="0" smtClean="0"/>
              <a:t>= {(</a:t>
            </a:r>
            <a:r>
              <a:rPr lang="en-US" sz="2900" b="1" i="1" dirty="0" err="1" smtClean="0"/>
              <a:t>a</a:t>
            </a:r>
            <a:r>
              <a:rPr lang="en-US" sz="2900" b="1" dirty="0" err="1" smtClean="0"/>
              <a:t>,</a:t>
            </a:r>
            <a:r>
              <a:rPr lang="en-US" sz="2900" b="1" i="1" dirty="0" err="1" smtClean="0"/>
              <a:t>b</a:t>
            </a:r>
            <a:r>
              <a:rPr lang="en-US" sz="2900" b="1" dirty="0" smtClean="0"/>
              <a:t>) | </a:t>
            </a:r>
            <a:r>
              <a:rPr lang="en-US" sz="2900" b="1" i="1" dirty="0" smtClean="0"/>
              <a:t>a</a:t>
            </a:r>
            <a:r>
              <a:rPr lang="en-US" sz="2900" b="1" dirty="0" smtClean="0"/>
              <a:t> </a:t>
            </a:r>
            <a:r>
              <a:rPr lang="en-US" sz="2900" b="1" dirty="0" smtClean="0">
                <a:latin typeface="Cambria Math"/>
                <a:ea typeface="Cambria Math"/>
              </a:rPr>
              <a:t>≤ </a:t>
            </a:r>
            <a:r>
              <a:rPr lang="en-US" sz="2900" b="1" i="1" dirty="0" smtClean="0">
                <a:latin typeface="Cambria Math"/>
                <a:ea typeface="Cambria Math"/>
              </a:rPr>
              <a:t>b</a:t>
            </a:r>
            <a:r>
              <a:rPr lang="en-US" sz="2900" b="1" dirty="0" smtClean="0">
                <a:latin typeface="Cambria Math"/>
                <a:ea typeface="Cambria Math"/>
              </a:rPr>
              <a:t>},</a:t>
            </a:r>
            <a:r>
              <a:rPr lang="en-US" sz="2900" b="1" i="1" dirty="0" smtClean="0"/>
              <a:t>                                                                       R</a:t>
            </a:r>
            <a:r>
              <a:rPr lang="en-US" sz="2900" b="1" baseline="-25000" dirty="0" smtClean="0">
                <a:latin typeface="Cambria Math" pitchFamily="18" charset="0"/>
                <a:ea typeface="Cambria Math" pitchFamily="18" charset="0"/>
              </a:rPr>
              <a:t>4 </a:t>
            </a:r>
            <a:r>
              <a:rPr lang="en-US" sz="2900" b="1" dirty="0" smtClean="0"/>
              <a:t>= {(</a:t>
            </a:r>
            <a:r>
              <a:rPr lang="en-US" sz="2900" b="1" i="1" dirty="0" err="1" smtClean="0"/>
              <a:t>a</a:t>
            </a:r>
            <a:r>
              <a:rPr lang="en-US" sz="2900" b="1" dirty="0" err="1" smtClean="0"/>
              <a:t>,</a:t>
            </a:r>
            <a:r>
              <a:rPr lang="en-US" sz="2900" b="1" i="1" dirty="0" err="1" smtClean="0"/>
              <a:t>b</a:t>
            </a:r>
            <a:r>
              <a:rPr lang="en-US" sz="2900" b="1" dirty="0" smtClean="0"/>
              <a:t>) | </a:t>
            </a:r>
            <a:r>
              <a:rPr lang="en-US" sz="2900" b="1" i="1" dirty="0" smtClean="0"/>
              <a:t>a</a:t>
            </a:r>
            <a:r>
              <a:rPr lang="en-US" sz="2900" b="1" dirty="0" smtClean="0"/>
              <a:t> </a:t>
            </a:r>
            <a:r>
              <a:rPr lang="en-US" sz="2900" b="1" dirty="0" smtClean="0">
                <a:latin typeface="Cambria Math"/>
                <a:ea typeface="Cambria Math"/>
              </a:rPr>
              <a:t>= </a:t>
            </a:r>
            <a:r>
              <a:rPr lang="en-US" sz="2900" b="1" i="1" dirty="0" smtClean="0">
                <a:latin typeface="Cambria Math"/>
                <a:ea typeface="Cambria Math"/>
              </a:rPr>
              <a:t>b</a:t>
            </a:r>
            <a:r>
              <a:rPr lang="en-US" sz="2900" b="1" dirty="0" smtClean="0">
                <a:latin typeface="Cambria Math"/>
                <a:ea typeface="Cambria Math"/>
              </a:rPr>
              <a:t>},</a:t>
            </a:r>
          </a:p>
          <a:p>
            <a:pPr lvl="1">
              <a:buNone/>
            </a:pPr>
            <a:r>
              <a:rPr lang="en-US" sz="2900" b="1" dirty="0" smtClean="0">
                <a:solidFill>
                  <a:srgbClr val="0070C0"/>
                </a:solidFill>
              </a:rPr>
              <a:t>First </a:t>
            </a:r>
            <a:r>
              <a:rPr lang="en-US" sz="2900" b="1" dirty="0">
                <a:solidFill>
                  <a:srgbClr val="0070C0"/>
                </a:solidFill>
              </a:rPr>
              <a:t>number is less than or equal to </a:t>
            </a:r>
            <a:r>
              <a:rPr lang="en-US" sz="2900" b="1" dirty="0" smtClean="0">
                <a:solidFill>
                  <a:srgbClr val="0070C0"/>
                </a:solidFill>
              </a:rPr>
              <a:t>second               </a:t>
            </a:r>
            <a:r>
              <a:rPr lang="en-US" sz="2900" b="1" dirty="0">
                <a:solidFill>
                  <a:srgbClr val="0070C0"/>
                </a:solidFill>
              </a:rPr>
              <a:t>N</a:t>
            </a:r>
            <a:r>
              <a:rPr lang="en-US" sz="2900" b="1" dirty="0" smtClean="0">
                <a:solidFill>
                  <a:srgbClr val="0070C0"/>
                </a:solidFill>
              </a:rPr>
              <a:t>umbers </a:t>
            </a:r>
            <a:r>
              <a:rPr lang="en-US" sz="2900" b="1" dirty="0">
                <a:solidFill>
                  <a:srgbClr val="0070C0"/>
                </a:solidFill>
              </a:rPr>
              <a:t>are exactly the same</a:t>
            </a:r>
            <a:endParaRPr lang="en-US" sz="2900" b="1" dirty="0" smtClean="0">
              <a:solidFill>
                <a:srgbClr val="0070C0"/>
              </a:solidFill>
              <a:latin typeface="Cambria Math"/>
              <a:ea typeface="Cambria Math"/>
            </a:endParaRPr>
          </a:p>
          <a:p>
            <a:pPr lvl="1">
              <a:buNone/>
            </a:pPr>
            <a:r>
              <a:rPr lang="en-US" sz="2900" b="1" i="1" dirty="0" smtClean="0"/>
              <a:t>R</a:t>
            </a:r>
            <a:r>
              <a:rPr lang="en-US" sz="2900" b="1" baseline="-25000" dirty="0" smtClean="0">
                <a:latin typeface="Cambria Math" pitchFamily="18" charset="0"/>
                <a:ea typeface="Cambria Math" pitchFamily="18" charset="0"/>
              </a:rPr>
              <a:t>2 </a:t>
            </a:r>
            <a:r>
              <a:rPr lang="en-US" sz="2900" b="1" dirty="0" smtClean="0"/>
              <a:t>= {(</a:t>
            </a:r>
            <a:r>
              <a:rPr lang="en-US" sz="2900" b="1" i="1" dirty="0" err="1" smtClean="0"/>
              <a:t>a</a:t>
            </a:r>
            <a:r>
              <a:rPr lang="en-US" sz="2900" b="1" dirty="0" err="1" smtClean="0"/>
              <a:t>,</a:t>
            </a:r>
            <a:r>
              <a:rPr lang="en-US" sz="2900" b="1" i="1" dirty="0" err="1" smtClean="0"/>
              <a:t>b</a:t>
            </a:r>
            <a:r>
              <a:rPr lang="en-US" sz="2900" b="1" dirty="0" smtClean="0"/>
              <a:t>) | </a:t>
            </a:r>
            <a:r>
              <a:rPr lang="en-US" sz="2900" b="1" i="1" dirty="0" smtClean="0"/>
              <a:t>a</a:t>
            </a:r>
            <a:r>
              <a:rPr lang="en-US" sz="2900" b="1" dirty="0" smtClean="0"/>
              <a:t> </a:t>
            </a:r>
            <a:r>
              <a:rPr lang="en-US" sz="2900" b="1" dirty="0" smtClean="0">
                <a:latin typeface="Cambria Math"/>
                <a:ea typeface="Cambria Math"/>
              </a:rPr>
              <a:t>&gt; </a:t>
            </a:r>
            <a:r>
              <a:rPr lang="en-US" sz="2900" b="1" i="1" dirty="0" smtClean="0">
                <a:latin typeface="Cambria Math"/>
                <a:ea typeface="Cambria Math"/>
              </a:rPr>
              <a:t>b</a:t>
            </a:r>
            <a:r>
              <a:rPr lang="en-US" sz="2900" b="1" dirty="0" smtClean="0">
                <a:latin typeface="Cambria Math"/>
                <a:ea typeface="Cambria Math"/>
              </a:rPr>
              <a:t>},</a:t>
            </a:r>
            <a:r>
              <a:rPr lang="en-US" sz="2900" b="1" i="1" dirty="0" smtClean="0"/>
              <a:t>                                                                       R</a:t>
            </a:r>
            <a:r>
              <a:rPr lang="en-US" sz="2900" b="1" baseline="-25000" dirty="0" smtClean="0">
                <a:latin typeface="Cambria Math" pitchFamily="18" charset="0"/>
                <a:ea typeface="Cambria Math" pitchFamily="18" charset="0"/>
              </a:rPr>
              <a:t>5 </a:t>
            </a:r>
            <a:r>
              <a:rPr lang="en-US" sz="2900" b="1" dirty="0" smtClean="0"/>
              <a:t>= {(</a:t>
            </a:r>
            <a:r>
              <a:rPr lang="en-US" sz="2900" b="1" i="1" dirty="0" err="1" smtClean="0"/>
              <a:t>a</a:t>
            </a:r>
            <a:r>
              <a:rPr lang="en-US" sz="2900" b="1" dirty="0" err="1" smtClean="0"/>
              <a:t>,</a:t>
            </a:r>
            <a:r>
              <a:rPr lang="en-US" sz="2900" b="1" i="1" dirty="0" err="1" smtClean="0"/>
              <a:t>b</a:t>
            </a:r>
            <a:r>
              <a:rPr lang="en-US" sz="2900" b="1" dirty="0" smtClean="0"/>
              <a:t>) | </a:t>
            </a:r>
            <a:r>
              <a:rPr lang="en-US" sz="2900" b="1" i="1" dirty="0" smtClean="0"/>
              <a:t>a</a:t>
            </a:r>
            <a:r>
              <a:rPr lang="en-US" sz="2900" b="1" dirty="0" smtClean="0"/>
              <a:t> </a:t>
            </a:r>
            <a:r>
              <a:rPr lang="en-US" sz="2900" b="1" dirty="0" smtClean="0">
                <a:latin typeface="Cambria Math"/>
                <a:ea typeface="Cambria Math"/>
              </a:rPr>
              <a:t>= </a:t>
            </a:r>
            <a:r>
              <a:rPr lang="en-US" sz="2900" b="1" i="1" dirty="0" smtClean="0">
                <a:latin typeface="Cambria Math"/>
                <a:ea typeface="Cambria Math"/>
              </a:rPr>
              <a:t>b </a:t>
            </a:r>
            <a:r>
              <a:rPr lang="en-US" sz="2900" b="1" dirty="0" smtClean="0">
                <a:latin typeface="Cambria Math"/>
                <a:ea typeface="Cambria Math"/>
              </a:rPr>
              <a:t>+ 1},</a:t>
            </a:r>
          </a:p>
          <a:p>
            <a:pPr lvl="1">
              <a:buNone/>
            </a:pPr>
            <a:r>
              <a:rPr lang="en-US" sz="2900" b="1" dirty="0" smtClean="0">
                <a:solidFill>
                  <a:srgbClr val="0070C0"/>
                </a:solidFill>
              </a:rPr>
              <a:t>First </a:t>
            </a:r>
            <a:r>
              <a:rPr lang="en-US" sz="2900" b="1" dirty="0">
                <a:solidFill>
                  <a:srgbClr val="0070C0"/>
                </a:solidFill>
              </a:rPr>
              <a:t>number is greater than </a:t>
            </a:r>
            <a:r>
              <a:rPr lang="en-US" sz="2900" b="1" dirty="0" smtClean="0">
                <a:solidFill>
                  <a:srgbClr val="0070C0"/>
                </a:solidFill>
              </a:rPr>
              <a:t>second                           First </a:t>
            </a:r>
            <a:r>
              <a:rPr lang="en-US" sz="2900" b="1" dirty="0">
                <a:solidFill>
                  <a:srgbClr val="0070C0"/>
                </a:solidFill>
              </a:rPr>
              <a:t>number is one more than </a:t>
            </a:r>
            <a:r>
              <a:rPr lang="en-US" sz="2900" dirty="0"/>
              <a:t>second</a:t>
            </a:r>
            <a:endParaRPr lang="en-US" sz="2900" b="1" dirty="0" smtClean="0">
              <a:solidFill>
                <a:srgbClr val="0070C0"/>
              </a:solidFill>
            </a:endParaRPr>
          </a:p>
          <a:p>
            <a:pPr lvl="1">
              <a:buNone/>
            </a:pPr>
            <a:r>
              <a:rPr lang="en-US" sz="2900" b="1" i="1" dirty="0" smtClean="0"/>
              <a:t>R</a:t>
            </a:r>
            <a:r>
              <a:rPr lang="en-US" sz="2900" b="1" baseline="-25000" dirty="0" smtClean="0">
                <a:latin typeface="Cambria Math" pitchFamily="18" charset="0"/>
                <a:ea typeface="Cambria Math" pitchFamily="18" charset="0"/>
              </a:rPr>
              <a:t>3 </a:t>
            </a:r>
            <a:r>
              <a:rPr lang="en-US" sz="2900" b="1" dirty="0" smtClean="0"/>
              <a:t>= {(</a:t>
            </a:r>
            <a:r>
              <a:rPr lang="en-US" sz="2900" b="1" i="1" dirty="0" err="1" smtClean="0"/>
              <a:t>a</a:t>
            </a:r>
            <a:r>
              <a:rPr lang="en-US" sz="2900" b="1" dirty="0" err="1" smtClean="0"/>
              <a:t>,</a:t>
            </a:r>
            <a:r>
              <a:rPr lang="en-US" sz="2900" b="1" i="1" dirty="0" err="1" smtClean="0"/>
              <a:t>b</a:t>
            </a:r>
            <a:r>
              <a:rPr lang="en-US" sz="2900" b="1" dirty="0" smtClean="0"/>
              <a:t>) | </a:t>
            </a:r>
            <a:r>
              <a:rPr lang="en-US" sz="2900" b="1" i="1" dirty="0" smtClean="0"/>
              <a:t>a</a:t>
            </a:r>
            <a:r>
              <a:rPr lang="en-US" sz="2900" b="1" dirty="0" smtClean="0"/>
              <a:t> </a:t>
            </a:r>
            <a:r>
              <a:rPr lang="en-US" sz="2900" b="1" dirty="0" smtClean="0">
                <a:latin typeface="Cambria Math"/>
                <a:ea typeface="Cambria Math"/>
              </a:rPr>
              <a:t>= </a:t>
            </a:r>
            <a:r>
              <a:rPr lang="en-US" sz="2900" b="1" i="1" dirty="0" smtClean="0">
                <a:latin typeface="Cambria Math"/>
                <a:ea typeface="Cambria Math"/>
              </a:rPr>
              <a:t>b  </a:t>
            </a:r>
            <a:r>
              <a:rPr lang="en-US" sz="2900" b="1" dirty="0" smtClean="0">
                <a:latin typeface="Cambria Math"/>
                <a:ea typeface="Cambria Math"/>
              </a:rPr>
              <a:t>or</a:t>
            </a:r>
            <a:r>
              <a:rPr lang="en-US" sz="2900" b="1" i="1" dirty="0" smtClean="0">
                <a:latin typeface="Cambria Math"/>
                <a:ea typeface="Cambria Math"/>
              </a:rPr>
              <a:t> a </a:t>
            </a:r>
            <a:r>
              <a:rPr lang="en-US" sz="2900" b="1" dirty="0" smtClean="0">
                <a:latin typeface="Cambria Math"/>
                <a:ea typeface="Cambria Math"/>
              </a:rPr>
              <a:t>=</a:t>
            </a:r>
            <a:r>
              <a:rPr lang="en-US" sz="2900" b="1" i="1" dirty="0" smtClean="0">
                <a:latin typeface="Cambria Math"/>
                <a:ea typeface="Cambria Math"/>
              </a:rPr>
              <a:t> −b</a:t>
            </a:r>
            <a:r>
              <a:rPr lang="en-US" sz="2900" b="1" dirty="0" smtClean="0">
                <a:latin typeface="Cambria Math"/>
                <a:ea typeface="Cambria Math"/>
              </a:rPr>
              <a:t>}, </a:t>
            </a:r>
            <a:r>
              <a:rPr lang="en-US" sz="2900" dirty="0" smtClean="0">
                <a:latin typeface="Cambria Math"/>
                <a:ea typeface="Cambria Math"/>
              </a:rPr>
              <a:t>                                                      </a:t>
            </a:r>
            <a:r>
              <a:rPr lang="en-US" sz="2900" i="1" dirty="0" smtClean="0"/>
              <a:t> </a:t>
            </a:r>
            <a:r>
              <a:rPr lang="en-US" sz="2900" b="1" i="1" dirty="0" smtClean="0"/>
              <a:t>R</a:t>
            </a:r>
            <a:r>
              <a:rPr lang="en-US" sz="2900" b="1" baseline="-25000" dirty="0" smtClean="0">
                <a:latin typeface="Cambria Math" pitchFamily="18" charset="0"/>
                <a:ea typeface="Cambria Math" pitchFamily="18" charset="0"/>
              </a:rPr>
              <a:t>6 </a:t>
            </a:r>
            <a:r>
              <a:rPr lang="en-US" sz="2900" b="1" dirty="0" smtClean="0"/>
              <a:t>= {(</a:t>
            </a:r>
            <a:r>
              <a:rPr lang="en-US" sz="2900" b="1" i="1" dirty="0" err="1" smtClean="0"/>
              <a:t>a</a:t>
            </a:r>
            <a:r>
              <a:rPr lang="en-US" sz="2900" b="1" dirty="0" err="1" smtClean="0"/>
              <a:t>,</a:t>
            </a:r>
            <a:r>
              <a:rPr lang="en-US" sz="2900" b="1" i="1" dirty="0" err="1" smtClean="0"/>
              <a:t>b</a:t>
            </a:r>
            <a:r>
              <a:rPr lang="en-US" sz="2900" b="1" dirty="0" smtClean="0"/>
              <a:t>) | </a:t>
            </a:r>
            <a:r>
              <a:rPr lang="en-US" sz="2900" b="1" i="1" dirty="0" smtClean="0"/>
              <a:t>a</a:t>
            </a:r>
            <a:r>
              <a:rPr lang="en-US" sz="2900" b="1" dirty="0" smtClean="0"/>
              <a:t> + </a:t>
            </a:r>
            <a:r>
              <a:rPr lang="en-US" sz="2900" b="1" i="1" dirty="0" smtClean="0"/>
              <a:t>b</a:t>
            </a:r>
            <a:r>
              <a:rPr lang="en-US" sz="2900" b="1" dirty="0" smtClean="0"/>
              <a:t> </a:t>
            </a:r>
            <a:r>
              <a:rPr lang="en-US" sz="2900" b="1" dirty="0" smtClean="0">
                <a:latin typeface="Cambria Math"/>
                <a:ea typeface="Cambria Math"/>
              </a:rPr>
              <a:t>≤ 3}.</a:t>
            </a:r>
          </a:p>
          <a:p>
            <a:pPr lvl="1">
              <a:buNone/>
            </a:pPr>
            <a:r>
              <a:rPr lang="en-US" sz="2900" b="1" dirty="0" smtClean="0">
                <a:solidFill>
                  <a:srgbClr val="0070C0"/>
                </a:solidFill>
              </a:rPr>
              <a:t>Numbers </a:t>
            </a:r>
            <a:r>
              <a:rPr lang="en-US" sz="2900" b="1" dirty="0">
                <a:solidFill>
                  <a:srgbClr val="0070C0"/>
                </a:solidFill>
              </a:rPr>
              <a:t>are same or </a:t>
            </a:r>
            <a:r>
              <a:rPr lang="en-US" sz="2900" b="1" dirty="0" smtClean="0">
                <a:solidFill>
                  <a:srgbClr val="0070C0"/>
                </a:solidFill>
              </a:rPr>
              <a:t>opposites                                    Sum </a:t>
            </a:r>
            <a:r>
              <a:rPr lang="en-US" sz="2900" b="1" dirty="0">
                <a:solidFill>
                  <a:srgbClr val="0070C0"/>
                </a:solidFill>
              </a:rPr>
              <a:t>of </a:t>
            </a:r>
            <a:r>
              <a:rPr lang="en-US" sz="2900" b="1" dirty="0" smtClean="0">
                <a:solidFill>
                  <a:srgbClr val="0070C0"/>
                </a:solidFill>
              </a:rPr>
              <a:t>two </a:t>
            </a:r>
            <a:r>
              <a:rPr lang="en-US" sz="2900" b="1" dirty="0">
                <a:solidFill>
                  <a:srgbClr val="0070C0"/>
                </a:solidFill>
              </a:rPr>
              <a:t>numbers is 3 or less</a:t>
            </a:r>
            <a:endParaRPr lang="en-US" sz="2900" b="1" dirty="0" smtClean="0">
              <a:solidFill>
                <a:srgbClr val="0070C0"/>
              </a:solidFill>
              <a:latin typeface="Cambria Math"/>
              <a:ea typeface="Cambria Math"/>
            </a:endParaRPr>
          </a:p>
          <a:p>
            <a:pPr lvl="1">
              <a:buNone/>
            </a:pPr>
            <a:endParaRPr lang="en-US" sz="2900" b="1" dirty="0" smtClean="0">
              <a:solidFill>
                <a:srgbClr val="0070C0"/>
              </a:solidFill>
            </a:endParaRPr>
          </a:p>
          <a:p>
            <a:pPr lvl="1">
              <a:buNone/>
            </a:pPr>
            <a:endParaRPr lang="en-US" sz="2900" dirty="0" smtClean="0"/>
          </a:p>
          <a:p>
            <a:pPr lvl="1">
              <a:buNone/>
            </a:pPr>
            <a:endParaRPr lang="en-US" sz="2900" dirty="0" smtClean="0">
              <a:latin typeface="Cambria Math"/>
              <a:ea typeface="Cambria Math"/>
            </a:endParaRPr>
          </a:p>
          <a:p>
            <a:pPr lvl="1">
              <a:lnSpc>
                <a:spcPct val="120000"/>
              </a:lnSpc>
              <a:spcBef>
                <a:spcPts val="0"/>
              </a:spcBef>
              <a:buNone/>
            </a:pPr>
            <a:endParaRPr lang="en-US" dirty="0" smtClean="0">
              <a:latin typeface="Cambria Math"/>
              <a:ea typeface="Cambria Math"/>
            </a:endParaRPr>
          </a:p>
          <a:p>
            <a:pPr lvl="1">
              <a:lnSpc>
                <a:spcPct val="120000"/>
              </a:lnSpc>
              <a:spcBef>
                <a:spcPts val="0"/>
              </a:spcBef>
              <a:buNone/>
            </a:pPr>
            <a:r>
              <a:rPr lang="en-US" sz="2900" b="1" dirty="0" smtClean="0">
                <a:latin typeface="Cambria Math"/>
                <a:ea typeface="Cambria Math"/>
              </a:rPr>
              <a:t>Which of these relations contain each of the pairs</a:t>
            </a:r>
          </a:p>
          <a:p>
            <a:pPr lvl="1">
              <a:lnSpc>
                <a:spcPct val="120000"/>
              </a:lnSpc>
              <a:spcBef>
                <a:spcPts val="0"/>
              </a:spcBef>
              <a:buNone/>
            </a:pPr>
            <a:r>
              <a:rPr lang="en-US" sz="2900" dirty="0" smtClean="0">
                <a:latin typeface="Cambria Math"/>
                <a:ea typeface="Cambria Math"/>
              </a:rPr>
              <a:t>                          </a:t>
            </a:r>
          </a:p>
          <a:p>
            <a:pPr lvl="1">
              <a:lnSpc>
                <a:spcPct val="120000"/>
              </a:lnSpc>
              <a:spcBef>
                <a:spcPts val="0"/>
              </a:spcBef>
              <a:buNone/>
            </a:pPr>
            <a:r>
              <a:rPr lang="en-US" dirty="0" smtClean="0">
                <a:latin typeface="Cambria Math"/>
                <a:ea typeface="Cambria Math"/>
              </a:rPr>
              <a:t>           </a:t>
            </a:r>
            <a:r>
              <a:rPr lang="en-US" sz="3200" dirty="0" smtClean="0">
                <a:latin typeface="Cambria Math"/>
                <a:ea typeface="Cambria Math"/>
              </a:rPr>
              <a:t>(1,1), (1, 2), (2, 1), (1, −1), and (2, 2)?</a:t>
            </a:r>
          </a:p>
          <a:p>
            <a:pPr lvl="1">
              <a:lnSpc>
                <a:spcPct val="120000"/>
              </a:lnSpc>
              <a:spcBef>
                <a:spcPts val="0"/>
              </a:spcBef>
              <a:buNone/>
            </a:pPr>
            <a:endParaRPr lang="en-US" sz="2900" dirty="0" smtClean="0"/>
          </a:p>
          <a:p>
            <a:pPr>
              <a:buNone/>
            </a:pPr>
            <a:r>
              <a:rPr lang="en-US" b="1" dirty="0" smtClean="0"/>
              <a:t>    </a:t>
            </a:r>
            <a:r>
              <a:rPr lang="en-US" sz="3600" b="1" dirty="0" smtClean="0"/>
              <a:t>Solution</a:t>
            </a:r>
            <a:r>
              <a:rPr lang="en-US" sz="3600" dirty="0" smtClean="0"/>
              <a:t>: Checking the conditions that define each relation, we see that the pair </a:t>
            </a:r>
            <a:r>
              <a:rPr lang="en-US" sz="3600" dirty="0" smtClean="0">
                <a:latin typeface="Cambria Math"/>
                <a:ea typeface="Cambria Math"/>
              </a:rPr>
              <a:t>(1,1) is in</a:t>
            </a:r>
            <a:r>
              <a:rPr lang="en-US" sz="3600" i="1" dirty="0" smtClean="0"/>
              <a:t> R</a:t>
            </a:r>
            <a:r>
              <a:rPr lang="en-US" sz="3600" baseline="-25000" dirty="0" smtClean="0">
                <a:latin typeface="Cambria Math" pitchFamily="18" charset="0"/>
                <a:ea typeface="Cambria Math" pitchFamily="18" charset="0"/>
              </a:rPr>
              <a:t>1</a:t>
            </a:r>
            <a:r>
              <a:rPr lang="en-US" sz="3600" dirty="0" smtClean="0">
                <a:latin typeface="Cambria Math"/>
                <a:ea typeface="Cambria Math"/>
              </a:rPr>
              <a:t>,</a:t>
            </a:r>
            <a:r>
              <a:rPr lang="en-US" sz="3600" i="1" dirty="0" smtClean="0"/>
              <a:t> R</a:t>
            </a:r>
            <a:r>
              <a:rPr lang="en-US" sz="3600" baseline="-25000" dirty="0" smtClean="0">
                <a:latin typeface="Cambria Math" pitchFamily="18" charset="0"/>
                <a:ea typeface="Cambria Math" pitchFamily="18" charset="0"/>
              </a:rPr>
              <a:t>3</a:t>
            </a:r>
            <a:r>
              <a:rPr lang="en-US" sz="3600" dirty="0" smtClean="0">
                <a:latin typeface="Cambria Math"/>
                <a:ea typeface="Cambria Math"/>
              </a:rPr>
              <a:t>, </a:t>
            </a:r>
            <a:r>
              <a:rPr lang="en-US" sz="3600" i="1" dirty="0" smtClean="0"/>
              <a:t>R</a:t>
            </a:r>
            <a:r>
              <a:rPr lang="en-US" sz="3600" baseline="-25000" dirty="0" smtClean="0">
                <a:latin typeface="Cambria Math" pitchFamily="18" charset="0"/>
                <a:ea typeface="Cambria Math" pitchFamily="18" charset="0"/>
              </a:rPr>
              <a:t>4 </a:t>
            </a:r>
            <a:r>
              <a:rPr lang="en-US" sz="3600" dirty="0" smtClean="0">
                <a:latin typeface="Cambria Math"/>
                <a:ea typeface="Cambria Math"/>
              </a:rPr>
              <a:t>, and </a:t>
            </a:r>
            <a:r>
              <a:rPr lang="en-US" sz="3600" i="1" dirty="0" smtClean="0"/>
              <a:t>R</a:t>
            </a:r>
            <a:r>
              <a:rPr lang="en-US" sz="3600" baseline="-25000" dirty="0" smtClean="0">
                <a:latin typeface="Cambria Math" pitchFamily="18" charset="0"/>
                <a:ea typeface="Cambria Math" pitchFamily="18" charset="0"/>
              </a:rPr>
              <a:t>6</a:t>
            </a:r>
            <a:r>
              <a:rPr lang="en-US" sz="3600" dirty="0" smtClean="0">
                <a:latin typeface="Cambria Math"/>
                <a:ea typeface="Cambria Math"/>
              </a:rPr>
              <a:t>: (1,2) is in</a:t>
            </a:r>
            <a:r>
              <a:rPr lang="en-US" sz="3600" i="1" dirty="0" smtClean="0"/>
              <a:t> R</a:t>
            </a:r>
            <a:r>
              <a:rPr lang="en-US" sz="3600" baseline="-25000" dirty="0" smtClean="0">
                <a:latin typeface="Cambria Math" pitchFamily="18" charset="0"/>
                <a:ea typeface="Cambria Math" pitchFamily="18" charset="0"/>
              </a:rPr>
              <a:t>1</a:t>
            </a:r>
            <a:r>
              <a:rPr lang="en-US" sz="3600" i="1" dirty="0" smtClean="0"/>
              <a:t> </a:t>
            </a:r>
            <a:r>
              <a:rPr lang="en-US" sz="3600" dirty="0" smtClean="0">
                <a:latin typeface="Cambria Math"/>
                <a:ea typeface="Cambria Math"/>
              </a:rPr>
              <a:t>and </a:t>
            </a:r>
            <a:r>
              <a:rPr lang="en-US" sz="3600" i="1" dirty="0" smtClean="0"/>
              <a:t>R</a:t>
            </a:r>
            <a:r>
              <a:rPr lang="en-US" sz="3600" baseline="-25000" dirty="0" smtClean="0">
                <a:latin typeface="Cambria Math" pitchFamily="18" charset="0"/>
                <a:ea typeface="Cambria Math" pitchFamily="18" charset="0"/>
              </a:rPr>
              <a:t>6</a:t>
            </a:r>
            <a:r>
              <a:rPr lang="en-US" sz="3600" dirty="0" smtClean="0">
                <a:latin typeface="Cambria Math"/>
                <a:ea typeface="Cambria Math"/>
              </a:rPr>
              <a:t>: (2,1) is in</a:t>
            </a:r>
            <a:r>
              <a:rPr lang="en-US" sz="3600" i="1" dirty="0" smtClean="0"/>
              <a:t> R</a:t>
            </a:r>
            <a:r>
              <a:rPr lang="en-US" sz="3600" baseline="-25000" dirty="0" smtClean="0">
                <a:latin typeface="Cambria Math" pitchFamily="18" charset="0"/>
                <a:ea typeface="Cambria Math" pitchFamily="18" charset="0"/>
              </a:rPr>
              <a:t>2</a:t>
            </a:r>
            <a:r>
              <a:rPr lang="en-US" sz="3600" dirty="0" smtClean="0">
                <a:latin typeface="Cambria Math"/>
                <a:ea typeface="Cambria Math"/>
              </a:rPr>
              <a:t>, </a:t>
            </a:r>
            <a:r>
              <a:rPr lang="en-US" sz="3600" i="1" dirty="0" smtClean="0"/>
              <a:t>R</a:t>
            </a:r>
            <a:r>
              <a:rPr lang="en-US" sz="3600" baseline="-25000" dirty="0" smtClean="0">
                <a:latin typeface="Cambria Math" pitchFamily="18" charset="0"/>
                <a:ea typeface="Cambria Math" pitchFamily="18" charset="0"/>
              </a:rPr>
              <a:t>5</a:t>
            </a:r>
            <a:r>
              <a:rPr lang="en-US" sz="3600" dirty="0" smtClean="0">
                <a:latin typeface="Cambria Math"/>
                <a:ea typeface="Cambria Math"/>
              </a:rPr>
              <a:t>,</a:t>
            </a:r>
            <a:r>
              <a:rPr lang="en-US" sz="3600" i="1" dirty="0" smtClean="0"/>
              <a:t> </a:t>
            </a:r>
            <a:r>
              <a:rPr lang="en-US" sz="3600" dirty="0" smtClean="0">
                <a:latin typeface="Cambria Math"/>
                <a:ea typeface="Cambria Math"/>
              </a:rPr>
              <a:t>and </a:t>
            </a:r>
            <a:r>
              <a:rPr lang="en-US" sz="3600" i="1" dirty="0" smtClean="0"/>
              <a:t>R</a:t>
            </a:r>
            <a:r>
              <a:rPr lang="en-US" sz="3600" baseline="-25000" dirty="0" smtClean="0">
                <a:latin typeface="Cambria Math" pitchFamily="18" charset="0"/>
                <a:ea typeface="Cambria Math" pitchFamily="18" charset="0"/>
              </a:rPr>
              <a:t>6</a:t>
            </a:r>
            <a:r>
              <a:rPr lang="en-US" sz="3600" dirty="0" smtClean="0">
                <a:latin typeface="Cambria Math"/>
                <a:ea typeface="Cambria Math"/>
              </a:rPr>
              <a:t>: (1, −1) is in</a:t>
            </a:r>
            <a:r>
              <a:rPr lang="en-US" sz="3600" i="1" dirty="0" smtClean="0"/>
              <a:t> R</a:t>
            </a:r>
            <a:r>
              <a:rPr lang="en-US" sz="3600" baseline="-25000" dirty="0" smtClean="0">
                <a:latin typeface="Cambria Math" pitchFamily="18" charset="0"/>
                <a:ea typeface="Cambria Math" pitchFamily="18" charset="0"/>
              </a:rPr>
              <a:t>2</a:t>
            </a:r>
            <a:r>
              <a:rPr lang="en-US" sz="3600" dirty="0" smtClean="0">
                <a:latin typeface="Cambria Math"/>
                <a:ea typeface="Cambria Math"/>
              </a:rPr>
              <a:t>, </a:t>
            </a:r>
            <a:r>
              <a:rPr lang="en-US" sz="3600" i="1" dirty="0" smtClean="0"/>
              <a:t>R</a:t>
            </a:r>
            <a:r>
              <a:rPr lang="en-US" sz="3600" baseline="-25000" dirty="0" smtClean="0">
                <a:latin typeface="Cambria Math" pitchFamily="18" charset="0"/>
                <a:ea typeface="Cambria Math" pitchFamily="18" charset="0"/>
              </a:rPr>
              <a:t>3</a:t>
            </a:r>
            <a:r>
              <a:rPr lang="en-US" sz="3600" dirty="0" smtClean="0">
                <a:latin typeface="Cambria Math"/>
                <a:ea typeface="Cambria Math"/>
              </a:rPr>
              <a:t>,</a:t>
            </a:r>
            <a:r>
              <a:rPr lang="en-US" sz="3600" i="1" dirty="0" smtClean="0"/>
              <a:t> </a:t>
            </a:r>
            <a:r>
              <a:rPr lang="en-US" sz="3600" dirty="0" smtClean="0">
                <a:latin typeface="Cambria Math"/>
                <a:ea typeface="Cambria Math"/>
              </a:rPr>
              <a:t>and </a:t>
            </a:r>
            <a:r>
              <a:rPr lang="en-US" sz="3600" i="1" dirty="0" smtClean="0"/>
              <a:t>R</a:t>
            </a:r>
            <a:r>
              <a:rPr lang="en-US" sz="3600" baseline="-25000" dirty="0" smtClean="0">
                <a:latin typeface="Cambria Math" pitchFamily="18" charset="0"/>
                <a:ea typeface="Cambria Math" pitchFamily="18" charset="0"/>
              </a:rPr>
              <a:t>6</a:t>
            </a:r>
            <a:r>
              <a:rPr lang="en-US" sz="3600" dirty="0" smtClean="0">
                <a:latin typeface="Cambria Math"/>
                <a:ea typeface="Cambria Math"/>
              </a:rPr>
              <a:t> : (2,2) is in</a:t>
            </a:r>
            <a:r>
              <a:rPr lang="en-US" sz="3600" i="1" dirty="0" smtClean="0"/>
              <a:t> R</a:t>
            </a:r>
            <a:r>
              <a:rPr lang="en-US" sz="3600" baseline="-25000" dirty="0" smtClean="0">
                <a:latin typeface="Cambria Math" pitchFamily="18" charset="0"/>
                <a:ea typeface="Cambria Math" pitchFamily="18" charset="0"/>
              </a:rPr>
              <a:t>1</a:t>
            </a:r>
            <a:r>
              <a:rPr lang="en-US" sz="3600" dirty="0" smtClean="0">
                <a:latin typeface="Cambria Math"/>
                <a:ea typeface="Cambria Math"/>
              </a:rPr>
              <a:t>, </a:t>
            </a:r>
            <a:r>
              <a:rPr lang="en-US" sz="3600" i="1" dirty="0" smtClean="0"/>
              <a:t>R</a:t>
            </a:r>
            <a:r>
              <a:rPr lang="en-US" sz="3600" baseline="-25000" dirty="0" smtClean="0">
                <a:latin typeface="Cambria Math" pitchFamily="18" charset="0"/>
                <a:ea typeface="Cambria Math" pitchFamily="18" charset="0"/>
              </a:rPr>
              <a:t>3</a:t>
            </a:r>
            <a:r>
              <a:rPr lang="en-US" sz="3600" dirty="0" smtClean="0">
                <a:latin typeface="Cambria Math"/>
                <a:ea typeface="Cambria Math"/>
              </a:rPr>
              <a:t>,</a:t>
            </a:r>
            <a:r>
              <a:rPr lang="en-US" sz="3600" i="1" dirty="0" smtClean="0"/>
              <a:t> </a:t>
            </a:r>
            <a:r>
              <a:rPr lang="en-US" sz="3600" dirty="0" smtClean="0">
                <a:latin typeface="Cambria Math"/>
                <a:ea typeface="Cambria Math"/>
              </a:rPr>
              <a:t>and </a:t>
            </a:r>
            <a:r>
              <a:rPr lang="en-US" sz="3600" i="1" dirty="0" smtClean="0"/>
              <a:t>R</a:t>
            </a:r>
            <a:r>
              <a:rPr lang="en-US" sz="3600" baseline="-25000" dirty="0" smtClean="0">
                <a:latin typeface="Cambria Math" pitchFamily="18" charset="0"/>
                <a:ea typeface="Cambria Math" pitchFamily="18" charset="0"/>
              </a:rPr>
              <a:t>4</a:t>
            </a:r>
            <a:r>
              <a:rPr lang="en-US" sz="3600" dirty="0" smtClean="0">
                <a:latin typeface="Cambria Math"/>
                <a:ea typeface="Cambria Math"/>
              </a:rPr>
              <a:t>.</a:t>
            </a:r>
            <a:endParaRPr lang="en-US" sz="3600" dirty="0"/>
          </a:p>
        </p:txBody>
      </p:sp>
      <p:sp>
        <p:nvSpPr>
          <p:cNvPr id="4" name="TextBox 3"/>
          <p:cNvSpPr txBox="1"/>
          <p:nvPr/>
        </p:nvSpPr>
        <p:spPr>
          <a:xfrm>
            <a:off x="1143000" y="3733800"/>
            <a:ext cx="6629400" cy="523220"/>
          </a:xfrm>
          <a:prstGeom prst="rect">
            <a:avLst/>
          </a:prstGeom>
          <a:noFill/>
          <a:ln>
            <a:solidFill>
              <a:schemeClr val="accent1"/>
            </a:solidFill>
          </a:ln>
        </p:spPr>
        <p:txBody>
          <a:bodyPr wrap="square" rtlCol="0">
            <a:spAutoFit/>
          </a:bodyPr>
          <a:lstStyle/>
          <a:p>
            <a:r>
              <a:rPr lang="en-US" sz="1400" dirty="0" smtClean="0"/>
              <a:t>Note that these relations are on an infinite set and each of these relations is an infinite set.</a:t>
            </a:r>
            <a:endParaRPr lang="en-US" sz="14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83104"/>
            <a:ext cx="8229600" cy="642352"/>
          </a:xfrm>
        </p:spPr>
        <p:txBody>
          <a:bodyPr>
            <a:normAutofit fontScale="90000"/>
          </a:bodyPr>
          <a:lstStyle/>
          <a:p>
            <a:r>
              <a:rPr lang="en-US" dirty="0" smtClean="0"/>
              <a:t>Reflexive Relations</a:t>
            </a:r>
            <a:endParaRPr lang="en-US" dirty="0"/>
          </a:p>
        </p:txBody>
      </p:sp>
      <p:sp>
        <p:nvSpPr>
          <p:cNvPr id="3" name="Content Placeholder 2"/>
          <p:cNvSpPr>
            <a:spLocks noGrp="1"/>
          </p:cNvSpPr>
          <p:nvPr>
            <p:ph idx="1"/>
          </p:nvPr>
        </p:nvSpPr>
        <p:spPr>
          <a:xfrm>
            <a:off x="236220" y="559248"/>
            <a:ext cx="8229600" cy="5791200"/>
          </a:xfrm>
        </p:spPr>
        <p:txBody>
          <a:bodyPr>
            <a:normAutofit fontScale="25000" lnSpcReduction="20000"/>
          </a:bodyPr>
          <a:lstStyle/>
          <a:p>
            <a:pPr>
              <a:buNone/>
            </a:pPr>
            <a:r>
              <a:rPr lang="en-US" b="1" dirty="0" smtClean="0"/>
              <a:t>             </a:t>
            </a:r>
            <a:r>
              <a:rPr lang="en-US" sz="8000" b="1" dirty="0" smtClean="0"/>
              <a:t>Definition: </a:t>
            </a:r>
            <a:r>
              <a:rPr lang="en-US" sz="8000" dirty="0"/>
              <a:t>A relation </a:t>
            </a:r>
            <a:r>
              <a:rPr lang="en-US" sz="8000" b="1" dirty="0"/>
              <a:t>R</a:t>
            </a:r>
            <a:r>
              <a:rPr lang="en-US" sz="8000" dirty="0"/>
              <a:t> on a set </a:t>
            </a:r>
            <a:r>
              <a:rPr lang="en-US" sz="8000" b="1" dirty="0"/>
              <a:t>A</a:t>
            </a:r>
            <a:r>
              <a:rPr lang="en-US" sz="8000" dirty="0"/>
              <a:t> is called </a:t>
            </a:r>
            <a:r>
              <a:rPr lang="en-US" sz="8000" b="1" dirty="0"/>
              <a:t>reflexive</a:t>
            </a:r>
            <a:r>
              <a:rPr lang="en-US" sz="8000" dirty="0"/>
              <a:t> </a:t>
            </a:r>
            <a:r>
              <a:rPr lang="en-US" sz="8000" dirty="0" smtClean="0"/>
              <a:t>if every </a:t>
            </a:r>
            <a:r>
              <a:rPr lang="en-US" sz="8000" b="1" dirty="0"/>
              <a:t>element</a:t>
            </a:r>
            <a:r>
              <a:rPr lang="en-US" sz="8000" dirty="0"/>
              <a:t> is related to </a:t>
            </a:r>
            <a:r>
              <a:rPr lang="en-US" sz="8000" b="1" dirty="0" smtClean="0"/>
              <a:t>itself.</a:t>
            </a:r>
          </a:p>
          <a:p>
            <a:pPr>
              <a:buNone/>
            </a:pPr>
            <a:endParaRPr lang="en-US" sz="8000" b="1" dirty="0" smtClean="0"/>
          </a:p>
          <a:p>
            <a:pPr>
              <a:buNone/>
            </a:pPr>
            <a:endParaRPr lang="en-US" sz="8000" b="1" dirty="0" smtClean="0"/>
          </a:p>
          <a:p>
            <a:pPr>
              <a:buNone/>
            </a:pPr>
            <a:endParaRPr lang="en-US" sz="8000" b="1" dirty="0" smtClean="0"/>
          </a:p>
          <a:p>
            <a:pPr>
              <a:buNone/>
            </a:pPr>
            <a:endParaRPr lang="en-US" sz="8000" i="1" dirty="0" smtClean="0"/>
          </a:p>
          <a:p>
            <a:pPr>
              <a:buNone/>
            </a:pPr>
            <a:endParaRPr lang="en-US" sz="8000" i="1" dirty="0"/>
          </a:p>
          <a:p>
            <a:pPr>
              <a:buNone/>
            </a:pPr>
            <a:r>
              <a:rPr lang="en-US" sz="8000" i="1" dirty="0" smtClean="0"/>
              <a:t>    R</a:t>
            </a:r>
            <a:r>
              <a:rPr lang="en-US" sz="8000" b="1" dirty="0" smtClean="0"/>
              <a:t> </a:t>
            </a:r>
            <a:r>
              <a:rPr lang="en-US" sz="8000" dirty="0" smtClean="0"/>
              <a:t>is </a:t>
            </a:r>
            <a:r>
              <a:rPr lang="en-US" sz="8000" i="1" dirty="0" smtClean="0"/>
              <a:t>reflexive</a:t>
            </a:r>
            <a:r>
              <a:rPr lang="en-US" sz="8000" dirty="0" smtClean="0"/>
              <a:t> if </a:t>
            </a:r>
            <a:r>
              <a:rPr lang="en-US" sz="8000" b="1" dirty="0" smtClean="0"/>
              <a:t>(</a:t>
            </a:r>
            <a:r>
              <a:rPr lang="en-US" sz="8000" b="1" i="1" dirty="0" err="1" smtClean="0"/>
              <a:t>a,a</a:t>
            </a:r>
            <a:r>
              <a:rPr lang="en-US" sz="8000" b="1" dirty="0" smtClean="0"/>
              <a:t>)</a:t>
            </a:r>
            <a:r>
              <a:rPr lang="en-US" sz="8000" b="1" i="1" dirty="0" smtClean="0"/>
              <a:t> </a:t>
            </a:r>
            <a:r>
              <a:rPr lang="en-US" sz="8000" b="1" dirty="0" smtClean="0">
                <a:latin typeface="Cambria Math"/>
                <a:ea typeface="Cambria Math"/>
              </a:rPr>
              <a:t>∊</a:t>
            </a:r>
            <a:r>
              <a:rPr lang="en-US" sz="8000" b="1" i="1" dirty="0" smtClean="0">
                <a:latin typeface="Cambria Math"/>
                <a:ea typeface="Cambria Math"/>
              </a:rPr>
              <a:t> </a:t>
            </a:r>
            <a:r>
              <a:rPr lang="en-US" sz="8000" b="1" i="1" dirty="0" smtClean="0">
                <a:ea typeface="Cambria Math"/>
              </a:rPr>
              <a:t>R</a:t>
            </a:r>
            <a:r>
              <a:rPr lang="en-US" sz="8000" b="1" i="1" dirty="0" smtClean="0">
                <a:latin typeface="+mj-lt"/>
                <a:ea typeface="Cambria Math"/>
              </a:rPr>
              <a:t> </a:t>
            </a:r>
            <a:r>
              <a:rPr lang="en-US" sz="8000" dirty="0" smtClean="0">
                <a:ea typeface="Cambria Math"/>
              </a:rPr>
              <a:t>for every element </a:t>
            </a:r>
            <a:r>
              <a:rPr lang="en-US" sz="8000" b="1" i="1" dirty="0" smtClean="0">
                <a:latin typeface="+mj-lt"/>
                <a:ea typeface="Cambria Math"/>
              </a:rPr>
              <a:t>a </a:t>
            </a:r>
            <a:r>
              <a:rPr lang="en-US" sz="8000" b="1" dirty="0" smtClean="0">
                <a:latin typeface="Cambria Math"/>
                <a:ea typeface="Cambria Math"/>
              </a:rPr>
              <a:t>∊ </a:t>
            </a:r>
            <a:r>
              <a:rPr lang="en-US" sz="8000" b="1" dirty="0" smtClean="0">
                <a:ea typeface="Cambria Math"/>
              </a:rPr>
              <a:t>A</a:t>
            </a:r>
            <a:r>
              <a:rPr lang="en-US" sz="8000" dirty="0" smtClean="0">
                <a:latin typeface="Cambria Math"/>
                <a:ea typeface="Cambria Math"/>
              </a:rPr>
              <a:t>. </a:t>
            </a:r>
            <a:r>
              <a:rPr lang="en-US" sz="8000" dirty="0" smtClean="0">
                <a:ea typeface="Cambria Math"/>
              </a:rPr>
              <a:t>Written symbolically, </a:t>
            </a:r>
            <a:r>
              <a:rPr lang="en-US" sz="8000" b="1" dirty="0" smtClean="0">
                <a:ea typeface="Cambria Math"/>
              </a:rPr>
              <a:t>R</a:t>
            </a:r>
            <a:r>
              <a:rPr lang="en-US" sz="8000" dirty="0" smtClean="0">
                <a:ea typeface="Cambria Math"/>
              </a:rPr>
              <a:t> is reflexive if and only if </a:t>
            </a:r>
          </a:p>
          <a:p>
            <a:pPr>
              <a:buNone/>
            </a:pPr>
            <a:r>
              <a:rPr lang="en-US" sz="8000" b="1" dirty="0">
                <a:solidFill>
                  <a:srgbClr val="0070C0"/>
                </a:solidFill>
                <a:ea typeface="Cambria Math"/>
              </a:rPr>
              <a:t> </a:t>
            </a:r>
            <a:r>
              <a:rPr lang="en-US" sz="8000" b="1" dirty="0" smtClean="0">
                <a:solidFill>
                  <a:srgbClr val="0070C0"/>
                </a:solidFill>
                <a:ea typeface="Cambria Math"/>
              </a:rPr>
              <a:t>                        </a:t>
            </a:r>
            <a:r>
              <a:rPr lang="en-US" sz="8000" b="1" dirty="0" smtClean="0">
                <a:solidFill>
                  <a:srgbClr val="0070C0"/>
                </a:solidFill>
                <a:latin typeface="Cambria Math"/>
                <a:ea typeface="Cambria Math"/>
              </a:rPr>
              <a:t>∀</a:t>
            </a:r>
            <a:r>
              <a:rPr lang="en-US" sz="8000" b="1" i="1" dirty="0" smtClean="0">
                <a:solidFill>
                  <a:srgbClr val="0070C0"/>
                </a:solidFill>
                <a:ea typeface="Cambria Math"/>
              </a:rPr>
              <a:t>x</a:t>
            </a:r>
            <a:r>
              <a:rPr lang="en-US" sz="8000" b="1" dirty="0" smtClean="0">
                <a:solidFill>
                  <a:srgbClr val="0070C0"/>
                </a:solidFill>
                <a:latin typeface="Cambria Math"/>
                <a:ea typeface="Cambria Math"/>
              </a:rPr>
              <a:t>[</a:t>
            </a:r>
            <a:r>
              <a:rPr lang="en-US" sz="8000" b="1" dirty="0" err="1" smtClean="0">
                <a:solidFill>
                  <a:srgbClr val="0070C0"/>
                </a:solidFill>
                <a:ea typeface="Cambria Math"/>
              </a:rPr>
              <a:t>x</a:t>
            </a:r>
            <a:r>
              <a:rPr lang="en-US" sz="8000" b="1" dirty="0" err="1" smtClean="0">
                <a:solidFill>
                  <a:srgbClr val="0070C0"/>
                </a:solidFill>
                <a:latin typeface="Cambria Math"/>
                <a:ea typeface="Cambria Math"/>
              </a:rPr>
              <a:t>∊</a:t>
            </a:r>
            <a:r>
              <a:rPr lang="en-US" sz="8000" b="1" i="1" dirty="0" err="1" smtClean="0">
                <a:solidFill>
                  <a:srgbClr val="0070C0"/>
                </a:solidFill>
                <a:ea typeface="Cambria Math"/>
              </a:rPr>
              <a:t>U</a:t>
            </a:r>
            <a:r>
              <a:rPr lang="en-US" sz="8000" b="1" dirty="0" smtClean="0">
                <a:solidFill>
                  <a:srgbClr val="0070C0"/>
                </a:solidFill>
                <a:latin typeface="Cambria Math"/>
                <a:ea typeface="Cambria Math"/>
              </a:rPr>
              <a:t> ⟶ (</a:t>
            </a:r>
            <a:r>
              <a:rPr lang="en-US" sz="8000" b="1" i="1" dirty="0" err="1" smtClean="0">
                <a:solidFill>
                  <a:srgbClr val="0070C0"/>
                </a:solidFill>
                <a:ea typeface="Cambria Math"/>
              </a:rPr>
              <a:t>x</a:t>
            </a:r>
            <a:r>
              <a:rPr lang="en-US" sz="8000" b="1" dirty="0" err="1" smtClean="0">
                <a:solidFill>
                  <a:srgbClr val="0070C0"/>
                </a:solidFill>
                <a:latin typeface="Cambria Math"/>
                <a:ea typeface="Cambria Math"/>
              </a:rPr>
              <a:t>,</a:t>
            </a:r>
            <a:r>
              <a:rPr lang="en-US" sz="8000" b="1" i="1" dirty="0" err="1" smtClean="0">
                <a:solidFill>
                  <a:srgbClr val="0070C0"/>
                </a:solidFill>
                <a:ea typeface="Cambria Math"/>
              </a:rPr>
              <a:t>x</a:t>
            </a:r>
            <a:r>
              <a:rPr lang="en-US" sz="8000" b="1" dirty="0" smtClean="0">
                <a:solidFill>
                  <a:srgbClr val="0070C0"/>
                </a:solidFill>
                <a:latin typeface="Cambria Math"/>
                <a:ea typeface="Cambria Math"/>
              </a:rPr>
              <a:t>) ∊ </a:t>
            </a:r>
            <a:r>
              <a:rPr lang="en-US" sz="8000" b="1" i="1" dirty="0" smtClean="0">
                <a:solidFill>
                  <a:srgbClr val="0070C0"/>
                </a:solidFill>
                <a:ea typeface="Cambria Math"/>
              </a:rPr>
              <a:t>R</a:t>
            </a:r>
            <a:r>
              <a:rPr lang="en-US" sz="8000" b="1" dirty="0" smtClean="0">
                <a:solidFill>
                  <a:srgbClr val="0070C0"/>
                </a:solidFill>
                <a:latin typeface="Cambria Math"/>
                <a:ea typeface="Cambria Math"/>
              </a:rPr>
              <a:t>]</a:t>
            </a:r>
          </a:p>
          <a:p>
            <a:pPr>
              <a:buNone/>
            </a:pPr>
            <a:r>
              <a:rPr lang="en-US" sz="8000" dirty="0" smtClean="0"/>
              <a:t> </a:t>
            </a:r>
          </a:p>
          <a:p>
            <a:pPr>
              <a:buNone/>
            </a:pPr>
            <a:r>
              <a:rPr lang="en-US" sz="8000" b="1" dirty="0" smtClean="0">
                <a:solidFill>
                  <a:srgbClr val="0070C0"/>
                </a:solidFill>
              </a:rPr>
              <a:t>       “</a:t>
            </a:r>
            <a:r>
              <a:rPr lang="en-US" sz="8000" b="1" dirty="0">
                <a:solidFill>
                  <a:srgbClr val="0070C0"/>
                </a:solidFill>
              </a:rPr>
              <a:t>For every x in the set, the pair (x, x) must be in the relation.”</a:t>
            </a:r>
            <a:endParaRPr lang="en-US" sz="8000" b="1" dirty="0" smtClean="0">
              <a:solidFill>
                <a:srgbClr val="0070C0"/>
              </a:solidFill>
              <a:latin typeface="Cambria Math"/>
              <a:ea typeface="Cambria Math"/>
            </a:endParaRPr>
          </a:p>
          <a:p>
            <a:pPr>
              <a:buNone/>
            </a:pPr>
            <a:r>
              <a:rPr lang="en-US" sz="8000" b="1" dirty="0" smtClean="0">
                <a:ea typeface="Cambria Math"/>
              </a:rPr>
              <a:t>   </a:t>
            </a:r>
          </a:p>
          <a:p>
            <a:pPr>
              <a:buNone/>
            </a:pPr>
            <a:r>
              <a:rPr lang="en-US" sz="8000" b="1" dirty="0" smtClean="0">
                <a:ea typeface="Cambria Math"/>
              </a:rPr>
              <a:t>Example</a:t>
            </a:r>
            <a:r>
              <a:rPr lang="en-US" sz="8000" dirty="0" smtClean="0">
                <a:ea typeface="Cambria Math"/>
              </a:rPr>
              <a:t>: </a:t>
            </a:r>
            <a:r>
              <a:rPr lang="en-US" sz="8000" b="1" dirty="0" smtClean="0">
                <a:ea typeface="Cambria Math"/>
              </a:rPr>
              <a:t>The following relations  on the integers are reflexive:</a:t>
            </a:r>
          </a:p>
          <a:p>
            <a:pPr lvl="1">
              <a:buNone/>
            </a:pPr>
            <a:r>
              <a:rPr lang="en-US" sz="8000" i="1" dirty="0" smtClean="0"/>
              <a:t>R</a:t>
            </a:r>
            <a:r>
              <a:rPr lang="en-US" sz="8000" baseline="-25000" dirty="0" smtClean="0">
                <a:latin typeface="Cambria Math" pitchFamily="18" charset="0"/>
                <a:ea typeface="Cambria Math" pitchFamily="18" charset="0"/>
              </a:rPr>
              <a:t>1 </a:t>
            </a:r>
            <a:r>
              <a:rPr lang="en-US" sz="8000" dirty="0" smtClean="0"/>
              <a:t>= {(</a:t>
            </a:r>
            <a:r>
              <a:rPr lang="en-US" sz="8000" i="1" dirty="0" err="1" smtClean="0"/>
              <a:t>a</a:t>
            </a:r>
            <a:r>
              <a:rPr lang="en-US" sz="8000" dirty="0" err="1" smtClean="0"/>
              <a:t>,</a:t>
            </a:r>
            <a:r>
              <a:rPr lang="en-US" sz="8000" i="1" dirty="0" err="1" smtClean="0"/>
              <a:t>b</a:t>
            </a:r>
            <a:r>
              <a:rPr lang="en-US" sz="8000" dirty="0" smtClean="0"/>
              <a:t>) | </a:t>
            </a:r>
            <a:r>
              <a:rPr lang="en-US" sz="8000" i="1" dirty="0" smtClean="0"/>
              <a:t>a</a:t>
            </a:r>
            <a:r>
              <a:rPr lang="en-US" sz="8000" dirty="0" smtClean="0"/>
              <a:t> </a:t>
            </a:r>
            <a:r>
              <a:rPr lang="en-US" sz="8000" dirty="0" smtClean="0">
                <a:latin typeface="Cambria Math"/>
                <a:ea typeface="Cambria Math"/>
              </a:rPr>
              <a:t>≤ </a:t>
            </a:r>
            <a:r>
              <a:rPr lang="en-US" sz="8000" i="1" dirty="0" smtClean="0">
                <a:latin typeface="Cambria Math"/>
                <a:ea typeface="Cambria Math"/>
              </a:rPr>
              <a:t>b</a:t>
            </a:r>
            <a:r>
              <a:rPr lang="en-US" sz="8000" dirty="0" smtClean="0">
                <a:latin typeface="Cambria Math"/>
                <a:ea typeface="Cambria Math"/>
              </a:rPr>
              <a:t>},</a:t>
            </a:r>
          </a:p>
          <a:p>
            <a:pPr lvl="1">
              <a:buNone/>
            </a:pPr>
            <a:r>
              <a:rPr lang="en-US" sz="8000" i="1" dirty="0" smtClean="0"/>
              <a:t>R</a:t>
            </a:r>
            <a:r>
              <a:rPr lang="en-US" sz="8000" baseline="-25000" dirty="0" smtClean="0">
                <a:latin typeface="Cambria Math" pitchFamily="18" charset="0"/>
                <a:ea typeface="Cambria Math" pitchFamily="18" charset="0"/>
              </a:rPr>
              <a:t>3 </a:t>
            </a:r>
            <a:r>
              <a:rPr lang="en-US" sz="8000" dirty="0" smtClean="0"/>
              <a:t>= {(</a:t>
            </a:r>
            <a:r>
              <a:rPr lang="en-US" sz="8000" i="1" dirty="0" err="1" smtClean="0"/>
              <a:t>a</a:t>
            </a:r>
            <a:r>
              <a:rPr lang="en-US" sz="8000" dirty="0" err="1" smtClean="0"/>
              <a:t>,</a:t>
            </a:r>
            <a:r>
              <a:rPr lang="en-US" sz="8000" i="1" dirty="0" err="1" smtClean="0"/>
              <a:t>b</a:t>
            </a:r>
            <a:r>
              <a:rPr lang="en-US" sz="8000" dirty="0" smtClean="0"/>
              <a:t>) | </a:t>
            </a:r>
            <a:r>
              <a:rPr lang="en-US" sz="8000" i="1" dirty="0" smtClean="0"/>
              <a:t>a</a:t>
            </a:r>
            <a:r>
              <a:rPr lang="en-US" sz="8000" dirty="0" smtClean="0"/>
              <a:t> </a:t>
            </a:r>
            <a:r>
              <a:rPr lang="en-US" sz="8000" dirty="0" smtClean="0">
                <a:latin typeface="Cambria Math"/>
                <a:ea typeface="Cambria Math"/>
              </a:rPr>
              <a:t>= </a:t>
            </a:r>
            <a:r>
              <a:rPr lang="en-US" sz="8000" i="1" dirty="0" smtClean="0">
                <a:latin typeface="Cambria Math"/>
                <a:ea typeface="Cambria Math"/>
              </a:rPr>
              <a:t>b  </a:t>
            </a:r>
            <a:r>
              <a:rPr lang="en-US" sz="8000" dirty="0" smtClean="0">
                <a:latin typeface="Cambria Math"/>
                <a:ea typeface="Cambria Math"/>
              </a:rPr>
              <a:t>or</a:t>
            </a:r>
            <a:r>
              <a:rPr lang="en-US" sz="8000" i="1" dirty="0" smtClean="0">
                <a:latin typeface="Cambria Math"/>
                <a:ea typeface="Cambria Math"/>
              </a:rPr>
              <a:t> a </a:t>
            </a:r>
            <a:r>
              <a:rPr lang="en-US" sz="8000" dirty="0" smtClean="0">
                <a:latin typeface="Cambria Math"/>
                <a:ea typeface="Cambria Math"/>
              </a:rPr>
              <a:t>=</a:t>
            </a:r>
            <a:r>
              <a:rPr lang="en-US" sz="8000" i="1" dirty="0" smtClean="0">
                <a:latin typeface="Cambria Math"/>
                <a:ea typeface="Cambria Math"/>
              </a:rPr>
              <a:t> −b</a:t>
            </a:r>
            <a:r>
              <a:rPr lang="en-US" sz="8000" dirty="0" smtClean="0">
                <a:latin typeface="Cambria Math"/>
                <a:ea typeface="Cambria Math"/>
              </a:rPr>
              <a:t>},</a:t>
            </a:r>
            <a:endParaRPr lang="en-US" sz="8000" dirty="0" smtClean="0"/>
          </a:p>
          <a:p>
            <a:pPr lvl="1">
              <a:buNone/>
            </a:pPr>
            <a:r>
              <a:rPr lang="en-US" sz="8000" i="1" dirty="0" smtClean="0"/>
              <a:t>R</a:t>
            </a:r>
            <a:r>
              <a:rPr lang="en-US" sz="8000" baseline="-25000" dirty="0" smtClean="0">
                <a:latin typeface="Cambria Math" pitchFamily="18" charset="0"/>
                <a:ea typeface="Cambria Math" pitchFamily="18" charset="0"/>
              </a:rPr>
              <a:t>4 </a:t>
            </a:r>
            <a:r>
              <a:rPr lang="en-US" sz="8000" dirty="0" smtClean="0"/>
              <a:t>= {(</a:t>
            </a:r>
            <a:r>
              <a:rPr lang="en-US" sz="8000" i="1" dirty="0" err="1" smtClean="0"/>
              <a:t>a</a:t>
            </a:r>
            <a:r>
              <a:rPr lang="en-US" sz="8000" dirty="0" err="1" smtClean="0"/>
              <a:t>,</a:t>
            </a:r>
            <a:r>
              <a:rPr lang="en-US" sz="8000" i="1" dirty="0" err="1" smtClean="0"/>
              <a:t>b</a:t>
            </a:r>
            <a:r>
              <a:rPr lang="en-US" sz="8000" dirty="0" smtClean="0"/>
              <a:t>) | </a:t>
            </a:r>
            <a:r>
              <a:rPr lang="en-US" sz="8000" i="1" dirty="0" smtClean="0"/>
              <a:t>a</a:t>
            </a:r>
            <a:r>
              <a:rPr lang="en-US" sz="8000" dirty="0" smtClean="0"/>
              <a:t> </a:t>
            </a:r>
            <a:r>
              <a:rPr lang="en-US" sz="8000" dirty="0" smtClean="0">
                <a:latin typeface="Cambria Math"/>
                <a:ea typeface="Cambria Math"/>
              </a:rPr>
              <a:t>= </a:t>
            </a:r>
            <a:r>
              <a:rPr lang="en-US" sz="8000" i="1" dirty="0" smtClean="0">
                <a:latin typeface="Cambria Math"/>
                <a:ea typeface="Cambria Math"/>
              </a:rPr>
              <a:t>b</a:t>
            </a:r>
            <a:r>
              <a:rPr lang="en-US" sz="8000" dirty="0" smtClean="0">
                <a:latin typeface="Cambria Math"/>
                <a:ea typeface="Cambria Math"/>
              </a:rPr>
              <a:t>}.</a:t>
            </a:r>
          </a:p>
          <a:p>
            <a:pPr lvl="1">
              <a:buNone/>
            </a:pPr>
            <a:r>
              <a:rPr lang="en-US" sz="8000" b="1" dirty="0" smtClean="0">
                <a:latin typeface="Cambria Math"/>
                <a:ea typeface="Cambria Math"/>
              </a:rPr>
              <a:t>The following relations are not reflexive:</a:t>
            </a:r>
          </a:p>
          <a:p>
            <a:pPr lvl="1">
              <a:buNone/>
            </a:pPr>
            <a:r>
              <a:rPr lang="en-US" sz="8000" i="1" dirty="0" smtClean="0"/>
              <a:t>R</a:t>
            </a:r>
            <a:r>
              <a:rPr lang="en-US" sz="8000" baseline="-25000" dirty="0" smtClean="0">
                <a:latin typeface="Cambria Math" pitchFamily="18" charset="0"/>
                <a:ea typeface="Cambria Math" pitchFamily="18" charset="0"/>
              </a:rPr>
              <a:t>2 </a:t>
            </a:r>
            <a:r>
              <a:rPr lang="en-US" sz="8000" dirty="0" smtClean="0"/>
              <a:t>= {(</a:t>
            </a:r>
            <a:r>
              <a:rPr lang="en-US" sz="8000" i="1" dirty="0" err="1" smtClean="0"/>
              <a:t>a</a:t>
            </a:r>
            <a:r>
              <a:rPr lang="en-US" sz="8000" dirty="0" err="1" smtClean="0"/>
              <a:t>,</a:t>
            </a:r>
            <a:r>
              <a:rPr lang="en-US" sz="8000" i="1" dirty="0" err="1" smtClean="0"/>
              <a:t>b</a:t>
            </a:r>
            <a:r>
              <a:rPr lang="en-US" sz="8000" dirty="0" smtClean="0"/>
              <a:t>) | </a:t>
            </a:r>
            <a:r>
              <a:rPr lang="en-US" sz="8000" i="1" dirty="0" smtClean="0"/>
              <a:t>a</a:t>
            </a:r>
            <a:r>
              <a:rPr lang="en-US" sz="8000" dirty="0" smtClean="0"/>
              <a:t> </a:t>
            </a:r>
            <a:r>
              <a:rPr lang="en-US" sz="8000" dirty="0" smtClean="0">
                <a:latin typeface="Cambria Math"/>
                <a:ea typeface="Cambria Math"/>
              </a:rPr>
              <a:t>&gt; </a:t>
            </a:r>
            <a:r>
              <a:rPr lang="en-US" sz="8000" i="1" dirty="0" smtClean="0">
                <a:latin typeface="Cambria Math"/>
                <a:ea typeface="Cambria Math"/>
              </a:rPr>
              <a:t>b</a:t>
            </a:r>
            <a:r>
              <a:rPr lang="en-US" sz="8000" dirty="0" smtClean="0">
                <a:latin typeface="Cambria Math"/>
                <a:ea typeface="Cambria Math"/>
              </a:rPr>
              <a:t>}  (note that  3 ≯ 3),</a:t>
            </a:r>
          </a:p>
          <a:p>
            <a:pPr lvl="1">
              <a:buNone/>
            </a:pPr>
            <a:r>
              <a:rPr lang="en-US" sz="8000" i="1" dirty="0" smtClean="0"/>
              <a:t>R</a:t>
            </a:r>
            <a:r>
              <a:rPr lang="en-US" sz="8000" baseline="-25000" dirty="0" smtClean="0">
                <a:latin typeface="Cambria Math" pitchFamily="18" charset="0"/>
                <a:ea typeface="Cambria Math" pitchFamily="18" charset="0"/>
              </a:rPr>
              <a:t>5 </a:t>
            </a:r>
            <a:r>
              <a:rPr lang="en-US" sz="8000" dirty="0" smtClean="0"/>
              <a:t>= {(</a:t>
            </a:r>
            <a:r>
              <a:rPr lang="en-US" sz="8000" i="1" dirty="0" err="1" smtClean="0"/>
              <a:t>a</a:t>
            </a:r>
            <a:r>
              <a:rPr lang="en-US" sz="8000" dirty="0" err="1" smtClean="0"/>
              <a:t>,</a:t>
            </a:r>
            <a:r>
              <a:rPr lang="en-US" sz="8000" i="1" dirty="0" err="1" smtClean="0"/>
              <a:t>b</a:t>
            </a:r>
            <a:r>
              <a:rPr lang="en-US" sz="8000" dirty="0" smtClean="0"/>
              <a:t>) | </a:t>
            </a:r>
            <a:r>
              <a:rPr lang="en-US" sz="8000" i="1" dirty="0" smtClean="0"/>
              <a:t>a</a:t>
            </a:r>
            <a:r>
              <a:rPr lang="en-US" sz="8000" dirty="0" smtClean="0"/>
              <a:t> </a:t>
            </a:r>
            <a:r>
              <a:rPr lang="en-US" sz="8000" dirty="0" smtClean="0">
                <a:latin typeface="Cambria Math"/>
                <a:ea typeface="Cambria Math"/>
              </a:rPr>
              <a:t>= </a:t>
            </a:r>
            <a:r>
              <a:rPr lang="en-US" sz="8000" i="1" dirty="0" smtClean="0">
                <a:latin typeface="Cambria Math"/>
                <a:ea typeface="Cambria Math"/>
              </a:rPr>
              <a:t>b </a:t>
            </a:r>
            <a:r>
              <a:rPr lang="en-US" sz="8000" dirty="0" smtClean="0">
                <a:latin typeface="Cambria Math"/>
                <a:ea typeface="Cambria Math"/>
              </a:rPr>
              <a:t>+ 1} (note that  3 ≠3 + 1),</a:t>
            </a:r>
          </a:p>
          <a:p>
            <a:pPr lvl="1">
              <a:buNone/>
            </a:pPr>
            <a:r>
              <a:rPr lang="en-US" sz="8000" i="1" dirty="0" smtClean="0"/>
              <a:t>R</a:t>
            </a:r>
            <a:r>
              <a:rPr lang="en-US" sz="8000" baseline="-25000" dirty="0" smtClean="0">
                <a:latin typeface="Cambria Math" pitchFamily="18" charset="0"/>
                <a:ea typeface="Cambria Math" pitchFamily="18" charset="0"/>
              </a:rPr>
              <a:t>6 </a:t>
            </a:r>
            <a:r>
              <a:rPr lang="en-US" sz="8000" dirty="0" smtClean="0"/>
              <a:t>= {(</a:t>
            </a:r>
            <a:r>
              <a:rPr lang="en-US" sz="8000" i="1" dirty="0" err="1" smtClean="0"/>
              <a:t>a</a:t>
            </a:r>
            <a:r>
              <a:rPr lang="en-US" sz="8000" dirty="0" err="1" smtClean="0"/>
              <a:t>,</a:t>
            </a:r>
            <a:r>
              <a:rPr lang="en-US" sz="8000" i="1" dirty="0" err="1" smtClean="0"/>
              <a:t>b</a:t>
            </a:r>
            <a:r>
              <a:rPr lang="en-US" sz="8000" dirty="0" smtClean="0"/>
              <a:t>) | </a:t>
            </a:r>
            <a:r>
              <a:rPr lang="en-US" sz="8000" i="1" dirty="0" smtClean="0"/>
              <a:t>a</a:t>
            </a:r>
            <a:r>
              <a:rPr lang="en-US" sz="8000" dirty="0" smtClean="0"/>
              <a:t> + </a:t>
            </a:r>
            <a:r>
              <a:rPr lang="en-US" sz="8000" i="1" dirty="0" smtClean="0"/>
              <a:t>b</a:t>
            </a:r>
            <a:r>
              <a:rPr lang="en-US" sz="8000" dirty="0" smtClean="0"/>
              <a:t> </a:t>
            </a:r>
            <a:r>
              <a:rPr lang="en-US" sz="8000" dirty="0" smtClean="0">
                <a:latin typeface="Cambria Math"/>
                <a:ea typeface="Cambria Math"/>
              </a:rPr>
              <a:t>≤ 3}  (note that 4  + 4 ≰ 3).</a:t>
            </a:r>
          </a:p>
          <a:p>
            <a:pPr lvl="1">
              <a:buNone/>
            </a:pPr>
            <a:endParaRPr lang="en-US" sz="8000" dirty="0" smtClean="0">
              <a:latin typeface="Cambria Math"/>
              <a:ea typeface="Cambria Math"/>
            </a:endParaRPr>
          </a:p>
          <a:p>
            <a:pPr lvl="1">
              <a:buNone/>
            </a:pPr>
            <a:endParaRPr lang="en-US" sz="8000" dirty="0" smtClean="0"/>
          </a:p>
          <a:p>
            <a:pPr>
              <a:buNone/>
            </a:pPr>
            <a:endParaRPr lang="en-US" sz="8000" dirty="0" smtClean="0">
              <a:ea typeface="Cambria Math"/>
            </a:endParaRPr>
          </a:p>
        </p:txBody>
      </p:sp>
      <p:sp>
        <p:nvSpPr>
          <p:cNvPr id="5" name="TextBox 4"/>
          <p:cNvSpPr txBox="1"/>
          <p:nvPr/>
        </p:nvSpPr>
        <p:spPr>
          <a:xfrm>
            <a:off x="5107940" y="2913866"/>
            <a:ext cx="3352800" cy="738664"/>
          </a:xfrm>
          <a:prstGeom prst="rect">
            <a:avLst/>
          </a:prstGeom>
          <a:noFill/>
          <a:ln>
            <a:solidFill>
              <a:schemeClr val="accent1"/>
            </a:solidFill>
          </a:ln>
        </p:spPr>
        <p:txBody>
          <a:bodyPr wrap="square" rtlCol="0">
            <a:spAutoFit/>
          </a:bodyPr>
          <a:lstStyle/>
          <a:p>
            <a:r>
              <a:rPr lang="en-US" sz="1400" dirty="0" smtClean="0">
                <a:latin typeface="Cambria Math"/>
                <a:ea typeface="Cambria Math"/>
              </a:rPr>
              <a:t>If </a:t>
            </a:r>
            <a:r>
              <a:rPr lang="en-US" sz="1400" i="1" dirty="0" smtClean="0">
                <a:ea typeface="Cambria Math"/>
              </a:rPr>
              <a:t>A</a:t>
            </a:r>
            <a:r>
              <a:rPr lang="en-US" sz="1400" dirty="0" smtClean="0">
                <a:latin typeface="Cambria Math"/>
                <a:ea typeface="Cambria Math"/>
              </a:rPr>
              <a:t> = ∅ </a:t>
            </a:r>
            <a:r>
              <a:rPr lang="en-US" sz="1400" dirty="0" smtClean="0">
                <a:ea typeface="Cambria Math"/>
              </a:rPr>
              <a:t> then the empty relation is reflexive vacuously. That is the empty relation on an empty set is reflexive! </a:t>
            </a:r>
          </a:p>
        </p:txBody>
      </p:sp>
      <p:sp>
        <p:nvSpPr>
          <p:cNvPr id="4" name="TextBox 3"/>
          <p:cNvSpPr txBox="1"/>
          <p:nvPr/>
        </p:nvSpPr>
        <p:spPr>
          <a:xfrm>
            <a:off x="3124200" y="1305670"/>
            <a:ext cx="6248400" cy="1600438"/>
          </a:xfrm>
          <a:prstGeom prst="rect">
            <a:avLst/>
          </a:prstGeom>
          <a:noFill/>
        </p:spPr>
        <p:txBody>
          <a:bodyPr wrap="square" rtlCol="0">
            <a:spAutoFit/>
          </a:bodyPr>
          <a:lstStyle/>
          <a:p>
            <a:r>
              <a:rPr lang="en-US" sz="2000" b="1" dirty="0"/>
              <a:t>If the set </a:t>
            </a:r>
            <a:r>
              <a:rPr lang="en-US" sz="2000" b="1" dirty="0" smtClean="0"/>
              <a:t>is:  </a:t>
            </a:r>
            <a:r>
              <a:rPr lang="en-US" sz="2000" b="1" dirty="0" smtClean="0">
                <a:solidFill>
                  <a:srgbClr val="0070C0"/>
                </a:solidFill>
              </a:rPr>
              <a:t>A={1,2,3}</a:t>
            </a:r>
          </a:p>
          <a:p>
            <a:r>
              <a:rPr lang="en-US" dirty="0" smtClean="0"/>
              <a:t> Then </a:t>
            </a:r>
            <a:r>
              <a:rPr lang="en-US" dirty="0"/>
              <a:t>for </a:t>
            </a:r>
            <a:r>
              <a:rPr lang="en-US" b="1" dirty="0"/>
              <a:t>R to be reflexive</a:t>
            </a:r>
            <a:r>
              <a:rPr lang="en-US" dirty="0"/>
              <a:t>, it </a:t>
            </a:r>
            <a:r>
              <a:rPr lang="en-US" b="1" dirty="0"/>
              <a:t>must contain</a:t>
            </a:r>
            <a:r>
              <a:rPr lang="en-US" dirty="0"/>
              <a:t>:</a:t>
            </a:r>
          </a:p>
          <a:p>
            <a:r>
              <a:rPr lang="en-US" sz="2000" b="1" dirty="0">
                <a:solidFill>
                  <a:srgbClr val="0070C0"/>
                </a:solidFill>
              </a:rPr>
              <a:t>(1,1),(2,2),(3,3</a:t>
            </a:r>
            <a:r>
              <a:rPr lang="en-US" sz="2000" b="1" dirty="0" smtClean="0">
                <a:solidFill>
                  <a:srgbClr val="0070C0"/>
                </a:solidFill>
              </a:rPr>
              <a:t>)</a:t>
            </a:r>
          </a:p>
          <a:p>
            <a:r>
              <a:rPr lang="en-US" sz="2000" dirty="0" smtClean="0"/>
              <a:t> </a:t>
            </a:r>
            <a:r>
              <a:rPr lang="en-US" sz="2000" b="1" dirty="0">
                <a:solidFill>
                  <a:srgbClr val="FF0000"/>
                </a:solidFill>
              </a:rPr>
              <a:t>If even one of these is missing → ❌ not reflexive</a:t>
            </a:r>
          </a:p>
          <a:p>
            <a:endParaRPr lang="en-US" sz="20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Symmetric Relations</a:t>
            </a:r>
            <a:endParaRPr lang="en-US" dirty="0"/>
          </a:p>
        </p:txBody>
      </p:sp>
      <p:sp>
        <p:nvSpPr>
          <p:cNvPr id="3" name="Content Placeholder 2"/>
          <p:cNvSpPr>
            <a:spLocks noGrp="1"/>
          </p:cNvSpPr>
          <p:nvPr>
            <p:ph idx="1"/>
          </p:nvPr>
        </p:nvSpPr>
        <p:spPr/>
        <p:txBody>
          <a:bodyPr>
            <a:normAutofit fontScale="77500" lnSpcReduction="20000"/>
          </a:bodyPr>
          <a:lstStyle/>
          <a:p>
            <a:pPr>
              <a:buNone/>
            </a:pPr>
            <a:r>
              <a:rPr lang="en-US" b="1" dirty="0" smtClean="0"/>
              <a:t>   Definition:</a:t>
            </a:r>
            <a:r>
              <a:rPr lang="en-US" dirty="0" smtClean="0"/>
              <a:t> </a:t>
            </a:r>
            <a:r>
              <a:rPr lang="en-US" dirty="0"/>
              <a:t>Whenever </a:t>
            </a:r>
            <a:r>
              <a:rPr lang="en-US" b="1" dirty="0"/>
              <a:t>(a, b)</a:t>
            </a:r>
            <a:r>
              <a:rPr lang="en-US" dirty="0"/>
              <a:t> is in the relation, </a:t>
            </a:r>
            <a:r>
              <a:rPr lang="en-US" b="1" dirty="0"/>
              <a:t>(b, a)</a:t>
            </a:r>
            <a:r>
              <a:rPr lang="en-US" dirty="0"/>
              <a:t> is also in the </a:t>
            </a:r>
            <a:r>
              <a:rPr lang="en-US" dirty="0" smtClean="0"/>
              <a:t>relation.</a:t>
            </a:r>
          </a:p>
          <a:p>
            <a:pPr>
              <a:buNone/>
            </a:pPr>
            <a:r>
              <a:rPr lang="en-US" i="1" dirty="0" smtClean="0"/>
              <a:t>     R</a:t>
            </a:r>
            <a:r>
              <a:rPr lang="en-US" dirty="0" smtClean="0"/>
              <a:t> is </a:t>
            </a:r>
            <a:r>
              <a:rPr lang="en-US" b="1" i="1" dirty="0" smtClean="0"/>
              <a:t>symmetric</a:t>
            </a:r>
            <a:r>
              <a:rPr lang="en-US" dirty="0" smtClean="0"/>
              <a:t> if </a:t>
            </a:r>
            <a:r>
              <a:rPr lang="en-US" b="1" dirty="0" smtClean="0"/>
              <a:t>(</a:t>
            </a:r>
            <a:r>
              <a:rPr lang="en-US" b="1" i="1" dirty="0" err="1" smtClean="0"/>
              <a:t>b,a</a:t>
            </a:r>
            <a:r>
              <a:rPr lang="en-US" b="1" dirty="0" smtClean="0"/>
              <a:t>)</a:t>
            </a:r>
            <a:r>
              <a:rPr lang="en-US" b="1" i="1" dirty="0" smtClean="0"/>
              <a:t> </a:t>
            </a:r>
            <a:r>
              <a:rPr lang="en-US" b="1" dirty="0" smtClean="0">
                <a:latin typeface="Cambria Math"/>
                <a:ea typeface="Cambria Math"/>
              </a:rPr>
              <a:t>∊</a:t>
            </a:r>
            <a:r>
              <a:rPr lang="en-US" b="1" i="1" dirty="0" smtClean="0">
                <a:latin typeface="Cambria Math"/>
                <a:ea typeface="Cambria Math"/>
              </a:rPr>
              <a:t> </a:t>
            </a:r>
            <a:r>
              <a:rPr lang="en-US" b="1" i="1" dirty="0" smtClean="0">
                <a:ea typeface="Cambria Math"/>
              </a:rPr>
              <a:t>R </a:t>
            </a:r>
            <a:r>
              <a:rPr lang="en-US" dirty="0" smtClean="0">
                <a:ea typeface="Cambria Math"/>
              </a:rPr>
              <a:t>whenever </a:t>
            </a:r>
            <a:r>
              <a:rPr lang="en-US" b="1" dirty="0" smtClean="0">
                <a:ea typeface="Cambria Math"/>
              </a:rPr>
              <a:t>(</a:t>
            </a:r>
            <a:r>
              <a:rPr lang="en-US" b="1" i="1" dirty="0" err="1" smtClean="0">
                <a:ea typeface="Cambria Math"/>
              </a:rPr>
              <a:t>a,b</a:t>
            </a:r>
            <a:r>
              <a:rPr lang="en-US" b="1" dirty="0" smtClean="0">
                <a:ea typeface="Cambria Math"/>
              </a:rPr>
              <a:t>)</a:t>
            </a:r>
            <a:r>
              <a:rPr lang="en-US" b="1" i="1" dirty="0" smtClean="0">
                <a:ea typeface="Cambria Math"/>
              </a:rPr>
              <a:t> </a:t>
            </a:r>
            <a:r>
              <a:rPr lang="en-US" b="1" dirty="0" smtClean="0">
                <a:latin typeface="Cambria Math"/>
                <a:ea typeface="Cambria Math"/>
              </a:rPr>
              <a:t>∊</a:t>
            </a:r>
            <a:r>
              <a:rPr lang="en-US" b="1" i="1" dirty="0" smtClean="0">
                <a:latin typeface="Cambria Math"/>
                <a:ea typeface="Cambria Math"/>
              </a:rPr>
              <a:t> </a:t>
            </a:r>
            <a:r>
              <a:rPr lang="en-US" b="1" i="1" dirty="0" smtClean="0">
                <a:ea typeface="Cambria Math"/>
              </a:rPr>
              <a:t>R </a:t>
            </a:r>
            <a:r>
              <a:rPr lang="en-US" dirty="0" smtClean="0">
                <a:ea typeface="Cambria Math"/>
              </a:rPr>
              <a:t>for all </a:t>
            </a:r>
            <a:r>
              <a:rPr lang="en-US" b="1" i="1" dirty="0" err="1" smtClean="0">
                <a:ea typeface="Cambria Math"/>
              </a:rPr>
              <a:t>a,b</a:t>
            </a:r>
            <a:r>
              <a:rPr lang="en-US" b="1" dirty="0" smtClean="0">
                <a:ea typeface="Cambria Math"/>
              </a:rPr>
              <a:t> </a:t>
            </a:r>
            <a:r>
              <a:rPr lang="en-US" b="1" dirty="0" smtClean="0">
                <a:latin typeface="Cambria Math"/>
                <a:ea typeface="Cambria Math"/>
              </a:rPr>
              <a:t>∊</a:t>
            </a:r>
            <a:r>
              <a:rPr lang="en-US" b="1" i="1" dirty="0" smtClean="0">
                <a:latin typeface="Cambria Math"/>
                <a:ea typeface="Cambria Math"/>
              </a:rPr>
              <a:t> </a:t>
            </a:r>
            <a:r>
              <a:rPr lang="en-US" b="1" i="1" dirty="0" smtClean="0">
                <a:ea typeface="Cambria Math"/>
              </a:rPr>
              <a:t>A</a:t>
            </a:r>
            <a:r>
              <a:rPr lang="en-US" i="1" dirty="0" smtClean="0">
                <a:ea typeface="Cambria Math"/>
              </a:rPr>
              <a:t>.</a:t>
            </a:r>
            <a:r>
              <a:rPr lang="en-US" dirty="0" smtClean="0">
                <a:ea typeface="Cambria Math"/>
              </a:rPr>
              <a:t> Written symbolically, </a:t>
            </a:r>
            <a:r>
              <a:rPr lang="en-US" b="1" i="1" dirty="0" smtClean="0">
                <a:ea typeface="Cambria Math"/>
              </a:rPr>
              <a:t>R</a:t>
            </a:r>
            <a:r>
              <a:rPr lang="en-US" dirty="0" smtClean="0">
                <a:ea typeface="Cambria Math"/>
              </a:rPr>
              <a:t> is </a:t>
            </a:r>
            <a:r>
              <a:rPr lang="en-US" b="1" dirty="0" smtClean="0">
                <a:ea typeface="Cambria Math"/>
              </a:rPr>
              <a:t>symmetric</a:t>
            </a:r>
            <a:r>
              <a:rPr lang="en-US" dirty="0" smtClean="0">
                <a:ea typeface="Cambria Math"/>
              </a:rPr>
              <a:t> if and only if </a:t>
            </a:r>
            <a:endParaRPr lang="en-US" i="1" dirty="0" smtClean="0">
              <a:ea typeface="Cambria Math"/>
            </a:endParaRPr>
          </a:p>
          <a:p>
            <a:pPr lvl="1">
              <a:buNone/>
            </a:pPr>
            <a:r>
              <a:rPr lang="en-US" sz="2600" dirty="0" smtClean="0">
                <a:latin typeface="Cambria Math"/>
                <a:ea typeface="Cambria Math"/>
              </a:rPr>
              <a:t>       </a:t>
            </a:r>
            <a:r>
              <a:rPr lang="en-US" sz="2600" b="1" dirty="0" smtClean="0">
                <a:solidFill>
                  <a:srgbClr val="0070C0"/>
                </a:solidFill>
                <a:latin typeface="Cambria Math"/>
                <a:ea typeface="Cambria Math"/>
              </a:rPr>
              <a:t>∀</a:t>
            </a:r>
            <a:r>
              <a:rPr lang="en-US" sz="2600" b="1" i="1" dirty="0" err="1" smtClean="0">
                <a:solidFill>
                  <a:srgbClr val="0070C0"/>
                </a:solidFill>
                <a:ea typeface="Cambria Math"/>
              </a:rPr>
              <a:t>x</a:t>
            </a:r>
            <a:r>
              <a:rPr lang="en-US" sz="2600" b="1" dirty="0" err="1" smtClean="0">
                <a:solidFill>
                  <a:srgbClr val="0070C0"/>
                </a:solidFill>
                <a:latin typeface="Cambria Math"/>
                <a:ea typeface="Cambria Math"/>
              </a:rPr>
              <a:t>∀</a:t>
            </a:r>
            <a:r>
              <a:rPr lang="en-US" sz="2600" b="1" i="1" dirty="0" err="1" smtClean="0">
                <a:solidFill>
                  <a:srgbClr val="0070C0"/>
                </a:solidFill>
                <a:ea typeface="Cambria Math"/>
              </a:rPr>
              <a:t>y</a:t>
            </a:r>
            <a:r>
              <a:rPr lang="en-US" sz="2600" b="1" dirty="0" smtClean="0">
                <a:solidFill>
                  <a:srgbClr val="0070C0"/>
                </a:solidFill>
                <a:latin typeface="Cambria Math"/>
                <a:ea typeface="Cambria Math"/>
              </a:rPr>
              <a:t> [(</a:t>
            </a:r>
            <a:r>
              <a:rPr lang="en-US" sz="2600" b="1" i="1" dirty="0" err="1" smtClean="0">
                <a:solidFill>
                  <a:srgbClr val="0070C0"/>
                </a:solidFill>
                <a:ea typeface="Cambria Math"/>
              </a:rPr>
              <a:t>x</a:t>
            </a:r>
            <a:r>
              <a:rPr lang="en-US" sz="2600" b="1" dirty="0" err="1" smtClean="0">
                <a:solidFill>
                  <a:srgbClr val="0070C0"/>
                </a:solidFill>
                <a:latin typeface="Cambria Math"/>
                <a:ea typeface="Cambria Math"/>
              </a:rPr>
              <a:t>,</a:t>
            </a:r>
            <a:r>
              <a:rPr lang="en-US" sz="2600" b="1" i="1" dirty="0" err="1" smtClean="0">
                <a:solidFill>
                  <a:srgbClr val="0070C0"/>
                </a:solidFill>
                <a:ea typeface="Cambria Math"/>
              </a:rPr>
              <a:t>y</a:t>
            </a:r>
            <a:r>
              <a:rPr lang="en-US" sz="2600" b="1" dirty="0" smtClean="0">
                <a:solidFill>
                  <a:srgbClr val="0070C0"/>
                </a:solidFill>
                <a:latin typeface="Cambria Math"/>
                <a:ea typeface="Cambria Math"/>
              </a:rPr>
              <a:t>) ∊</a:t>
            </a:r>
            <a:r>
              <a:rPr lang="en-US" sz="2600" b="1" i="1" dirty="0" smtClean="0">
                <a:solidFill>
                  <a:srgbClr val="0070C0"/>
                </a:solidFill>
                <a:ea typeface="Cambria Math"/>
              </a:rPr>
              <a:t>R</a:t>
            </a:r>
            <a:r>
              <a:rPr lang="en-US" sz="2600" b="1" dirty="0" smtClean="0">
                <a:solidFill>
                  <a:srgbClr val="0070C0"/>
                </a:solidFill>
                <a:latin typeface="Cambria Math"/>
                <a:ea typeface="Cambria Math"/>
              </a:rPr>
              <a:t> ⟶ (</a:t>
            </a:r>
            <a:r>
              <a:rPr lang="en-US" sz="2600" b="1" i="1" dirty="0" err="1" smtClean="0">
                <a:solidFill>
                  <a:srgbClr val="0070C0"/>
                </a:solidFill>
                <a:ea typeface="Cambria Math"/>
              </a:rPr>
              <a:t>y</a:t>
            </a:r>
            <a:r>
              <a:rPr lang="en-US" sz="2600" b="1" dirty="0" err="1" smtClean="0">
                <a:solidFill>
                  <a:srgbClr val="0070C0"/>
                </a:solidFill>
                <a:ea typeface="Cambria Math"/>
              </a:rPr>
              <a:t>,</a:t>
            </a:r>
            <a:r>
              <a:rPr lang="en-US" sz="2600" b="1" i="1" dirty="0" err="1" smtClean="0">
                <a:solidFill>
                  <a:srgbClr val="0070C0"/>
                </a:solidFill>
                <a:ea typeface="Cambria Math"/>
              </a:rPr>
              <a:t>x</a:t>
            </a:r>
            <a:r>
              <a:rPr lang="en-US" sz="2600" b="1" dirty="0" smtClean="0">
                <a:solidFill>
                  <a:srgbClr val="0070C0"/>
                </a:solidFill>
                <a:latin typeface="Cambria Math"/>
                <a:ea typeface="Cambria Math"/>
              </a:rPr>
              <a:t>) ∊ </a:t>
            </a:r>
            <a:r>
              <a:rPr lang="en-US" sz="2600" b="1" i="1" dirty="0" smtClean="0">
                <a:solidFill>
                  <a:srgbClr val="0070C0"/>
                </a:solidFill>
                <a:ea typeface="Cambria Math"/>
              </a:rPr>
              <a:t>R</a:t>
            </a:r>
            <a:r>
              <a:rPr lang="en-US" sz="2600" b="1" dirty="0" smtClean="0">
                <a:solidFill>
                  <a:srgbClr val="0070C0"/>
                </a:solidFill>
                <a:latin typeface="Cambria Math"/>
                <a:ea typeface="Cambria Math"/>
              </a:rPr>
              <a:t>]</a:t>
            </a:r>
          </a:p>
          <a:p>
            <a:pPr lvl="1">
              <a:buNone/>
            </a:pPr>
            <a:r>
              <a:rPr lang="en-US" sz="2600" b="1" dirty="0">
                <a:solidFill>
                  <a:srgbClr val="0070C0"/>
                </a:solidFill>
              </a:rPr>
              <a:t>“For every pair in R, the reverse pair must also be in R.”</a:t>
            </a:r>
            <a:endParaRPr lang="en-US" sz="2600" b="1" dirty="0" smtClean="0">
              <a:solidFill>
                <a:srgbClr val="0070C0"/>
              </a:solidFill>
              <a:latin typeface="Cambria Math"/>
              <a:ea typeface="Cambria Math"/>
            </a:endParaRPr>
          </a:p>
          <a:p>
            <a:pPr>
              <a:buNone/>
            </a:pPr>
            <a:r>
              <a:rPr lang="en-US" b="1" dirty="0" smtClean="0">
                <a:ea typeface="Cambria Math"/>
              </a:rPr>
              <a:t>   Example</a:t>
            </a:r>
            <a:r>
              <a:rPr lang="en-US" dirty="0" smtClean="0">
                <a:ea typeface="Cambria Math"/>
              </a:rPr>
              <a:t>: </a:t>
            </a:r>
            <a:r>
              <a:rPr lang="en-US" b="1" dirty="0" smtClean="0">
                <a:ea typeface="Cambria Math"/>
              </a:rPr>
              <a:t>The following relations  on the integers</a:t>
            </a:r>
            <a:r>
              <a:rPr lang="en-US" dirty="0" smtClean="0">
                <a:ea typeface="Cambria Math"/>
              </a:rPr>
              <a:t> </a:t>
            </a:r>
            <a:r>
              <a:rPr lang="en-US" b="1" dirty="0" smtClean="0">
                <a:ea typeface="Cambria Math"/>
              </a:rPr>
              <a:t>are</a:t>
            </a:r>
            <a:r>
              <a:rPr lang="en-US" dirty="0" smtClean="0">
                <a:ea typeface="Cambria Math"/>
              </a:rPr>
              <a:t> </a:t>
            </a:r>
            <a:r>
              <a:rPr lang="en-US" b="1" dirty="0" smtClean="0">
                <a:ea typeface="Cambria Math"/>
              </a:rPr>
              <a:t>symmetric</a:t>
            </a:r>
            <a:r>
              <a:rPr lang="en-US" dirty="0" smtClean="0">
                <a:ea typeface="Cambria Math"/>
              </a:rPr>
              <a:t>:</a:t>
            </a:r>
          </a:p>
          <a:p>
            <a:pPr lvl="1">
              <a:buNone/>
            </a:pPr>
            <a:r>
              <a:rPr lang="en-US" sz="2600" i="1" dirty="0" smtClean="0"/>
              <a:t>R</a:t>
            </a:r>
            <a:r>
              <a:rPr lang="en-US" sz="2600" baseline="-25000" dirty="0" smtClean="0">
                <a:latin typeface="Cambria Math" pitchFamily="18" charset="0"/>
                <a:ea typeface="Cambria Math" pitchFamily="18" charset="0"/>
              </a:rPr>
              <a:t>3 </a:t>
            </a:r>
            <a:r>
              <a:rPr lang="en-US" sz="2600" dirty="0" smtClean="0"/>
              <a:t>= {(</a:t>
            </a:r>
            <a:r>
              <a:rPr lang="en-US" sz="2600" i="1" dirty="0" err="1" smtClean="0"/>
              <a:t>a</a:t>
            </a:r>
            <a:r>
              <a:rPr lang="en-US" sz="2600" dirty="0" err="1" smtClean="0"/>
              <a:t>,</a:t>
            </a:r>
            <a:r>
              <a:rPr lang="en-US" sz="2600" i="1" dirty="0" err="1" smtClean="0"/>
              <a:t>b</a:t>
            </a:r>
            <a:r>
              <a:rPr lang="en-US" sz="2600" dirty="0" smtClean="0"/>
              <a:t>) | </a:t>
            </a:r>
            <a:r>
              <a:rPr lang="en-US" sz="2600" i="1" dirty="0" smtClean="0"/>
              <a:t>a</a:t>
            </a:r>
            <a:r>
              <a:rPr lang="en-US" sz="2600" dirty="0" smtClean="0"/>
              <a:t> </a:t>
            </a:r>
            <a:r>
              <a:rPr lang="en-US" sz="2600" dirty="0" smtClean="0">
                <a:latin typeface="Cambria Math"/>
                <a:ea typeface="Cambria Math"/>
              </a:rPr>
              <a:t>= </a:t>
            </a:r>
            <a:r>
              <a:rPr lang="en-US" sz="2600" i="1" dirty="0" smtClean="0">
                <a:latin typeface="Cambria Math"/>
                <a:ea typeface="Cambria Math"/>
              </a:rPr>
              <a:t>b  </a:t>
            </a:r>
            <a:r>
              <a:rPr lang="en-US" sz="2600" dirty="0" smtClean="0">
                <a:latin typeface="Cambria Math"/>
                <a:ea typeface="Cambria Math"/>
              </a:rPr>
              <a:t>or</a:t>
            </a:r>
            <a:r>
              <a:rPr lang="en-US" sz="2600" i="1" dirty="0" smtClean="0">
                <a:latin typeface="Cambria Math"/>
                <a:ea typeface="Cambria Math"/>
              </a:rPr>
              <a:t> a </a:t>
            </a:r>
            <a:r>
              <a:rPr lang="en-US" sz="2600" dirty="0" smtClean="0">
                <a:latin typeface="Cambria Math"/>
                <a:ea typeface="Cambria Math"/>
              </a:rPr>
              <a:t>=</a:t>
            </a:r>
            <a:r>
              <a:rPr lang="en-US" sz="2600" i="1" dirty="0" smtClean="0">
                <a:latin typeface="Cambria Math"/>
                <a:ea typeface="Cambria Math"/>
              </a:rPr>
              <a:t> −b</a:t>
            </a:r>
            <a:r>
              <a:rPr lang="en-US" sz="2600" dirty="0" smtClean="0">
                <a:latin typeface="Cambria Math"/>
                <a:ea typeface="Cambria Math"/>
              </a:rPr>
              <a:t>},</a:t>
            </a:r>
            <a:endParaRPr lang="en-US" sz="2600" dirty="0" smtClean="0"/>
          </a:p>
          <a:p>
            <a:pPr lvl="1">
              <a:buNone/>
            </a:pPr>
            <a:r>
              <a:rPr lang="en-US" sz="2600" i="1" dirty="0" smtClean="0"/>
              <a:t>R</a:t>
            </a:r>
            <a:r>
              <a:rPr lang="en-US" sz="2600" baseline="-25000" dirty="0" smtClean="0">
                <a:latin typeface="Cambria Math" pitchFamily="18" charset="0"/>
                <a:ea typeface="Cambria Math" pitchFamily="18" charset="0"/>
              </a:rPr>
              <a:t>4 </a:t>
            </a:r>
            <a:r>
              <a:rPr lang="en-US" sz="2600" dirty="0" smtClean="0"/>
              <a:t>= {(</a:t>
            </a:r>
            <a:r>
              <a:rPr lang="en-US" sz="2600" i="1" dirty="0" err="1" smtClean="0"/>
              <a:t>a</a:t>
            </a:r>
            <a:r>
              <a:rPr lang="en-US" sz="2600" dirty="0" err="1" smtClean="0"/>
              <a:t>,</a:t>
            </a:r>
            <a:r>
              <a:rPr lang="en-US" sz="2600" i="1" dirty="0" err="1" smtClean="0"/>
              <a:t>b</a:t>
            </a:r>
            <a:r>
              <a:rPr lang="en-US" sz="2600" dirty="0" smtClean="0"/>
              <a:t>) | </a:t>
            </a:r>
            <a:r>
              <a:rPr lang="en-US" sz="2600" i="1" dirty="0" smtClean="0"/>
              <a:t>a</a:t>
            </a:r>
            <a:r>
              <a:rPr lang="en-US" sz="2600" dirty="0" smtClean="0"/>
              <a:t> </a:t>
            </a:r>
            <a:r>
              <a:rPr lang="en-US" sz="2600" dirty="0" smtClean="0">
                <a:latin typeface="Cambria Math"/>
                <a:ea typeface="Cambria Math"/>
              </a:rPr>
              <a:t>= </a:t>
            </a:r>
            <a:r>
              <a:rPr lang="en-US" sz="2600" i="1" dirty="0" smtClean="0">
                <a:latin typeface="Cambria Math"/>
                <a:ea typeface="Cambria Math"/>
              </a:rPr>
              <a:t>b</a:t>
            </a:r>
            <a:r>
              <a:rPr lang="en-US" sz="2600" dirty="0" smtClean="0">
                <a:latin typeface="Cambria Math"/>
                <a:ea typeface="Cambria Math"/>
              </a:rPr>
              <a:t>},</a:t>
            </a:r>
            <a:endParaRPr lang="en-US" sz="2600" dirty="0" smtClean="0"/>
          </a:p>
          <a:p>
            <a:pPr lvl="1">
              <a:buNone/>
            </a:pPr>
            <a:r>
              <a:rPr lang="en-US" sz="2600" i="1" dirty="0" smtClean="0"/>
              <a:t>R</a:t>
            </a:r>
            <a:r>
              <a:rPr lang="en-US" sz="2600" baseline="-25000" dirty="0" smtClean="0">
                <a:latin typeface="Cambria Math" pitchFamily="18" charset="0"/>
                <a:ea typeface="Cambria Math" pitchFamily="18" charset="0"/>
              </a:rPr>
              <a:t>6 </a:t>
            </a:r>
            <a:r>
              <a:rPr lang="en-US" sz="2600" dirty="0" smtClean="0"/>
              <a:t>= {(</a:t>
            </a:r>
            <a:r>
              <a:rPr lang="en-US" sz="2600" i="1" dirty="0" err="1" smtClean="0"/>
              <a:t>a</a:t>
            </a:r>
            <a:r>
              <a:rPr lang="en-US" sz="2600" dirty="0" err="1" smtClean="0"/>
              <a:t>,</a:t>
            </a:r>
            <a:r>
              <a:rPr lang="en-US" sz="2600" i="1" dirty="0" err="1" smtClean="0"/>
              <a:t>b</a:t>
            </a:r>
            <a:r>
              <a:rPr lang="en-US" sz="2600" dirty="0" smtClean="0"/>
              <a:t>) | </a:t>
            </a:r>
            <a:r>
              <a:rPr lang="en-US" sz="2600" i="1" dirty="0" smtClean="0"/>
              <a:t>a</a:t>
            </a:r>
            <a:r>
              <a:rPr lang="en-US" sz="2600" dirty="0" smtClean="0"/>
              <a:t> + </a:t>
            </a:r>
            <a:r>
              <a:rPr lang="en-US" sz="2600" i="1" dirty="0" smtClean="0"/>
              <a:t>b</a:t>
            </a:r>
            <a:r>
              <a:rPr lang="en-US" sz="2600" dirty="0" smtClean="0"/>
              <a:t> </a:t>
            </a:r>
            <a:r>
              <a:rPr lang="en-US" sz="2600" dirty="0" smtClean="0">
                <a:latin typeface="Cambria Math"/>
                <a:ea typeface="Cambria Math"/>
              </a:rPr>
              <a:t>≤ 3}.</a:t>
            </a:r>
          </a:p>
          <a:p>
            <a:pPr lvl="1">
              <a:buNone/>
            </a:pPr>
            <a:r>
              <a:rPr lang="en-US" sz="2600" b="1" dirty="0" smtClean="0">
                <a:latin typeface="Cambria Math"/>
                <a:ea typeface="Cambria Math"/>
              </a:rPr>
              <a:t>The following are not symmetric:</a:t>
            </a:r>
          </a:p>
          <a:p>
            <a:pPr lvl="1">
              <a:buNone/>
            </a:pPr>
            <a:r>
              <a:rPr lang="en-US" sz="2600" i="1" dirty="0" smtClean="0"/>
              <a:t>R</a:t>
            </a:r>
            <a:r>
              <a:rPr lang="en-US" sz="2600" baseline="-25000" dirty="0" smtClean="0">
                <a:latin typeface="Cambria Math" pitchFamily="18" charset="0"/>
                <a:ea typeface="Cambria Math" pitchFamily="18" charset="0"/>
              </a:rPr>
              <a:t>1 </a:t>
            </a:r>
            <a:r>
              <a:rPr lang="en-US" sz="2600" dirty="0" smtClean="0"/>
              <a:t>= {(</a:t>
            </a:r>
            <a:r>
              <a:rPr lang="en-US" sz="2600" i="1" dirty="0" err="1" smtClean="0"/>
              <a:t>a</a:t>
            </a:r>
            <a:r>
              <a:rPr lang="en-US" sz="2600" dirty="0" err="1" smtClean="0"/>
              <a:t>,</a:t>
            </a:r>
            <a:r>
              <a:rPr lang="en-US" sz="2600" i="1" dirty="0" err="1" smtClean="0"/>
              <a:t>b</a:t>
            </a:r>
            <a:r>
              <a:rPr lang="en-US" sz="2600" dirty="0" smtClean="0"/>
              <a:t>) | </a:t>
            </a:r>
            <a:r>
              <a:rPr lang="en-US" sz="2600" i="1" dirty="0" smtClean="0"/>
              <a:t>a</a:t>
            </a:r>
            <a:r>
              <a:rPr lang="en-US" sz="2600" dirty="0" smtClean="0"/>
              <a:t> </a:t>
            </a:r>
            <a:r>
              <a:rPr lang="en-US" sz="2600" dirty="0" smtClean="0">
                <a:latin typeface="Cambria Math"/>
                <a:ea typeface="Cambria Math"/>
              </a:rPr>
              <a:t>≤ </a:t>
            </a:r>
            <a:r>
              <a:rPr lang="en-US" sz="2600" i="1" dirty="0" smtClean="0">
                <a:latin typeface="Cambria Math"/>
                <a:ea typeface="Cambria Math"/>
              </a:rPr>
              <a:t>b</a:t>
            </a:r>
            <a:r>
              <a:rPr lang="en-US" sz="2600" dirty="0" smtClean="0">
                <a:latin typeface="Cambria Math"/>
                <a:ea typeface="Cambria Math"/>
              </a:rPr>
              <a:t>} (note that 3 ≤ 4, but 4 ≰ 3),</a:t>
            </a:r>
          </a:p>
          <a:p>
            <a:pPr lvl="1">
              <a:buNone/>
            </a:pPr>
            <a:r>
              <a:rPr lang="en-US" sz="2600" i="1" dirty="0" smtClean="0"/>
              <a:t>R</a:t>
            </a:r>
            <a:r>
              <a:rPr lang="en-US" sz="2600" baseline="-25000" dirty="0" smtClean="0">
                <a:latin typeface="Cambria Math" pitchFamily="18" charset="0"/>
                <a:ea typeface="Cambria Math" pitchFamily="18" charset="0"/>
              </a:rPr>
              <a:t>2 </a:t>
            </a:r>
            <a:r>
              <a:rPr lang="en-US" sz="2600" dirty="0" smtClean="0"/>
              <a:t>= {(</a:t>
            </a:r>
            <a:r>
              <a:rPr lang="en-US" sz="2600" i="1" dirty="0" err="1" smtClean="0"/>
              <a:t>a</a:t>
            </a:r>
            <a:r>
              <a:rPr lang="en-US" sz="2600" dirty="0" err="1" smtClean="0"/>
              <a:t>,</a:t>
            </a:r>
            <a:r>
              <a:rPr lang="en-US" sz="2600" i="1" dirty="0" err="1" smtClean="0"/>
              <a:t>b</a:t>
            </a:r>
            <a:r>
              <a:rPr lang="en-US" sz="2600" dirty="0" smtClean="0"/>
              <a:t>) | </a:t>
            </a:r>
            <a:r>
              <a:rPr lang="en-US" sz="2600" i="1" dirty="0" smtClean="0"/>
              <a:t>a</a:t>
            </a:r>
            <a:r>
              <a:rPr lang="en-US" sz="2600" dirty="0" smtClean="0"/>
              <a:t> </a:t>
            </a:r>
            <a:r>
              <a:rPr lang="en-US" sz="2600" dirty="0" smtClean="0">
                <a:latin typeface="Cambria Math"/>
                <a:ea typeface="Cambria Math"/>
              </a:rPr>
              <a:t>&gt; </a:t>
            </a:r>
            <a:r>
              <a:rPr lang="en-US" sz="2600" i="1" dirty="0" smtClean="0">
                <a:latin typeface="Cambria Math"/>
                <a:ea typeface="Cambria Math"/>
              </a:rPr>
              <a:t>b</a:t>
            </a:r>
            <a:r>
              <a:rPr lang="en-US" sz="2600" dirty="0" smtClean="0">
                <a:latin typeface="Cambria Math"/>
                <a:ea typeface="Cambria Math"/>
              </a:rPr>
              <a:t>}  (note that 4 &gt; 3, but 3 ≯ 4),</a:t>
            </a:r>
          </a:p>
          <a:p>
            <a:pPr lvl="1">
              <a:buNone/>
            </a:pPr>
            <a:r>
              <a:rPr lang="en-US" sz="2600" i="1" dirty="0" smtClean="0"/>
              <a:t>R</a:t>
            </a:r>
            <a:r>
              <a:rPr lang="en-US" sz="2600" baseline="-25000" dirty="0" smtClean="0">
                <a:latin typeface="Cambria Math" pitchFamily="18" charset="0"/>
                <a:ea typeface="Cambria Math" pitchFamily="18" charset="0"/>
              </a:rPr>
              <a:t>5 </a:t>
            </a:r>
            <a:r>
              <a:rPr lang="en-US" sz="2600" dirty="0" smtClean="0"/>
              <a:t>= {(</a:t>
            </a:r>
            <a:r>
              <a:rPr lang="en-US" sz="2600" i="1" dirty="0" err="1" smtClean="0"/>
              <a:t>a</a:t>
            </a:r>
            <a:r>
              <a:rPr lang="en-US" sz="2600" dirty="0" err="1" smtClean="0"/>
              <a:t>,</a:t>
            </a:r>
            <a:r>
              <a:rPr lang="en-US" sz="2600" i="1" dirty="0" err="1" smtClean="0"/>
              <a:t>b</a:t>
            </a:r>
            <a:r>
              <a:rPr lang="en-US" sz="2600" dirty="0" smtClean="0"/>
              <a:t>) | </a:t>
            </a:r>
            <a:r>
              <a:rPr lang="en-US" sz="2600" i="1" dirty="0" smtClean="0"/>
              <a:t>a</a:t>
            </a:r>
            <a:r>
              <a:rPr lang="en-US" sz="2600" dirty="0" smtClean="0"/>
              <a:t> </a:t>
            </a:r>
            <a:r>
              <a:rPr lang="en-US" sz="2600" dirty="0" smtClean="0">
                <a:latin typeface="Cambria Math"/>
                <a:ea typeface="Cambria Math"/>
              </a:rPr>
              <a:t>= </a:t>
            </a:r>
            <a:r>
              <a:rPr lang="en-US" sz="2600" i="1" dirty="0" smtClean="0">
                <a:latin typeface="Cambria Math"/>
                <a:ea typeface="Cambria Math"/>
              </a:rPr>
              <a:t>b </a:t>
            </a:r>
            <a:r>
              <a:rPr lang="en-US" sz="2600" dirty="0" smtClean="0">
                <a:latin typeface="Cambria Math"/>
                <a:ea typeface="Cambria Math"/>
              </a:rPr>
              <a:t>+ 1} (note that 4 = 3 + 1, but 3 ≠4 + 1).</a:t>
            </a:r>
          </a:p>
          <a:p>
            <a:pPr lvl="1">
              <a:buNone/>
            </a:pPr>
            <a:endParaRPr lang="en-US" dirty="0" smtClean="0">
              <a:latin typeface="Cambria Math"/>
              <a:ea typeface="Cambria Math"/>
            </a:endParaRPr>
          </a:p>
          <a:p>
            <a:pPr lvl="1">
              <a:buNone/>
            </a:pPr>
            <a:endParaRPr lang="en-US" dirty="0" smtClean="0">
              <a:latin typeface="Cambria Math"/>
              <a:ea typeface="Cambria Math"/>
            </a:endParaRPr>
          </a:p>
          <a:p>
            <a:pPr lvl="1">
              <a:buNone/>
            </a:pPr>
            <a:endParaRPr lang="en-US" dirty="0" smtClean="0">
              <a:latin typeface="Cambria Math"/>
              <a:ea typeface="Cambria Math"/>
            </a:endParaRPr>
          </a:p>
          <a:p>
            <a:pPr lvl="1">
              <a:buNone/>
            </a:pPr>
            <a:endParaRPr lang="en-US" dirty="0" smtClean="0">
              <a:latin typeface="Cambria Math"/>
              <a:ea typeface="Cambria Math"/>
            </a:endParaRPr>
          </a:p>
          <a:p>
            <a:pPr lvl="1">
              <a:buNone/>
            </a:pPr>
            <a:endParaRPr lang="en-US" dirty="0" smtClean="0">
              <a:latin typeface="Cambria Math"/>
              <a:ea typeface="Cambria Math"/>
            </a:endParaRPr>
          </a:p>
          <a:p>
            <a:pPr lvl="1">
              <a:buNone/>
            </a:pPr>
            <a:endParaRPr lang="en-US" dirty="0" smtClean="0">
              <a:latin typeface="Cambria Math"/>
              <a:ea typeface="Cambria Math"/>
            </a:endParaRPr>
          </a:p>
          <a:p>
            <a:pPr>
              <a:buNone/>
            </a:pPr>
            <a:endParaRPr lang="en-US" dirty="0" smtClean="0">
              <a:ea typeface="Cambria Math"/>
            </a:endParaRPr>
          </a:p>
          <a:p>
            <a:pPr lvl="1">
              <a:buNone/>
            </a:pP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6720" y="81281"/>
            <a:ext cx="8229600" cy="1143000"/>
          </a:xfrm>
        </p:spPr>
        <p:txBody>
          <a:bodyPr/>
          <a:lstStyle/>
          <a:p>
            <a:r>
              <a:rPr lang="en-US" dirty="0" err="1" smtClean="0"/>
              <a:t>Antisymmetric</a:t>
            </a:r>
            <a:r>
              <a:rPr lang="en-US" dirty="0" smtClean="0"/>
              <a:t> Relations</a:t>
            </a:r>
            <a:endParaRPr lang="en-US" dirty="0"/>
          </a:p>
        </p:txBody>
      </p:sp>
      <p:sp>
        <p:nvSpPr>
          <p:cNvPr id="3" name="Content Placeholder 2"/>
          <p:cNvSpPr>
            <a:spLocks noGrp="1"/>
          </p:cNvSpPr>
          <p:nvPr>
            <p:ph idx="1"/>
          </p:nvPr>
        </p:nvSpPr>
        <p:spPr>
          <a:xfrm>
            <a:off x="411480" y="1539240"/>
            <a:ext cx="8656320" cy="5090160"/>
          </a:xfrm>
        </p:spPr>
        <p:txBody>
          <a:bodyPr>
            <a:normAutofit fontScale="47500" lnSpcReduction="20000"/>
          </a:bodyPr>
          <a:lstStyle/>
          <a:p>
            <a:pPr>
              <a:buNone/>
            </a:pPr>
            <a:r>
              <a:rPr lang="en-US" sz="4200" b="1" dirty="0" smtClean="0"/>
              <a:t>   Definition</a:t>
            </a:r>
            <a:r>
              <a:rPr lang="en-US" sz="4200" dirty="0" smtClean="0"/>
              <a:t>: </a:t>
            </a:r>
            <a:r>
              <a:rPr lang="en-US" sz="4200" dirty="0"/>
              <a:t>The only time both </a:t>
            </a:r>
            <a:r>
              <a:rPr lang="en-US" sz="4200" b="1" dirty="0"/>
              <a:t>(a, b) </a:t>
            </a:r>
            <a:r>
              <a:rPr lang="en-US" sz="4200" dirty="0"/>
              <a:t>and </a:t>
            </a:r>
            <a:r>
              <a:rPr lang="en-US" sz="4200" b="1" dirty="0"/>
              <a:t>(b, a) </a:t>
            </a:r>
            <a:r>
              <a:rPr lang="en-US" sz="4200" dirty="0"/>
              <a:t>are in </a:t>
            </a:r>
            <a:r>
              <a:rPr lang="en-US" sz="4200" b="1" dirty="0"/>
              <a:t>R</a:t>
            </a:r>
            <a:r>
              <a:rPr lang="en-US" sz="4200" dirty="0"/>
              <a:t> is when </a:t>
            </a:r>
            <a:r>
              <a:rPr lang="en-US" sz="4200" b="1" dirty="0"/>
              <a:t>a = b</a:t>
            </a:r>
            <a:endParaRPr lang="en-US" sz="4200" b="1" dirty="0" smtClean="0"/>
          </a:p>
          <a:p>
            <a:pPr>
              <a:buNone/>
            </a:pPr>
            <a:r>
              <a:rPr lang="en-US" sz="4200" dirty="0" smtClean="0"/>
              <a:t>    A relation </a:t>
            </a:r>
            <a:r>
              <a:rPr lang="en-US" sz="4200" b="1" i="1" dirty="0" smtClean="0"/>
              <a:t>R</a:t>
            </a:r>
            <a:r>
              <a:rPr lang="en-US" sz="4200" dirty="0" smtClean="0"/>
              <a:t> on a set </a:t>
            </a:r>
            <a:r>
              <a:rPr lang="en-US" sz="4200" b="1" i="1" dirty="0" smtClean="0"/>
              <a:t>A</a:t>
            </a:r>
            <a:r>
              <a:rPr lang="en-US" sz="4200" dirty="0" smtClean="0"/>
              <a:t> such that for all</a:t>
            </a:r>
            <a:r>
              <a:rPr lang="en-US" sz="4200" i="1" dirty="0" smtClean="0">
                <a:ea typeface="Cambria Math"/>
              </a:rPr>
              <a:t>   </a:t>
            </a:r>
            <a:r>
              <a:rPr lang="en-US" sz="4200" b="1" i="1" dirty="0" err="1" smtClean="0">
                <a:ea typeface="Cambria Math"/>
              </a:rPr>
              <a:t>a,b</a:t>
            </a:r>
            <a:r>
              <a:rPr lang="en-US" sz="4200" b="1" i="1" dirty="0" smtClean="0">
                <a:ea typeface="Cambria Math"/>
              </a:rPr>
              <a:t> </a:t>
            </a:r>
            <a:r>
              <a:rPr lang="en-US" sz="4200" b="1" dirty="0" smtClean="0">
                <a:latin typeface="Cambria Math"/>
                <a:ea typeface="Cambria Math"/>
              </a:rPr>
              <a:t>∊</a:t>
            </a:r>
            <a:r>
              <a:rPr lang="en-US" sz="4200" b="1" i="1" dirty="0" smtClean="0">
                <a:latin typeface="Cambria Math"/>
                <a:ea typeface="Cambria Math"/>
              </a:rPr>
              <a:t> </a:t>
            </a:r>
            <a:r>
              <a:rPr lang="en-US" sz="4200" b="1" i="1" dirty="0" smtClean="0">
                <a:ea typeface="Cambria Math"/>
              </a:rPr>
              <a:t>A  </a:t>
            </a:r>
            <a:r>
              <a:rPr lang="en-US" sz="4200" dirty="0" smtClean="0"/>
              <a:t>if </a:t>
            </a:r>
            <a:r>
              <a:rPr lang="en-US" sz="4200" b="1" dirty="0" smtClean="0"/>
              <a:t>(</a:t>
            </a:r>
            <a:r>
              <a:rPr lang="en-US" sz="4200" b="1" i="1" dirty="0" err="1" smtClean="0"/>
              <a:t>a</a:t>
            </a:r>
            <a:r>
              <a:rPr lang="en-US" sz="4200" b="1" dirty="0" err="1" smtClean="0"/>
              <a:t>,</a:t>
            </a:r>
            <a:r>
              <a:rPr lang="en-US" sz="4200" b="1" i="1" dirty="0" err="1" smtClean="0"/>
              <a:t>b</a:t>
            </a:r>
            <a:r>
              <a:rPr lang="en-US" sz="4200" b="1" dirty="0" smtClean="0"/>
              <a:t>) </a:t>
            </a:r>
            <a:r>
              <a:rPr lang="en-US" sz="4200" b="1" dirty="0" smtClean="0">
                <a:latin typeface="Cambria Math"/>
                <a:ea typeface="Cambria Math"/>
              </a:rPr>
              <a:t>∊</a:t>
            </a:r>
            <a:r>
              <a:rPr lang="en-US" sz="4200" b="1" i="1" dirty="0" smtClean="0">
                <a:latin typeface="Cambria Math"/>
                <a:ea typeface="Cambria Math"/>
              </a:rPr>
              <a:t> </a:t>
            </a:r>
            <a:r>
              <a:rPr lang="en-US" sz="4200" b="1" i="1" dirty="0" smtClean="0">
                <a:ea typeface="Cambria Math"/>
              </a:rPr>
              <a:t>R </a:t>
            </a:r>
            <a:r>
              <a:rPr lang="en-US" sz="4200" dirty="0" smtClean="0">
                <a:ea typeface="Cambria Math"/>
              </a:rPr>
              <a:t>and </a:t>
            </a:r>
            <a:r>
              <a:rPr lang="en-US" sz="4200" b="1" dirty="0" smtClean="0"/>
              <a:t>(</a:t>
            </a:r>
            <a:r>
              <a:rPr lang="en-US" sz="4200" b="1" i="1" dirty="0" err="1" smtClean="0"/>
              <a:t>b</a:t>
            </a:r>
            <a:r>
              <a:rPr lang="en-US" sz="4200" b="1" dirty="0" err="1" smtClean="0"/>
              <a:t>,</a:t>
            </a:r>
            <a:r>
              <a:rPr lang="en-US" sz="4200" b="1" i="1" dirty="0" err="1" smtClean="0"/>
              <a:t>a</a:t>
            </a:r>
            <a:r>
              <a:rPr lang="en-US" sz="4200" b="1" dirty="0" smtClean="0"/>
              <a:t>) </a:t>
            </a:r>
            <a:r>
              <a:rPr lang="en-US" sz="4200" b="1" dirty="0" smtClean="0">
                <a:latin typeface="Cambria Math"/>
                <a:ea typeface="Cambria Math"/>
              </a:rPr>
              <a:t>∊ </a:t>
            </a:r>
            <a:r>
              <a:rPr lang="en-US" sz="4200" b="1" i="1" dirty="0" smtClean="0">
                <a:ea typeface="Cambria Math"/>
              </a:rPr>
              <a:t>R, </a:t>
            </a:r>
            <a:r>
              <a:rPr lang="en-US" sz="4200" dirty="0" smtClean="0">
                <a:ea typeface="Cambria Math"/>
              </a:rPr>
              <a:t>then </a:t>
            </a:r>
            <a:r>
              <a:rPr lang="en-US" sz="4200" b="1" i="1" dirty="0" smtClean="0">
                <a:ea typeface="Cambria Math"/>
              </a:rPr>
              <a:t>a = b  </a:t>
            </a:r>
            <a:r>
              <a:rPr lang="en-US" sz="4200" dirty="0" smtClean="0">
                <a:ea typeface="Cambria Math"/>
              </a:rPr>
              <a:t>is called </a:t>
            </a:r>
            <a:r>
              <a:rPr lang="en-US" sz="4200" b="1" i="1" dirty="0" smtClean="0">
                <a:ea typeface="Cambria Math"/>
              </a:rPr>
              <a:t>antisymmetric</a:t>
            </a:r>
            <a:r>
              <a:rPr lang="en-US" sz="4200" dirty="0" smtClean="0">
                <a:ea typeface="Cambria Math"/>
              </a:rPr>
              <a:t>. Written symbolically, </a:t>
            </a:r>
            <a:r>
              <a:rPr lang="en-US" sz="4200" i="1" dirty="0" smtClean="0">
                <a:ea typeface="Cambria Math"/>
              </a:rPr>
              <a:t>R</a:t>
            </a:r>
            <a:r>
              <a:rPr lang="en-US" sz="4200" dirty="0" smtClean="0">
                <a:ea typeface="Cambria Math"/>
              </a:rPr>
              <a:t> is </a:t>
            </a:r>
            <a:r>
              <a:rPr lang="en-US" sz="4200" b="1" dirty="0" smtClean="0">
                <a:ea typeface="Cambria Math"/>
              </a:rPr>
              <a:t>antisymmetric</a:t>
            </a:r>
            <a:r>
              <a:rPr lang="en-US" sz="4200" dirty="0" smtClean="0">
                <a:ea typeface="Cambria Math"/>
              </a:rPr>
              <a:t> if and only if </a:t>
            </a:r>
          </a:p>
          <a:p>
            <a:pPr lvl="1">
              <a:buNone/>
            </a:pPr>
            <a:r>
              <a:rPr lang="en-US" sz="4200" b="1" dirty="0" smtClean="0">
                <a:solidFill>
                  <a:srgbClr val="0070C0"/>
                </a:solidFill>
                <a:latin typeface="Cambria Math"/>
                <a:ea typeface="Cambria Math"/>
              </a:rPr>
              <a:t>∀</a:t>
            </a:r>
            <a:r>
              <a:rPr lang="en-US" sz="4200" b="1" i="1" dirty="0" err="1" smtClean="0">
                <a:solidFill>
                  <a:srgbClr val="0070C0"/>
                </a:solidFill>
                <a:ea typeface="Cambria Math"/>
              </a:rPr>
              <a:t>x</a:t>
            </a:r>
            <a:r>
              <a:rPr lang="en-US" sz="4200" b="1" dirty="0" err="1" smtClean="0">
                <a:solidFill>
                  <a:srgbClr val="0070C0"/>
                </a:solidFill>
                <a:latin typeface="Cambria Math"/>
                <a:ea typeface="Cambria Math"/>
              </a:rPr>
              <a:t>∀</a:t>
            </a:r>
            <a:r>
              <a:rPr lang="en-US" sz="4200" b="1" i="1" dirty="0" err="1" smtClean="0">
                <a:solidFill>
                  <a:srgbClr val="0070C0"/>
                </a:solidFill>
                <a:ea typeface="Cambria Math"/>
              </a:rPr>
              <a:t>y</a:t>
            </a:r>
            <a:r>
              <a:rPr lang="en-US" sz="4200" b="1" dirty="0" smtClean="0">
                <a:solidFill>
                  <a:srgbClr val="0070C0"/>
                </a:solidFill>
                <a:latin typeface="Cambria Math"/>
                <a:ea typeface="Cambria Math"/>
              </a:rPr>
              <a:t> [(</a:t>
            </a:r>
            <a:r>
              <a:rPr lang="en-US" sz="4200" b="1" i="1" dirty="0" err="1" smtClean="0">
                <a:solidFill>
                  <a:srgbClr val="0070C0"/>
                </a:solidFill>
                <a:ea typeface="Cambria Math"/>
              </a:rPr>
              <a:t>x</a:t>
            </a:r>
            <a:r>
              <a:rPr lang="en-US" sz="4200" b="1" dirty="0" err="1" smtClean="0">
                <a:solidFill>
                  <a:srgbClr val="0070C0"/>
                </a:solidFill>
                <a:latin typeface="Cambria Math"/>
                <a:ea typeface="Cambria Math"/>
              </a:rPr>
              <a:t>,</a:t>
            </a:r>
            <a:r>
              <a:rPr lang="en-US" sz="4200" b="1" i="1" dirty="0" err="1" smtClean="0">
                <a:solidFill>
                  <a:srgbClr val="0070C0"/>
                </a:solidFill>
                <a:ea typeface="Cambria Math"/>
              </a:rPr>
              <a:t>y</a:t>
            </a:r>
            <a:r>
              <a:rPr lang="en-US" sz="4200" b="1" dirty="0" smtClean="0">
                <a:solidFill>
                  <a:srgbClr val="0070C0"/>
                </a:solidFill>
                <a:latin typeface="Cambria Math"/>
                <a:ea typeface="Cambria Math"/>
              </a:rPr>
              <a:t>) ∊</a:t>
            </a:r>
            <a:r>
              <a:rPr lang="en-US" sz="4200" b="1" i="1" dirty="0" smtClean="0">
                <a:solidFill>
                  <a:srgbClr val="0070C0"/>
                </a:solidFill>
                <a:ea typeface="Cambria Math"/>
              </a:rPr>
              <a:t>R</a:t>
            </a:r>
            <a:r>
              <a:rPr lang="en-US" sz="4200" b="1" dirty="0" smtClean="0">
                <a:solidFill>
                  <a:srgbClr val="0070C0"/>
                </a:solidFill>
                <a:latin typeface="Cambria Math"/>
                <a:ea typeface="Cambria Math"/>
              </a:rPr>
              <a:t> ∧ (</a:t>
            </a:r>
            <a:r>
              <a:rPr lang="en-US" sz="4200" b="1" i="1" dirty="0" err="1" smtClean="0">
                <a:solidFill>
                  <a:srgbClr val="0070C0"/>
                </a:solidFill>
                <a:ea typeface="Cambria Math"/>
              </a:rPr>
              <a:t>y</a:t>
            </a:r>
            <a:r>
              <a:rPr lang="en-US" sz="4200" b="1" dirty="0" err="1" smtClean="0">
                <a:solidFill>
                  <a:srgbClr val="0070C0"/>
                </a:solidFill>
                <a:latin typeface="Cambria Math"/>
                <a:ea typeface="Cambria Math"/>
              </a:rPr>
              <a:t>,</a:t>
            </a:r>
            <a:r>
              <a:rPr lang="en-US" sz="4200" b="1" i="1" dirty="0" err="1" smtClean="0">
                <a:solidFill>
                  <a:srgbClr val="0070C0"/>
                </a:solidFill>
                <a:ea typeface="Cambria Math"/>
              </a:rPr>
              <a:t>x</a:t>
            </a:r>
            <a:r>
              <a:rPr lang="en-US" sz="4200" b="1" dirty="0" smtClean="0">
                <a:solidFill>
                  <a:srgbClr val="0070C0"/>
                </a:solidFill>
                <a:latin typeface="Cambria Math"/>
                <a:ea typeface="Cambria Math"/>
              </a:rPr>
              <a:t>) ∊ </a:t>
            </a:r>
            <a:r>
              <a:rPr lang="en-US" sz="4200" b="1" i="1" dirty="0" smtClean="0">
                <a:solidFill>
                  <a:srgbClr val="0070C0"/>
                </a:solidFill>
                <a:ea typeface="Cambria Math"/>
              </a:rPr>
              <a:t>R </a:t>
            </a:r>
            <a:r>
              <a:rPr lang="en-US" sz="4200" b="1" dirty="0" smtClean="0">
                <a:solidFill>
                  <a:srgbClr val="0070C0"/>
                </a:solidFill>
                <a:latin typeface="Cambria Math"/>
                <a:ea typeface="Cambria Math"/>
              </a:rPr>
              <a:t>⟶ </a:t>
            </a:r>
            <a:r>
              <a:rPr lang="en-US" sz="4200" b="1" i="1" dirty="0" smtClean="0">
                <a:solidFill>
                  <a:srgbClr val="0070C0"/>
                </a:solidFill>
                <a:ea typeface="Cambria Math"/>
              </a:rPr>
              <a:t>x</a:t>
            </a:r>
            <a:r>
              <a:rPr lang="en-US" sz="4200" b="1" dirty="0" smtClean="0">
                <a:solidFill>
                  <a:srgbClr val="0070C0"/>
                </a:solidFill>
                <a:latin typeface="Cambria Math"/>
                <a:ea typeface="Cambria Math"/>
              </a:rPr>
              <a:t> = </a:t>
            </a:r>
            <a:r>
              <a:rPr lang="en-US" sz="4200" b="1" i="1" dirty="0" smtClean="0">
                <a:solidFill>
                  <a:srgbClr val="0070C0"/>
                </a:solidFill>
                <a:ea typeface="Cambria Math"/>
              </a:rPr>
              <a:t>y</a:t>
            </a:r>
            <a:r>
              <a:rPr lang="en-US" sz="4200" b="1" dirty="0" smtClean="0">
                <a:solidFill>
                  <a:srgbClr val="0070C0"/>
                </a:solidFill>
                <a:latin typeface="Cambria Math"/>
                <a:ea typeface="Cambria Math"/>
              </a:rPr>
              <a:t>]</a:t>
            </a:r>
          </a:p>
          <a:p>
            <a:pPr lvl="1">
              <a:buNone/>
            </a:pPr>
            <a:r>
              <a:rPr lang="en-US" sz="4200" b="1" dirty="0">
                <a:solidFill>
                  <a:srgbClr val="0070C0"/>
                </a:solidFill>
              </a:rPr>
              <a:t>“If a relates to b and b relates to a, then they must be the same element.”</a:t>
            </a:r>
            <a:endParaRPr lang="en-US" sz="4200" b="1" dirty="0" smtClean="0">
              <a:solidFill>
                <a:srgbClr val="0070C0"/>
              </a:solidFill>
              <a:ea typeface="Cambria Math"/>
            </a:endParaRPr>
          </a:p>
          <a:p>
            <a:r>
              <a:rPr lang="en-US" sz="4200" b="1" dirty="0" smtClean="0">
                <a:ea typeface="Cambria Math"/>
              </a:rPr>
              <a:t>Example</a:t>
            </a:r>
            <a:r>
              <a:rPr lang="en-US" sz="4200" dirty="0" smtClean="0">
                <a:ea typeface="Cambria Math"/>
              </a:rPr>
              <a:t>: </a:t>
            </a:r>
            <a:r>
              <a:rPr lang="en-US" sz="4200" b="1" dirty="0" smtClean="0">
                <a:ea typeface="Cambria Math"/>
              </a:rPr>
              <a:t>The following relations  on the integers are antisymmetric:</a:t>
            </a:r>
          </a:p>
          <a:p>
            <a:pPr lvl="1">
              <a:buNone/>
            </a:pPr>
            <a:r>
              <a:rPr lang="en-US" sz="4200" i="1" dirty="0" smtClean="0"/>
              <a:t>R</a:t>
            </a:r>
            <a:r>
              <a:rPr lang="en-US" sz="4200" baseline="-25000" dirty="0" smtClean="0">
                <a:latin typeface="Cambria Math" pitchFamily="18" charset="0"/>
                <a:ea typeface="Cambria Math" pitchFamily="18" charset="0"/>
              </a:rPr>
              <a:t>1 </a:t>
            </a:r>
            <a:r>
              <a:rPr lang="en-US" sz="4200" dirty="0" smtClean="0"/>
              <a:t>= {(</a:t>
            </a:r>
            <a:r>
              <a:rPr lang="en-US" sz="4200" i="1" dirty="0" err="1" smtClean="0"/>
              <a:t>a</a:t>
            </a:r>
            <a:r>
              <a:rPr lang="en-US" sz="4200" dirty="0" err="1" smtClean="0"/>
              <a:t>,</a:t>
            </a:r>
            <a:r>
              <a:rPr lang="en-US" sz="4200" i="1" dirty="0" err="1" smtClean="0"/>
              <a:t>b</a:t>
            </a:r>
            <a:r>
              <a:rPr lang="en-US" sz="4200" dirty="0" smtClean="0"/>
              <a:t>) | </a:t>
            </a:r>
            <a:r>
              <a:rPr lang="en-US" sz="4200" i="1" dirty="0" smtClean="0"/>
              <a:t>a</a:t>
            </a:r>
            <a:r>
              <a:rPr lang="en-US" sz="4200" dirty="0" smtClean="0"/>
              <a:t> </a:t>
            </a:r>
            <a:r>
              <a:rPr lang="en-US" sz="4200" dirty="0" smtClean="0">
                <a:latin typeface="Cambria Math"/>
                <a:ea typeface="Cambria Math"/>
              </a:rPr>
              <a:t>≤ </a:t>
            </a:r>
            <a:r>
              <a:rPr lang="en-US" sz="4200" i="1" dirty="0" smtClean="0">
                <a:latin typeface="Cambria Math"/>
                <a:ea typeface="Cambria Math"/>
              </a:rPr>
              <a:t>b</a:t>
            </a:r>
            <a:r>
              <a:rPr lang="en-US" sz="4200" dirty="0" smtClean="0">
                <a:latin typeface="Cambria Math"/>
                <a:ea typeface="Cambria Math"/>
              </a:rPr>
              <a:t>},</a:t>
            </a:r>
          </a:p>
          <a:p>
            <a:pPr lvl="1">
              <a:buNone/>
            </a:pPr>
            <a:r>
              <a:rPr lang="en-US" sz="4200" i="1" dirty="0" smtClean="0"/>
              <a:t>R</a:t>
            </a:r>
            <a:r>
              <a:rPr lang="en-US" sz="4200" baseline="-25000" dirty="0" smtClean="0">
                <a:latin typeface="Cambria Math" pitchFamily="18" charset="0"/>
                <a:ea typeface="Cambria Math" pitchFamily="18" charset="0"/>
              </a:rPr>
              <a:t>2 </a:t>
            </a:r>
            <a:r>
              <a:rPr lang="en-US" sz="4200" dirty="0" smtClean="0"/>
              <a:t>= {(</a:t>
            </a:r>
            <a:r>
              <a:rPr lang="en-US" sz="4200" i="1" dirty="0" err="1" smtClean="0"/>
              <a:t>a</a:t>
            </a:r>
            <a:r>
              <a:rPr lang="en-US" sz="4200" dirty="0" err="1" smtClean="0"/>
              <a:t>,</a:t>
            </a:r>
            <a:r>
              <a:rPr lang="en-US" sz="4200" i="1" dirty="0" err="1" smtClean="0"/>
              <a:t>b</a:t>
            </a:r>
            <a:r>
              <a:rPr lang="en-US" sz="4200" dirty="0" smtClean="0"/>
              <a:t>) | </a:t>
            </a:r>
            <a:r>
              <a:rPr lang="en-US" sz="4200" i="1" dirty="0" smtClean="0"/>
              <a:t>a</a:t>
            </a:r>
            <a:r>
              <a:rPr lang="en-US" sz="4200" dirty="0" smtClean="0"/>
              <a:t> </a:t>
            </a:r>
            <a:r>
              <a:rPr lang="en-US" sz="4200" dirty="0" smtClean="0">
                <a:latin typeface="Cambria Math"/>
                <a:ea typeface="Cambria Math"/>
              </a:rPr>
              <a:t>&gt; </a:t>
            </a:r>
            <a:r>
              <a:rPr lang="en-US" sz="4200" i="1" dirty="0" smtClean="0">
                <a:latin typeface="Cambria Math"/>
                <a:ea typeface="Cambria Math"/>
              </a:rPr>
              <a:t>b</a:t>
            </a:r>
            <a:r>
              <a:rPr lang="en-US" sz="4200" dirty="0" smtClean="0">
                <a:latin typeface="Cambria Math"/>
                <a:ea typeface="Cambria Math"/>
              </a:rPr>
              <a:t>},</a:t>
            </a:r>
            <a:endParaRPr lang="en-US" sz="4200" dirty="0" smtClean="0"/>
          </a:p>
          <a:p>
            <a:pPr lvl="1">
              <a:buNone/>
            </a:pPr>
            <a:r>
              <a:rPr lang="en-US" sz="4200" i="1" dirty="0" smtClean="0"/>
              <a:t>R</a:t>
            </a:r>
            <a:r>
              <a:rPr lang="en-US" sz="4200" baseline="-25000" dirty="0" smtClean="0">
                <a:latin typeface="Cambria Math" pitchFamily="18" charset="0"/>
                <a:ea typeface="Cambria Math" pitchFamily="18" charset="0"/>
              </a:rPr>
              <a:t>4 </a:t>
            </a:r>
            <a:r>
              <a:rPr lang="en-US" sz="4200" dirty="0" smtClean="0"/>
              <a:t>= {(</a:t>
            </a:r>
            <a:r>
              <a:rPr lang="en-US" sz="4200" i="1" dirty="0" err="1" smtClean="0"/>
              <a:t>a</a:t>
            </a:r>
            <a:r>
              <a:rPr lang="en-US" sz="4200" dirty="0" err="1" smtClean="0"/>
              <a:t>,</a:t>
            </a:r>
            <a:r>
              <a:rPr lang="en-US" sz="4200" i="1" dirty="0" err="1" smtClean="0"/>
              <a:t>b</a:t>
            </a:r>
            <a:r>
              <a:rPr lang="en-US" sz="4200" dirty="0" smtClean="0"/>
              <a:t>) | </a:t>
            </a:r>
            <a:r>
              <a:rPr lang="en-US" sz="4200" i="1" dirty="0" smtClean="0"/>
              <a:t>a</a:t>
            </a:r>
            <a:r>
              <a:rPr lang="en-US" sz="4200" dirty="0" smtClean="0"/>
              <a:t> </a:t>
            </a:r>
            <a:r>
              <a:rPr lang="en-US" sz="4200" dirty="0" smtClean="0">
                <a:latin typeface="Cambria Math"/>
                <a:ea typeface="Cambria Math"/>
              </a:rPr>
              <a:t>= </a:t>
            </a:r>
            <a:r>
              <a:rPr lang="en-US" sz="4200" i="1" dirty="0" smtClean="0">
                <a:latin typeface="Cambria Math"/>
                <a:ea typeface="Cambria Math"/>
              </a:rPr>
              <a:t>b</a:t>
            </a:r>
            <a:r>
              <a:rPr lang="en-US" sz="4200" dirty="0" smtClean="0">
                <a:latin typeface="Cambria Math"/>
                <a:ea typeface="Cambria Math"/>
              </a:rPr>
              <a:t>},</a:t>
            </a:r>
            <a:endParaRPr lang="en-US" sz="4200" dirty="0" smtClean="0"/>
          </a:p>
          <a:p>
            <a:pPr lvl="1">
              <a:buNone/>
            </a:pPr>
            <a:r>
              <a:rPr lang="en-US" sz="4200" i="1" dirty="0" smtClean="0"/>
              <a:t>R</a:t>
            </a:r>
            <a:r>
              <a:rPr lang="en-US" sz="4200" baseline="-25000" dirty="0" smtClean="0">
                <a:latin typeface="Cambria Math" pitchFamily="18" charset="0"/>
                <a:ea typeface="Cambria Math" pitchFamily="18" charset="0"/>
              </a:rPr>
              <a:t>5 </a:t>
            </a:r>
            <a:r>
              <a:rPr lang="en-US" sz="4200" dirty="0" smtClean="0"/>
              <a:t>= {(</a:t>
            </a:r>
            <a:r>
              <a:rPr lang="en-US" sz="4200" i="1" dirty="0" err="1" smtClean="0"/>
              <a:t>a</a:t>
            </a:r>
            <a:r>
              <a:rPr lang="en-US" sz="4200" dirty="0" err="1" smtClean="0"/>
              <a:t>,</a:t>
            </a:r>
            <a:r>
              <a:rPr lang="en-US" sz="4200" i="1" dirty="0" err="1" smtClean="0"/>
              <a:t>b</a:t>
            </a:r>
            <a:r>
              <a:rPr lang="en-US" sz="4200" dirty="0" smtClean="0"/>
              <a:t>) | </a:t>
            </a:r>
            <a:r>
              <a:rPr lang="en-US" sz="4200" i="1" dirty="0" smtClean="0"/>
              <a:t>a</a:t>
            </a:r>
            <a:r>
              <a:rPr lang="en-US" sz="4200" dirty="0" smtClean="0"/>
              <a:t> </a:t>
            </a:r>
            <a:r>
              <a:rPr lang="en-US" sz="4200" dirty="0" smtClean="0">
                <a:latin typeface="Cambria Math"/>
                <a:ea typeface="Cambria Math"/>
              </a:rPr>
              <a:t>= </a:t>
            </a:r>
            <a:r>
              <a:rPr lang="en-US" sz="4200" i="1" dirty="0" smtClean="0">
                <a:latin typeface="Cambria Math"/>
                <a:ea typeface="Cambria Math"/>
              </a:rPr>
              <a:t>b </a:t>
            </a:r>
            <a:r>
              <a:rPr lang="en-US" sz="4200" dirty="0" smtClean="0">
                <a:latin typeface="Cambria Math"/>
                <a:ea typeface="Cambria Math"/>
              </a:rPr>
              <a:t>+ 1}.</a:t>
            </a:r>
          </a:p>
          <a:p>
            <a:pPr lvl="1">
              <a:buNone/>
            </a:pPr>
            <a:r>
              <a:rPr lang="en-US" sz="4200" b="1" dirty="0" smtClean="0">
                <a:latin typeface="Cambria Math"/>
                <a:ea typeface="Cambria Math"/>
              </a:rPr>
              <a:t>The following relations are not </a:t>
            </a:r>
            <a:r>
              <a:rPr lang="en-US" sz="4200" b="1" dirty="0" err="1" smtClean="0">
                <a:latin typeface="Cambria Math"/>
                <a:ea typeface="Cambria Math"/>
              </a:rPr>
              <a:t>antisymmetric</a:t>
            </a:r>
            <a:r>
              <a:rPr lang="en-US" sz="4200" b="1" dirty="0" smtClean="0">
                <a:latin typeface="Cambria Math"/>
                <a:ea typeface="Cambria Math"/>
              </a:rPr>
              <a:t>:</a:t>
            </a:r>
          </a:p>
          <a:p>
            <a:pPr lvl="1">
              <a:buNone/>
            </a:pPr>
            <a:r>
              <a:rPr lang="en-US" sz="4200" i="1" dirty="0" smtClean="0"/>
              <a:t>R</a:t>
            </a:r>
            <a:r>
              <a:rPr lang="en-US" sz="4200" baseline="-25000" dirty="0" smtClean="0">
                <a:latin typeface="Cambria Math" pitchFamily="18" charset="0"/>
                <a:ea typeface="Cambria Math" pitchFamily="18" charset="0"/>
              </a:rPr>
              <a:t>3 </a:t>
            </a:r>
            <a:r>
              <a:rPr lang="en-US" sz="4200" dirty="0" smtClean="0"/>
              <a:t>= {(</a:t>
            </a:r>
            <a:r>
              <a:rPr lang="en-US" sz="4200" i="1" dirty="0" err="1" smtClean="0"/>
              <a:t>a</a:t>
            </a:r>
            <a:r>
              <a:rPr lang="en-US" sz="4200" dirty="0" err="1" smtClean="0"/>
              <a:t>,</a:t>
            </a:r>
            <a:r>
              <a:rPr lang="en-US" sz="4200" i="1" dirty="0" err="1" smtClean="0"/>
              <a:t>b</a:t>
            </a:r>
            <a:r>
              <a:rPr lang="en-US" sz="4200" dirty="0" smtClean="0"/>
              <a:t>) | </a:t>
            </a:r>
            <a:r>
              <a:rPr lang="en-US" sz="4200" i="1" dirty="0" smtClean="0"/>
              <a:t>a</a:t>
            </a:r>
            <a:r>
              <a:rPr lang="en-US" sz="4200" dirty="0" smtClean="0"/>
              <a:t> </a:t>
            </a:r>
            <a:r>
              <a:rPr lang="en-US" sz="4200" dirty="0" smtClean="0">
                <a:latin typeface="Cambria Math"/>
                <a:ea typeface="Cambria Math"/>
              </a:rPr>
              <a:t>= </a:t>
            </a:r>
            <a:r>
              <a:rPr lang="en-US" sz="4200" i="1" dirty="0" smtClean="0">
                <a:latin typeface="Cambria Math"/>
                <a:ea typeface="Cambria Math"/>
              </a:rPr>
              <a:t>b  </a:t>
            </a:r>
            <a:r>
              <a:rPr lang="en-US" sz="4200" dirty="0" smtClean="0">
                <a:latin typeface="Cambria Math"/>
                <a:ea typeface="Cambria Math"/>
              </a:rPr>
              <a:t>or</a:t>
            </a:r>
            <a:r>
              <a:rPr lang="en-US" sz="4200" i="1" dirty="0" smtClean="0">
                <a:latin typeface="Cambria Math"/>
                <a:ea typeface="Cambria Math"/>
              </a:rPr>
              <a:t> a </a:t>
            </a:r>
            <a:r>
              <a:rPr lang="en-US" sz="4200" dirty="0" smtClean="0">
                <a:latin typeface="Cambria Math"/>
                <a:ea typeface="Cambria Math"/>
              </a:rPr>
              <a:t>=</a:t>
            </a:r>
            <a:r>
              <a:rPr lang="en-US" sz="4200" i="1" dirty="0" smtClean="0">
                <a:latin typeface="Cambria Math"/>
                <a:ea typeface="Cambria Math"/>
              </a:rPr>
              <a:t> −b</a:t>
            </a:r>
            <a:r>
              <a:rPr lang="en-US" sz="4200" dirty="0" smtClean="0">
                <a:latin typeface="Cambria Math"/>
                <a:ea typeface="Cambria Math"/>
              </a:rPr>
              <a:t>} </a:t>
            </a:r>
          </a:p>
          <a:p>
            <a:pPr lvl="1">
              <a:buNone/>
            </a:pPr>
            <a:r>
              <a:rPr lang="en-US" sz="4200" dirty="0" smtClean="0">
                <a:latin typeface="Cambria Math"/>
                <a:ea typeface="Cambria Math"/>
              </a:rPr>
              <a:t>                    (note that both (1,−1) and (−1,1) belong to </a:t>
            </a:r>
            <a:r>
              <a:rPr lang="en-US" sz="4200" i="1" dirty="0" smtClean="0"/>
              <a:t>R</a:t>
            </a:r>
            <a:r>
              <a:rPr lang="en-US" sz="4200" baseline="-25000" dirty="0" smtClean="0">
                <a:latin typeface="Cambria Math" pitchFamily="18" charset="0"/>
                <a:ea typeface="Cambria Math" pitchFamily="18" charset="0"/>
              </a:rPr>
              <a:t>3</a:t>
            </a:r>
            <a:r>
              <a:rPr lang="en-US" sz="4200" dirty="0" smtClean="0">
                <a:latin typeface="Cambria Math"/>
                <a:ea typeface="Cambria Math"/>
              </a:rPr>
              <a:t>),</a:t>
            </a:r>
            <a:endParaRPr lang="en-US" sz="4200" dirty="0" smtClean="0"/>
          </a:p>
          <a:p>
            <a:pPr lvl="1">
              <a:buNone/>
            </a:pPr>
            <a:r>
              <a:rPr lang="en-US" sz="4200" i="1" dirty="0" smtClean="0"/>
              <a:t>R</a:t>
            </a:r>
            <a:r>
              <a:rPr lang="en-US" sz="4200" baseline="-25000" dirty="0" smtClean="0">
                <a:latin typeface="Cambria Math" pitchFamily="18" charset="0"/>
                <a:ea typeface="Cambria Math" pitchFamily="18" charset="0"/>
              </a:rPr>
              <a:t>6 </a:t>
            </a:r>
            <a:r>
              <a:rPr lang="en-US" sz="4200" dirty="0" smtClean="0"/>
              <a:t>= {(</a:t>
            </a:r>
            <a:r>
              <a:rPr lang="en-US" sz="4200" i="1" dirty="0" err="1" smtClean="0"/>
              <a:t>a</a:t>
            </a:r>
            <a:r>
              <a:rPr lang="en-US" sz="4200" dirty="0" err="1" smtClean="0"/>
              <a:t>,</a:t>
            </a:r>
            <a:r>
              <a:rPr lang="en-US" sz="4200" i="1" dirty="0" err="1" smtClean="0"/>
              <a:t>b</a:t>
            </a:r>
            <a:r>
              <a:rPr lang="en-US" sz="4200" dirty="0" smtClean="0"/>
              <a:t>) | </a:t>
            </a:r>
            <a:r>
              <a:rPr lang="en-US" sz="4200" i="1" dirty="0" smtClean="0"/>
              <a:t>a</a:t>
            </a:r>
            <a:r>
              <a:rPr lang="en-US" sz="4200" dirty="0" smtClean="0"/>
              <a:t> + </a:t>
            </a:r>
            <a:r>
              <a:rPr lang="en-US" sz="4200" i="1" dirty="0" smtClean="0"/>
              <a:t>b</a:t>
            </a:r>
            <a:r>
              <a:rPr lang="en-US" sz="4200" dirty="0" smtClean="0"/>
              <a:t> </a:t>
            </a:r>
            <a:r>
              <a:rPr lang="en-US" sz="4200" dirty="0" smtClean="0">
                <a:latin typeface="Cambria Math"/>
                <a:ea typeface="Cambria Math"/>
              </a:rPr>
              <a:t>≤ 3} (note that both (1,2) and (2,1) belong to </a:t>
            </a:r>
            <a:r>
              <a:rPr lang="en-US" sz="4200" i="1" dirty="0" smtClean="0"/>
              <a:t>R</a:t>
            </a:r>
            <a:r>
              <a:rPr lang="en-US" sz="4200" baseline="-25000" dirty="0" smtClean="0">
                <a:latin typeface="Cambria Math" pitchFamily="18" charset="0"/>
                <a:ea typeface="Cambria Math" pitchFamily="18" charset="0"/>
              </a:rPr>
              <a:t>6</a:t>
            </a:r>
            <a:r>
              <a:rPr lang="en-US" sz="4200" dirty="0" smtClean="0">
                <a:latin typeface="Cambria Math"/>
                <a:ea typeface="Cambria Math"/>
              </a:rPr>
              <a:t>).</a:t>
            </a:r>
          </a:p>
          <a:p>
            <a:pPr lvl="1">
              <a:buNone/>
            </a:pPr>
            <a:endParaRPr lang="en-US" sz="2900" dirty="0" smtClean="0"/>
          </a:p>
          <a:p>
            <a:pPr lvl="1">
              <a:buNone/>
            </a:pPr>
            <a:endParaRPr lang="en-US" sz="2900" dirty="0" smtClean="0">
              <a:latin typeface="Cambria Math"/>
              <a:ea typeface="Cambria Math"/>
            </a:endParaRPr>
          </a:p>
          <a:p>
            <a:endParaRPr lang="en-US" sz="2900" dirty="0"/>
          </a:p>
        </p:txBody>
      </p:sp>
      <p:sp>
        <p:nvSpPr>
          <p:cNvPr id="5" name="TextBox 4"/>
          <p:cNvSpPr txBox="1"/>
          <p:nvPr/>
        </p:nvSpPr>
        <p:spPr>
          <a:xfrm>
            <a:off x="4480560" y="3761154"/>
            <a:ext cx="3200400" cy="646331"/>
          </a:xfrm>
          <a:prstGeom prst="rect">
            <a:avLst/>
          </a:prstGeom>
          <a:noFill/>
          <a:ln>
            <a:solidFill>
              <a:schemeClr val="accent1"/>
            </a:solidFill>
          </a:ln>
        </p:spPr>
        <p:txBody>
          <a:bodyPr wrap="square" rtlCol="0">
            <a:spAutoFit/>
          </a:bodyPr>
          <a:lstStyle/>
          <a:p>
            <a:r>
              <a:rPr lang="en-US" dirty="0" smtClean="0"/>
              <a:t>For any integer, if a</a:t>
            </a:r>
            <a:r>
              <a:rPr lang="en-US" i="1" dirty="0" smtClean="0"/>
              <a:t> a</a:t>
            </a:r>
            <a:r>
              <a:rPr lang="en-US" dirty="0" smtClean="0"/>
              <a:t> </a:t>
            </a:r>
            <a:r>
              <a:rPr lang="en-US" dirty="0" smtClean="0">
                <a:latin typeface="Cambria Math"/>
                <a:ea typeface="Cambria Math"/>
              </a:rPr>
              <a:t>≤ </a:t>
            </a:r>
            <a:r>
              <a:rPr lang="en-US" i="1" dirty="0" smtClean="0">
                <a:latin typeface="Cambria Math"/>
                <a:ea typeface="Cambria Math"/>
              </a:rPr>
              <a:t>b </a:t>
            </a:r>
            <a:r>
              <a:rPr lang="en-US" dirty="0" smtClean="0">
                <a:latin typeface="Cambria Math"/>
                <a:ea typeface="Cambria Math"/>
              </a:rPr>
              <a:t>and </a:t>
            </a:r>
            <a:r>
              <a:rPr lang="en-US" i="1" dirty="0" smtClean="0"/>
              <a:t>a</a:t>
            </a:r>
            <a:r>
              <a:rPr lang="en-US" dirty="0" smtClean="0"/>
              <a:t> </a:t>
            </a:r>
            <a:r>
              <a:rPr lang="en-US" dirty="0" smtClean="0">
                <a:latin typeface="Cambria Math"/>
                <a:ea typeface="Cambria Math"/>
              </a:rPr>
              <a:t>≤ </a:t>
            </a:r>
            <a:r>
              <a:rPr lang="en-US" i="1" dirty="0" smtClean="0">
                <a:latin typeface="Cambria Math"/>
                <a:ea typeface="Cambria Math"/>
              </a:rPr>
              <a:t>b , </a:t>
            </a:r>
            <a:r>
              <a:rPr lang="en-US" dirty="0" smtClean="0">
                <a:latin typeface="Cambria Math"/>
                <a:ea typeface="Cambria Math"/>
              </a:rPr>
              <a:t>then</a:t>
            </a:r>
            <a:r>
              <a:rPr lang="en-US" i="1" dirty="0" smtClean="0">
                <a:latin typeface="Cambria Math"/>
                <a:ea typeface="Cambria Math"/>
              </a:rPr>
              <a:t> a = b. </a:t>
            </a:r>
            <a:endParaRPr lang="en-US" dirty="0"/>
          </a:p>
        </p:txBody>
      </p:sp>
      <p:cxnSp>
        <p:nvCxnSpPr>
          <p:cNvPr id="11" name="Straight Arrow Connector 10"/>
          <p:cNvCxnSpPr/>
          <p:nvPr/>
        </p:nvCxnSpPr>
        <p:spPr>
          <a:xfrm flipH="1">
            <a:off x="3261360" y="3886200"/>
            <a:ext cx="121920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09449"/>
            <a:ext cx="8229600" cy="362712"/>
          </a:xfrm>
        </p:spPr>
        <p:txBody>
          <a:bodyPr>
            <a:normAutofit fontScale="90000"/>
          </a:bodyPr>
          <a:lstStyle/>
          <a:p>
            <a:r>
              <a:rPr lang="en-US" dirty="0" smtClean="0"/>
              <a:t>Transitive Relations</a:t>
            </a:r>
            <a:endParaRPr lang="en-US" dirty="0"/>
          </a:p>
        </p:txBody>
      </p:sp>
      <p:sp>
        <p:nvSpPr>
          <p:cNvPr id="3" name="Content Placeholder 2"/>
          <p:cNvSpPr>
            <a:spLocks noGrp="1"/>
          </p:cNvSpPr>
          <p:nvPr>
            <p:ph idx="1"/>
          </p:nvPr>
        </p:nvSpPr>
        <p:spPr>
          <a:xfrm>
            <a:off x="304800" y="1143000"/>
            <a:ext cx="8229600" cy="5486400"/>
          </a:xfrm>
        </p:spPr>
        <p:txBody>
          <a:bodyPr>
            <a:normAutofit fontScale="40000" lnSpcReduction="20000"/>
          </a:bodyPr>
          <a:lstStyle/>
          <a:p>
            <a:pPr>
              <a:buNone/>
            </a:pPr>
            <a:r>
              <a:rPr lang="en-US" b="1" dirty="0" smtClean="0"/>
              <a:t>   </a:t>
            </a:r>
            <a:r>
              <a:rPr lang="en-US" sz="4200" b="1" dirty="0" smtClean="0"/>
              <a:t>Definition:</a:t>
            </a:r>
            <a:r>
              <a:rPr lang="en-US" b="1" dirty="0" smtClean="0"/>
              <a:t> </a:t>
            </a:r>
            <a:endParaRPr lang="en-US" dirty="0"/>
          </a:p>
          <a:p>
            <a:r>
              <a:rPr lang="en-US" sz="5000" b="1" dirty="0" smtClean="0"/>
              <a:t>a</a:t>
            </a:r>
            <a:r>
              <a:rPr lang="en-US" sz="5000" dirty="0" smtClean="0"/>
              <a:t> is </a:t>
            </a:r>
            <a:r>
              <a:rPr lang="en-US" sz="5000" dirty="0"/>
              <a:t>related to </a:t>
            </a:r>
            <a:r>
              <a:rPr lang="en-US" sz="5000" b="1" dirty="0" smtClean="0"/>
              <a:t>b</a:t>
            </a:r>
            <a:r>
              <a:rPr lang="en-US" sz="5000" dirty="0" smtClean="0"/>
              <a:t> and </a:t>
            </a:r>
            <a:r>
              <a:rPr lang="en-US" sz="5000" b="1" dirty="0" smtClean="0"/>
              <a:t>b</a:t>
            </a:r>
            <a:r>
              <a:rPr lang="en-US" sz="5000" dirty="0" smtClean="0"/>
              <a:t> </a:t>
            </a:r>
            <a:r>
              <a:rPr lang="en-US" sz="5000" dirty="0"/>
              <a:t>is related to </a:t>
            </a:r>
            <a:r>
              <a:rPr lang="en-US" sz="5000" b="1" dirty="0" smtClean="0"/>
              <a:t>c</a:t>
            </a:r>
            <a:r>
              <a:rPr lang="en-US" sz="5000" dirty="0" smtClean="0"/>
              <a:t> </a:t>
            </a:r>
            <a:r>
              <a:rPr lang="en-US" sz="5000" dirty="0"/>
              <a:t>then </a:t>
            </a:r>
            <a:r>
              <a:rPr lang="en-US" sz="5000" b="1" dirty="0"/>
              <a:t>a</a:t>
            </a:r>
            <a:r>
              <a:rPr lang="en-US" sz="5000" dirty="0"/>
              <a:t> must be related to </a:t>
            </a:r>
            <a:r>
              <a:rPr lang="en-US" sz="5000" b="1" dirty="0" smtClean="0"/>
              <a:t>c</a:t>
            </a:r>
            <a:endParaRPr lang="en-US" sz="5000" b="1" dirty="0"/>
          </a:p>
          <a:p>
            <a:pPr>
              <a:buNone/>
            </a:pPr>
            <a:endParaRPr lang="en-US" sz="5000" b="1" dirty="0" smtClean="0"/>
          </a:p>
          <a:p>
            <a:pPr>
              <a:buNone/>
            </a:pPr>
            <a:r>
              <a:rPr lang="en-US" sz="5000" dirty="0" smtClean="0"/>
              <a:t>     A relation </a:t>
            </a:r>
            <a:r>
              <a:rPr lang="en-US" sz="5000" b="1" i="1" dirty="0" smtClean="0"/>
              <a:t>R</a:t>
            </a:r>
            <a:r>
              <a:rPr lang="en-US" sz="5000" dirty="0" smtClean="0"/>
              <a:t> on a set </a:t>
            </a:r>
            <a:r>
              <a:rPr lang="en-US" sz="5000" b="1" i="1" dirty="0" smtClean="0"/>
              <a:t>A</a:t>
            </a:r>
            <a:r>
              <a:rPr lang="en-US" sz="5000" dirty="0" smtClean="0"/>
              <a:t> is called transitive if whenever </a:t>
            </a:r>
            <a:r>
              <a:rPr lang="en-US" sz="5000" b="1" dirty="0" smtClean="0"/>
              <a:t>(</a:t>
            </a:r>
            <a:r>
              <a:rPr lang="en-US" sz="5000" b="1" i="1" dirty="0" err="1" smtClean="0"/>
              <a:t>a</a:t>
            </a:r>
            <a:r>
              <a:rPr lang="en-US" sz="5000" b="1" dirty="0" err="1" smtClean="0"/>
              <a:t>,</a:t>
            </a:r>
            <a:r>
              <a:rPr lang="en-US" sz="5000" b="1" i="1" dirty="0" err="1" smtClean="0"/>
              <a:t>b</a:t>
            </a:r>
            <a:r>
              <a:rPr lang="en-US" sz="5000" b="1" dirty="0" smtClean="0"/>
              <a:t>) </a:t>
            </a:r>
            <a:r>
              <a:rPr lang="en-US" sz="5000" b="1" dirty="0" smtClean="0">
                <a:latin typeface="Cambria Math"/>
                <a:ea typeface="Cambria Math"/>
              </a:rPr>
              <a:t>∊</a:t>
            </a:r>
            <a:r>
              <a:rPr lang="en-US" sz="5000" b="1" i="1" dirty="0" smtClean="0">
                <a:latin typeface="Cambria Math"/>
                <a:ea typeface="Cambria Math"/>
              </a:rPr>
              <a:t> </a:t>
            </a:r>
            <a:r>
              <a:rPr lang="en-US" sz="5000" b="1" i="1" dirty="0" smtClean="0">
                <a:ea typeface="Cambria Math"/>
              </a:rPr>
              <a:t>R </a:t>
            </a:r>
            <a:r>
              <a:rPr lang="en-US" sz="5000" dirty="0" smtClean="0">
                <a:ea typeface="Cambria Math"/>
              </a:rPr>
              <a:t>and </a:t>
            </a:r>
            <a:r>
              <a:rPr lang="en-US" sz="5000" b="1" dirty="0" smtClean="0"/>
              <a:t>(</a:t>
            </a:r>
            <a:r>
              <a:rPr lang="en-US" sz="5000" b="1" i="1" dirty="0" err="1" smtClean="0"/>
              <a:t>b</a:t>
            </a:r>
            <a:r>
              <a:rPr lang="en-US" sz="5000" b="1" dirty="0" err="1" smtClean="0"/>
              <a:t>,</a:t>
            </a:r>
            <a:r>
              <a:rPr lang="en-US" sz="5000" b="1" i="1" dirty="0" err="1" smtClean="0"/>
              <a:t>c</a:t>
            </a:r>
            <a:r>
              <a:rPr lang="en-US" sz="5000" b="1" dirty="0" smtClean="0"/>
              <a:t>) </a:t>
            </a:r>
            <a:r>
              <a:rPr lang="en-US" sz="5000" b="1" dirty="0" smtClean="0">
                <a:latin typeface="Cambria Math"/>
                <a:ea typeface="Cambria Math"/>
              </a:rPr>
              <a:t>∊</a:t>
            </a:r>
            <a:r>
              <a:rPr lang="en-US" sz="5000" b="1" i="1" dirty="0" smtClean="0">
                <a:latin typeface="Cambria Math"/>
                <a:ea typeface="Cambria Math"/>
              </a:rPr>
              <a:t> </a:t>
            </a:r>
            <a:r>
              <a:rPr lang="en-US" sz="5000" b="1" i="1" dirty="0" smtClean="0">
                <a:ea typeface="Cambria Math"/>
              </a:rPr>
              <a:t>R</a:t>
            </a:r>
            <a:r>
              <a:rPr lang="en-US" sz="5000" dirty="0" smtClean="0">
                <a:ea typeface="Cambria Math"/>
              </a:rPr>
              <a:t>, then </a:t>
            </a:r>
            <a:r>
              <a:rPr lang="en-US" sz="5000" b="1" dirty="0" smtClean="0"/>
              <a:t>(</a:t>
            </a:r>
            <a:r>
              <a:rPr lang="en-US" sz="5000" b="1" i="1" dirty="0" err="1" smtClean="0"/>
              <a:t>a</a:t>
            </a:r>
            <a:r>
              <a:rPr lang="en-US" sz="5000" b="1" dirty="0" err="1" smtClean="0"/>
              <a:t>,</a:t>
            </a:r>
            <a:r>
              <a:rPr lang="en-US" sz="5000" b="1" i="1" dirty="0" err="1" smtClean="0"/>
              <a:t>c</a:t>
            </a:r>
            <a:r>
              <a:rPr lang="en-US" sz="5000" b="1" dirty="0" smtClean="0"/>
              <a:t>) </a:t>
            </a:r>
            <a:r>
              <a:rPr lang="en-US" sz="5000" b="1" dirty="0" smtClean="0">
                <a:latin typeface="Cambria Math"/>
                <a:ea typeface="Cambria Math"/>
              </a:rPr>
              <a:t>∊</a:t>
            </a:r>
            <a:r>
              <a:rPr lang="en-US" sz="5000" b="1" i="1" dirty="0" smtClean="0">
                <a:latin typeface="Cambria Math"/>
                <a:ea typeface="Cambria Math"/>
              </a:rPr>
              <a:t> </a:t>
            </a:r>
            <a:r>
              <a:rPr lang="en-US" sz="5000" b="1" i="1" dirty="0" smtClean="0">
                <a:ea typeface="Cambria Math"/>
              </a:rPr>
              <a:t>R</a:t>
            </a:r>
            <a:r>
              <a:rPr lang="en-US" sz="5000" dirty="0" smtClean="0">
                <a:ea typeface="Cambria Math"/>
              </a:rPr>
              <a:t>, for all </a:t>
            </a:r>
            <a:r>
              <a:rPr lang="en-US" sz="5000" b="1" i="1" dirty="0" err="1" smtClean="0">
                <a:ea typeface="Cambria Math"/>
              </a:rPr>
              <a:t>a</a:t>
            </a:r>
            <a:r>
              <a:rPr lang="en-US" sz="5000" b="1" dirty="0" err="1" smtClean="0">
                <a:ea typeface="Cambria Math"/>
              </a:rPr>
              <a:t>,</a:t>
            </a:r>
            <a:r>
              <a:rPr lang="en-US" sz="5000" b="1" i="1" dirty="0" err="1" smtClean="0">
                <a:ea typeface="Cambria Math"/>
              </a:rPr>
              <a:t>b</a:t>
            </a:r>
            <a:r>
              <a:rPr lang="en-US" sz="5000" b="1" dirty="0" err="1" smtClean="0">
                <a:ea typeface="Cambria Math"/>
              </a:rPr>
              <a:t>,</a:t>
            </a:r>
            <a:r>
              <a:rPr lang="en-US" sz="5000" b="1" i="1" dirty="0" err="1" smtClean="0">
                <a:ea typeface="Cambria Math"/>
              </a:rPr>
              <a:t>c</a:t>
            </a:r>
            <a:r>
              <a:rPr lang="en-US" sz="5000" b="1" dirty="0" smtClean="0">
                <a:ea typeface="Cambria Math"/>
              </a:rPr>
              <a:t> </a:t>
            </a:r>
            <a:r>
              <a:rPr lang="en-US" sz="5000" b="1" dirty="0" smtClean="0">
                <a:latin typeface="Cambria Math"/>
                <a:ea typeface="Cambria Math"/>
              </a:rPr>
              <a:t>∊</a:t>
            </a:r>
            <a:r>
              <a:rPr lang="en-US" sz="5000" b="1" i="1" dirty="0" smtClean="0">
                <a:latin typeface="Cambria Math"/>
                <a:ea typeface="Cambria Math"/>
              </a:rPr>
              <a:t> </a:t>
            </a:r>
            <a:r>
              <a:rPr lang="en-US" sz="5000" b="1" i="1" dirty="0" smtClean="0">
                <a:ea typeface="Cambria Math"/>
              </a:rPr>
              <a:t>A</a:t>
            </a:r>
            <a:r>
              <a:rPr lang="en-US" sz="5000" dirty="0" smtClean="0">
                <a:ea typeface="Cambria Math"/>
              </a:rPr>
              <a:t>. Written symbolically, </a:t>
            </a:r>
            <a:r>
              <a:rPr lang="en-US" sz="5000" b="1" i="1" dirty="0" smtClean="0">
                <a:ea typeface="Cambria Math"/>
              </a:rPr>
              <a:t>R</a:t>
            </a:r>
            <a:r>
              <a:rPr lang="en-US" sz="5000" dirty="0" smtClean="0">
                <a:ea typeface="Cambria Math"/>
              </a:rPr>
              <a:t> is transitive if and only if </a:t>
            </a:r>
          </a:p>
          <a:p>
            <a:pPr lvl="1">
              <a:buNone/>
            </a:pPr>
            <a:r>
              <a:rPr lang="en-US" sz="5000" b="1" dirty="0" smtClean="0">
                <a:solidFill>
                  <a:srgbClr val="0070C0"/>
                </a:solidFill>
                <a:latin typeface="Cambria Math"/>
                <a:ea typeface="Cambria Math"/>
              </a:rPr>
              <a:t>      ∀</a:t>
            </a:r>
            <a:r>
              <a:rPr lang="en-US" sz="5000" b="1" i="1" dirty="0" err="1" smtClean="0">
                <a:solidFill>
                  <a:srgbClr val="0070C0"/>
                </a:solidFill>
                <a:ea typeface="Cambria Math"/>
              </a:rPr>
              <a:t>x</a:t>
            </a:r>
            <a:r>
              <a:rPr lang="en-US" sz="5000" b="1" dirty="0" err="1" smtClean="0">
                <a:solidFill>
                  <a:srgbClr val="0070C0"/>
                </a:solidFill>
                <a:latin typeface="Cambria Math"/>
                <a:ea typeface="Cambria Math"/>
              </a:rPr>
              <a:t>∀</a:t>
            </a:r>
            <a:r>
              <a:rPr lang="en-US" sz="5000" b="1" i="1" dirty="0" err="1" smtClean="0">
                <a:solidFill>
                  <a:srgbClr val="0070C0"/>
                </a:solidFill>
                <a:ea typeface="Cambria Math"/>
              </a:rPr>
              <a:t>y</a:t>
            </a:r>
            <a:r>
              <a:rPr lang="en-US" sz="5000" b="1" dirty="0" smtClean="0">
                <a:solidFill>
                  <a:srgbClr val="0070C0"/>
                </a:solidFill>
                <a:latin typeface="Cambria Math"/>
                <a:ea typeface="Cambria Math"/>
              </a:rPr>
              <a:t> ∀</a:t>
            </a:r>
            <a:r>
              <a:rPr lang="en-US" sz="5000" b="1" i="1" dirty="0" smtClean="0">
                <a:solidFill>
                  <a:srgbClr val="0070C0"/>
                </a:solidFill>
                <a:ea typeface="Cambria Math"/>
              </a:rPr>
              <a:t>z</a:t>
            </a:r>
            <a:r>
              <a:rPr lang="en-US" sz="5000" b="1" dirty="0" smtClean="0">
                <a:solidFill>
                  <a:srgbClr val="0070C0"/>
                </a:solidFill>
                <a:latin typeface="Cambria Math"/>
                <a:ea typeface="Cambria Math"/>
              </a:rPr>
              <a:t>[(</a:t>
            </a:r>
            <a:r>
              <a:rPr lang="en-US" sz="5000" b="1" i="1" dirty="0" err="1" smtClean="0">
                <a:solidFill>
                  <a:srgbClr val="0070C0"/>
                </a:solidFill>
                <a:ea typeface="Cambria Math"/>
              </a:rPr>
              <a:t>x</a:t>
            </a:r>
            <a:r>
              <a:rPr lang="en-US" sz="5000" b="1" dirty="0" err="1" smtClean="0">
                <a:solidFill>
                  <a:srgbClr val="0070C0"/>
                </a:solidFill>
                <a:latin typeface="Cambria Math"/>
                <a:ea typeface="Cambria Math"/>
              </a:rPr>
              <a:t>,</a:t>
            </a:r>
            <a:r>
              <a:rPr lang="en-US" sz="5000" b="1" i="1" dirty="0" err="1" smtClean="0">
                <a:solidFill>
                  <a:srgbClr val="0070C0"/>
                </a:solidFill>
                <a:ea typeface="Cambria Math"/>
              </a:rPr>
              <a:t>y</a:t>
            </a:r>
            <a:r>
              <a:rPr lang="en-US" sz="5000" b="1" dirty="0" smtClean="0">
                <a:solidFill>
                  <a:srgbClr val="0070C0"/>
                </a:solidFill>
                <a:latin typeface="Cambria Math"/>
                <a:ea typeface="Cambria Math"/>
              </a:rPr>
              <a:t>) ∊</a:t>
            </a:r>
            <a:r>
              <a:rPr lang="en-US" sz="5000" b="1" i="1" dirty="0" smtClean="0">
                <a:solidFill>
                  <a:srgbClr val="0070C0"/>
                </a:solidFill>
                <a:ea typeface="Cambria Math"/>
              </a:rPr>
              <a:t>R</a:t>
            </a:r>
            <a:r>
              <a:rPr lang="en-US" sz="5000" b="1" dirty="0" smtClean="0">
                <a:solidFill>
                  <a:srgbClr val="0070C0"/>
                </a:solidFill>
                <a:latin typeface="Cambria Math"/>
                <a:ea typeface="Cambria Math"/>
              </a:rPr>
              <a:t> ∧ (</a:t>
            </a:r>
            <a:r>
              <a:rPr lang="en-US" sz="5000" b="1" i="1" dirty="0" err="1" smtClean="0">
                <a:solidFill>
                  <a:srgbClr val="0070C0"/>
                </a:solidFill>
                <a:ea typeface="Cambria Math"/>
              </a:rPr>
              <a:t>y</a:t>
            </a:r>
            <a:r>
              <a:rPr lang="en-US" sz="5000" b="1" dirty="0" err="1" smtClean="0">
                <a:solidFill>
                  <a:srgbClr val="0070C0"/>
                </a:solidFill>
                <a:latin typeface="Cambria Math"/>
                <a:ea typeface="Cambria Math"/>
              </a:rPr>
              <a:t>,</a:t>
            </a:r>
            <a:r>
              <a:rPr lang="en-US" sz="5000" b="1" i="1" dirty="0" err="1" smtClean="0">
                <a:solidFill>
                  <a:srgbClr val="0070C0"/>
                </a:solidFill>
                <a:ea typeface="Cambria Math"/>
              </a:rPr>
              <a:t>z</a:t>
            </a:r>
            <a:r>
              <a:rPr lang="en-US" sz="5000" b="1" dirty="0" smtClean="0">
                <a:solidFill>
                  <a:srgbClr val="0070C0"/>
                </a:solidFill>
                <a:latin typeface="Cambria Math"/>
                <a:ea typeface="Cambria Math"/>
              </a:rPr>
              <a:t>) ∊ R ⟶ (</a:t>
            </a:r>
            <a:r>
              <a:rPr lang="en-US" sz="5000" b="1" i="1" dirty="0" err="1" smtClean="0">
                <a:solidFill>
                  <a:srgbClr val="0070C0"/>
                </a:solidFill>
                <a:ea typeface="Cambria Math"/>
              </a:rPr>
              <a:t>x</a:t>
            </a:r>
            <a:r>
              <a:rPr lang="en-US" sz="5000" b="1" dirty="0" err="1" smtClean="0">
                <a:solidFill>
                  <a:srgbClr val="0070C0"/>
                </a:solidFill>
                <a:latin typeface="Cambria Math"/>
                <a:ea typeface="Cambria Math"/>
              </a:rPr>
              <a:t>,</a:t>
            </a:r>
            <a:r>
              <a:rPr lang="en-US" sz="5000" b="1" i="1" dirty="0" err="1" smtClean="0">
                <a:solidFill>
                  <a:srgbClr val="0070C0"/>
                </a:solidFill>
                <a:ea typeface="Cambria Math"/>
              </a:rPr>
              <a:t>z</a:t>
            </a:r>
            <a:r>
              <a:rPr lang="en-US" sz="5000" b="1" dirty="0" smtClean="0">
                <a:solidFill>
                  <a:srgbClr val="0070C0"/>
                </a:solidFill>
                <a:latin typeface="Cambria Math"/>
                <a:ea typeface="Cambria Math"/>
              </a:rPr>
              <a:t>) ∊ </a:t>
            </a:r>
            <a:r>
              <a:rPr lang="en-US" sz="5000" b="1" i="1" dirty="0" smtClean="0">
                <a:solidFill>
                  <a:srgbClr val="0070C0"/>
                </a:solidFill>
                <a:ea typeface="Cambria Math"/>
              </a:rPr>
              <a:t>R</a:t>
            </a:r>
            <a:r>
              <a:rPr lang="en-US" sz="5000" b="1" dirty="0" smtClean="0">
                <a:solidFill>
                  <a:srgbClr val="0070C0"/>
                </a:solidFill>
                <a:latin typeface="Cambria Math"/>
                <a:ea typeface="Cambria Math"/>
              </a:rPr>
              <a:t> ]</a:t>
            </a:r>
          </a:p>
          <a:p>
            <a:pPr lvl="1">
              <a:buNone/>
            </a:pPr>
            <a:r>
              <a:rPr lang="en-US" sz="5000" b="1" dirty="0">
                <a:solidFill>
                  <a:srgbClr val="0070C0"/>
                </a:solidFill>
              </a:rPr>
              <a:t>“Every two-step connection must also have a direct connection.”</a:t>
            </a:r>
            <a:endParaRPr lang="en-US" sz="5000" b="1" dirty="0" smtClean="0">
              <a:solidFill>
                <a:srgbClr val="0070C0"/>
              </a:solidFill>
              <a:ea typeface="Cambria Math"/>
            </a:endParaRPr>
          </a:p>
          <a:p>
            <a:r>
              <a:rPr lang="en-US" sz="5000" b="1" dirty="0" smtClean="0">
                <a:ea typeface="Cambria Math"/>
              </a:rPr>
              <a:t>Example</a:t>
            </a:r>
            <a:r>
              <a:rPr lang="en-US" sz="5000" dirty="0" smtClean="0">
                <a:ea typeface="Cambria Math"/>
              </a:rPr>
              <a:t>: The following relations  on the integers are transitive:</a:t>
            </a:r>
          </a:p>
          <a:p>
            <a:pPr lvl="1">
              <a:buNone/>
            </a:pPr>
            <a:r>
              <a:rPr lang="en-US" sz="5000" i="1" dirty="0" smtClean="0"/>
              <a:t>R</a:t>
            </a:r>
            <a:r>
              <a:rPr lang="en-US" sz="5000" baseline="-25000" dirty="0" smtClean="0">
                <a:latin typeface="Cambria Math" pitchFamily="18" charset="0"/>
                <a:ea typeface="Cambria Math" pitchFamily="18" charset="0"/>
              </a:rPr>
              <a:t>1 </a:t>
            </a:r>
            <a:r>
              <a:rPr lang="en-US" sz="5000" dirty="0" smtClean="0"/>
              <a:t>= {(</a:t>
            </a:r>
            <a:r>
              <a:rPr lang="en-US" sz="5000" i="1" dirty="0" err="1" smtClean="0"/>
              <a:t>a</a:t>
            </a:r>
            <a:r>
              <a:rPr lang="en-US" sz="5000" dirty="0" err="1" smtClean="0"/>
              <a:t>,</a:t>
            </a:r>
            <a:r>
              <a:rPr lang="en-US" sz="5000" i="1" dirty="0" err="1" smtClean="0"/>
              <a:t>b</a:t>
            </a:r>
            <a:r>
              <a:rPr lang="en-US" sz="5000" dirty="0" smtClean="0"/>
              <a:t>) | </a:t>
            </a:r>
            <a:r>
              <a:rPr lang="en-US" sz="5000" i="1" dirty="0" smtClean="0"/>
              <a:t>a</a:t>
            </a:r>
            <a:r>
              <a:rPr lang="en-US" sz="5000" dirty="0" smtClean="0"/>
              <a:t> </a:t>
            </a:r>
            <a:r>
              <a:rPr lang="en-US" sz="5000" dirty="0" smtClean="0">
                <a:latin typeface="Cambria Math"/>
                <a:ea typeface="Cambria Math"/>
              </a:rPr>
              <a:t>≤ </a:t>
            </a:r>
            <a:r>
              <a:rPr lang="en-US" sz="5000" i="1" dirty="0" smtClean="0">
                <a:latin typeface="Cambria Math"/>
                <a:ea typeface="Cambria Math"/>
              </a:rPr>
              <a:t>b</a:t>
            </a:r>
            <a:r>
              <a:rPr lang="en-US" sz="5000" dirty="0" smtClean="0">
                <a:latin typeface="Cambria Math"/>
                <a:ea typeface="Cambria Math"/>
              </a:rPr>
              <a:t>},</a:t>
            </a:r>
          </a:p>
          <a:p>
            <a:pPr lvl="1">
              <a:buNone/>
            </a:pPr>
            <a:r>
              <a:rPr lang="en-US" sz="5000" i="1" dirty="0" smtClean="0"/>
              <a:t>R</a:t>
            </a:r>
            <a:r>
              <a:rPr lang="en-US" sz="5000" baseline="-25000" dirty="0" smtClean="0">
                <a:latin typeface="Cambria Math" pitchFamily="18" charset="0"/>
                <a:ea typeface="Cambria Math" pitchFamily="18" charset="0"/>
              </a:rPr>
              <a:t>2 </a:t>
            </a:r>
            <a:r>
              <a:rPr lang="en-US" sz="5000" dirty="0" smtClean="0"/>
              <a:t>= {(</a:t>
            </a:r>
            <a:r>
              <a:rPr lang="en-US" sz="5000" i="1" dirty="0" err="1" smtClean="0"/>
              <a:t>a</a:t>
            </a:r>
            <a:r>
              <a:rPr lang="en-US" sz="5000" dirty="0" err="1" smtClean="0"/>
              <a:t>,</a:t>
            </a:r>
            <a:r>
              <a:rPr lang="en-US" sz="5000" i="1" dirty="0" err="1" smtClean="0"/>
              <a:t>b</a:t>
            </a:r>
            <a:r>
              <a:rPr lang="en-US" sz="5000" dirty="0" smtClean="0"/>
              <a:t>) | </a:t>
            </a:r>
            <a:r>
              <a:rPr lang="en-US" sz="5000" i="1" dirty="0" smtClean="0"/>
              <a:t>a</a:t>
            </a:r>
            <a:r>
              <a:rPr lang="en-US" sz="5000" dirty="0" smtClean="0"/>
              <a:t> </a:t>
            </a:r>
            <a:r>
              <a:rPr lang="en-US" sz="5000" dirty="0" smtClean="0">
                <a:latin typeface="Cambria Math"/>
                <a:ea typeface="Cambria Math"/>
              </a:rPr>
              <a:t>&gt; </a:t>
            </a:r>
            <a:r>
              <a:rPr lang="en-US" sz="5000" i="1" dirty="0" smtClean="0">
                <a:latin typeface="Cambria Math"/>
                <a:ea typeface="Cambria Math"/>
              </a:rPr>
              <a:t>b</a:t>
            </a:r>
            <a:r>
              <a:rPr lang="en-US" sz="5000" dirty="0" smtClean="0">
                <a:latin typeface="Cambria Math"/>
                <a:ea typeface="Cambria Math"/>
              </a:rPr>
              <a:t>},</a:t>
            </a:r>
            <a:endParaRPr lang="en-US" sz="5000" dirty="0" smtClean="0"/>
          </a:p>
          <a:p>
            <a:pPr lvl="1">
              <a:buNone/>
            </a:pPr>
            <a:r>
              <a:rPr lang="en-US" sz="5000" i="1" dirty="0" smtClean="0"/>
              <a:t>R</a:t>
            </a:r>
            <a:r>
              <a:rPr lang="en-US" sz="5000" baseline="-25000" dirty="0" smtClean="0">
                <a:latin typeface="Cambria Math" pitchFamily="18" charset="0"/>
                <a:ea typeface="Cambria Math" pitchFamily="18" charset="0"/>
              </a:rPr>
              <a:t>3 </a:t>
            </a:r>
            <a:r>
              <a:rPr lang="en-US" sz="5000" dirty="0" smtClean="0"/>
              <a:t>= {(</a:t>
            </a:r>
            <a:r>
              <a:rPr lang="en-US" sz="5000" i="1" dirty="0" err="1" smtClean="0"/>
              <a:t>a</a:t>
            </a:r>
            <a:r>
              <a:rPr lang="en-US" sz="5000" dirty="0" err="1" smtClean="0"/>
              <a:t>,</a:t>
            </a:r>
            <a:r>
              <a:rPr lang="en-US" sz="5000" i="1" dirty="0" err="1" smtClean="0"/>
              <a:t>b</a:t>
            </a:r>
            <a:r>
              <a:rPr lang="en-US" sz="5000" dirty="0" smtClean="0"/>
              <a:t>) | </a:t>
            </a:r>
            <a:r>
              <a:rPr lang="en-US" sz="5000" i="1" dirty="0" smtClean="0"/>
              <a:t>a</a:t>
            </a:r>
            <a:r>
              <a:rPr lang="en-US" sz="5000" dirty="0" smtClean="0"/>
              <a:t> </a:t>
            </a:r>
            <a:r>
              <a:rPr lang="en-US" sz="5000" dirty="0" smtClean="0">
                <a:latin typeface="Cambria Math"/>
                <a:ea typeface="Cambria Math"/>
              </a:rPr>
              <a:t>= </a:t>
            </a:r>
            <a:r>
              <a:rPr lang="en-US" sz="5000" i="1" dirty="0" smtClean="0">
                <a:latin typeface="Cambria Math"/>
                <a:ea typeface="Cambria Math"/>
              </a:rPr>
              <a:t>b  </a:t>
            </a:r>
            <a:r>
              <a:rPr lang="en-US" sz="5000" dirty="0" smtClean="0">
                <a:latin typeface="Cambria Math"/>
                <a:ea typeface="Cambria Math"/>
              </a:rPr>
              <a:t>or</a:t>
            </a:r>
            <a:r>
              <a:rPr lang="en-US" sz="5000" i="1" dirty="0" smtClean="0">
                <a:latin typeface="Cambria Math"/>
                <a:ea typeface="Cambria Math"/>
              </a:rPr>
              <a:t> a </a:t>
            </a:r>
            <a:r>
              <a:rPr lang="en-US" sz="5000" dirty="0" smtClean="0">
                <a:latin typeface="Cambria Math"/>
                <a:ea typeface="Cambria Math"/>
              </a:rPr>
              <a:t>=</a:t>
            </a:r>
            <a:r>
              <a:rPr lang="en-US" sz="5000" i="1" dirty="0" smtClean="0">
                <a:latin typeface="Cambria Math"/>
                <a:ea typeface="Cambria Math"/>
              </a:rPr>
              <a:t> −b</a:t>
            </a:r>
            <a:r>
              <a:rPr lang="en-US" sz="5000" dirty="0" smtClean="0">
                <a:latin typeface="Cambria Math"/>
                <a:ea typeface="Cambria Math"/>
              </a:rPr>
              <a:t>},</a:t>
            </a:r>
            <a:endParaRPr lang="en-US" sz="5000" dirty="0" smtClean="0"/>
          </a:p>
          <a:p>
            <a:pPr lvl="1">
              <a:buNone/>
            </a:pPr>
            <a:r>
              <a:rPr lang="en-US" sz="5000" i="1" dirty="0" smtClean="0"/>
              <a:t>R</a:t>
            </a:r>
            <a:r>
              <a:rPr lang="en-US" sz="5000" baseline="-25000" dirty="0" smtClean="0">
                <a:latin typeface="Cambria Math" pitchFamily="18" charset="0"/>
                <a:ea typeface="Cambria Math" pitchFamily="18" charset="0"/>
              </a:rPr>
              <a:t>4 </a:t>
            </a:r>
            <a:r>
              <a:rPr lang="en-US" sz="5000" dirty="0" smtClean="0"/>
              <a:t>= {(</a:t>
            </a:r>
            <a:r>
              <a:rPr lang="en-US" sz="5000" i="1" dirty="0" err="1" smtClean="0"/>
              <a:t>a</a:t>
            </a:r>
            <a:r>
              <a:rPr lang="en-US" sz="5000" dirty="0" err="1" smtClean="0"/>
              <a:t>,</a:t>
            </a:r>
            <a:r>
              <a:rPr lang="en-US" sz="5000" i="1" dirty="0" err="1" smtClean="0"/>
              <a:t>b</a:t>
            </a:r>
            <a:r>
              <a:rPr lang="en-US" sz="5000" dirty="0" smtClean="0"/>
              <a:t>) | </a:t>
            </a:r>
            <a:r>
              <a:rPr lang="en-US" sz="5000" i="1" dirty="0" smtClean="0"/>
              <a:t>a</a:t>
            </a:r>
            <a:r>
              <a:rPr lang="en-US" sz="5000" dirty="0" smtClean="0"/>
              <a:t> </a:t>
            </a:r>
            <a:r>
              <a:rPr lang="en-US" sz="5000" dirty="0" smtClean="0">
                <a:latin typeface="Cambria Math"/>
                <a:ea typeface="Cambria Math"/>
              </a:rPr>
              <a:t>= </a:t>
            </a:r>
            <a:r>
              <a:rPr lang="en-US" sz="5000" i="1" dirty="0" smtClean="0">
                <a:latin typeface="Cambria Math"/>
                <a:ea typeface="Cambria Math"/>
              </a:rPr>
              <a:t>b</a:t>
            </a:r>
            <a:r>
              <a:rPr lang="en-US" sz="5000" dirty="0" smtClean="0">
                <a:latin typeface="Cambria Math"/>
                <a:ea typeface="Cambria Math"/>
              </a:rPr>
              <a:t>}.</a:t>
            </a:r>
          </a:p>
          <a:p>
            <a:pPr lvl="1">
              <a:buNone/>
            </a:pPr>
            <a:r>
              <a:rPr lang="en-US" sz="5000" dirty="0" smtClean="0">
                <a:latin typeface="Cambria Math"/>
                <a:ea typeface="Cambria Math"/>
              </a:rPr>
              <a:t>The following are not transitive:</a:t>
            </a:r>
          </a:p>
          <a:p>
            <a:pPr lvl="1">
              <a:buNone/>
            </a:pPr>
            <a:r>
              <a:rPr lang="en-US" sz="5000" dirty="0" smtClean="0">
                <a:latin typeface="Cambria Math"/>
                <a:ea typeface="Cambria Math"/>
              </a:rPr>
              <a:t> </a:t>
            </a:r>
            <a:r>
              <a:rPr lang="en-US" sz="5000" i="1" dirty="0" smtClean="0"/>
              <a:t>R</a:t>
            </a:r>
            <a:r>
              <a:rPr lang="en-US" sz="5000" baseline="-25000" dirty="0" smtClean="0">
                <a:latin typeface="Cambria Math" pitchFamily="18" charset="0"/>
                <a:ea typeface="Cambria Math" pitchFamily="18" charset="0"/>
              </a:rPr>
              <a:t>5 </a:t>
            </a:r>
            <a:r>
              <a:rPr lang="en-US" sz="5000" dirty="0" smtClean="0"/>
              <a:t>= {(</a:t>
            </a:r>
            <a:r>
              <a:rPr lang="en-US" sz="5000" i="1" dirty="0" err="1" smtClean="0"/>
              <a:t>a</a:t>
            </a:r>
            <a:r>
              <a:rPr lang="en-US" sz="5000" dirty="0" err="1" smtClean="0"/>
              <a:t>,</a:t>
            </a:r>
            <a:r>
              <a:rPr lang="en-US" sz="5000" i="1" dirty="0" err="1" smtClean="0"/>
              <a:t>b</a:t>
            </a:r>
            <a:r>
              <a:rPr lang="en-US" sz="5000" dirty="0" smtClean="0"/>
              <a:t>) | </a:t>
            </a:r>
            <a:r>
              <a:rPr lang="en-US" sz="5000" i="1" dirty="0" smtClean="0"/>
              <a:t>a</a:t>
            </a:r>
            <a:r>
              <a:rPr lang="en-US" sz="5000" dirty="0" smtClean="0"/>
              <a:t> </a:t>
            </a:r>
            <a:r>
              <a:rPr lang="en-US" sz="5000" dirty="0" smtClean="0">
                <a:latin typeface="Cambria Math"/>
                <a:ea typeface="Cambria Math"/>
              </a:rPr>
              <a:t>= </a:t>
            </a:r>
            <a:r>
              <a:rPr lang="en-US" sz="5000" i="1" dirty="0" smtClean="0">
                <a:latin typeface="Cambria Math"/>
                <a:ea typeface="Cambria Math"/>
              </a:rPr>
              <a:t>b </a:t>
            </a:r>
            <a:r>
              <a:rPr lang="en-US" sz="5000" dirty="0" smtClean="0">
                <a:latin typeface="Cambria Math"/>
                <a:ea typeface="Cambria Math"/>
              </a:rPr>
              <a:t>+ 1} (note that both (3,2) and (4,3) belong to </a:t>
            </a:r>
            <a:r>
              <a:rPr lang="en-US" sz="5000" i="1" dirty="0" smtClean="0"/>
              <a:t>R</a:t>
            </a:r>
            <a:r>
              <a:rPr lang="en-US" sz="5000" baseline="-25000" dirty="0" smtClean="0">
                <a:latin typeface="Cambria Math" pitchFamily="18" charset="0"/>
                <a:ea typeface="Cambria Math" pitchFamily="18" charset="0"/>
              </a:rPr>
              <a:t>5</a:t>
            </a:r>
            <a:r>
              <a:rPr lang="en-US" sz="5000" dirty="0" smtClean="0">
                <a:latin typeface="Cambria Math"/>
                <a:ea typeface="Cambria Math"/>
              </a:rPr>
              <a:t>, but not (3,3)),</a:t>
            </a:r>
          </a:p>
          <a:p>
            <a:pPr lvl="1">
              <a:buNone/>
            </a:pPr>
            <a:r>
              <a:rPr lang="en-US" sz="5000" i="1" dirty="0" smtClean="0"/>
              <a:t> R</a:t>
            </a:r>
            <a:r>
              <a:rPr lang="en-US" sz="5000" baseline="-25000" dirty="0" smtClean="0">
                <a:latin typeface="Cambria Math" pitchFamily="18" charset="0"/>
                <a:ea typeface="Cambria Math" pitchFamily="18" charset="0"/>
              </a:rPr>
              <a:t>6 </a:t>
            </a:r>
            <a:r>
              <a:rPr lang="en-US" sz="5000" dirty="0" smtClean="0"/>
              <a:t>= {(</a:t>
            </a:r>
            <a:r>
              <a:rPr lang="en-US" sz="5000" i="1" dirty="0" err="1" smtClean="0"/>
              <a:t>a</a:t>
            </a:r>
            <a:r>
              <a:rPr lang="en-US" sz="5000" dirty="0" err="1" smtClean="0"/>
              <a:t>,</a:t>
            </a:r>
            <a:r>
              <a:rPr lang="en-US" sz="5000" i="1" dirty="0" err="1" smtClean="0"/>
              <a:t>b</a:t>
            </a:r>
            <a:r>
              <a:rPr lang="en-US" sz="5000" dirty="0" smtClean="0"/>
              <a:t>) | </a:t>
            </a:r>
            <a:r>
              <a:rPr lang="en-US" sz="5000" i="1" dirty="0" smtClean="0"/>
              <a:t>a</a:t>
            </a:r>
            <a:r>
              <a:rPr lang="en-US" sz="5000" dirty="0" smtClean="0"/>
              <a:t> + </a:t>
            </a:r>
            <a:r>
              <a:rPr lang="en-US" sz="5000" i="1" dirty="0" smtClean="0"/>
              <a:t>b</a:t>
            </a:r>
            <a:r>
              <a:rPr lang="en-US" sz="5000" dirty="0" smtClean="0"/>
              <a:t> </a:t>
            </a:r>
            <a:r>
              <a:rPr lang="en-US" sz="5000" dirty="0" smtClean="0">
                <a:latin typeface="Cambria Math"/>
                <a:ea typeface="Cambria Math"/>
              </a:rPr>
              <a:t>≤ 3} (note that both (2,1) and (1,2) belong to </a:t>
            </a:r>
            <a:r>
              <a:rPr lang="en-US" sz="5000" i="1" dirty="0" smtClean="0"/>
              <a:t>R</a:t>
            </a:r>
            <a:r>
              <a:rPr lang="en-US" sz="5000" baseline="-25000" dirty="0" smtClean="0">
                <a:latin typeface="Cambria Math" pitchFamily="18" charset="0"/>
                <a:ea typeface="Cambria Math" pitchFamily="18" charset="0"/>
              </a:rPr>
              <a:t>6</a:t>
            </a:r>
            <a:r>
              <a:rPr lang="en-US" sz="5000" dirty="0" smtClean="0">
                <a:latin typeface="Cambria Math"/>
                <a:ea typeface="Cambria Math"/>
              </a:rPr>
              <a:t>, but not (2,2)).</a:t>
            </a:r>
          </a:p>
          <a:p>
            <a:pPr lvl="1">
              <a:buNone/>
            </a:pPr>
            <a:endParaRPr lang="en-US" sz="5000" dirty="0" smtClean="0">
              <a:latin typeface="Cambria Math"/>
              <a:ea typeface="Cambria Math"/>
            </a:endParaRPr>
          </a:p>
          <a:p>
            <a:pPr lvl="1">
              <a:buNone/>
            </a:pPr>
            <a:endParaRPr lang="en-US" sz="5000" dirty="0" smtClean="0"/>
          </a:p>
          <a:p>
            <a:pPr>
              <a:buNone/>
            </a:pPr>
            <a:endParaRPr lang="en-US" sz="5000" b="1" dirty="0" smtClean="0">
              <a:ea typeface="Cambria Math"/>
            </a:endParaRPr>
          </a:p>
        </p:txBody>
      </p:sp>
      <p:cxnSp>
        <p:nvCxnSpPr>
          <p:cNvPr id="6" name="Straight Arrow Connector 5"/>
          <p:cNvCxnSpPr/>
          <p:nvPr/>
        </p:nvCxnSpPr>
        <p:spPr>
          <a:xfrm flipH="1">
            <a:off x="3429000" y="3810000"/>
            <a:ext cx="76200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191000" y="3733800"/>
            <a:ext cx="3429000" cy="646331"/>
          </a:xfrm>
          <a:prstGeom prst="rect">
            <a:avLst/>
          </a:prstGeom>
          <a:noFill/>
          <a:ln>
            <a:solidFill>
              <a:schemeClr val="accent1"/>
            </a:solidFill>
          </a:ln>
        </p:spPr>
        <p:txBody>
          <a:bodyPr wrap="square" rtlCol="0">
            <a:spAutoFit/>
          </a:bodyPr>
          <a:lstStyle/>
          <a:p>
            <a:r>
              <a:rPr lang="en-US" dirty="0" smtClean="0"/>
              <a:t>For every integer,</a:t>
            </a:r>
            <a:r>
              <a:rPr lang="en-US" i="1" dirty="0" smtClean="0"/>
              <a:t> a</a:t>
            </a:r>
            <a:r>
              <a:rPr lang="en-US" dirty="0" smtClean="0"/>
              <a:t> </a:t>
            </a:r>
            <a:r>
              <a:rPr lang="en-US" dirty="0" smtClean="0">
                <a:latin typeface="Cambria Math"/>
                <a:ea typeface="Cambria Math"/>
              </a:rPr>
              <a:t>≤ </a:t>
            </a:r>
            <a:r>
              <a:rPr lang="en-US" i="1" dirty="0" smtClean="0">
                <a:latin typeface="Cambria Math"/>
                <a:ea typeface="Cambria Math"/>
              </a:rPr>
              <a:t>b </a:t>
            </a:r>
          </a:p>
          <a:p>
            <a:r>
              <a:rPr lang="en-US" i="1" dirty="0" smtClean="0">
                <a:latin typeface="Cambria Math"/>
                <a:ea typeface="Cambria Math"/>
              </a:rPr>
              <a:t> </a:t>
            </a:r>
            <a:r>
              <a:rPr lang="en-US" dirty="0" smtClean="0">
                <a:latin typeface="Cambria Math"/>
                <a:ea typeface="Cambria Math"/>
              </a:rPr>
              <a:t>and</a:t>
            </a:r>
            <a:r>
              <a:rPr lang="en-US" dirty="0" smtClean="0"/>
              <a:t> </a:t>
            </a:r>
            <a:r>
              <a:rPr lang="en-US" i="1" dirty="0" smtClean="0"/>
              <a:t>b</a:t>
            </a:r>
            <a:r>
              <a:rPr lang="en-US" dirty="0" smtClean="0"/>
              <a:t> </a:t>
            </a:r>
            <a:r>
              <a:rPr lang="en-US" dirty="0" smtClean="0">
                <a:latin typeface="Cambria Math"/>
                <a:ea typeface="Cambria Math"/>
              </a:rPr>
              <a:t>≤ </a:t>
            </a:r>
            <a:r>
              <a:rPr lang="en-US" i="1" dirty="0" smtClean="0">
                <a:ea typeface="Cambria Math"/>
              </a:rPr>
              <a:t>c</a:t>
            </a:r>
            <a:r>
              <a:rPr lang="en-US" i="1" dirty="0" smtClean="0">
                <a:latin typeface="Cambria Math"/>
                <a:ea typeface="Cambria Math"/>
              </a:rPr>
              <a:t>, </a:t>
            </a:r>
            <a:r>
              <a:rPr lang="en-US" dirty="0" smtClean="0">
                <a:latin typeface="Cambria Math"/>
                <a:ea typeface="Cambria Math"/>
              </a:rPr>
              <a:t>then </a:t>
            </a:r>
            <a:r>
              <a:rPr lang="en-US" i="1" dirty="0" smtClean="0"/>
              <a:t>b</a:t>
            </a:r>
            <a:r>
              <a:rPr lang="en-US" dirty="0" smtClean="0"/>
              <a:t> </a:t>
            </a:r>
            <a:r>
              <a:rPr lang="en-US" dirty="0" smtClean="0">
                <a:latin typeface="Cambria Math"/>
                <a:ea typeface="Cambria Math"/>
              </a:rPr>
              <a:t>≤ </a:t>
            </a:r>
            <a:r>
              <a:rPr lang="en-US" i="1" dirty="0" smtClean="0">
                <a:ea typeface="Cambria Math"/>
              </a:rPr>
              <a:t>c. </a:t>
            </a:r>
            <a:r>
              <a:rPr lang="en-US" i="1" dirty="0" smtClean="0">
                <a:latin typeface="Cambria Math"/>
                <a:ea typeface="Cambria Math"/>
              </a:rPr>
              <a:t> </a:t>
            </a:r>
            <a:r>
              <a:rPr lang="en-US" dirty="0" smtClean="0"/>
              <a:t>  </a:t>
            </a: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311902"/>
          </a:xfrm>
        </p:spPr>
        <p:txBody>
          <a:bodyPr>
            <a:normAutofit fontScale="90000"/>
          </a:bodyPr>
          <a:lstStyle/>
          <a:p>
            <a:r>
              <a:rPr lang="en-US" dirty="0" smtClean="0"/>
              <a:t>Combining Relations</a:t>
            </a:r>
            <a:endParaRPr lang="en-US" dirty="0"/>
          </a:p>
        </p:txBody>
      </p:sp>
      <p:sp>
        <p:nvSpPr>
          <p:cNvPr id="3" name="Content Placeholder 2"/>
          <p:cNvSpPr>
            <a:spLocks noGrp="1"/>
          </p:cNvSpPr>
          <p:nvPr>
            <p:ph idx="1"/>
          </p:nvPr>
        </p:nvSpPr>
        <p:spPr>
          <a:xfrm>
            <a:off x="228600" y="1123712"/>
            <a:ext cx="8229600" cy="4389120"/>
          </a:xfrm>
        </p:spPr>
        <p:txBody>
          <a:bodyPr/>
          <a:lstStyle/>
          <a:p>
            <a:r>
              <a:rPr lang="en-US" dirty="0" smtClean="0"/>
              <a:t>Given two relations </a:t>
            </a:r>
            <a:r>
              <a:rPr lang="en-US" b="1" i="1" dirty="0" smtClean="0"/>
              <a:t>R</a:t>
            </a:r>
            <a:r>
              <a:rPr lang="en-US" b="1" baseline="-25000" dirty="0" smtClean="0">
                <a:latin typeface="Cambria Math" pitchFamily="18" charset="0"/>
                <a:ea typeface="Cambria Math" pitchFamily="18" charset="0"/>
              </a:rPr>
              <a:t>1</a:t>
            </a:r>
            <a:r>
              <a:rPr lang="en-US" b="1" dirty="0" smtClean="0"/>
              <a:t> </a:t>
            </a:r>
            <a:r>
              <a:rPr lang="en-US" dirty="0" smtClean="0"/>
              <a:t>and </a:t>
            </a:r>
            <a:r>
              <a:rPr lang="en-US" b="1" i="1" dirty="0" smtClean="0"/>
              <a:t>R</a:t>
            </a:r>
            <a:r>
              <a:rPr lang="en-US" b="1" baseline="-25000" dirty="0" smtClean="0">
                <a:latin typeface="Cambria Math" pitchFamily="18" charset="0"/>
                <a:ea typeface="Cambria Math" pitchFamily="18" charset="0"/>
              </a:rPr>
              <a:t>2</a:t>
            </a:r>
            <a:r>
              <a:rPr lang="en-US" dirty="0" smtClean="0"/>
              <a:t>, we can combine them using basic set operations to form new relations such as </a:t>
            </a:r>
            <a:r>
              <a:rPr lang="en-US" b="1" i="1" dirty="0" smtClean="0"/>
              <a:t>R</a:t>
            </a:r>
            <a:r>
              <a:rPr lang="en-US" b="1" baseline="-25000" dirty="0" smtClean="0">
                <a:latin typeface="Cambria Math" pitchFamily="18" charset="0"/>
                <a:ea typeface="Cambria Math" pitchFamily="18" charset="0"/>
              </a:rPr>
              <a:t>1</a:t>
            </a:r>
            <a:r>
              <a:rPr lang="en-US" b="1" dirty="0" smtClean="0"/>
              <a:t> </a:t>
            </a:r>
            <a:r>
              <a:rPr lang="en-US" b="1" dirty="0" smtClean="0">
                <a:latin typeface="Cambria Math"/>
                <a:ea typeface="Cambria Math"/>
              </a:rPr>
              <a:t>∪</a:t>
            </a:r>
            <a:r>
              <a:rPr lang="en-US" b="1" dirty="0" smtClean="0"/>
              <a:t> </a:t>
            </a:r>
            <a:r>
              <a:rPr lang="en-US" b="1" i="1" dirty="0" smtClean="0"/>
              <a:t>R</a:t>
            </a:r>
            <a:r>
              <a:rPr lang="en-US" b="1" baseline="-25000" dirty="0" smtClean="0">
                <a:latin typeface="Cambria Math" pitchFamily="18" charset="0"/>
                <a:ea typeface="Cambria Math" pitchFamily="18" charset="0"/>
              </a:rPr>
              <a:t>2</a:t>
            </a:r>
            <a:r>
              <a:rPr lang="en-US" dirty="0" smtClean="0"/>
              <a:t>, </a:t>
            </a:r>
            <a:r>
              <a:rPr lang="en-US" b="1" i="1" dirty="0" smtClean="0"/>
              <a:t>R</a:t>
            </a:r>
            <a:r>
              <a:rPr lang="en-US" b="1" baseline="-25000" dirty="0" smtClean="0">
                <a:latin typeface="Cambria Math" pitchFamily="18" charset="0"/>
                <a:ea typeface="Cambria Math" pitchFamily="18" charset="0"/>
              </a:rPr>
              <a:t>1</a:t>
            </a:r>
            <a:r>
              <a:rPr lang="en-US" b="1" dirty="0" smtClean="0"/>
              <a:t> </a:t>
            </a:r>
            <a:r>
              <a:rPr lang="en-US" b="1" dirty="0" smtClean="0">
                <a:latin typeface="Cambria Math"/>
                <a:ea typeface="Cambria Math"/>
              </a:rPr>
              <a:t>∩</a:t>
            </a:r>
            <a:r>
              <a:rPr lang="en-US" b="1" dirty="0" smtClean="0"/>
              <a:t> </a:t>
            </a:r>
            <a:r>
              <a:rPr lang="en-US" b="1" i="1" dirty="0" smtClean="0"/>
              <a:t>R</a:t>
            </a:r>
            <a:r>
              <a:rPr lang="en-US" b="1" baseline="-25000" dirty="0" smtClean="0">
                <a:latin typeface="Cambria Math" pitchFamily="18" charset="0"/>
                <a:ea typeface="Cambria Math" pitchFamily="18" charset="0"/>
              </a:rPr>
              <a:t>2</a:t>
            </a:r>
            <a:r>
              <a:rPr lang="en-US" dirty="0" smtClean="0"/>
              <a:t>, </a:t>
            </a:r>
            <a:r>
              <a:rPr lang="en-US" b="1" i="1" dirty="0" smtClean="0"/>
              <a:t>R</a:t>
            </a:r>
            <a:r>
              <a:rPr lang="en-US" b="1" baseline="-25000" dirty="0" smtClean="0">
                <a:latin typeface="Cambria Math" pitchFamily="18" charset="0"/>
                <a:ea typeface="Cambria Math" pitchFamily="18" charset="0"/>
              </a:rPr>
              <a:t>1</a:t>
            </a:r>
            <a:r>
              <a:rPr lang="en-US" b="1" dirty="0" smtClean="0"/>
              <a:t> </a:t>
            </a:r>
            <a:r>
              <a:rPr lang="en-US" b="1" dirty="0" smtClean="0">
                <a:latin typeface="Cambria Math"/>
                <a:ea typeface="Cambria Math"/>
              </a:rPr>
              <a:t>− </a:t>
            </a:r>
            <a:r>
              <a:rPr lang="en-US" b="1" i="1" dirty="0" smtClean="0"/>
              <a:t>R</a:t>
            </a:r>
            <a:r>
              <a:rPr lang="en-US" b="1" baseline="-25000" dirty="0" smtClean="0">
                <a:latin typeface="Cambria Math" pitchFamily="18" charset="0"/>
                <a:ea typeface="Cambria Math" pitchFamily="18" charset="0"/>
              </a:rPr>
              <a:t>2</a:t>
            </a:r>
            <a:r>
              <a:rPr lang="en-US" dirty="0" smtClean="0"/>
              <a:t>, and</a:t>
            </a:r>
            <a:r>
              <a:rPr lang="en-US" i="1" dirty="0" smtClean="0"/>
              <a:t> </a:t>
            </a:r>
            <a:r>
              <a:rPr lang="en-US" b="1" i="1" dirty="0" smtClean="0"/>
              <a:t>R</a:t>
            </a:r>
            <a:r>
              <a:rPr lang="en-US" b="1" baseline="-25000" dirty="0" smtClean="0">
                <a:latin typeface="Cambria Math" pitchFamily="18" charset="0"/>
                <a:ea typeface="Cambria Math" pitchFamily="18" charset="0"/>
              </a:rPr>
              <a:t>2</a:t>
            </a:r>
            <a:r>
              <a:rPr lang="en-US" b="1" dirty="0" smtClean="0"/>
              <a:t> </a:t>
            </a:r>
            <a:r>
              <a:rPr lang="en-US" b="1" dirty="0" smtClean="0">
                <a:latin typeface="Cambria Math"/>
                <a:ea typeface="Cambria Math"/>
              </a:rPr>
              <a:t>−</a:t>
            </a:r>
            <a:r>
              <a:rPr lang="en-US" b="1" dirty="0" smtClean="0"/>
              <a:t> </a:t>
            </a:r>
            <a:r>
              <a:rPr lang="en-US" b="1" i="1" dirty="0" smtClean="0"/>
              <a:t>R</a:t>
            </a:r>
            <a:r>
              <a:rPr lang="en-US" b="1" baseline="-25000" dirty="0" smtClean="0">
                <a:latin typeface="Cambria Math" pitchFamily="18" charset="0"/>
                <a:ea typeface="Cambria Math" pitchFamily="18" charset="0"/>
              </a:rPr>
              <a:t>1</a:t>
            </a:r>
            <a:r>
              <a:rPr lang="en-US" dirty="0" smtClean="0"/>
              <a:t>.</a:t>
            </a:r>
          </a:p>
          <a:p>
            <a:r>
              <a:rPr lang="en-US" b="1" dirty="0" smtClean="0"/>
              <a:t>Example</a:t>
            </a:r>
            <a:r>
              <a:rPr lang="en-US" dirty="0" smtClean="0"/>
              <a:t>: Let </a:t>
            </a:r>
            <a:r>
              <a:rPr lang="en-US" i="1" dirty="0" smtClean="0"/>
              <a:t>A</a:t>
            </a:r>
            <a:r>
              <a:rPr lang="en-US" dirty="0" smtClean="0"/>
              <a:t> = {</a:t>
            </a:r>
            <a:r>
              <a:rPr lang="en-US" dirty="0" smtClean="0">
                <a:latin typeface="Cambria Math" pitchFamily="18" charset="0"/>
                <a:ea typeface="Cambria Math" pitchFamily="18" charset="0"/>
              </a:rPr>
              <a:t>1,2,3</a:t>
            </a:r>
            <a:r>
              <a:rPr lang="en-US" dirty="0" smtClean="0"/>
              <a:t>}</a:t>
            </a:r>
            <a:r>
              <a:rPr lang="en-US" i="1" dirty="0" smtClean="0"/>
              <a:t> </a:t>
            </a:r>
            <a:r>
              <a:rPr lang="en-US" dirty="0" smtClean="0"/>
              <a:t>and </a:t>
            </a:r>
            <a:r>
              <a:rPr lang="en-US" i="1" dirty="0" smtClean="0"/>
              <a:t>B</a:t>
            </a:r>
            <a:r>
              <a:rPr lang="en-US" dirty="0" smtClean="0"/>
              <a:t> </a:t>
            </a:r>
            <a:r>
              <a:rPr lang="en-US" i="1" dirty="0" smtClean="0"/>
              <a:t>= </a:t>
            </a:r>
            <a:r>
              <a:rPr lang="en-US" dirty="0" smtClean="0"/>
              <a:t>{</a:t>
            </a:r>
            <a:r>
              <a:rPr lang="en-US" dirty="0" smtClean="0">
                <a:latin typeface="Cambria Math" pitchFamily="18" charset="0"/>
                <a:ea typeface="Cambria Math" pitchFamily="18" charset="0"/>
              </a:rPr>
              <a:t>1,2,3,4</a:t>
            </a:r>
            <a:r>
              <a:rPr lang="en-US" dirty="0" smtClean="0"/>
              <a:t>}. The relations </a:t>
            </a:r>
            <a:r>
              <a:rPr lang="en-US" i="1" dirty="0" smtClean="0"/>
              <a:t>R</a:t>
            </a:r>
            <a:r>
              <a:rPr lang="en-US" baseline="-25000" dirty="0" smtClean="0">
                <a:latin typeface="Cambria Math" pitchFamily="18" charset="0"/>
                <a:ea typeface="Cambria Math" pitchFamily="18" charset="0"/>
              </a:rPr>
              <a:t>1</a:t>
            </a:r>
            <a:r>
              <a:rPr lang="en-US" dirty="0" smtClean="0"/>
              <a:t> = {(</a:t>
            </a:r>
            <a:r>
              <a:rPr lang="en-US" dirty="0" smtClean="0">
                <a:latin typeface="Cambria Math" pitchFamily="18" charset="0"/>
                <a:ea typeface="Cambria Math" pitchFamily="18" charset="0"/>
              </a:rPr>
              <a:t>1,1</a:t>
            </a:r>
            <a:r>
              <a:rPr lang="en-US" dirty="0" smtClean="0"/>
              <a:t>),(</a:t>
            </a:r>
            <a:r>
              <a:rPr lang="en-US" dirty="0" smtClean="0">
                <a:latin typeface="Cambria Math" pitchFamily="18" charset="0"/>
                <a:ea typeface="Cambria Math" pitchFamily="18" charset="0"/>
              </a:rPr>
              <a:t>2,2</a:t>
            </a:r>
            <a:r>
              <a:rPr lang="en-US" dirty="0" smtClean="0"/>
              <a:t>),(</a:t>
            </a:r>
            <a:r>
              <a:rPr lang="en-US" dirty="0" smtClean="0">
                <a:latin typeface="Cambria Math" pitchFamily="18" charset="0"/>
                <a:ea typeface="Cambria Math" pitchFamily="18" charset="0"/>
              </a:rPr>
              <a:t>3,3</a:t>
            </a:r>
            <a:r>
              <a:rPr lang="en-US" dirty="0" smtClean="0"/>
              <a:t>)} and                              </a:t>
            </a:r>
            <a:r>
              <a:rPr lang="en-US" i="1" dirty="0" smtClean="0"/>
              <a:t>R</a:t>
            </a:r>
            <a:r>
              <a:rPr lang="en-US" baseline="-25000" dirty="0" smtClean="0">
                <a:latin typeface="Cambria Math" pitchFamily="18" charset="0"/>
                <a:ea typeface="Cambria Math" pitchFamily="18" charset="0"/>
              </a:rPr>
              <a:t>2</a:t>
            </a:r>
            <a:r>
              <a:rPr lang="en-US" dirty="0" smtClean="0"/>
              <a:t> = {(</a:t>
            </a:r>
            <a:r>
              <a:rPr lang="en-US" dirty="0" smtClean="0">
                <a:latin typeface="Cambria Math" pitchFamily="18" charset="0"/>
                <a:ea typeface="Cambria Math" pitchFamily="18" charset="0"/>
              </a:rPr>
              <a:t>1,1</a:t>
            </a:r>
            <a:r>
              <a:rPr lang="en-US" dirty="0" smtClean="0"/>
              <a:t>),(</a:t>
            </a:r>
            <a:r>
              <a:rPr lang="en-US" dirty="0" smtClean="0">
                <a:latin typeface="Cambria Math" pitchFamily="18" charset="0"/>
                <a:ea typeface="Cambria Math" pitchFamily="18" charset="0"/>
              </a:rPr>
              <a:t>1,2</a:t>
            </a:r>
            <a:r>
              <a:rPr lang="en-US" dirty="0" smtClean="0"/>
              <a:t>),(</a:t>
            </a:r>
            <a:r>
              <a:rPr lang="en-US" dirty="0" smtClean="0">
                <a:latin typeface="Cambria Math" pitchFamily="18" charset="0"/>
                <a:ea typeface="Cambria Math" pitchFamily="18" charset="0"/>
              </a:rPr>
              <a:t>1,3</a:t>
            </a:r>
            <a:r>
              <a:rPr lang="en-US" dirty="0" smtClean="0"/>
              <a:t>),(</a:t>
            </a:r>
            <a:r>
              <a:rPr lang="en-US" dirty="0" smtClean="0">
                <a:latin typeface="Cambria Math" pitchFamily="18" charset="0"/>
                <a:ea typeface="Cambria Math" pitchFamily="18" charset="0"/>
              </a:rPr>
              <a:t>1,4</a:t>
            </a:r>
            <a:r>
              <a:rPr lang="en-US" dirty="0" smtClean="0"/>
              <a:t>)} can be combined using basic set operations to form new relations:</a:t>
            </a:r>
          </a:p>
          <a:p>
            <a:pPr marL="0" indent="0">
              <a:buNone/>
            </a:pPr>
            <a:r>
              <a:rPr lang="en-US" dirty="0" smtClean="0"/>
              <a:t>   </a:t>
            </a:r>
            <a:r>
              <a:rPr lang="en-US" sz="2000" b="1" dirty="0" smtClean="0">
                <a:solidFill>
                  <a:srgbClr val="0070C0"/>
                </a:solidFill>
              </a:rPr>
              <a:t>Take </a:t>
            </a:r>
            <a:r>
              <a:rPr lang="en-US" sz="2000" b="1" dirty="0">
                <a:solidFill>
                  <a:srgbClr val="0070C0"/>
                </a:solidFill>
              </a:rPr>
              <a:t>all pairs that are in R1 OR in R2</a:t>
            </a:r>
          </a:p>
        </p:txBody>
      </p:sp>
      <p:sp>
        <p:nvSpPr>
          <p:cNvPr id="8" name="TextBox 7"/>
          <p:cNvSpPr txBox="1"/>
          <p:nvPr/>
        </p:nvSpPr>
        <p:spPr>
          <a:xfrm>
            <a:off x="533400" y="4362018"/>
            <a:ext cx="7086600" cy="461665"/>
          </a:xfrm>
          <a:prstGeom prst="rect">
            <a:avLst/>
          </a:prstGeom>
          <a:noFill/>
        </p:spPr>
        <p:txBody>
          <a:bodyPr wrap="square" rtlCol="0">
            <a:spAutoFit/>
          </a:bodyPr>
          <a:lstStyle/>
          <a:p>
            <a:r>
              <a:rPr lang="en-US" sz="2400" b="1" i="1" dirty="0" smtClean="0"/>
              <a:t>R</a:t>
            </a:r>
            <a:r>
              <a:rPr lang="en-US" sz="2400" b="1" baseline="-25000" dirty="0" smtClean="0">
                <a:latin typeface="Cambria Math" pitchFamily="18" charset="0"/>
                <a:ea typeface="Cambria Math" pitchFamily="18" charset="0"/>
              </a:rPr>
              <a:t>1</a:t>
            </a:r>
            <a:r>
              <a:rPr lang="en-US" sz="2400" b="1" dirty="0" smtClean="0"/>
              <a:t> </a:t>
            </a:r>
            <a:r>
              <a:rPr lang="en-US" sz="2400" b="1" dirty="0" smtClean="0">
                <a:latin typeface="Cambria Math"/>
                <a:ea typeface="Cambria Math"/>
              </a:rPr>
              <a:t>∪</a:t>
            </a:r>
            <a:r>
              <a:rPr lang="en-US" sz="2400" b="1" dirty="0" smtClean="0"/>
              <a:t> </a:t>
            </a:r>
            <a:r>
              <a:rPr lang="en-US" sz="2400" b="1" i="1" dirty="0" smtClean="0"/>
              <a:t>R</a:t>
            </a:r>
            <a:r>
              <a:rPr lang="en-US" sz="2400" b="1" baseline="-25000" dirty="0" smtClean="0">
                <a:latin typeface="Cambria Math" pitchFamily="18" charset="0"/>
                <a:ea typeface="Cambria Math" pitchFamily="18" charset="0"/>
              </a:rPr>
              <a:t>2 </a:t>
            </a:r>
            <a:r>
              <a:rPr lang="en-US" sz="2400" b="1" dirty="0" smtClean="0"/>
              <a:t>={(</a:t>
            </a:r>
            <a:r>
              <a:rPr lang="en-US" sz="2400" b="1" dirty="0" smtClean="0">
                <a:latin typeface="Cambria Math" pitchFamily="18" charset="0"/>
                <a:ea typeface="Cambria Math" pitchFamily="18" charset="0"/>
              </a:rPr>
              <a:t>1,1</a:t>
            </a:r>
            <a:r>
              <a:rPr lang="en-US" sz="2400" b="1" dirty="0" smtClean="0"/>
              <a:t>),(</a:t>
            </a:r>
            <a:r>
              <a:rPr lang="en-US" sz="2400" b="1" dirty="0" smtClean="0">
                <a:latin typeface="Cambria Math" pitchFamily="18" charset="0"/>
                <a:ea typeface="Cambria Math" pitchFamily="18" charset="0"/>
              </a:rPr>
              <a:t>1,2</a:t>
            </a:r>
            <a:r>
              <a:rPr lang="en-US" sz="2400" b="1" dirty="0" smtClean="0"/>
              <a:t>),(</a:t>
            </a:r>
            <a:r>
              <a:rPr lang="en-US" sz="2400" b="1" dirty="0" smtClean="0">
                <a:latin typeface="Cambria Math" pitchFamily="18" charset="0"/>
                <a:ea typeface="Cambria Math" pitchFamily="18" charset="0"/>
              </a:rPr>
              <a:t>1,3</a:t>
            </a:r>
            <a:r>
              <a:rPr lang="en-US" sz="2400" b="1" dirty="0" smtClean="0"/>
              <a:t>),(</a:t>
            </a:r>
            <a:r>
              <a:rPr lang="en-US" sz="2400" b="1" dirty="0" smtClean="0">
                <a:latin typeface="Cambria Math" pitchFamily="18" charset="0"/>
                <a:ea typeface="Cambria Math" pitchFamily="18" charset="0"/>
              </a:rPr>
              <a:t>1,4</a:t>
            </a:r>
            <a:r>
              <a:rPr lang="en-US" sz="2400" b="1" dirty="0" smtClean="0"/>
              <a:t>),(</a:t>
            </a:r>
            <a:r>
              <a:rPr lang="en-US" sz="2400" b="1" dirty="0" smtClean="0">
                <a:latin typeface="Cambria Math" pitchFamily="18" charset="0"/>
                <a:ea typeface="Cambria Math" pitchFamily="18" charset="0"/>
              </a:rPr>
              <a:t>2,2</a:t>
            </a:r>
            <a:r>
              <a:rPr lang="en-US" sz="2400" b="1" dirty="0" smtClean="0"/>
              <a:t>),(</a:t>
            </a:r>
            <a:r>
              <a:rPr lang="en-US" sz="2400" b="1" dirty="0" smtClean="0">
                <a:latin typeface="Cambria Math" pitchFamily="18" charset="0"/>
                <a:ea typeface="Cambria Math" pitchFamily="18" charset="0"/>
              </a:rPr>
              <a:t>3,3</a:t>
            </a:r>
            <a:r>
              <a:rPr lang="en-US" sz="2400" b="1" dirty="0" smtClean="0"/>
              <a:t>)} </a:t>
            </a:r>
            <a:endParaRPr lang="en-US" sz="2400" b="1" dirty="0"/>
          </a:p>
        </p:txBody>
      </p:sp>
      <p:sp>
        <p:nvSpPr>
          <p:cNvPr id="9" name="TextBox 8"/>
          <p:cNvSpPr txBox="1"/>
          <p:nvPr/>
        </p:nvSpPr>
        <p:spPr>
          <a:xfrm>
            <a:off x="533400" y="5024735"/>
            <a:ext cx="7772400" cy="769441"/>
          </a:xfrm>
          <a:prstGeom prst="rect">
            <a:avLst/>
          </a:prstGeom>
          <a:noFill/>
        </p:spPr>
        <p:txBody>
          <a:bodyPr wrap="square" rtlCol="0">
            <a:spAutoFit/>
          </a:bodyPr>
          <a:lstStyle/>
          <a:p>
            <a:r>
              <a:rPr lang="en-US" sz="2000" b="1" dirty="0">
                <a:solidFill>
                  <a:srgbClr val="0070C0"/>
                </a:solidFill>
              </a:rPr>
              <a:t>Take only pairs that are in BOTH R1 AND R2</a:t>
            </a:r>
            <a:r>
              <a:rPr lang="en-US" sz="2800" i="1" dirty="0" smtClean="0"/>
              <a:t/>
            </a:r>
            <a:br>
              <a:rPr lang="en-US" sz="2800" i="1" dirty="0" smtClean="0"/>
            </a:br>
            <a:r>
              <a:rPr lang="en-US" sz="2400" b="1" i="1" dirty="0" smtClean="0"/>
              <a:t>R</a:t>
            </a:r>
            <a:r>
              <a:rPr lang="en-US" sz="2400" b="1" baseline="-25000" dirty="0" smtClean="0">
                <a:latin typeface="Cambria Math" pitchFamily="18" charset="0"/>
                <a:ea typeface="Cambria Math" pitchFamily="18" charset="0"/>
              </a:rPr>
              <a:t>1</a:t>
            </a:r>
            <a:r>
              <a:rPr lang="en-US" sz="2400" b="1" dirty="0" smtClean="0"/>
              <a:t> </a:t>
            </a:r>
            <a:r>
              <a:rPr lang="en-US" sz="2400" b="1" dirty="0" smtClean="0">
                <a:latin typeface="Cambria Math"/>
                <a:ea typeface="Cambria Math"/>
              </a:rPr>
              <a:t>∩</a:t>
            </a:r>
            <a:r>
              <a:rPr lang="en-US" sz="2400" b="1" dirty="0" smtClean="0"/>
              <a:t> </a:t>
            </a:r>
            <a:r>
              <a:rPr lang="en-US" sz="2400" b="1" i="1" dirty="0" smtClean="0"/>
              <a:t>R</a:t>
            </a:r>
            <a:r>
              <a:rPr lang="en-US" sz="2400" b="1" baseline="-25000" dirty="0" smtClean="0">
                <a:latin typeface="Cambria Math" pitchFamily="18" charset="0"/>
                <a:ea typeface="Cambria Math" pitchFamily="18" charset="0"/>
              </a:rPr>
              <a:t>2 </a:t>
            </a:r>
            <a:r>
              <a:rPr lang="en-US" sz="2400" b="1" dirty="0" smtClean="0"/>
              <a:t>={(</a:t>
            </a:r>
            <a:r>
              <a:rPr lang="en-US" sz="2400" b="1" dirty="0" smtClean="0">
                <a:latin typeface="Cambria Math" pitchFamily="18" charset="0"/>
                <a:ea typeface="Cambria Math" pitchFamily="18" charset="0"/>
              </a:rPr>
              <a:t>1,1</a:t>
            </a:r>
            <a:r>
              <a:rPr lang="en-US" sz="2400" b="1" dirty="0" smtClean="0"/>
              <a:t>)} </a:t>
            </a:r>
            <a:endParaRPr lang="en-US" sz="2400" b="1" dirty="0"/>
          </a:p>
        </p:txBody>
      </p:sp>
      <p:sp>
        <p:nvSpPr>
          <p:cNvPr id="10" name="TextBox 9"/>
          <p:cNvSpPr txBox="1"/>
          <p:nvPr/>
        </p:nvSpPr>
        <p:spPr>
          <a:xfrm>
            <a:off x="4343400" y="5342379"/>
            <a:ext cx="5638800" cy="1200329"/>
          </a:xfrm>
          <a:prstGeom prst="rect">
            <a:avLst/>
          </a:prstGeom>
          <a:noFill/>
        </p:spPr>
        <p:txBody>
          <a:bodyPr wrap="square" rtlCol="0">
            <a:spAutoFit/>
          </a:bodyPr>
          <a:lstStyle/>
          <a:p>
            <a:r>
              <a:rPr lang="en-US" sz="2000" b="1" dirty="0">
                <a:solidFill>
                  <a:srgbClr val="0070C0"/>
                </a:solidFill>
              </a:rPr>
              <a:t>Take pairs that are in R1 but NOT in </a:t>
            </a:r>
            <a:r>
              <a:rPr lang="en-US" sz="2000" b="1" dirty="0" smtClean="0">
                <a:solidFill>
                  <a:srgbClr val="0070C0"/>
                </a:solidFill>
              </a:rPr>
              <a:t>R2</a:t>
            </a:r>
            <a:r>
              <a:rPr lang="en-US" sz="2800" b="1" i="1" dirty="0" smtClean="0">
                <a:solidFill>
                  <a:srgbClr val="0070C0"/>
                </a:solidFill>
              </a:rPr>
              <a:t/>
            </a:r>
            <a:br>
              <a:rPr lang="en-US" sz="2800" b="1" i="1" dirty="0" smtClean="0">
                <a:solidFill>
                  <a:srgbClr val="0070C0"/>
                </a:solidFill>
              </a:rPr>
            </a:br>
            <a:r>
              <a:rPr lang="en-US" sz="2400" b="1" i="1" dirty="0" smtClean="0"/>
              <a:t>R</a:t>
            </a:r>
            <a:r>
              <a:rPr lang="en-US" sz="2400" b="1" baseline="-25000" dirty="0" smtClean="0">
                <a:latin typeface="Cambria Math" pitchFamily="18" charset="0"/>
                <a:ea typeface="Cambria Math" pitchFamily="18" charset="0"/>
              </a:rPr>
              <a:t>1</a:t>
            </a:r>
            <a:r>
              <a:rPr lang="en-US" sz="2400" b="1" dirty="0" smtClean="0"/>
              <a:t> </a:t>
            </a:r>
            <a:r>
              <a:rPr lang="en-US" sz="2400" b="1" dirty="0" smtClean="0">
                <a:latin typeface="Cambria Math"/>
                <a:ea typeface="Cambria Math"/>
              </a:rPr>
              <a:t>− </a:t>
            </a:r>
            <a:r>
              <a:rPr lang="en-US" sz="2400" b="1" i="1" dirty="0" smtClean="0"/>
              <a:t>R</a:t>
            </a:r>
            <a:r>
              <a:rPr lang="en-US" sz="2400" b="1" baseline="-25000" dirty="0" smtClean="0">
                <a:latin typeface="Cambria Math" pitchFamily="18" charset="0"/>
                <a:ea typeface="Cambria Math" pitchFamily="18" charset="0"/>
              </a:rPr>
              <a:t>2 </a:t>
            </a:r>
            <a:r>
              <a:rPr lang="en-US" sz="2400" b="1" dirty="0" smtClean="0"/>
              <a:t>={(</a:t>
            </a:r>
            <a:r>
              <a:rPr lang="en-US" sz="2400" b="1" dirty="0" smtClean="0">
                <a:latin typeface="Cambria Math" pitchFamily="18" charset="0"/>
                <a:ea typeface="Cambria Math" pitchFamily="18" charset="0"/>
              </a:rPr>
              <a:t>2,2</a:t>
            </a:r>
            <a:r>
              <a:rPr lang="en-US" sz="2400" b="1" dirty="0" smtClean="0"/>
              <a:t>),(</a:t>
            </a:r>
            <a:r>
              <a:rPr lang="en-US" sz="2400" b="1" dirty="0" smtClean="0">
                <a:latin typeface="Cambria Math" pitchFamily="18" charset="0"/>
                <a:ea typeface="Cambria Math" pitchFamily="18" charset="0"/>
              </a:rPr>
              <a:t>3,3</a:t>
            </a:r>
            <a:r>
              <a:rPr lang="en-US" sz="2400" b="1" dirty="0" smtClean="0"/>
              <a:t>)}</a:t>
            </a:r>
            <a:br>
              <a:rPr lang="en-US" sz="2400" b="1" dirty="0" smtClean="0"/>
            </a:br>
            <a:r>
              <a:rPr lang="en-US" sz="2800" dirty="0" smtClean="0"/>
              <a:t> </a:t>
            </a:r>
            <a:endParaRPr lang="en-US" sz="2800" dirty="0"/>
          </a:p>
        </p:txBody>
      </p:sp>
      <p:sp>
        <p:nvSpPr>
          <p:cNvPr id="11" name="TextBox 10"/>
          <p:cNvSpPr txBox="1"/>
          <p:nvPr/>
        </p:nvSpPr>
        <p:spPr>
          <a:xfrm>
            <a:off x="533400" y="6088559"/>
            <a:ext cx="7848600" cy="769441"/>
          </a:xfrm>
          <a:prstGeom prst="rect">
            <a:avLst/>
          </a:prstGeom>
          <a:noFill/>
        </p:spPr>
        <p:txBody>
          <a:bodyPr wrap="square" rtlCol="0">
            <a:spAutoFit/>
          </a:bodyPr>
          <a:lstStyle/>
          <a:p>
            <a:r>
              <a:rPr lang="en-US" sz="2000" b="1" dirty="0">
                <a:solidFill>
                  <a:srgbClr val="0070C0"/>
                </a:solidFill>
              </a:rPr>
              <a:t>Take pairs that are in R2 but NOT in R1</a:t>
            </a:r>
            <a:r>
              <a:rPr lang="en-US" sz="2000" b="1" i="1" dirty="0" smtClean="0">
                <a:solidFill>
                  <a:srgbClr val="0070C0"/>
                </a:solidFill>
              </a:rPr>
              <a:t/>
            </a:r>
            <a:br>
              <a:rPr lang="en-US" sz="2000" b="1" i="1" dirty="0" smtClean="0">
                <a:solidFill>
                  <a:srgbClr val="0070C0"/>
                </a:solidFill>
              </a:rPr>
            </a:br>
            <a:r>
              <a:rPr lang="en-US" sz="2400" b="1" i="1" dirty="0" smtClean="0"/>
              <a:t>R</a:t>
            </a:r>
            <a:r>
              <a:rPr lang="en-US" sz="2400" b="1" baseline="-25000" dirty="0" smtClean="0">
                <a:latin typeface="Cambria Math" pitchFamily="18" charset="0"/>
                <a:ea typeface="Cambria Math" pitchFamily="18" charset="0"/>
              </a:rPr>
              <a:t>2</a:t>
            </a:r>
            <a:r>
              <a:rPr lang="en-US" sz="2400" b="1" dirty="0" smtClean="0"/>
              <a:t> </a:t>
            </a:r>
            <a:r>
              <a:rPr lang="en-US" sz="2400" b="1" dirty="0" smtClean="0">
                <a:latin typeface="Cambria Math"/>
                <a:ea typeface="Cambria Math"/>
              </a:rPr>
              <a:t>−</a:t>
            </a:r>
            <a:r>
              <a:rPr lang="en-US" sz="2400" b="1" dirty="0" smtClean="0"/>
              <a:t> </a:t>
            </a:r>
            <a:r>
              <a:rPr lang="en-US" sz="2400" b="1" i="1" dirty="0" smtClean="0"/>
              <a:t>R</a:t>
            </a:r>
            <a:r>
              <a:rPr lang="en-US" sz="2400" b="1" baseline="-25000" dirty="0" smtClean="0">
                <a:latin typeface="Cambria Math" pitchFamily="18" charset="0"/>
                <a:ea typeface="Cambria Math" pitchFamily="18" charset="0"/>
              </a:rPr>
              <a:t>1 </a:t>
            </a:r>
            <a:r>
              <a:rPr lang="en-US" sz="2400" b="1" dirty="0" smtClean="0"/>
              <a:t>={(</a:t>
            </a:r>
            <a:r>
              <a:rPr lang="en-US" sz="2400" b="1" dirty="0" smtClean="0">
                <a:latin typeface="Cambria Math" pitchFamily="18" charset="0"/>
                <a:ea typeface="Cambria Math" pitchFamily="18" charset="0"/>
              </a:rPr>
              <a:t>1,2</a:t>
            </a:r>
            <a:r>
              <a:rPr lang="en-US" sz="2400" b="1" dirty="0" smtClean="0"/>
              <a:t>),(</a:t>
            </a:r>
            <a:r>
              <a:rPr lang="en-US" sz="2400" b="1" dirty="0" smtClean="0">
                <a:latin typeface="Cambria Math" pitchFamily="18" charset="0"/>
                <a:ea typeface="Cambria Math" pitchFamily="18" charset="0"/>
              </a:rPr>
              <a:t>1,3</a:t>
            </a:r>
            <a:r>
              <a:rPr lang="en-US" sz="2400" b="1" dirty="0" smtClean="0"/>
              <a:t>),(</a:t>
            </a:r>
            <a:r>
              <a:rPr lang="en-US" sz="2400" b="1" dirty="0" smtClean="0">
                <a:latin typeface="Cambria Math" pitchFamily="18" charset="0"/>
                <a:ea typeface="Cambria Math" pitchFamily="18" charset="0"/>
              </a:rPr>
              <a:t>1,4</a:t>
            </a:r>
            <a:r>
              <a:rPr lang="en-US" sz="2400" b="1" dirty="0" smtClean="0"/>
              <a:t>)} </a:t>
            </a:r>
            <a:endParaRPr lang="en-US" sz="24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Composition</a:t>
            </a:r>
            <a:endParaRPr lang="en-US" dirty="0"/>
          </a:p>
        </p:txBody>
      </p:sp>
      <p:sp>
        <p:nvSpPr>
          <p:cNvPr id="3" name="Content Placeholder 2"/>
          <p:cNvSpPr>
            <a:spLocks noGrp="1"/>
          </p:cNvSpPr>
          <p:nvPr>
            <p:ph idx="1"/>
          </p:nvPr>
        </p:nvSpPr>
        <p:spPr/>
        <p:txBody>
          <a:bodyPr/>
          <a:lstStyle/>
          <a:p>
            <a:pPr>
              <a:buNone/>
            </a:pPr>
            <a:r>
              <a:rPr lang="en-US" b="1" dirty="0" smtClean="0"/>
              <a:t>   Definition:</a:t>
            </a:r>
            <a:r>
              <a:rPr lang="en-US" dirty="0" smtClean="0"/>
              <a:t> Connect </a:t>
            </a:r>
            <a:r>
              <a:rPr lang="en-US" dirty="0"/>
              <a:t>two relations by matching the middle element.</a:t>
            </a:r>
            <a:endParaRPr lang="en-US" dirty="0" smtClean="0"/>
          </a:p>
          <a:p>
            <a:pPr>
              <a:buNone/>
            </a:pPr>
            <a:r>
              <a:rPr lang="en-US" dirty="0" smtClean="0"/>
              <a:t>Suppose</a:t>
            </a:r>
          </a:p>
          <a:p>
            <a:pPr lvl="1"/>
            <a:r>
              <a:rPr lang="en-US" b="1" i="1" dirty="0" smtClean="0"/>
              <a:t>R</a:t>
            </a:r>
            <a:r>
              <a:rPr lang="en-US" b="1" baseline="-25000" dirty="0" smtClean="0">
                <a:latin typeface="Cambria Math" pitchFamily="18" charset="0"/>
                <a:ea typeface="Cambria Math" pitchFamily="18" charset="0"/>
              </a:rPr>
              <a:t>1</a:t>
            </a:r>
            <a:r>
              <a:rPr lang="en-US" dirty="0" smtClean="0"/>
              <a:t> is a relation from a </a:t>
            </a:r>
            <a:r>
              <a:rPr lang="en-US" b="1" dirty="0" smtClean="0"/>
              <a:t>set </a:t>
            </a:r>
            <a:r>
              <a:rPr lang="en-US" b="1" i="1" dirty="0" smtClean="0"/>
              <a:t>A</a:t>
            </a:r>
            <a:r>
              <a:rPr lang="en-US" dirty="0" smtClean="0"/>
              <a:t> to a </a:t>
            </a:r>
            <a:r>
              <a:rPr lang="en-US" b="1" dirty="0" smtClean="0"/>
              <a:t>set </a:t>
            </a:r>
            <a:r>
              <a:rPr lang="en-US" b="1" i="1" dirty="0" smtClean="0"/>
              <a:t>B</a:t>
            </a:r>
            <a:r>
              <a:rPr lang="en-US" dirty="0" smtClean="0"/>
              <a:t>.</a:t>
            </a:r>
          </a:p>
          <a:p>
            <a:pPr lvl="1"/>
            <a:r>
              <a:rPr lang="en-US" b="1" i="1" dirty="0" smtClean="0"/>
              <a:t>R</a:t>
            </a:r>
            <a:r>
              <a:rPr lang="en-US" b="1" baseline="-25000" dirty="0" smtClean="0">
                <a:latin typeface="Cambria Math" pitchFamily="18" charset="0"/>
                <a:ea typeface="Cambria Math" pitchFamily="18" charset="0"/>
              </a:rPr>
              <a:t>2</a:t>
            </a:r>
            <a:r>
              <a:rPr lang="en-US" dirty="0" smtClean="0"/>
              <a:t> is a relation from </a:t>
            </a:r>
            <a:r>
              <a:rPr lang="en-US" b="1" i="1" dirty="0" smtClean="0"/>
              <a:t>B</a:t>
            </a:r>
            <a:r>
              <a:rPr lang="en-US" dirty="0" smtClean="0"/>
              <a:t> to a </a:t>
            </a:r>
            <a:r>
              <a:rPr lang="en-US" b="1" dirty="0" smtClean="0"/>
              <a:t>set </a:t>
            </a:r>
            <a:r>
              <a:rPr lang="en-US" b="1" i="1" dirty="0" smtClean="0"/>
              <a:t>C</a:t>
            </a:r>
            <a:r>
              <a:rPr lang="en-US" dirty="0" smtClean="0"/>
              <a:t>.</a:t>
            </a:r>
          </a:p>
          <a:p>
            <a:pPr>
              <a:buNone/>
            </a:pPr>
            <a:r>
              <a:rPr lang="en-US" dirty="0" smtClean="0"/>
              <a:t>   Then the </a:t>
            </a:r>
            <a:r>
              <a:rPr lang="en-US" i="1" dirty="0" smtClean="0"/>
              <a:t>composition</a:t>
            </a:r>
            <a:r>
              <a:rPr lang="en-US" dirty="0" smtClean="0"/>
              <a:t> (or </a:t>
            </a:r>
            <a:r>
              <a:rPr lang="en-US" i="1" dirty="0" smtClean="0"/>
              <a:t>composite</a:t>
            </a:r>
            <a:r>
              <a:rPr lang="en-US" dirty="0" smtClean="0"/>
              <a:t>) of </a:t>
            </a:r>
            <a:r>
              <a:rPr lang="en-US" i="1" dirty="0" smtClean="0"/>
              <a:t>R</a:t>
            </a:r>
            <a:r>
              <a:rPr lang="en-US" baseline="-25000" dirty="0" smtClean="0">
                <a:latin typeface="Cambria Math" pitchFamily="18" charset="0"/>
                <a:ea typeface="Cambria Math" pitchFamily="18" charset="0"/>
              </a:rPr>
              <a:t>2</a:t>
            </a:r>
            <a:r>
              <a:rPr lang="en-US" b="1" baseline="-25000" dirty="0" smtClean="0"/>
              <a:t>  </a:t>
            </a:r>
            <a:r>
              <a:rPr lang="en-US" dirty="0" smtClean="0"/>
              <a:t>with</a:t>
            </a:r>
            <a:r>
              <a:rPr lang="en-US" b="1" baseline="-25000" dirty="0" smtClean="0"/>
              <a:t> </a:t>
            </a:r>
            <a:r>
              <a:rPr lang="en-US" i="1" dirty="0" smtClean="0"/>
              <a:t>R</a:t>
            </a:r>
            <a:r>
              <a:rPr lang="en-US" baseline="-25000" dirty="0" smtClean="0">
                <a:latin typeface="Cambria Math" pitchFamily="18" charset="0"/>
                <a:ea typeface="Cambria Math" pitchFamily="18" charset="0"/>
              </a:rPr>
              <a:t>1</a:t>
            </a:r>
            <a:r>
              <a:rPr lang="en-US" dirty="0" smtClean="0"/>
              <a:t>,</a:t>
            </a:r>
            <a:r>
              <a:rPr lang="en-US" b="1" dirty="0" smtClean="0"/>
              <a:t> </a:t>
            </a:r>
            <a:r>
              <a:rPr lang="en-US" dirty="0" smtClean="0"/>
              <a:t>is a relation from </a:t>
            </a:r>
            <a:r>
              <a:rPr lang="en-US" i="1" dirty="0" smtClean="0"/>
              <a:t>A</a:t>
            </a:r>
            <a:r>
              <a:rPr lang="en-US" dirty="0" smtClean="0"/>
              <a:t> to </a:t>
            </a:r>
            <a:r>
              <a:rPr lang="en-US" i="1" dirty="0" smtClean="0"/>
              <a:t>C</a:t>
            </a:r>
            <a:r>
              <a:rPr lang="en-US" dirty="0" smtClean="0"/>
              <a:t> where</a:t>
            </a:r>
          </a:p>
          <a:p>
            <a:pPr lvl="1"/>
            <a:r>
              <a:rPr lang="en-US" dirty="0" smtClean="0"/>
              <a:t>if (</a:t>
            </a:r>
            <a:r>
              <a:rPr lang="en-US" i="1" dirty="0" err="1" smtClean="0"/>
              <a:t>x,y</a:t>
            </a:r>
            <a:r>
              <a:rPr lang="en-US" dirty="0" smtClean="0"/>
              <a:t>)</a:t>
            </a:r>
            <a:r>
              <a:rPr lang="en-US" i="1" dirty="0" smtClean="0"/>
              <a:t> </a:t>
            </a:r>
            <a:r>
              <a:rPr lang="en-US" dirty="0" smtClean="0"/>
              <a:t>is a member of </a:t>
            </a:r>
            <a:r>
              <a:rPr lang="en-US" i="1" dirty="0" smtClean="0"/>
              <a:t>R</a:t>
            </a:r>
            <a:r>
              <a:rPr lang="en-US" baseline="-25000" dirty="0" smtClean="0">
                <a:latin typeface="Cambria Math" pitchFamily="18" charset="0"/>
                <a:ea typeface="Cambria Math" pitchFamily="18" charset="0"/>
              </a:rPr>
              <a:t>1</a:t>
            </a:r>
            <a:r>
              <a:rPr lang="en-US" b="1" dirty="0" smtClean="0"/>
              <a:t>  </a:t>
            </a:r>
            <a:r>
              <a:rPr lang="en-US" dirty="0" smtClean="0"/>
              <a:t>and</a:t>
            </a:r>
            <a:r>
              <a:rPr lang="en-US" b="1" dirty="0" smtClean="0"/>
              <a:t> </a:t>
            </a:r>
            <a:r>
              <a:rPr lang="en-US" dirty="0" smtClean="0"/>
              <a:t>(</a:t>
            </a:r>
            <a:r>
              <a:rPr lang="en-US" i="1" dirty="0" err="1" smtClean="0"/>
              <a:t>y,z</a:t>
            </a:r>
            <a:r>
              <a:rPr lang="en-US" dirty="0" smtClean="0"/>
              <a:t>)</a:t>
            </a:r>
            <a:r>
              <a:rPr lang="en-US" i="1" dirty="0" smtClean="0"/>
              <a:t>  </a:t>
            </a:r>
            <a:r>
              <a:rPr lang="en-US" dirty="0" smtClean="0"/>
              <a:t>is a member of </a:t>
            </a:r>
            <a:r>
              <a:rPr lang="en-US" i="1" dirty="0" smtClean="0"/>
              <a:t>R</a:t>
            </a:r>
            <a:r>
              <a:rPr lang="en-US" baseline="-25000" dirty="0" smtClean="0">
                <a:latin typeface="Cambria Math" pitchFamily="18" charset="0"/>
                <a:ea typeface="Cambria Math" pitchFamily="18" charset="0"/>
              </a:rPr>
              <a:t>2</a:t>
            </a:r>
            <a:r>
              <a:rPr lang="en-US" b="1" dirty="0" smtClean="0"/>
              <a:t>,</a:t>
            </a:r>
            <a:r>
              <a:rPr lang="en-US" dirty="0" smtClean="0"/>
              <a:t> then (</a:t>
            </a:r>
            <a:r>
              <a:rPr lang="en-US" i="1" dirty="0" err="1" smtClean="0"/>
              <a:t>x,z</a:t>
            </a:r>
            <a:r>
              <a:rPr lang="en-US" dirty="0" smtClean="0"/>
              <a:t>)</a:t>
            </a:r>
            <a:r>
              <a:rPr lang="en-US" i="1" dirty="0" smtClean="0"/>
              <a:t> </a:t>
            </a:r>
            <a:r>
              <a:rPr lang="en-US" dirty="0" smtClean="0"/>
              <a:t>is a member of </a:t>
            </a:r>
            <a:r>
              <a:rPr lang="en-US" i="1" dirty="0" smtClean="0"/>
              <a:t>R</a:t>
            </a:r>
            <a:r>
              <a:rPr lang="en-US" baseline="-25000" dirty="0" smtClean="0">
                <a:latin typeface="Cambria Math" pitchFamily="18" charset="0"/>
                <a:ea typeface="Cambria Math" pitchFamily="18" charset="0"/>
              </a:rPr>
              <a:t>2</a:t>
            </a:r>
            <a:r>
              <a:rPr lang="en-US" b="1" dirty="0" smtClean="0">
                <a:latin typeface="Cambria Math"/>
                <a:ea typeface="Cambria Math"/>
              </a:rPr>
              <a:t>∘</a:t>
            </a:r>
            <a:r>
              <a:rPr lang="en-US" dirty="0" smtClean="0"/>
              <a:t> </a:t>
            </a:r>
            <a:r>
              <a:rPr lang="en-US" i="1" dirty="0" smtClean="0"/>
              <a:t>R</a:t>
            </a:r>
            <a:r>
              <a:rPr lang="en-US" baseline="-25000" dirty="0" smtClean="0">
                <a:latin typeface="Cambria Math" pitchFamily="18" charset="0"/>
                <a:ea typeface="Cambria Math" pitchFamily="18" charset="0"/>
              </a:rPr>
              <a:t>1</a:t>
            </a:r>
            <a:r>
              <a:rPr lang="en-US" dirty="0" smtClean="0"/>
              <a:t>.</a:t>
            </a:r>
            <a:endParaRPr lang="en-US" i="1" dirty="0" smtClean="0"/>
          </a:p>
          <a:p>
            <a:pPr lvl="1"/>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81000"/>
            <a:ext cx="8229600" cy="1143000"/>
          </a:xfrm>
        </p:spPr>
        <p:txBody>
          <a:bodyPr>
            <a:normAutofit fontScale="90000"/>
          </a:bodyPr>
          <a:lstStyle/>
          <a:p>
            <a:r>
              <a:rPr lang="en-US" dirty="0" smtClean="0"/>
              <a:t>Representing the  Composition of a Relation</a:t>
            </a:r>
            <a:endParaRPr lang="en-US" dirty="0"/>
          </a:p>
        </p:txBody>
      </p:sp>
      <p:sp>
        <p:nvSpPr>
          <p:cNvPr id="4" name="Oval 3"/>
          <p:cNvSpPr/>
          <p:nvPr/>
        </p:nvSpPr>
        <p:spPr>
          <a:xfrm>
            <a:off x="2209800" y="2209800"/>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2209800" y="3124200"/>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2209800" y="4191000"/>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1371600" y="2133600"/>
            <a:ext cx="381000" cy="523220"/>
          </a:xfrm>
          <a:prstGeom prst="rect">
            <a:avLst/>
          </a:prstGeom>
          <a:noFill/>
        </p:spPr>
        <p:txBody>
          <a:bodyPr wrap="square" rtlCol="0">
            <a:spAutoFit/>
          </a:bodyPr>
          <a:lstStyle/>
          <a:p>
            <a:r>
              <a:rPr lang="en-US" sz="2800" i="1" dirty="0" smtClean="0"/>
              <a:t>a</a:t>
            </a:r>
            <a:endParaRPr lang="en-US" sz="2800" i="1" dirty="0"/>
          </a:p>
        </p:txBody>
      </p:sp>
      <p:sp>
        <p:nvSpPr>
          <p:cNvPr id="10" name="Oval 9"/>
          <p:cNvSpPr/>
          <p:nvPr/>
        </p:nvSpPr>
        <p:spPr>
          <a:xfrm>
            <a:off x="4495800" y="2057400"/>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4572000" y="2895600"/>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4572000" y="3886200"/>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4648200" y="4724400"/>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6705600" y="1676400"/>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6705600" y="2514600"/>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6705600" y="3352800"/>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6705600" y="4724400"/>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1447800" y="3048000"/>
            <a:ext cx="381000" cy="523220"/>
          </a:xfrm>
          <a:prstGeom prst="rect">
            <a:avLst/>
          </a:prstGeom>
          <a:noFill/>
        </p:spPr>
        <p:txBody>
          <a:bodyPr wrap="square" rtlCol="0">
            <a:spAutoFit/>
          </a:bodyPr>
          <a:lstStyle/>
          <a:p>
            <a:r>
              <a:rPr lang="en-US" sz="2800" i="1" dirty="0" smtClean="0"/>
              <a:t>b</a:t>
            </a:r>
            <a:endParaRPr lang="en-US" sz="2800" i="1" dirty="0"/>
          </a:p>
        </p:txBody>
      </p:sp>
      <p:sp>
        <p:nvSpPr>
          <p:cNvPr id="19" name="TextBox 18"/>
          <p:cNvSpPr txBox="1"/>
          <p:nvPr/>
        </p:nvSpPr>
        <p:spPr>
          <a:xfrm>
            <a:off x="1524000" y="4114800"/>
            <a:ext cx="381000" cy="523220"/>
          </a:xfrm>
          <a:prstGeom prst="rect">
            <a:avLst/>
          </a:prstGeom>
          <a:noFill/>
        </p:spPr>
        <p:txBody>
          <a:bodyPr wrap="square" rtlCol="0">
            <a:spAutoFit/>
          </a:bodyPr>
          <a:lstStyle/>
          <a:p>
            <a:r>
              <a:rPr lang="en-US" sz="2800" i="1" dirty="0" smtClean="0"/>
              <a:t>c</a:t>
            </a:r>
            <a:endParaRPr lang="en-US" sz="2800" i="1" dirty="0"/>
          </a:p>
        </p:txBody>
      </p:sp>
      <p:sp>
        <p:nvSpPr>
          <p:cNvPr id="20" name="TextBox 19"/>
          <p:cNvSpPr txBox="1"/>
          <p:nvPr/>
        </p:nvSpPr>
        <p:spPr>
          <a:xfrm>
            <a:off x="7467600" y="1676400"/>
            <a:ext cx="381000" cy="523220"/>
          </a:xfrm>
          <a:prstGeom prst="rect">
            <a:avLst/>
          </a:prstGeom>
          <a:noFill/>
        </p:spPr>
        <p:txBody>
          <a:bodyPr wrap="square" rtlCol="0">
            <a:spAutoFit/>
          </a:bodyPr>
          <a:lstStyle/>
          <a:p>
            <a:r>
              <a:rPr lang="en-US" sz="2800" i="1" dirty="0" smtClean="0"/>
              <a:t>w</a:t>
            </a:r>
            <a:endParaRPr lang="en-US" sz="2800" i="1" dirty="0"/>
          </a:p>
        </p:txBody>
      </p:sp>
      <p:sp>
        <p:nvSpPr>
          <p:cNvPr id="21" name="TextBox 20"/>
          <p:cNvSpPr txBox="1"/>
          <p:nvPr/>
        </p:nvSpPr>
        <p:spPr>
          <a:xfrm>
            <a:off x="7543800" y="2514600"/>
            <a:ext cx="381000" cy="523220"/>
          </a:xfrm>
          <a:prstGeom prst="rect">
            <a:avLst/>
          </a:prstGeom>
          <a:noFill/>
        </p:spPr>
        <p:txBody>
          <a:bodyPr wrap="square" rtlCol="0">
            <a:spAutoFit/>
          </a:bodyPr>
          <a:lstStyle/>
          <a:p>
            <a:r>
              <a:rPr lang="en-US" sz="2800" i="1" dirty="0" smtClean="0"/>
              <a:t>x</a:t>
            </a:r>
            <a:endParaRPr lang="en-US" sz="2800" i="1" dirty="0"/>
          </a:p>
        </p:txBody>
      </p:sp>
      <p:sp>
        <p:nvSpPr>
          <p:cNvPr id="22" name="TextBox 21"/>
          <p:cNvSpPr txBox="1"/>
          <p:nvPr/>
        </p:nvSpPr>
        <p:spPr>
          <a:xfrm>
            <a:off x="7543800" y="3276600"/>
            <a:ext cx="381000" cy="523220"/>
          </a:xfrm>
          <a:prstGeom prst="rect">
            <a:avLst/>
          </a:prstGeom>
          <a:noFill/>
        </p:spPr>
        <p:txBody>
          <a:bodyPr wrap="square" rtlCol="0">
            <a:spAutoFit/>
          </a:bodyPr>
          <a:lstStyle/>
          <a:p>
            <a:r>
              <a:rPr lang="en-US" sz="2800" i="1" dirty="0" smtClean="0"/>
              <a:t>y</a:t>
            </a:r>
            <a:endParaRPr lang="en-US" sz="2800" i="1" dirty="0"/>
          </a:p>
        </p:txBody>
      </p:sp>
      <p:sp>
        <p:nvSpPr>
          <p:cNvPr id="23" name="TextBox 22"/>
          <p:cNvSpPr txBox="1"/>
          <p:nvPr/>
        </p:nvSpPr>
        <p:spPr>
          <a:xfrm>
            <a:off x="7543800" y="4648200"/>
            <a:ext cx="381000" cy="523220"/>
          </a:xfrm>
          <a:prstGeom prst="rect">
            <a:avLst/>
          </a:prstGeom>
          <a:noFill/>
        </p:spPr>
        <p:txBody>
          <a:bodyPr wrap="square" rtlCol="0">
            <a:spAutoFit/>
          </a:bodyPr>
          <a:lstStyle/>
          <a:p>
            <a:r>
              <a:rPr lang="en-US" sz="2800" i="1" dirty="0" smtClean="0"/>
              <a:t>z</a:t>
            </a:r>
            <a:endParaRPr lang="en-US" sz="2800" i="1" dirty="0"/>
          </a:p>
        </p:txBody>
      </p:sp>
      <p:sp>
        <p:nvSpPr>
          <p:cNvPr id="24" name="TextBox 23"/>
          <p:cNvSpPr txBox="1"/>
          <p:nvPr/>
        </p:nvSpPr>
        <p:spPr>
          <a:xfrm>
            <a:off x="3048000" y="1600200"/>
            <a:ext cx="762000" cy="523220"/>
          </a:xfrm>
          <a:prstGeom prst="rect">
            <a:avLst/>
          </a:prstGeom>
          <a:noFill/>
          <a:ln>
            <a:solidFill>
              <a:srgbClr val="FF0000"/>
            </a:solidFill>
          </a:ln>
        </p:spPr>
        <p:txBody>
          <a:bodyPr wrap="square" rtlCol="0">
            <a:spAutoFit/>
          </a:bodyPr>
          <a:lstStyle/>
          <a:p>
            <a:r>
              <a:rPr lang="en-US" sz="2800" i="1" dirty="0" smtClean="0"/>
              <a:t>R</a:t>
            </a:r>
            <a:r>
              <a:rPr lang="en-US" sz="2800" baseline="-25000" dirty="0" smtClean="0">
                <a:latin typeface="Cambria Math" pitchFamily="18" charset="0"/>
                <a:ea typeface="Cambria Math" pitchFamily="18" charset="0"/>
              </a:rPr>
              <a:t>1</a:t>
            </a:r>
            <a:endParaRPr lang="en-US" sz="2800" baseline="-25000" dirty="0">
              <a:latin typeface="Cambria Math" pitchFamily="18" charset="0"/>
              <a:ea typeface="Cambria Math" pitchFamily="18" charset="0"/>
            </a:endParaRPr>
          </a:p>
        </p:txBody>
      </p:sp>
      <p:sp>
        <p:nvSpPr>
          <p:cNvPr id="25" name="TextBox 24"/>
          <p:cNvSpPr txBox="1"/>
          <p:nvPr/>
        </p:nvSpPr>
        <p:spPr>
          <a:xfrm>
            <a:off x="5486400" y="1600200"/>
            <a:ext cx="762000" cy="523220"/>
          </a:xfrm>
          <a:prstGeom prst="rect">
            <a:avLst/>
          </a:prstGeom>
          <a:noFill/>
          <a:ln>
            <a:solidFill>
              <a:srgbClr val="FFC000"/>
            </a:solidFill>
          </a:ln>
        </p:spPr>
        <p:txBody>
          <a:bodyPr wrap="square" rtlCol="0">
            <a:spAutoFit/>
          </a:bodyPr>
          <a:lstStyle/>
          <a:p>
            <a:r>
              <a:rPr lang="en-US" sz="2800" i="1" dirty="0" smtClean="0"/>
              <a:t>R</a:t>
            </a:r>
            <a:r>
              <a:rPr lang="en-US" sz="2800" baseline="-25000" dirty="0" smtClean="0">
                <a:latin typeface="Cambria Math" pitchFamily="18" charset="0"/>
                <a:ea typeface="Cambria Math" pitchFamily="18" charset="0"/>
              </a:rPr>
              <a:t>2</a:t>
            </a:r>
            <a:endParaRPr lang="en-US" sz="2800" baseline="-25000" dirty="0">
              <a:latin typeface="Cambria Math" pitchFamily="18" charset="0"/>
              <a:ea typeface="Cambria Math" pitchFamily="18" charset="0"/>
            </a:endParaRPr>
          </a:p>
        </p:txBody>
      </p:sp>
      <p:cxnSp>
        <p:nvCxnSpPr>
          <p:cNvPr id="27" name="Straight Arrow Connector 26"/>
          <p:cNvCxnSpPr/>
          <p:nvPr/>
        </p:nvCxnSpPr>
        <p:spPr>
          <a:xfrm flipV="1">
            <a:off x="2743200" y="2438400"/>
            <a:ext cx="1676400" cy="9144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rot="16200000" flipH="1">
            <a:off x="2628900" y="2705100"/>
            <a:ext cx="2057400" cy="19812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flipV="1">
            <a:off x="5105400" y="2057400"/>
            <a:ext cx="1371600" cy="9906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5029200" y="2286000"/>
            <a:ext cx="1600200" cy="4572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rot="16200000" flipH="1">
            <a:off x="4724400" y="2819400"/>
            <a:ext cx="2209800" cy="16002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1981200" y="5638800"/>
            <a:ext cx="4724400" cy="584775"/>
          </a:xfrm>
          <a:prstGeom prst="rect">
            <a:avLst/>
          </a:prstGeom>
          <a:noFill/>
        </p:spPr>
        <p:txBody>
          <a:bodyPr wrap="square" rtlCol="0">
            <a:spAutoFit/>
          </a:bodyPr>
          <a:lstStyle/>
          <a:p>
            <a:r>
              <a:rPr lang="en-US" b="1" dirty="0" smtClean="0"/>
              <a:t> </a:t>
            </a:r>
            <a:r>
              <a:rPr lang="en-US" sz="3200" i="1" dirty="0" smtClean="0"/>
              <a:t>R</a:t>
            </a:r>
            <a:r>
              <a:rPr lang="en-US" sz="3200" baseline="-25000" dirty="0" smtClean="0">
                <a:latin typeface="Cambria Math" pitchFamily="18" charset="0"/>
                <a:ea typeface="Cambria Math" pitchFamily="18" charset="0"/>
              </a:rPr>
              <a:t>1</a:t>
            </a:r>
            <a:r>
              <a:rPr lang="en-US" sz="3200" b="1" dirty="0" smtClean="0">
                <a:latin typeface="Cambria Math"/>
                <a:ea typeface="Cambria Math"/>
              </a:rPr>
              <a:t>∘</a:t>
            </a:r>
            <a:r>
              <a:rPr lang="en-US" sz="3200" dirty="0" smtClean="0"/>
              <a:t> </a:t>
            </a:r>
            <a:r>
              <a:rPr lang="en-US" sz="3200" i="1" dirty="0" smtClean="0"/>
              <a:t>R</a:t>
            </a:r>
            <a:r>
              <a:rPr lang="en-US" sz="3200" baseline="-25000" dirty="0" smtClean="0">
                <a:latin typeface="Cambria Math" pitchFamily="18" charset="0"/>
                <a:ea typeface="Cambria Math" pitchFamily="18" charset="0"/>
              </a:rPr>
              <a:t>2</a:t>
            </a:r>
            <a:r>
              <a:rPr lang="en-US" sz="3200" b="1" baseline="-25000" dirty="0" smtClean="0"/>
              <a:t>  </a:t>
            </a:r>
            <a:r>
              <a:rPr lang="en-US" sz="3200" b="1" dirty="0" smtClean="0"/>
              <a:t>= </a:t>
            </a:r>
            <a:r>
              <a:rPr lang="en-US" sz="3200" dirty="0" smtClean="0"/>
              <a:t>{(</a:t>
            </a:r>
            <a:r>
              <a:rPr lang="en-US" sz="3200" i="1" dirty="0" err="1" smtClean="0"/>
              <a:t>b</a:t>
            </a:r>
            <a:r>
              <a:rPr lang="en-US" sz="3200" dirty="0" err="1" smtClean="0"/>
              <a:t>,</a:t>
            </a:r>
            <a:r>
              <a:rPr lang="en-US" sz="3200" i="1" dirty="0" err="1" smtClean="0"/>
              <a:t>D</a:t>
            </a:r>
            <a:r>
              <a:rPr lang="en-US" sz="3200" dirty="0" smtClean="0"/>
              <a:t>),(</a:t>
            </a:r>
            <a:r>
              <a:rPr lang="en-US" sz="3200" i="1" dirty="0" err="1" smtClean="0"/>
              <a:t>b</a:t>
            </a:r>
            <a:r>
              <a:rPr lang="en-US" sz="3200" dirty="0" err="1" smtClean="0"/>
              <a:t>,</a:t>
            </a:r>
            <a:r>
              <a:rPr lang="en-US" sz="3200" i="1" dirty="0" err="1" smtClean="0"/>
              <a:t>B</a:t>
            </a:r>
            <a:r>
              <a:rPr lang="en-US" sz="3200" dirty="0" smtClean="0"/>
              <a:t>)}</a:t>
            </a:r>
            <a:endParaRPr lang="en-US" sz="3200" dirty="0"/>
          </a:p>
        </p:txBody>
      </p:sp>
      <p:sp>
        <p:nvSpPr>
          <p:cNvPr id="34" name="Right Brace 33"/>
          <p:cNvSpPr/>
          <p:nvPr/>
        </p:nvSpPr>
        <p:spPr>
          <a:xfrm>
            <a:off x="5105400" y="1676400"/>
            <a:ext cx="609600" cy="3733800"/>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6" name="Left Brace 35"/>
          <p:cNvSpPr/>
          <p:nvPr/>
        </p:nvSpPr>
        <p:spPr>
          <a:xfrm>
            <a:off x="914400" y="1600200"/>
            <a:ext cx="533400" cy="3810000"/>
          </a:xfrm>
          <a:prstGeom prst="lef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7" name="Right Brace 36"/>
          <p:cNvSpPr/>
          <p:nvPr/>
        </p:nvSpPr>
        <p:spPr>
          <a:xfrm>
            <a:off x="8229600" y="1752600"/>
            <a:ext cx="609600" cy="3657600"/>
          </a:xfrm>
          <a:prstGeom prst="rightBrace">
            <a:avLst/>
          </a:prstGeom>
          <a:ln>
            <a:solidFill>
              <a:srgbClr val="FFC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9" name="Left Brace 38"/>
          <p:cNvSpPr/>
          <p:nvPr/>
        </p:nvSpPr>
        <p:spPr>
          <a:xfrm>
            <a:off x="3733800" y="1676400"/>
            <a:ext cx="609600" cy="3733800"/>
          </a:xfrm>
          <a:prstGeom prst="leftBrace">
            <a:avLst/>
          </a:prstGeom>
          <a:ln>
            <a:solidFill>
              <a:srgbClr val="FFC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40" name="TextBox 39"/>
          <p:cNvSpPr txBox="1"/>
          <p:nvPr/>
        </p:nvSpPr>
        <p:spPr>
          <a:xfrm>
            <a:off x="4114800" y="2819400"/>
            <a:ext cx="381000" cy="523220"/>
          </a:xfrm>
          <a:prstGeom prst="rect">
            <a:avLst/>
          </a:prstGeom>
          <a:noFill/>
        </p:spPr>
        <p:txBody>
          <a:bodyPr wrap="square" rtlCol="0">
            <a:spAutoFit/>
          </a:bodyPr>
          <a:lstStyle/>
          <a:p>
            <a:r>
              <a:rPr lang="en-US" sz="2800" i="1" dirty="0" smtClean="0"/>
              <a:t>n</a:t>
            </a:r>
            <a:endParaRPr lang="en-US" sz="2800" i="1" dirty="0"/>
          </a:p>
        </p:txBody>
      </p:sp>
      <p:sp>
        <p:nvSpPr>
          <p:cNvPr id="41" name="TextBox 40"/>
          <p:cNvSpPr txBox="1"/>
          <p:nvPr/>
        </p:nvSpPr>
        <p:spPr>
          <a:xfrm>
            <a:off x="4114800" y="1752600"/>
            <a:ext cx="381000" cy="523220"/>
          </a:xfrm>
          <a:prstGeom prst="rect">
            <a:avLst/>
          </a:prstGeom>
          <a:noFill/>
        </p:spPr>
        <p:txBody>
          <a:bodyPr wrap="square" rtlCol="0">
            <a:spAutoFit/>
          </a:bodyPr>
          <a:lstStyle/>
          <a:p>
            <a:r>
              <a:rPr lang="en-US" sz="2800" i="1" dirty="0" smtClean="0"/>
              <a:t>m</a:t>
            </a:r>
            <a:endParaRPr lang="en-US" sz="2800" i="1" dirty="0"/>
          </a:p>
        </p:txBody>
      </p:sp>
      <p:sp>
        <p:nvSpPr>
          <p:cNvPr id="42" name="TextBox 41"/>
          <p:cNvSpPr txBox="1"/>
          <p:nvPr/>
        </p:nvSpPr>
        <p:spPr>
          <a:xfrm>
            <a:off x="4114800" y="3581400"/>
            <a:ext cx="381000" cy="523220"/>
          </a:xfrm>
          <a:prstGeom prst="rect">
            <a:avLst/>
          </a:prstGeom>
          <a:noFill/>
        </p:spPr>
        <p:txBody>
          <a:bodyPr wrap="square" rtlCol="0">
            <a:spAutoFit/>
          </a:bodyPr>
          <a:lstStyle/>
          <a:p>
            <a:r>
              <a:rPr lang="en-US" sz="2800" i="1" dirty="0" smtClean="0"/>
              <a:t>o</a:t>
            </a:r>
            <a:endParaRPr lang="en-US" sz="2800" i="1" dirty="0"/>
          </a:p>
        </p:txBody>
      </p:sp>
      <p:sp>
        <p:nvSpPr>
          <p:cNvPr id="43" name="TextBox 42"/>
          <p:cNvSpPr txBox="1"/>
          <p:nvPr/>
        </p:nvSpPr>
        <p:spPr>
          <a:xfrm>
            <a:off x="4191000" y="4648200"/>
            <a:ext cx="381000" cy="523220"/>
          </a:xfrm>
          <a:prstGeom prst="rect">
            <a:avLst/>
          </a:prstGeom>
          <a:noFill/>
        </p:spPr>
        <p:txBody>
          <a:bodyPr wrap="square" rtlCol="0">
            <a:spAutoFit/>
          </a:bodyPr>
          <a:lstStyle/>
          <a:p>
            <a:r>
              <a:rPr lang="en-US" sz="2800" i="1" dirty="0" smtClean="0"/>
              <a:t>p</a:t>
            </a:r>
            <a:endParaRPr lang="en-US" sz="2800" i="1"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6720" y="228600"/>
            <a:ext cx="8229600" cy="1143000"/>
          </a:xfrm>
        </p:spPr>
        <p:txBody>
          <a:bodyPr>
            <a:normAutofit/>
          </a:bodyPr>
          <a:lstStyle/>
          <a:p>
            <a:r>
              <a:rPr lang="en-US" dirty="0" smtClean="0"/>
              <a:t>Powers of a Relation</a:t>
            </a:r>
            <a:endParaRPr lang="en-US" dirty="0"/>
          </a:p>
        </p:txBody>
      </p:sp>
      <p:sp>
        <p:nvSpPr>
          <p:cNvPr id="3" name="Content Placeholder 2"/>
          <p:cNvSpPr>
            <a:spLocks noGrp="1"/>
          </p:cNvSpPr>
          <p:nvPr>
            <p:ph idx="1"/>
          </p:nvPr>
        </p:nvSpPr>
        <p:spPr>
          <a:xfrm>
            <a:off x="304800" y="1600200"/>
            <a:ext cx="8991600" cy="4389120"/>
          </a:xfrm>
        </p:spPr>
        <p:txBody>
          <a:bodyPr>
            <a:normAutofit fontScale="77500" lnSpcReduction="20000"/>
          </a:bodyPr>
          <a:lstStyle/>
          <a:p>
            <a:pPr>
              <a:buNone/>
            </a:pPr>
            <a:r>
              <a:rPr lang="en-US" b="1" dirty="0" smtClean="0"/>
              <a:t>   Definition:</a:t>
            </a:r>
            <a:r>
              <a:rPr lang="en-US" dirty="0" smtClean="0"/>
              <a:t>  </a:t>
            </a:r>
            <a:r>
              <a:rPr lang="en-US" b="1" dirty="0"/>
              <a:t>Powers</a:t>
            </a:r>
            <a:r>
              <a:rPr lang="en-US" dirty="0"/>
              <a:t> of a relation mean applying the same relation again and again.</a:t>
            </a:r>
            <a:endParaRPr lang="en-US" dirty="0" smtClean="0"/>
          </a:p>
          <a:p>
            <a:pPr>
              <a:buNone/>
            </a:pPr>
            <a:r>
              <a:rPr lang="en-US" dirty="0" smtClean="0"/>
              <a:t>Let </a:t>
            </a:r>
            <a:r>
              <a:rPr lang="en-US" b="1" i="1" dirty="0" smtClean="0"/>
              <a:t>R</a:t>
            </a:r>
            <a:r>
              <a:rPr lang="en-US" dirty="0" smtClean="0"/>
              <a:t> be a binary relation on </a:t>
            </a:r>
            <a:r>
              <a:rPr lang="en-US" b="1" i="1" dirty="0" smtClean="0"/>
              <a:t>A</a:t>
            </a:r>
            <a:r>
              <a:rPr lang="en-US" dirty="0" smtClean="0"/>
              <a:t>. Then the powers </a:t>
            </a:r>
            <a:r>
              <a:rPr lang="en-US" b="1" i="1" dirty="0" smtClean="0"/>
              <a:t>R</a:t>
            </a:r>
            <a:r>
              <a:rPr lang="en-US" b="1" i="1" baseline="30000" dirty="0" smtClean="0"/>
              <a:t>n</a:t>
            </a:r>
            <a:r>
              <a:rPr lang="en-US" dirty="0" smtClean="0"/>
              <a:t> of the relation </a:t>
            </a:r>
            <a:r>
              <a:rPr lang="en-US" b="1" i="1" dirty="0" smtClean="0"/>
              <a:t>R</a:t>
            </a:r>
            <a:r>
              <a:rPr lang="en-US" dirty="0" smtClean="0"/>
              <a:t> can be defined inductively by:</a:t>
            </a:r>
          </a:p>
          <a:p>
            <a:r>
              <a:rPr lang="en-US" sz="2900" b="1" dirty="0" smtClean="0"/>
              <a:t>Basis Step:  </a:t>
            </a:r>
            <a:r>
              <a:rPr lang="en-US" sz="2900" b="1" i="1" dirty="0" smtClean="0"/>
              <a:t>R</a:t>
            </a:r>
            <a:r>
              <a:rPr lang="en-US" sz="2900" b="1" baseline="30000" dirty="0" smtClean="0">
                <a:latin typeface="Cambria Math" pitchFamily="18" charset="0"/>
                <a:ea typeface="Cambria Math" pitchFamily="18" charset="0"/>
              </a:rPr>
              <a:t>1</a:t>
            </a:r>
            <a:r>
              <a:rPr lang="en-US" sz="2900" b="1" dirty="0" smtClean="0"/>
              <a:t> = </a:t>
            </a:r>
            <a:r>
              <a:rPr lang="en-US" sz="2900" b="1" i="1" dirty="0" smtClean="0"/>
              <a:t>R   </a:t>
            </a:r>
            <a:r>
              <a:rPr lang="en-US" b="1" i="1" dirty="0" smtClean="0">
                <a:solidFill>
                  <a:srgbClr val="0070C0"/>
                </a:solidFill>
              </a:rPr>
              <a:t>(</a:t>
            </a:r>
            <a:r>
              <a:rPr lang="en-US" b="1" dirty="0" smtClean="0">
                <a:solidFill>
                  <a:srgbClr val="0070C0"/>
                </a:solidFill>
              </a:rPr>
              <a:t>The </a:t>
            </a:r>
            <a:r>
              <a:rPr lang="en-US" b="1" dirty="0">
                <a:solidFill>
                  <a:srgbClr val="0070C0"/>
                </a:solidFill>
              </a:rPr>
              <a:t>first power is just the relation </a:t>
            </a:r>
            <a:r>
              <a:rPr lang="en-US" b="1" dirty="0" smtClean="0">
                <a:solidFill>
                  <a:srgbClr val="0070C0"/>
                </a:solidFill>
              </a:rPr>
              <a:t>itself)</a:t>
            </a:r>
            <a:endParaRPr lang="en-US" b="1" i="1" dirty="0" smtClean="0">
              <a:solidFill>
                <a:srgbClr val="0070C0"/>
              </a:solidFill>
            </a:endParaRPr>
          </a:p>
          <a:p>
            <a:r>
              <a:rPr lang="en-US" sz="2900" b="1" dirty="0" smtClean="0"/>
              <a:t>Inductive Step:  </a:t>
            </a:r>
            <a:r>
              <a:rPr lang="en-US" sz="2900" b="1" i="1" dirty="0" smtClean="0"/>
              <a:t>R</a:t>
            </a:r>
            <a:r>
              <a:rPr lang="en-US" sz="2900" b="1" i="1" baseline="30000" dirty="0" smtClean="0"/>
              <a:t>n</a:t>
            </a:r>
            <a:r>
              <a:rPr lang="en-US" sz="2900" b="1" baseline="30000" dirty="0" smtClean="0"/>
              <a:t>+</a:t>
            </a:r>
            <a:r>
              <a:rPr lang="en-US" sz="2900" b="1" baseline="30000" dirty="0" smtClean="0">
                <a:latin typeface="Cambria Math" pitchFamily="18" charset="0"/>
                <a:ea typeface="Cambria Math" pitchFamily="18" charset="0"/>
              </a:rPr>
              <a:t>1</a:t>
            </a:r>
            <a:r>
              <a:rPr lang="en-US" sz="2900" dirty="0" smtClean="0"/>
              <a:t> = </a:t>
            </a:r>
            <a:r>
              <a:rPr lang="en-US" sz="2900" i="1" dirty="0" smtClean="0"/>
              <a:t>R</a:t>
            </a:r>
            <a:r>
              <a:rPr lang="en-US" sz="2900" i="1" baseline="30000" dirty="0" smtClean="0"/>
              <a:t>n</a:t>
            </a:r>
            <a:r>
              <a:rPr lang="en-US" sz="2900" b="1" baseline="30000" dirty="0" smtClean="0"/>
              <a:t> </a:t>
            </a:r>
            <a:r>
              <a:rPr lang="en-US" sz="2900" b="1" dirty="0" smtClean="0">
                <a:latin typeface="Cambria Math"/>
                <a:ea typeface="Cambria Math"/>
              </a:rPr>
              <a:t>∘</a:t>
            </a:r>
            <a:r>
              <a:rPr lang="en-US" sz="2900" dirty="0" smtClean="0"/>
              <a:t> </a:t>
            </a:r>
            <a:r>
              <a:rPr lang="en-US" sz="2900" b="1" i="1" dirty="0" smtClean="0"/>
              <a:t>R</a:t>
            </a:r>
            <a:r>
              <a:rPr lang="en-US" b="1" i="1" dirty="0" smtClean="0">
                <a:solidFill>
                  <a:srgbClr val="0070C0"/>
                </a:solidFill>
              </a:rPr>
              <a:t>  (</a:t>
            </a:r>
            <a:r>
              <a:rPr lang="en-US" b="1" dirty="0">
                <a:solidFill>
                  <a:srgbClr val="0070C0"/>
                </a:solidFill>
              </a:rPr>
              <a:t>To get the next power:</a:t>
            </a:r>
          </a:p>
          <a:p>
            <a:pPr marL="0" indent="0">
              <a:buNone/>
            </a:pPr>
            <a:r>
              <a:rPr lang="en-US" b="1" dirty="0" smtClean="0">
                <a:solidFill>
                  <a:srgbClr val="0070C0"/>
                </a:solidFill>
              </a:rPr>
              <a:t>   Take </a:t>
            </a:r>
            <a:r>
              <a:rPr lang="en-US" b="1" dirty="0">
                <a:solidFill>
                  <a:srgbClr val="0070C0"/>
                </a:solidFill>
              </a:rPr>
              <a:t>the previous power</a:t>
            </a:r>
          </a:p>
          <a:p>
            <a:pPr marL="0" indent="0">
              <a:buNone/>
            </a:pPr>
            <a:r>
              <a:rPr lang="en-US" b="1" dirty="0" smtClean="0">
                <a:solidFill>
                  <a:srgbClr val="0070C0"/>
                </a:solidFill>
              </a:rPr>
              <a:t>    Compose </a:t>
            </a:r>
            <a:r>
              <a:rPr lang="en-US" b="1" dirty="0">
                <a:solidFill>
                  <a:srgbClr val="0070C0"/>
                </a:solidFill>
              </a:rPr>
              <a:t>it with R</a:t>
            </a:r>
          </a:p>
          <a:p>
            <a:pPr marL="0" indent="0">
              <a:buNone/>
            </a:pPr>
            <a:r>
              <a:rPr lang="en-US" b="1" dirty="0" smtClean="0">
                <a:solidFill>
                  <a:srgbClr val="0070C0"/>
                </a:solidFill>
              </a:rPr>
              <a:t>    This </a:t>
            </a:r>
            <a:r>
              <a:rPr lang="en-US" b="1" dirty="0">
                <a:solidFill>
                  <a:srgbClr val="0070C0"/>
                </a:solidFill>
              </a:rPr>
              <a:t>adds one more </a:t>
            </a:r>
            <a:r>
              <a:rPr lang="en-US" b="1" dirty="0" smtClean="0">
                <a:solidFill>
                  <a:srgbClr val="0070C0"/>
                </a:solidFill>
              </a:rPr>
              <a:t>step</a:t>
            </a:r>
            <a:r>
              <a:rPr lang="en-US" b="1" i="1" dirty="0" smtClean="0">
                <a:solidFill>
                  <a:srgbClr val="0070C0"/>
                </a:solidFill>
              </a:rPr>
              <a:t>)</a:t>
            </a:r>
          </a:p>
          <a:p>
            <a:pPr lvl="1">
              <a:buNone/>
            </a:pPr>
            <a:r>
              <a:rPr lang="en-US" dirty="0" smtClean="0"/>
              <a:t>(</a:t>
            </a:r>
            <a:r>
              <a:rPr lang="en-US" i="1" dirty="0" smtClean="0"/>
              <a:t>see the slides for Section </a:t>
            </a:r>
            <a:r>
              <a:rPr lang="en-US" dirty="0" smtClean="0">
                <a:latin typeface="Cambria Math" pitchFamily="18" charset="0"/>
                <a:ea typeface="Cambria Math" pitchFamily="18" charset="0"/>
              </a:rPr>
              <a:t>9.3</a:t>
            </a:r>
            <a:r>
              <a:rPr lang="en-US" i="1" dirty="0" smtClean="0"/>
              <a:t> for further insights</a:t>
            </a:r>
            <a:r>
              <a:rPr lang="en-US" dirty="0" smtClean="0"/>
              <a:t>)</a:t>
            </a:r>
            <a:endParaRPr lang="en-US" i="1" dirty="0" smtClean="0"/>
          </a:p>
          <a:p>
            <a:pPr>
              <a:buNone/>
            </a:pPr>
            <a:r>
              <a:rPr lang="en-US" dirty="0" smtClean="0"/>
              <a:t>   The powers of a transitive relation are subsets of the </a:t>
            </a:r>
          </a:p>
          <a:p>
            <a:pPr>
              <a:buNone/>
            </a:pPr>
            <a:r>
              <a:rPr lang="en-US" dirty="0" smtClean="0"/>
              <a:t>    relation. This is established by the following theorem:</a:t>
            </a:r>
          </a:p>
          <a:p>
            <a:pPr>
              <a:buNone/>
            </a:pPr>
            <a:r>
              <a:rPr lang="en-US" b="1" dirty="0" smtClean="0"/>
              <a:t>    Theorem </a:t>
            </a:r>
            <a:r>
              <a:rPr lang="en-US" b="1" dirty="0" smtClean="0">
                <a:latin typeface="Cambria Math" pitchFamily="18" charset="0"/>
                <a:ea typeface="Cambria Math" pitchFamily="18" charset="0"/>
              </a:rPr>
              <a:t>1</a:t>
            </a:r>
            <a:r>
              <a:rPr lang="en-US" b="1" dirty="0" smtClean="0"/>
              <a:t>: </a:t>
            </a:r>
            <a:r>
              <a:rPr lang="en-US" dirty="0" smtClean="0"/>
              <a:t>The relation </a:t>
            </a:r>
            <a:r>
              <a:rPr lang="en-US" i="1" dirty="0" smtClean="0"/>
              <a:t>R</a:t>
            </a:r>
            <a:r>
              <a:rPr lang="en-US" dirty="0" smtClean="0"/>
              <a:t> on a set </a:t>
            </a:r>
            <a:r>
              <a:rPr lang="en-US" i="1" dirty="0" smtClean="0"/>
              <a:t>A</a:t>
            </a:r>
            <a:r>
              <a:rPr lang="en-US" dirty="0" smtClean="0"/>
              <a:t> is transitive </a:t>
            </a:r>
            <a:r>
              <a:rPr lang="en-US" dirty="0" err="1" smtClean="0"/>
              <a:t>iff</a:t>
            </a:r>
            <a:r>
              <a:rPr lang="en-US" dirty="0" smtClean="0"/>
              <a:t> </a:t>
            </a:r>
            <a:r>
              <a:rPr lang="en-US" i="1" dirty="0" smtClean="0"/>
              <a:t>R</a:t>
            </a:r>
            <a:r>
              <a:rPr lang="en-US" i="1" baseline="30000" dirty="0" smtClean="0"/>
              <a:t>n</a:t>
            </a:r>
            <a:r>
              <a:rPr lang="en-US" dirty="0" smtClean="0"/>
              <a:t> </a:t>
            </a:r>
            <a:r>
              <a:rPr lang="en-US" dirty="0" smtClean="0">
                <a:latin typeface="Cambria Math"/>
                <a:ea typeface="Cambria Math"/>
              </a:rPr>
              <a:t>⊆</a:t>
            </a:r>
            <a:r>
              <a:rPr lang="en-US" dirty="0" smtClean="0"/>
              <a:t> </a:t>
            </a:r>
            <a:r>
              <a:rPr lang="en-US" i="1" dirty="0" smtClean="0"/>
              <a:t>R</a:t>
            </a:r>
            <a:r>
              <a:rPr lang="en-US" dirty="0" smtClean="0"/>
              <a:t> for </a:t>
            </a:r>
            <a:r>
              <a:rPr lang="en-US" i="1" dirty="0" smtClean="0"/>
              <a:t>n = </a:t>
            </a:r>
            <a:r>
              <a:rPr lang="en-US" dirty="0" smtClean="0">
                <a:latin typeface="Cambria Math" pitchFamily="18" charset="0"/>
                <a:ea typeface="Cambria Math" pitchFamily="18" charset="0"/>
              </a:rPr>
              <a:t>1,2,3 </a:t>
            </a:r>
            <a:r>
              <a:rPr lang="en-US" i="1" dirty="0" smtClean="0"/>
              <a:t>….</a:t>
            </a:r>
          </a:p>
          <a:p>
            <a:pPr>
              <a:buNone/>
            </a:pPr>
            <a:r>
              <a:rPr lang="en-US" i="1" dirty="0" smtClean="0"/>
              <a:t>   </a:t>
            </a:r>
            <a:r>
              <a:rPr lang="en-US" dirty="0" smtClean="0"/>
              <a:t>(</a:t>
            </a:r>
            <a:r>
              <a:rPr lang="en-US" i="1" dirty="0" smtClean="0"/>
              <a:t>see the text for a proof via mathematical induction</a:t>
            </a:r>
            <a:r>
              <a:rPr lang="en-US" dirty="0" smtClean="0"/>
              <a:t>)</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Representing Relations</a:t>
            </a:r>
            <a:endParaRPr lang="en-US" dirty="0"/>
          </a:p>
        </p:txBody>
      </p:sp>
      <p:sp>
        <p:nvSpPr>
          <p:cNvPr id="3" name="Subtitle 2"/>
          <p:cNvSpPr>
            <a:spLocks noGrp="1"/>
          </p:cNvSpPr>
          <p:nvPr>
            <p:ph type="subTitle" idx="1"/>
          </p:nvPr>
        </p:nvSpPr>
        <p:spPr/>
        <p:txBody>
          <a:bodyPr/>
          <a:lstStyle/>
          <a:p>
            <a:r>
              <a:rPr lang="en-US" dirty="0" smtClean="0"/>
              <a:t>Section 9.3</a:t>
            </a:r>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Section Summary</a:t>
            </a:r>
            <a:endParaRPr lang="en-US" dirty="0"/>
          </a:p>
        </p:txBody>
      </p:sp>
      <p:sp>
        <p:nvSpPr>
          <p:cNvPr id="3" name="Content Placeholder 2"/>
          <p:cNvSpPr>
            <a:spLocks noGrp="1"/>
          </p:cNvSpPr>
          <p:nvPr>
            <p:ph idx="1"/>
          </p:nvPr>
        </p:nvSpPr>
        <p:spPr/>
        <p:txBody>
          <a:bodyPr>
            <a:normAutofit/>
          </a:bodyPr>
          <a:lstStyle/>
          <a:p>
            <a:r>
              <a:rPr lang="en-US" dirty="0" smtClean="0"/>
              <a:t>Representing Relations using Matrices</a:t>
            </a:r>
          </a:p>
          <a:p>
            <a:r>
              <a:rPr lang="en-US" dirty="0" smtClean="0"/>
              <a:t>Representing Relations using Digraphs</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Representing Relations Using Matrices</a:t>
            </a:r>
            <a:endParaRPr lang="en-US" dirty="0"/>
          </a:p>
        </p:txBody>
      </p:sp>
      <p:sp>
        <p:nvSpPr>
          <p:cNvPr id="3" name="Content Placeholder 2"/>
          <p:cNvSpPr>
            <a:spLocks noGrp="1"/>
          </p:cNvSpPr>
          <p:nvPr>
            <p:ph idx="1"/>
          </p:nvPr>
        </p:nvSpPr>
        <p:spPr>
          <a:xfrm>
            <a:off x="457200" y="1935480"/>
            <a:ext cx="8382000" cy="4389120"/>
          </a:xfrm>
        </p:spPr>
        <p:txBody>
          <a:bodyPr>
            <a:normAutofit/>
          </a:bodyPr>
          <a:lstStyle/>
          <a:p>
            <a:r>
              <a:rPr lang="en-US" sz="2000" dirty="0" smtClean="0"/>
              <a:t>A relation between finite sets can be represented using a zero-one matrix. </a:t>
            </a:r>
          </a:p>
        </p:txBody>
      </p:sp>
      <p:sp>
        <p:nvSpPr>
          <p:cNvPr id="4" name="TextBox 3"/>
          <p:cNvSpPr txBox="1"/>
          <p:nvPr/>
        </p:nvSpPr>
        <p:spPr>
          <a:xfrm flipH="1">
            <a:off x="5029200" y="2819400"/>
            <a:ext cx="3810000" cy="2031325"/>
          </a:xfrm>
          <a:prstGeom prst="rect">
            <a:avLst/>
          </a:prstGeom>
          <a:noFill/>
        </p:spPr>
        <p:txBody>
          <a:bodyPr wrap="square" rtlCol="0">
            <a:spAutoFit/>
          </a:bodyPr>
          <a:lstStyle/>
          <a:p>
            <a:r>
              <a:rPr lang="en-US" b="1" dirty="0"/>
              <a:t>Step 2: Make a Table (Matrix)</a:t>
            </a:r>
          </a:p>
          <a:p>
            <a:r>
              <a:rPr lang="en-US" dirty="0"/>
              <a:t>We create a table like this:</a:t>
            </a:r>
          </a:p>
          <a:p>
            <a:r>
              <a:rPr lang="en-US" b="1" dirty="0"/>
              <a:t>Rows </a:t>
            </a:r>
            <a:r>
              <a:rPr lang="en-US" dirty="0"/>
              <a:t>= elements of set </a:t>
            </a:r>
            <a:r>
              <a:rPr lang="en-US" b="1" dirty="0"/>
              <a:t>A</a:t>
            </a:r>
          </a:p>
          <a:p>
            <a:r>
              <a:rPr lang="en-US" b="1" dirty="0"/>
              <a:t>Columns </a:t>
            </a:r>
            <a:r>
              <a:rPr lang="en-US" dirty="0"/>
              <a:t>= elements of set </a:t>
            </a:r>
            <a:r>
              <a:rPr lang="en-US" b="1" dirty="0"/>
              <a:t>B</a:t>
            </a:r>
          </a:p>
          <a:p>
            <a:r>
              <a:rPr lang="en-US" dirty="0"/>
              <a:t>Inside the table, we write:</a:t>
            </a:r>
          </a:p>
          <a:p>
            <a:r>
              <a:rPr lang="en-US" b="1" dirty="0"/>
              <a:t>1</a:t>
            </a:r>
            <a:r>
              <a:rPr lang="en-US" dirty="0"/>
              <a:t> → if </a:t>
            </a:r>
            <a:r>
              <a:rPr lang="en-US" b="1" dirty="0"/>
              <a:t>aᵢ</a:t>
            </a:r>
            <a:r>
              <a:rPr lang="en-US" dirty="0"/>
              <a:t> is related to </a:t>
            </a:r>
            <a:r>
              <a:rPr lang="en-US" b="1" dirty="0"/>
              <a:t>bⱼ</a:t>
            </a:r>
          </a:p>
          <a:p>
            <a:r>
              <a:rPr lang="en-US" b="1" dirty="0"/>
              <a:t>0</a:t>
            </a:r>
            <a:r>
              <a:rPr lang="en-US" dirty="0"/>
              <a:t> → if </a:t>
            </a:r>
            <a:r>
              <a:rPr lang="en-US" b="1" dirty="0"/>
              <a:t>aᵢ</a:t>
            </a:r>
            <a:r>
              <a:rPr lang="en-US" dirty="0"/>
              <a:t> is NOT related to </a:t>
            </a:r>
            <a:r>
              <a:rPr lang="en-US" b="1" dirty="0"/>
              <a:t>bⱼ</a:t>
            </a:r>
          </a:p>
        </p:txBody>
      </p:sp>
      <p:sp>
        <p:nvSpPr>
          <p:cNvPr id="7" name="TextBox 6"/>
          <p:cNvSpPr txBox="1"/>
          <p:nvPr/>
        </p:nvSpPr>
        <p:spPr>
          <a:xfrm flipH="1">
            <a:off x="228600" y="2698879"/>
            <a:ext cx="4038600" cy="2862322"/>
          </a:xfrm>
          <a:prstGeom prst="rect">
            <a:avLst/>
          </a:prstGeom>
          <a:noFill/>
        </p:spPr>
        <p:txBody>
          <a:bodyPr wrap="square" rtlCol="0">
            <a:spAutoFit/>
          </a:bodyPr>
          <a:lstStyle/>
          <a:p>
            <a:r>
              <a:rPr lang="en-US" b="1" dirty="0"/>
              <a:t>Step 1: Two Sets</a:t>
            </a:r>
          </a:p>
          <a:p>
            <a:r>
              <a:rPr lang="en-US" dirty="0" smtClean="0"/>
              <a:t>Suppose we have:</a:t>
            </a:r>
          </a:p>
          <a:p>
            <a:r>
              <a:rPr lang="en-US" b="1" dirty="0" smtClean="0">
                <a:solidFill>
                  <a:srgbClr val="0070C0"/>
                </a:solidFill>
              </a:rPr>
              <a:t>A = {a₁, a₂, a₃}</a:t>
            </a:r>
            <a:br>
              <a:rPr lang="en-US" b="1" dirty="0" smtClean="0">
                <a:solidFill>
                  <a:srgbClr val="0070C0"/>
                </a:solidFill>
              </a:rPr>
            </a:br>
            <a:r>
              <a:rPr lang="en-US" b="1" dirty="0" smtClean="0">
                <a:solidFill>
                  <a:srgbClr val="0070C0"/>
                </a:solidFill>
              </a:rPr>
              <a:t>B = {b₁, b₂}</a:t>
            </a:r>
          </a:p>
          <a:p>
            <a:r>
              <a:rPr lang="en-US" dirty="0" smtClean="0"/>
              <a:t>A </a:t>
            </a:r>
            <a:r>
              <a:rPr lang="en-US" dirty="0"/>
              <a:t>relation R tells us which elements of </a:t>
            </a:r>
            <a:r>
              <a:rPr lang="en-US" b="1" dirty="0"/>
              <a:t>A</a:t>
            </a:r>
            <a:r>
              <a:rPr lang="en-US" dirty="0"/>
              <a:t> are related to elements of </a:t>
            </a:r>
            <a:r>
              <a:rPr lang="en-US" b="1" dirty="0"/>
              <a:t>B.</a:t>
            </a:r>
          </a:p>
          <a:p>
            <a:r>
              <a:rPr lang="en-US" dirty="0"/>
              <a:t>Example:</a:t>
            </a:r>
            <a:br>
              <a:rPr lang="en-US" dirty="0"/>
            </a:br>
            <a:r>
              <a:rPr lang="en-US" dirty="0"/>
              <a:t>If </a:t>
            </a:r>
            <a:r>
              <a:rPr lang="en-US" b="1" dirty="0">
                <a:solidFill>
                  <a:srgbClr val="0070C0"/>
                </a:solidFill>
              </a:rPr>
              <a:t>(a₁, b₂) </a:t>
            </a:r>
            <a:r>
              <a:rPr lang="en-US" dirty="0"/>
              <a:t>is in </a:t>
            </a:r>
            <a:r>
              <a:rPr lang="en-US" b="1" dirty="0"/>
              <a:t>R</a:t>
            </a:r>
            <a:r>
              <a:rPr lang="en-US" dirty="0"/>
              <a:t>, it means </a:t>
            </a:r>
            <a:r>
              <a:rPr lang="en-US" b="1" dirty="0"/>
              <a:t>a₁</a:t>
            </a:r>
            <a:r>
              <a:rPr lang="en-US" dirty="0"/>
              <a:t> is related to </a:t>
            </a:r>
            <a:r>
              <a:rPr lang="en-US" b="1" dirty="0"/>
              <a:t>b₂.</a:t>
            </a:r>
          </a:p>
          <a:p>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0574" y="1315941"/>
            <a:ext cx="3962400" cy="4389120"/>
          </a:xfrm>
        </p:spPr>
        <p:txBody>
          <a:bodyPr/>
          <a:lstStyle/>
          <a:p>
            <a:r>
              <a:rPr lang="en-US" sz="2200" b="1" dirty="0"/>
              <a:t>Example</a:t>
            </a:r>
          </a:p>
          <a:p>
            <a:pPr marL="0" indent="0">
              <a:buNone/>
            </a:pPr>
            <a:r>
              <a:rPr lang="en-US" sz="2000" dirty="0" smtClean="0"/>
              <a:t>    Let</a:t>
            </a:r>
            <a:r>
              <a:rPr lang="en-US" sz="2000" dirty="0"/>
              <a:t>:</a:t>
            </a:r>
          </a:p>
          <a:p>
            <a:r>
              <a:rPr lang="en-US" sz="2000" b="1" dirty="0">
                <a:solidFill>
                  <a:srgbClr val="0070C0"/>
                </a:solidFill>
              </a:rPr>
              <a:t>A = {a₁, a₂}</a:t>
            </a:r>
            <a:br>
              <a:rPr lang="en-US" sz="2000" b="1" dirty="0">
                <a:solidFill>
                  <a:srgbClr val="0070C0"/>
                </a:solidFill>
              </a:rPr>
            </a:br>
            <a:r>
              <a:rPr lang="en-US" sz="2000" b="1" dirty="0">
                <a:solidFill>
                  <a:srgbClr val="0070C0"/>
                </a:solidFill>
              </a:rPr>
              <a:t>B = {b₁, b₂}</a:t>
            </a:r>
          </a:p>
          <a:p>
            <a:r>
              <a:rPr lang="en-US" sz="2000" dirty="0"/>
              <a:t>Suppose relation R = {(a₁, b₁), (a₂, b₂)}</a:t>
            </a:r>
          </a:p>
          <a:p>
            <a:r>
              <a:rPr lang="en-US" sz="2000" dirty="0" smtClean="0"/>
              <a:t>Matrix will look like:</a:t>
            </a:r>
            <a:endParaRPr lang="en-US" sz="2000" dirty="0"/>
          </a:p>
          <a:p>
            <a:pPr marL="0" indent="0">
              <a:buNone/>
            </a:pPr>
            <a:r>
              <a:rPr lang="en-US" sz="2000" dirty="0" smtClean="0"/>
              <a:t>    </a:t>
            </a:r>
            <a:r>
              <a:rPr lang="en-US" sz="2000" b="1" dirty="0" smtClean="0">
                <a:solidFill>
                  <a:srgbClr val="0070C0"/>
                </a:solidFill>
              </a:rPr>
              <a:t>Why</a:t>
            </a:r>
            <a:r>
              <a:rPr lang="en-US" sz="2000" b="1" dirty="0">
                <a:solidFill>
                  <a:srgbClr val="0070C0"/>
                </a:solidFill>
              </a:rPr>
              <a:t>?</a:t>
            </a:r>
          </a:p>
          <a:p>
            <a:r>
              <a:rPr lang="en-US" sz="2000" b="1" dirty="0"/>
              <a:t>(a₁, b₁) → 1</a:t>
            </a:r>
          </a:p>
          <a:p>
            <a:r>
              <a:rPr lang="en-US" sz="2000" b="1" dirty="0"/>
              <a:t>(a₁, b₂) → 0</a:t>
            </a:r>
          </a:p>
          <a:p>
            <a:r>
              <a:rPr lang="en-US" sz="2000" b="1" dirty="0"/>
              <a:t>(a₂, b₁) → 0</a:t>
            </a:r>
          </a:p>
          <a:p>
            <a:r>
              <a:rPr lang="en-US" sz="2000" b="1" dirty="0"/>
              <a:t>(a₂, b₂) → 1</a:t>
            </a:r>
          </a:p>
          <a:p>
            <a:endParaRPr lang="en-US" sz="2000" dirty="0"/>
          </a:p>
        </p:txBody>
      </p:sp>
      <p:pic>
        <p:nvPicPr>
          <p:cNvPr id="4" name="Picture 3"/>
          <p:cNvPicPr>
            <a:picLocks noChangeAspect="1"/>
          </p:cNvPicPr>
          <p:nvPr/>
        </p:nvPicPr>
        <p:blipFill rotWithShape="1">
          <a:blip r:embed="rId2"/>
          <a:srcRect l="5734" r="9682"/>
          <a:stretch/>
        </p:blipFill>
        <p:spPr>
          <a:xfrm>
            <a:off x="4462670" y="2364789"/>
            <a:ext cx="4495801" cy="3340272"/>
          </a:xfrm>
          <a:prstGeom prst="rect">
            <a:avLst/>
          </a:prstGeom>
        </p:spPr>
      </p:pic>
      <p:sp>
        <p:nvSpPr>
          <p:cNvPr id="5" name="Right Arrow 4"/>
          <p:cNvSpPr/>
          <p:nvPr/>
        </p:nvSpPr>
        <p:spPr>
          <a:xfrm>
            <a:off x="3165944" y="3429000"/>
            <a:ext cx="1219200" cy="30480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Title 1"/>
          <p:cNvSpPr>
            <a:spLocks noGrp="1"/>
          </p:cNvSpPr>
          <p:nvPr>
            <p:ph type="title"/>
          </p:nvPr>
        </p:nvSpPr>
        <p:spPr>
          <a:xfrm>
            <a:off x="381000" y="172941"/>
            <a:ext cx="8229600" cy="1143000"/>
          </a:xfrm>
        </p:spPr>
        <p:txBody>
          <a:bodyPr>
            <a:normAutofit fontScale="90000"/>
          </a:bodyPr>
          <a:lstStyle/>
          <a:p>
            <a:r>
              <a:rPr lang="en-US" dirty="0" smtClean="0"/>
              <a:t>Representing Relations Using Matrices</a:t>
            </a:r>
            <a:endParaRPr lang="en-US" dirty="0"/>
          </a:p>
        </p:txBody>
      </p:sp>
    </p:spTree>
    <p:extLst>
      <p:ext uri="{BB962C8B-B14F-4D97-AF65-F5344CB8AC3E}">
        <p14:creationId xmlns:p14="http://schemas.microsoft.com/office/powerpoint/2010/main" val="19222353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68965"/>
            <a:ext cx="8229600" cy="990600"/>
          </a:xfrm>
        </p:spPr>
        <p:txBody>
          <a:bodyPr>
            <a:normAutofit/>
          </a:bodyPr>
          <a:lstStyle/>
          <a:p>
            <a:r>
              <a:rPr lang="en-US" sz="2800" dirty="0" smtClean="0"/>
              <a:t>Examples of Representing Relations Using Matrices</a:t>
            </a:r>
            <a:endParaRPr lang="en-US" sz="2800" dirty="0"/>
          </a:p>
        </p:txBody>
      </p:sp>
      <p:sp>
        <p:nvSpPr>
          <p:cNvPr id="3" name="Content Placeholder 2"/>
          <p:cNvSpPr>
            <a:spLocks noGrp="1"/>
          </p:cNvSpPr>
          <p:nvPr>
            <p:ph idx="1"/>
          </p:nvPr>
        </p:nvSpPr>
        <p:spPr>
          <a:xfrm>
            <a:off x="304800" y="1238151"/>
            <a:ext cx="8229600" cy="4389120"/>
          </a:xfrm>
        </p:spPr>
        <p:txBody>
          <a:bodyPr/>
          <a:lstStyle/>
          <a:p>
            <a:pPr>
              <a:buNone/>
            </a:pPr>
            <a:r>
              <a:rPr lang="en-US" b="1" dirty="0" smtClean="0"/>
              <a:t>   </a:t>
            </a:r>
            <a:r>
              <a:rPr lang="en-US" sz="2200" b="1" dirty="0" smtClean="0"/>
              <a:t>Example </a:t>
            </a:r>
            <a:r>
              <a:rPr lang="en-US" sz="2200" b="1" dirty="0">
                <a:latin typeface="Cambria Math" pitchFamily="18" charset="0"/>
                <a:ea typeface="Cambria Math" pitchFamily="18" charset="0"/>
              </a:rPr>
              <a:t>2</a:t>
            </a:r>
            <a:r>
              <a:rPr lang="en-US" sz="2200" dirty="0" smtClean="0"/>
              <a:t>: </a:t>
            </a:r>
            <a:r>
              <a:rPr lang="en-US" sz="2200" b="1" dirty="0" smtClean="0"/>
              <a:t>Suppose that </a:t>
            </a:r>
            <a:r>
              <a:rPr lang="en-US" sz="2200" b="1" i="1" dirty="0" smtClean="0"/>
              <a:t>A</a:t>
            </a:r>
            <a:r>
              <a:rPr lang="en-US" sz="2200" b="1" dirty="0" smtClean="0"/>
              <a:t> = {</a:t>
            </a:r>
            <a:r>
              <a:rPr lang="en-US" sz="2200" b="1" dirty="0" smtClean="0">
                <a:latin typeface="Cambria Math" pitchFamily="18" charset="0"/>
                <a:ea typeface="Cambria Math" pitchFamily="18" charset="0"/>
              </a:rPr>
              <a:t>1,2,3</a:t>
            </a:r>
            <a:r>
              <a:rPr lang="en-US" sz="2200" b="1" dirty="0" smtClean="0"/>
              <a:t>} and </a:t>
            </a:r>
            <a:r>
              <a:rPr lang="en-US" sz="2200" b="1" i="1" dirty="0" smtClean="0"/>
              <a:t>B</a:t>
            </a:r>
            <a:r>
              <a:rPr lang="en-US" sz="2200" b="1" dirty="0" smtClean="0"/>
              <a:t> = {</a:t>
            </a:r>
            <a:r>
              <a:rPr lang="en-US" sz="2200" b="1" dirty="0" smtClean="0">
                <a:latin typeface="Cambria Math" pitchFamily="18" charset="0"/>
                <a:ea typeface="Cambria Math" pitchFamily="18" charset="0"/>
              </a:rPr>
              <a:t>1,2</a:t>
            </a:r>
            <a:r>
              <a:rPr lang="en-US" sz="2200" b="1" dirty="0" smtClean="0"/>
              <a:t>}. Let  </a:t>
            </a:r>
            <a:r>
              <a:rPr lang="en-US" sz="2200" b="1" i="1" dirty="0" smtClean="0"/>
              <a:t>R</a:t>
            </a:r>
            <a:r>
              <a:rPr lang="en-US" sz="2200" b="1" dirty="0" smtClean="0"/>
              <a:t> be  the relation from </a:t>
            </a:r>
            <a:r>
              <a:rPr lang="en-US" sz="2200" b="1" i="1" dirty="0" smtClean="0"/>
              <a:t>A</a:t>
            </a:r>
            <a:r>
              <a:rPr lang="en-US" sz="2200" b="1" dirty="0" smtClean="0"/>
              <a:t> to </a:t>
            </a:r>
            <a:r>
              <a:rPr lang="en-US" sz="2200" b="1" i="1" dirty="0" smtClean="0"/>
              <a:t>B</a:t>
            </a:r>
            <a:r>
              <a:rPr lang="en-US" sz="2200" b="1" dirty="0" smtClean="0"/>
              <a:t> containing (</a:t>
            </a:r>
            <a:r>
              <a:rPr lang="en-US" sz="2200" b="1" i="1" dirty="0" err="1" smtClean="0"/>
              <a:t>a</a:t>
            </a:r>
            <a:r>
              <a:rPr lang="en-US" sz="2200" b="1" dirty="0" err="1" smtClean="0"/>
              <a:t>,</a:t>
            </a:r>
            <a:r>
              <a:rPr lang="en-US" sz="2200" b="1" i="1" dirty="0" err="1" smtClean="0"/>
              <a:t>b</a:t>
            </a:r>
            <a:r>
              <a:rPr lang="en-US" sz="2200" b="1" dirty="0" smtClean="0"/>
              <a:t>) if </a:t>
            </a:r>
            <a:r>
              <a:rPr lang="en-US" sz="2200" b="1" i="1" dirty="0" smtClean="0"/>
              <a:t>a</a:t>
            </a:r>
            <a:r>
              <a:rPr lang="en-US" sz="2200" b="1" dirty="0" smtClean="0"/>
              <a:t> </a:t>
            </a:r>
            <a:r>
              <a:rPr lang="en-US" sz="2200" b="1" dirty="0" smtClean="0">
                <a:latin typeface="Cambria Math"/>
                <a:ea typeface="Cambria Math"/>
              </a:rPr>
              <a:t>∈</a:t>
            </a:r>
            <a:r>
              <a:rPr lang="en-US" sz="2200" b="1" dirty="0" smtClean="0"/>
              <a:t> </a:t>
            </a:r>
            <a:r>
              <a:rPr lang="en-US" sz="2200" b="1" i="1" dirty="0" smtClean="0"/>
              <a:t>A</a:t>
            </a:r>
            <a:r>
              <a:rPr lang="en-US" sz="2200" b="1" dirty="0" smtClean="0"/>
              <a:t>,    </a:t>
            </a:r>
            <a:r>
              <a:rPr lang="en-US" sz="2200" b="1" i="1" dirty="0" smtClean="0"/>
              <a:t>b</a:t>
            </a:r>
            <a:r>
              <a:rPr lang="en-US" sz="2200" b="1" dirty="0" smtClean="0"/>
              <a:t> </a:t>
            </a:r>
            <a:r>
              <a:rPr lang="en-US" sz="2200" b="1" dirty="0" smtClean="0">
                <a:latin typeface="Cambria Math"/>
                <a:ea typeface="Cambria Math"/>
              </a:rPr>
              <a:t>∈</a:t>
            </a:r>
            <a:r>
              <a:rPr lang="en-US" sz="2200" b="1" dirty="0" smtClean="0"/>
              <a:t>  </a:t>
            </a:r>
            <a:r>
              <a:rPr lang="en-US" sz="2200" b="1" i="1" dirty="0" smtClean="0"/>
              <a:t>B</a:t>
            </a:r>
            <a:r>
              <a:rPr lang="en-US" sz="2200" b="1" dirty="0" smtClean="0"/>
              <a:t>, and </a:t>
            </a:r>
            <a:r>
              <a:rPr lang="en-US" sz="2200" b="1" i="1" dirty="0" smtClean="0"/>
              <a:t>a</a:t>
            </a:r>
            <a:r>
              <a:rPr lang="en-US" sz="2200" b="1" dirty="0" smtClean="0"/>
              <a:t> &gt; </a:t>
            </a:r>
            <a:r>
              <a:rPr lang="en-US" sz="2200" b="1" i="1" dirty="0" smtClean="0"/>
              <a:t>b</a:t>
            </a:r>
            <a:r>
              <a:rPr lang="en-US" sz="2200" b="1" dirty="0" smtClean="0"/>
              <a:t>. What is the matrix representing </a:t>
            </a:r>
            <a:r>
              <a:rPr lang="en-US" sz="2200" b="1" i="1" dirty="0" smtClean="0"/>
              <a:t>R </a:t>
            </a:r>
            <a:r>
              <a:rPr lang="en-US" sz="2200" b="1" dirty="0" smtClean="0"/>
              <a:t> (assuming the ordering of elements is the same as the increasing numerical order)?</a:t>
            </a:r>
          </a:p>
          <a:p>
            <a:pPr marL="0" indent="0">
              <a:buNone/>
            </a:pPr>
            <a:r>
              <a:rPr lang="en-US" sz="2200" b="1" dirty="0"/>
              <a:t> </a:t>
            </a:r>
            <a:r>
              <a:rPr lang="en-US" sz="2200" b="1" dirty="0" smtClean="0"/>
              <a:t>  Solution: </a:t>
            </a:r>
          </a:p>
          <a:p>
            <a:pPr marL="0" indent="0">
              <a:buNone/>
            </a:pPr>
            <a:r>
              <a:rPr lang="en-US" sz="2200" b="1" dirty="0"/>
              <a:t> </a:t>
            </a:r>
            <a:r>
              <a:rPr lang="en-US" sz="2200" b="1" dirty="0" smtClean="0"/>
              <a:t>   Step </a:t>
            </a:r>
            <a:r>
              <a:rPr lang="en-US" sz="2200" b="1" dirty="0"/>
              <a:t>1: Find all pairs where a &gt; b</a:t>
            </a:r>
          </a:p>
          <a:p>
            <a:pPr marL="0" indent="0">
              <a:buNone/>
            </a:pPr>
            <a:r>
              <a:rPr lang="en-US" sz="2200" dirty="0" smtClean="0"/>
              <a:t>    Check </a:t>
            </a:r>
            <a:r>
              <a:rPr lang="en-US" sz="2200" dirty="0"/>
              <a:t>each value of A with each value of B.</a:t>
            </a:r>
          </a:p>
          <a:p>
            <a:r>
              <a:rPr lang="en-US" sz="2200" b="1" dirty="0"/>
              <a:t>For a = 1</a:t>
            </a:r>
          </a:p>
          <a:p>
            <a:r>
              <a:rPr lang="en-US" sz="2200" b="1" dirty="0">
                <a:solidFill>
                  <a:srgbClr val="0070C0"/>
                </a:solidFill>
              </a:rPr>
              <a:t>(1,1) → 1 &gt; 1 </a:t>
            </a:r>
            <a:r>
              <a:rPr lang="en-US" sz="2200" dirty="0"/>
              <a:t>❌ </a:t>
            </a:r>
          </a:p>
          <a:p>
            <a:r>
              <a:rPr lang="en-US" sz="2200" b="1" dirty="0">
                <a:solidFill>
                  <a:srgbClr val="0070C0"/>
                </a:solidFill>
              </a:rPr>
              <a:t>(1,2) → 1 &gt; 2</a:t>
            </a:r>
            <a:r>
              <a:rPr lang="en-US" sz="2200" dirty="0"/>
              <a:t> ❌ </a:t>
            </a:r>
          </a:p>
          <a:p>
            <a:endParaRPr lang="en-US" sz="2000" dirty="0"/>
          </a:p>
        </p:txBody>
      </p:sp>
      <p:sp>
        <p:nvSpPr>
          <p:cNvPr id="4" name="TextBox 3"/>
          <p:cNvSpPr txBox="1"/>
          <p:nvPr/>
        </p:nvSpPr>
        <p:spPr>
          <a:xfrm>
            <a:off x="5943600" y="3432711"/>
            <a:ext cx="3733800" cy="1938992"/>
          </a:xfrm>
          <a:prstGeom prst="rect">
            <a:avLst/>
          </a:prstGeom>
          <a:noFill/>
        </p:spPr>
        <p:txBody>
          <a:bodyPr wrap="square" rtlCol="0">
            <a:spAutoFit/>
          </a:bodyPr>
          <a:lstStyle/>
          <a:p>
            <a:r>
              <a:rPr lang="en-US" sz="2000" b="1" dirty="0"/>
              <a:t>For a = 2</a:t>
            </a:r>
          </a:p>
          <a:p>
            <a:r>
              <a:rPr lang="en-US" sz="2000" b="1" dirty="0">
                <a:solidFill>
                  <a:srgbClr val="0070C0"/>
                </a:solidFill>
              </a:rPr>
              <a:t>(2,1) → 2 &gt; 1 </a:t>
            </a:r>
            <a:r>
              <a:rPr lang="en-US" sz="2000" dirty="0"/>
              <a:t>✔ </a:t>
            </a:r>
          </a:p>
          <a:p>
            <a:r>
              <a:rPr lang="en-US" sz="2000" b="1" dirty="0">
                <a:solidFill>
                  <a:srgbClr val="0070C0"/>
                </a:solidFill>
              </a:rPr>
              <a:t>(2,2) → 2 &gt; 2 </a:t>
            </a:r>
            <a:r>
              <a:rPr lang="en-US" sz="2000" dirty="0"/>
              <a:t>❌ </a:t>
            </a:r>
          </a:p>
          <a:p>
            <a:r>
              <a:rPr lang="en-US" sz="2000" b="1" dirty="0"/>
              <a:t>For a = 3</a:t>
            </a:r>
          </a:p>
          <a:p>
            <a:r>
              <a:rPr lang="en-US" sz="2000" b="1" dirty="0">
                <a:solidFill>
                  <a:srgbClr val="0070C0"/>
                </a:solidFill>
              </a:rPr>
              <a:t>(3,1) → 3 &gt; 1 </a:t>
            </a:r>
            <a:r>
              <a:rPr lang="en-US" sz="2000" dirty="0"/>
              <a:t>✔ </a:t>
            </a:r>
          </a:p>
          <a:p>
            <a:r>
              <a:rPr lang="en-US" sz="2000" b="1" dirty="0">
                <a:solidFill>
                  <a:srgbClr val="0070C0"/>
                </a:solidFill>
              </a:rPr>
              <a:t>(3,2) → 3 &gt; 2 </a:t>
            </a:r>
            <a:r>
              <a:rPr lang="en-US" sz="2000" dirty="0"/>
              <a:t>✔ </a:t>
            </a:r>
          </a:p>
        </p:txBody>
      </p:sp>
      <p:sp>
        <p:nvSpPr>
          <p:cNvPr id="5" name="Rectangle 4"/>
          <p:cNvSpPr/>
          <p:nvPr/>
        </p:nvSpPr>
        <p:spPr>
          <a:xfrm>
            <a:off x="3009900" y="5705857"/>
            <a:ext cx="5524500" cy="677108"/>
          </a:xfrm>
          <a:prstGeom prst="rect">
            <a:avLst/>
          </a:prstGeom>
        </p:spPr>
        <p:txBody>
          <a:bodyPr wrap="square">
            <a:spAutoFit/>
          </a:bodyPr>
          <a:lstStyle/>
          <a:p>
            <a:r>
              <a:rPr lang="en-US" b="1" dirty="0"/>
              <a:t>So the relation is:</a:t>
            </a:r>
          </a:p>
          <a:p>
            <a:r>
              <a:rPr lang="en-US" sz="2000" b="1" dirty="0">
                <a:solidFill>
                  <a:srgbClr val="0070C0"/>
                </a:solidFill>
              </a:rPr>
              <a:t>R = {(2,1), (3,1), (3,2)}</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ddin_tmp.png"/>
          <p:cNvPicPr>
            <a:picLocks noGrp="1" noChangeAspect="1"/>
          </p:cNvPicPr>
          <p:nvPr>
            <p:ph idx="1"/>
            <p:custDataLst>
              <p:tags r:id="rId1"/>
            </p:custDataLst>
          </p:nvPr>
        </p:nvPicPr>
        <p:blipFill>
          <a:blip r:embed="rId3" cstate="print"/>
          <a:stretch>
            <a:fillRect/>
          </a:stretch>
        </p:blipFill>
        <p:spPr>
          <a:xfrm>
            <a:off x="2133600" y="4511299"/>
            <a:ext cx="1928646" cy="914444"/>
          </a:xfrm>
          <a:prstGeom prst="rect">
            <a:avLst/>
          </a:prstGeom>
        </p:spPr>
      </p:pic>
      <p:sp>
        <p:nvSpPr>
          <p:cNvPr id="5" name="TextBox 4"/>
          <p:cNvSpPr txBox="1"/>
          <p:nvPr/>
        </p:nvSpPr>
        <p:spPr>
          <a:xfrm>
            <a:off x="457200" y="2057400"/>
            <a:ext cx="7848600" cy="2057400"/>
          </a:xfrm>
          <a:prstGeom prst="rect">
            <a:avLst/>
          </a:prstGeom>
          <a:noFill/>
        </p:spPr>
        <p:txBody>
          <a:bodyPr wrap="square" rtlCol="0">
            <a:spAutoFit/>
          </a:bodyPr>
          <a:lstStyle/>
          <a:p>
            <a:r>
              <a:rPr lang="en-US" b="1" dirty="0"/>
              <a:t>Step 2: Make the Matrix</a:t>
            </a:r>
          </a:p>
          <a:p>
            <a:r>
              <a:rPr lang="en-US" dirty="0"/>
              <a:t>Rows = </a:t>
            </a:r>
            <a:r>
              <a:rPr lang="en-US" b="1" dirty="0" smtClean="0">
                <a:solidFill>
                  <a:srgbClr val="0070C0"/>
                </a:solidFill>
              </a:rPr>
              <a:t>A </a:t>
            </a:r>
            <a:r>
              <a:rPr lang="en-US" b="1" dirty="0">
                <a:solidFill>
                  <a:srgbClr val="0070C0"/>
                </a:solidFill>
              </a:rPr>
              <a:t>= {1, 2, 3}</a:t>
            </a:r>
            <a:br>
              <a:rPr lang="en-US" b="1" dirty="0">
                <a:solidFill>
                  <a:srgbClr val="0070C0"/>
                </a:solidFill>
              </a:rPr>
            </a:br>
            <a:r>
              <a:rPr lang="en-US" dirty="0"/>
              <a:t>Columns = </a:t>
            </a:r>
            <a:r>
              <a:rPr lang="en-US" b="1" dirty="0">
                <a:solidFill>
                  <a:srgbClr val="0070C0"/>
                </a:solidFill>
              </a:rPr>
              <a:t>B = {1, 2}</a:t>
            </a:r>
          </a:p>
          <a:p>
            <a:r>
              <a:rPr lang="en-US" dirty="0"/>
              <a:t>Put:</a:t>
            </a:r>
          </a:p>
          <a:p>
            <a:r>
              <a:rPr lang="en-US" b="1" dirty="0"/>
              <a:t>1 → if pair exists</a:t>
            </a:r>
          </a:p>
          <a:p>
            <a:r>
              <a:rPr lang="en-US" b="1" dirty="0"/>
              <a:t>0 → if pair does not exist</a:t>
            </a:r>
          </a:p>
          <a:p>
            <a:endParaRPr lang="en-US" b="1" dirty="0"/>
          </a:p>
        </p:txBody>
      </p:sp>
      <p:pic>
        <p:nvPicPr>
          <p:cNvPr id="6" name="Picture 5"/>
          <p:cNvPicPr>
            <a:picLocks noChangeAspect="1"/>
          </p:cNvPicPr>
          <p:nvPr/>
        </p:nvPicPr>
        <p:blipFill>
          <a:blip r:embed="rId4"/>
          <a:stretch>
            <a:fillRect/>
          </a:stretch>
        </p:blipFill>
        <p:spPr>
          <a:xfrm>
            <a:off x="3784348" y="2120687"/>
            <a:ext cx="4902452" cy="2390612"/>
          </a:xfrm>
          <a:prstGeom prst="rect">
            <a:avLst/>
          </a:prstGeom>
        </p:spPr>
      </p:pic>
      <p:sp>
        <p:nvSpPr>
          <p:cNvPr id="7" name="TextBox 6"/>
          <p:cNvSpPr txBox="1"/>
          <p:nvPr/>
        </p:nvSpPr>
        <p:spPr>
          <a:xfrm>
            <a:off x="609600" y="4114800"/>
            <a:ext cx="1676400" cy="369332"/>
          </a:xfrm>
          <a:prstGeom prst="rect">
            <a:avLst/>
          </a:prstGeom>
          <a:noFill/>
        </p:spPr>
        <p:txBody>
          <a:bodyPr wrap="square" rtlCol="0">
            <a:spAutoFit/>
          </a:bodyPr>
          <a:lstStyle/>
          <a:p>
            <a:r>
              <a:rPr lang="en-US" b="1" dirty="0" smtClean="0"/>
              <a:t>Final Answer:</a:t>
            </a:r>
            <a:endParaRPr lang="en-US" b="1" dirty="0"/>
          </a:p>
        </p:txBody>
      </p:sp>
      <p:sp>
        <p:nvSpPr>
          <p:cNvPr id="8" name="Right Arrow 7"/>
          <p:cNvSpPr/>
          <p:nvPr/>
        </p:nvSpPr>
        <p:spPr>
          <a:xfrm>
            <a:off x="3216492" y="3444455"/>
            <a:ext cx="567856" cy="30480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Title 1"/>
          <p:cNvSpPr>
            <a:spLocks noGrp="1"/>
          </p:cNvSpPr>
          <p:nvPr>
            <p:ph type="title"/>
          </p:nvPr>
        </p:nvSpPr>
        <p:spPr/>
        <p:txBody>
          <a:bodyPr>
            <a:normAutofit/>
          </a:bodyPr>
          <a:lstStyle/>
          <a:p>
            <a:r>
              <a:rPr lang="en-US" sz="2800" dirty="0" smtClean="0"/>
              <a:t>Examples of Representing Relations Using Matrices</a:t>
            </a:r>
            <a:endParaRPr lang="en-US" sz="2800" dirty="0"/>
          </a:p>
        </p:txBody>
      </p:sp>
    </p:spTree>
    <p:extLst>
      <p:ext uri="{BB962C8B-B14F-4D97-AF65-F5344CB8AC3E}">
        <p14:creationId xmlns:p14="http://schemas.microsoft.com/office/powerpoint/2010/main" val="31814417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Examples of Representing Relations Using Matrices (</a:t>
            </a:r>
            <a:r>
              <a:rPr lang="en-US" i="1" dirty="0" smtClean="0"/>
              <a:t>cont.</a:t>
            </a:r>
            <a:r>
              <a:rPr lang="en-US" dirty="0" smtClean="0"/>
              <a:t>)</a:t>
            </a:r>
            <a:endParaRPr lang="en-US" dirty="0"/>
          </a:p>
        </p:txBody>
      </p:sp>
      <p:sp>
        <p:nvSpPr>
          <p:cNvPr id="3" name="Content Placeholder 2"/>
          <p:cNvSpPr>
            <a:spLocks noGrp="1"/>
          </p:cNvSpPr>
          <p:nvPr>
            <p:ph idx="1"/>
          </p:nvPr>
        </p:nvSpPr>
        <p:spPr/>
        <p:txBody>
          <a:bodyPr>
            <a:normAutofit lnSpcReduction="10000"/>
          </a:bodyPr>
          <a:lstStyle/>
          <a:p>
            <a:pPr>
              <a:buNone/>
            </a:pPr>
            <a:r>
              <a:rPr lang="en-US" b="1" dirty="0" smtClean="0"/>
              <a:t>   Example </a:t>
            </a:r>
            <a:r>
              <a:rPr lang="en-US" b="1" dirty="0">
                <a:latin typeface="Cambria Math" pitchFamily="18" charset="0"/>
                <a:ea typeface="Cambria Math" pitchFamily="18" charset="0"/>
              </a:rPr>
              <a:t>3</a:t>
            </a:r>
            <a:r>
              <a:rPr lang="en-US" dirty="0" smtClean="0"/>
              <a:t>: </a:t>
            </a:r>
            <a:r>
              <a:rPr lang="en-US" b="1" dirty="0" smtClean="0"/>
              <a:t>Let </a:t>
            </a:r>
            <a:r>
              <a:rPr lang="en-US" b="1" i="1" dirty="0" smtClean="0"/>
              <a:t>A</a:t>
            </a:r>
            <a:r>
              <a:rPr lang="en-US" b="1" dirty="0" smtClean="0"/>
              <a:t> = {</a:t>
            </a:r>
            <a:r>
              <a:rPr lang="en-US" b="1" i="1" dirty="0" smtClean="0"/>
              <a:t>a</a:t>
            </a:r>
            <a:r>
              <a:rPr lang="en-US" b="1" baseline="-25000" dirty="0" smtClean="0">
                <a:latin typeface="Cambria Math" pitchFamily="18" charset="0"/>
                <a:ea typeface="Cambria Math" pitchFamily="18" charset="0"/>
              </a:rPr>
              <a:t>1</a:t>
            </a:r>
            <a:r>
              <a:rPr lang="en-US" b="1" dirty="0" smtClean="0">
                <a:latin typeface="Cambria Math" pitchFamily="18" charset="0"/>
                <a:ea typeface="Cambria Math" pitchFamily="18" charset="0"/>
              </a:rPr>
              <a:t>,</a:t>
            </a:r>
            <a:r>
              <a:rPr lang="en-US" b="1" i="1" dirty="0" smtClean="0">
                <a:ea typeface="Cambria Math" pitchFamily="18" charset="0"/>
              </a:rPr>
              <a:t>a</a:t>
            </a:r>
            <a:r>
              <a:rPr lang="en-US" b="1" baseline="-25000" dirty="0" smtClean="0">
                <a:latin typeface="Cambria Math" pitchFamily="18" charset="0"/>
                <a:ea typeface="Cambria Math" pitchFamily="18" charset="0"/>
              </a:rPr>
              <a:t>2</a:t>
            </a:r>
            <a:r>
              <a:rPr lang="en-US" b="1" dirty="0" smtClean="0">
                <a:latin typeface="Cambria Math" pitchFamily="18" charset="0"/>
                <a:ea typeface="Cambria Math" pitchFamily="18" charset="0"/>
              </a:rPr>
              <a:t>, </a:t>
            </a:r>
            <a:r>
              <a:rPr lang="en-US" b="1" i="1" dirty="0" smtClean="0">
                <a:ea typeface="Cambria Math" pitchFamily="18" charset="0"/>
              </a:rPr>
              <a:t>a</a:t>
            </a:r>
            <a:r>
              <a:rPr lang="en-US" b="1" baseline="-25000" dirty="0" smtClean="0">
                <a:latin typeface="Cambria Math" pitchFamily="18" charset="0"/>
                <a:ea typeface="Cambria Math" pitchFamily="18" charset="0"/>
              </a:rPr>
              <a:t>3</a:t>
            </a:r>
            <a:r>
              <a:rPr lang="en-US" b="1" dirty="0" smtClean="0"/>
              <a:t>} and </a:t>
            </a:r>
            <a:r>
              <a:rPr lang="en-US" b="1" i="1" dirty="0" smtClean="0"/>
              <a:t>B</a:t>
            </a:r>
            <a:r>
              <a:rPr lang="en-US" b="1" dirty="0" smtClean="0"/>
              <a:t> = {</a:t>
            </a:r>
            <a:r>
              <a:rPr lang="en-US" b="1" i="1" dirty="0" smtClean="0"/>
              <a:t>b</a:t>
            </a:r>
            <a:r>
              <a:rPr lang="en-US" b="1" baseline="-25000" dirty="0" smtClean="0">
                <a:latin typeface="Cambria Math" pitchFamily="18" charset="0"/>
                <a:ea typeface="Cambria Math" pitchFamily="18" charset="0"/>
              </a:rPr>
              <a:t>1</a:t>
            </a:r>
            <a:r>
              <a:rPr lang="en-US" b="1" dirty="0" smtClean="0">
                <a:latin typeface="Cambria Math" pitchFamily="18" charset="0"/>
                <a:ea typeface="Cambria Math" pitchFamily="18" charset="0"/>
              </a:rPr>
              <a:t>,</a:t>
            </a:r>
            <a:r>
              <a:rPr lang="en-US" b="1" i="1" dirty="0" smtClean="0">
                <a:ea typeface="Cambria Math" pitchFamily="18" charset="0"/>
              </a:rPr>
              <a:t>b</a:t>
            </a:r>
            <a:r>
              <a:rPr lang="en-US" b="1" baseline="-25000" dirty="0" smtClean="0">
                <a:latin typeface="Cambria Math" pitchFamily="18" charset="0"/>
                <a:ea typeface="Cambria Math" pitchFamily="18" charset="0"/>
              </a:rPr>
              <a:t>2</a:t>
            </a:r>
            <a:r>
              <a:rPr lang="en-US" b="1" dirty="0" smtClean="0">
                <a:latin typeface="Cambria Math" pitchFamily="18" charset="0"/>
                <a:ea typeface="Cambria Math" pitchFamily="18" charset="0"/>
              </a:rPr>
              <a:t>, </a:t>
            </a:r>
            <a:r>
              <a:rPr lang="en-US" b="1" i="1" dirty="0" smtClean="0">
                <a:ea typeface="Cambria Math" pitchFamily="18" charset="0"/>
              </a:rPr>
              <a:t>b</a:t>
            </a:r>
            <a:r>
              <a:rPr lang="en-US" b="1" baseline="-25000" dirty="0" smtClean="0">
                <a:latin typeface="Cambria Math" pitchFamily="18" charset="0"/>
                <a:ea typeface="Cambria Math" pitchFamily="18" charset="0"/>
              </a:rPr>
              <a:t>3</a:t>
            </a:r>
            <a:r>
              <a:rPr lang="en-US" b="1" dirty="0" smtClean="0">
                <a:latin typeface="Cambria Math" pitchFamily="18" charset="0"/>
                <a:ea typeface="Cambria Math" pitchFamily="18" charset="0"/>
              </a:rPr>
              <a:t>,</a:t>
            </a:r>
            <a:r>
              <a:rPr lang="en-US" b="1" i="1" dirty="0" smtClean="0">
                <a:ea typeface="Cambria Math" pitchFamily="18" charset="0"/>
              </a:rPr>
              <a:t>b</a:t>
            </a:r>
            <a:r>
              <a:rPr lang="en-US" b="1" baseline="-25000" dirty="0" smtClean="0">
                <a:latin typeface="Cambria Math" pitchFamily="18" charset="0"/>
                <a:ea typeface="Cambria Math" pitchFamily="18" charset="0"/>
              </a:rPr>
              <a:t>4</a:t>
            </a:r>
            <a:r>
              <a:rPr lang="en-US" b="1" dirty="0" smtClean="0">
                <a:latin typeface="Cambria Math" pitchFamily="18" charset="0"/>
                <a:ea typeface="Cambria Math" pitchFamily="18" charset="0"/>
              </a:rPr>
              <a:t>, </a:t>
            </a:r>
            <a:r>
              <a:rPr lang="en-US" b="1" i="1" dirty="0" smtClean="0">
                <a:ea typeface="Cambria Math" pitchFamily="18" charset="0"/>
              </a:rPr>
              <a:t>b</a:t>
            </a:r>
            <a:r>
              <a:rPr lang="en-US" b="1" baseline="-25000" dirty="0" smtClean="0">
                <a:latin typeface="Cambria Math" pitchFamily="18" charset="0"/>
                <a:ea typeface="Cambria Math" pitchFamily="18" charset="0"/>
              </a:rPr>
              <a:t>5</a:t>
            </a:r>
            <a:r>
              <a:rPr lang="en-US" b="1" dirty="0" smtClean="0"/>
              <a:t>}. Which ordered pairs are in the relation </a:t>
            </a:r>
            <a:r>
              <a:rPr lang="en-US" b="1" i="1" dirty="0" smtClean="0"/>
              <a:t>R</a:t>
            </a:r>
            <a:r>
              <a:rPr lang="en-US" b="1" dirty="0" smtClean="0"/>
              <a:t> represented by the matrix</a:t>
            </a:r>
          </a:p>
          <a:p>
            <a:pPr>
              <a:buNone/>
            </a:pPr>
            <a:endParaRPr lang="en-US" dirty="0" smtClean="0"/>
          </a:p>
          <a:p>
            <a:pPr>
              <a:buNone/>
            </a:pPr>
            <a:endParaRPr lang="en-US" dirty="0" smtClean="0"/>
          </a:p>
          <a:p>
            <a:pPr>
              <a:buNone/>
            </a:pPr>
            <a:endParaRPr lang="en-US" dirty="0" smtClean="0"/>
          </a:p>
          <a:p>
            <a:pPr>
              <a:buNone/>
            </a:pPr>
            <a:r>
              <a:rPr lang="en-US" b="1" dirty="0" smtClean="0"/>
              <a:t>    Solution: </a:t>
            </a:r>
            <a:r>
              <a:rPr lang="en-US" dirty="0" smtClean="0"/>
              <a:t>Because </a:t>
            </a:r>
            <a:r>
              <a:rPr lang="en-US" i="1" dirty="0" smtClean="0"/>
              <a:t>R</a:t>
            </a:r>
            <a:r>
              <a:rPr lang="en-US" dirty="0" smtClean="0"/>
              <a:t>  consists of those ordered pairs (</a:t>
            </a:r>
            <a:r>
              <a:rPr lang="en-US" i="1" dirty="0" err="1" smtClean="0"/>
              <a:t>a</a:t>
            </a:r>
            <a:r>
              <a:rPr lang="en-US" i="1" baseline="-25000" dirty="0" err="1" smtClean="0"/>
              <a:t>i</a:t>
            </a:r>
            <a:r>
              <a:rPr lang="en-US" dirty="0" err="1" smtClean="0"/>
              <a:t>,</a:t>
            </a:r>
            <a:r>
              <a:rPr lang="en-US" i="1" dirty="0" err="1" smtClean="0"/>
              <a:t>b</a:t>
            </a:r>
            <a:r>
              <a:rPr lang="en-US" i="1" baseline="-25000" dirty="0" err="1" smtClean="0"/>
              <a:t>j</a:t>
            </a:r>
            <a:r>
              <a:rPr lang="en-US" dirty="0" smtClean="0"/>
              <a:t>) with </a:t>
            </a:r>
            <a:r>
              <a:rPr lang="en-US" i="1" dirty="0" err="1" smtClean="0"/>
              <a:t>m</a:t>
            </a:r>
            <a:r>
              <a:rPr lang="en-US" i="1" baseline="-25000" dirty="0" err="1" smtClean="0"/>
              <a:t>ij</a:t>
            </a:r>
            <a:r>
              <a:rPr lang="en-US" dirty="0" smtClean="0"/>
              <a:t> = </a:t>
            </a:r>
            <a:r>
              <a:rPr lang="en-US" dirty="0" smtClean="0">
                <a:latin typeface="Cambria Math" pitchFamily="18" charset="0"/>
                <a:ea typeface="Cambria Math" pitchFamily="18" charset="0"/>
              </a:rPr>
              <a:t>1</a:t>
            </a:r>
            <a:r>
              <a:rPr lang="en-US" dirty="0" smtClean="0"/>
              <a:t>, it follows that:</a:t>
            </a:r>
          </a:p>
          <a:p>
            <a:pPr>
              <a:buNone/>
            </a:pPr>
            <a:endParaRPr lang="en-US" dirty="0" smtClean="0"/>
          </a:p>
          <a:p>
            <a:pPr>
              <a:buNone/>
            </a:pPr>
            <a:r>
              <a:rPr lang="en-US" sz="2000" i="1" dirty="0" smtClean="0"/>
              <a:t>          R </a:t>
            </a:r>
            <a:r>
              <a:rPr lang="en-US" sz="2000" dirty="0" smtClean="0"/>
              <a:t>= {(</a:t>
            </a:r>
            <a:r>
              <a:rPr lang="en-US" sz="2000" i="1" dirty="0" smtClean="0"/>
              <a:t>a</a:t>
            </a:r>
            <a:r>
              <a:rPr lang="en-US" sz="2000" baseline="-25000" dirty="0" smtClean="0">
                <a:latin typeface="Cambria Math" pitchFamily="18" charset="0"/>
                <a:ea typeface="Cambria Math" pitchFamily="18" charset="0"/>
              </a:rPr>
              <a:t>1</a:t>
            </a:r>
            <a:r>
              <a:rPr lang="en-US" sz="2000" dirty="0" smtClean="0">
                <a:latin typeface="Cambria Math" pitchFamily="18" charset="0"/>
                <a:ea typeface="Cambria Math" pitchFamily="18" charset="0"/>
              </a:rPr>
              <a:t>,</a:t>
            </a:r>
            <a:r>
              <a:rPr lang="en-US" sz="2000" i="1" dirty="0" smtClean="0">
                <a:ea typeface="Cambria Math" pitchFamily="18" charset="0"/>
              </a:rPr>
              <a:t> b</a:t>
            </a:r>
            <a:r>
              <a:rPr lang="en-US" sz="2000" baseline="-25000" dirty="0" smtClean="0">
                <a:latin typeface="Cambria Math" pitchFamily="18" charset="0"/>
                <a:ea typeface="Cambria Math" pitchFamily="18" charset="0"/>
              </a:rPr>
              <a:t>2</a:t>
            </a:r>
            <a:r>
              <a:rPr lang="en-US" sz="2000" dirty="0" smtClean="0"/>
              <a:t>), (</a:t>
            </a:r>
            <a:r>
              <a:rPr lang="en-US" sz="2000" i="1" dirty="0" smtClean="0">
                <a:ea typeface="Cambria Math" pitchFamily="18" charset="0"/>
              </a:rPr>
              <a:t>a</a:t>
            </a:r>
            <a:r>
              <a:rPr lang="en-US" sz="2000" baseline="-25000" dirty="0" smtClean="0">
                <a:latin typeface="Cambria Math" pitchFamily="18" charset="0"/>
                <a:ea typeface="Cambria Math" pitchFamily="18" charset="0"/>
              </a:rPr>
              <a:t>2</a:t>
            </a:r>
            <a:r>
              <a:rPr lang="en-US" sz="2000" dirty="0" smtClean="0">
                <a:latin typeface="Cambria Math" pitchFamily="18" charset="0"/>
                <a:ea typeface="Cambria Math" pitchFamily="18" charset="0"/>
              </a:rPr>
              <a:t>,</a:t>
            </a:r>
            <a:r>
              <a:rPr lang="en-US" sz="2000" i="1" dirty="0" smtClean="0"/>
              <a:t> b</a:t>
            </a:r>
            <a:r>
              <a:rPr lang="en-US" sz="2000" baseline="-25000" dirty="0" smtClean="0">
                <a:latin typeface="Cambria Math" pitchFamily="18" charset="0"/>
                <a:ea typeface="Cambria Math" pitchFamily="18" charset="0"/>
              </a:rPr>
              <a:t>1</a:t>
            </a:r>
            <a:r>
              <a:rPr lang="en-US" sz="2000" dirty="0" smtClean="0"/>
              <a:t>),(</a:t>
            </a:r>
            <a:r>
              <a:rPr lang="en-US" sz="2000" i="1" dirty="0" smtClean="0">
                <a:ea typeface="Cambria Math" pitchFamily="18" charset="0"/>
              </a:rPr>
              <a:t>a</a:t>
            </a:r>
            <a:r>
              <a:rPr lang="en-US" sz="2000" baseline="-25000" dirty="0" smtClean="0">
                <a:latin typeface="Cambria Math" pitchFamily="18" charset="0"/>
                <a:ea typeface="Cambria Math" pitchFamily="18" charset="0"/>
              </a:rPr>
              <a:t>2</a:t>
            </a:r>
            <a:r>
              <a:rPr lang="en-US" sz="2000" dirty="0" smtClean="0">
                <a:latin typeface="Cambria Math" pitchFamily="18" charset="0"/>
                <a:ea typeface="Cambria Math" pitchFamily="18" charset="0"/>
              </a:rPr>
              <a:t>,</a:t>
            </a:r>
            <a:r>
              <a:rPr lang="en-US" sz="2000" i="1" dirty="0" smtClean="0">
                <a:ea typeface="Cambria Math" pitchFamily="18" charset="0"/>
              </a:rPr>
              <a:t> b</a:t>
            </a:r>
            <a:r>
              <a:rPr lang="en-US" sz="2000" baseline="-25000" dirty="0" smtClean="0">
                <a:latin typeface="Cambria Math" pitchFamily="18" charset="0"/>
                <a:ea typeface="Cambria Math" pitchFamily="18" charset="0"/>
              </a:rPr>
              <a:t>3</a:t>
            </a:r>
            <a:r>
              <a:rPr lang="en-US" sz="2000" dirty="0" smtClean="0"/>
              <a:t>), (</a:t>
            </a:r>
            <a:r>
              <a:rPr lang="en-US" sz="2000" i="1" dirty="0" smtClean="0">
                <a:ea typeface="Cambria Math" pitchFamily="18" charset="0"/>
              </a:rPr>
              <a:t>a</a:t>
            </a:r>
            <a:r>
              <a:rPr lang="en-US" sz="2000" baseline="-25000" dirty="0" smtClean="0">
                <a:latin typeface="Cambria Math" pitchFamily="18" charset="0"/>
                <a:ea typeface="Cambria Math" pitchFamily="18" charset="0"/>
              </a:rPr>
              <a:t>2</a:t>
            </a:r>
            <a:r>
              <a:rPr lang="en-US" sz="2000" dirty="0" smtClean="0">
                <a:latin typeface="Cambria Math" pitchFamily="18" charset="0"/>
                <a:ea typeface="Cambria Math" pitchFamily="18" charset="0"/>
              </a:rPr>
              <a:t>,</a:t>
            </a:r>
            <a:r>
              <a:rPr lang="en-US" sz="2000" i="1" dirty="0" smtClean="0"/>
              <a:t> b</a:t>
            </a:r>
            <a:r>
              <a:rPr lang="en-US" sz="2000" baseline="-25000" dirty="0" smtClean="0">
                <a:latin typeface="Cambria Math" pitchFamily="18" charset="0"/>
                <a:ea typeface="Cambria Math" pitchFamily="18" charset="0"/>
              </a:rPr>
              <a:t>4</a:t>
            </a:r>
            <a:r>
              <a:rPr lang="en-US" sz="2000" dirty="0" smtClean="0"/>
              <a:t>),(</a:t>
            </a:r>
            <a:r>
              <a:rPr lang="en-US" sz="2000" i="1" dirty="0" smtClean="0">
                <a:ea typeface="Cambria Math" pitchFamily="18" charset="0"/>
              </a:rPr>
              <a:t>a</a:t>
            </a:r>
            <a:r>
              <a:rPr lang="en-US" sz="2000" baseline="-25000" dirty="0" smtClean="0">
                <a:latin typeface="Cambria Math" pitchFamily="18" charset="0"/>
                <a:ea typeface="Cambria Math" pitchFamily="18" charset="0"/>
              </a:rPr>
              <a:t>3</a:t>
            </a:r>
            <a:r>
              <a:rPr lang="en-US" sz="2000" dirty="0" smtClean="0">
                <a:latin typeface="Cambria Math" pitchFamily="18" charset="0"/>
                <a:ea typeface="Cambria Math" pitchFamily="18" charset="0"/>
              </a:rPr>
              <a:t>,</a:t>
            </a:r>
            <a:r>
              <a:rPr lang="en-US" sz="2000" i="1" dirty="0" smtClean="0">
                <a:ea typeface="Cambria Math" pitchFamily="18" charset="0"/>
              </a:rPr>
              <a:t> b</a:t>
            </a:r>
            <a:r>
              <a:rPr lang="en-US" sz="2000" baseline="-25000" dirty="0" smtClean="0">
                <a:latin typeface="Cambria Math" pitchFamily="18" charset="0"/>
                <a:ea typeface="Cambria Math" pitchFamily="18" charset="0"/>
              </a:rPr>
              <a:t>1</a:t>
            </a:r>
            <a:r>
              <a:rPr lang="en-US" sz="2000" dirty="0" smtClean="0"/>
              <a:t>), {(</a:t>
            </a:r>
            <a:r>
              <a:rPr lang="en-US" sz="2000" i="1" dirty="0" smtClean="0"/>
              <a:t>a</a:t>
            </a:r>
            <a:r>
              <a:rPr lang="en-US" sz="2000" baseline="-25000" dirty="0" smtClean="0">
                <a:latin typeface="Cambria Math" pitchFamily="18" charset="0"/>
                <a:ea typeface="Cambria Math" pitchFamily="18" charset="0"/>
              </a:rPr>
              <a:t>3</a:t>
            </a:r>
            <a:r>
              <a:rPr lang="en-US" sz="2000" dirty="0" smtClean="0">
                <a:latin typeface="Cambria Math" pitchFamily="18" charset="0"/>
                <a:ea typeface="Cambria Math" pitchFamily="18" charset="0"/>
              </a:rPr>
              <a:t>,</a:t>
            </a:r>
            <a:r>
              <a:rPr lang="en-US" sz="2000" i="1" dirty="0" smtClean="0">
                <a:ea typeface="Cambria Math" pitchFamily="18" charset="0"/>
              </a:rPr>
              <a:t> b</a:t>
            </a:r>
            <a:r>
              <a:rPr lang="en-US" sz="2000" baseline="-25000" dirty="0" smtClean="0">
                <a:latin typeface="Cambria Math" pitchFamily="18" charset="0"/>
                <a:ea typeface="Cambria Math" pitchFamily="18" charset="0"/>
              </a:rPr>
              <a:t>3</a:t>
            </a:r>
            <a:r>
              <a:rPr lang="en-US" sz="2000" dirty="0" smtClean="0"/>
              <a:t>), (</a:t>
            </a:r>
            <a:r>
              <a:rPr lang="en-US" sz="2000" i="1" dirty="0" smtClean="0">
                <a:ea typeface="Cambria Math" pitchFamily="18" charset="0"/>
              </a:rPr>
              <a:t>a</a:t>
            </a:r>
            <a:r>
              <a:rPr lang="en-US" sz="2000" baseline="-25000" dirty="0" smtClean="0">
                <a:latin typeface="Cambria Math" pitchFamily="18" charset="0"/>
                <a:ea typeface="Cambria Math" pitchFamily="18" charset="0"/>
              </a:rPr>
              <a:t>3</a:t>
            </a:r>
            <a:r>
              <a:rPr lang="en-US" sz="2000" dirty="0" smtClean="0">
                <a:latin typeface="Cambria Math" pitchFamily="18" charset="0"/>
                <a:ea typeface="Cambria Math" pitchFamily="18" charset="0"/>
              </a:rPr>
              <a:t>,</a:t>
            </a:r>
            <a:r>
              <a:rPr lang="en-US" sz="2000" i="1" dirty="0" smtClean="0"/>
              <a:t> b</a:t>
            </a:r>
            <a:r>
              <a:rPr lang="en-US" sz="2000" baseline="-25000" dirty="0" smtClean="0">
                <a:latin typeface="Cambria Math" pitchFamily="18" charset="0"/>
                <a:ea typeface="Cambria Math" pitchFamily="18" charset="0"/>
              </a:rPr>
              <a:t>5</a:t>
            </a:r>
            <a:r>
              <a:rPr lang="en-US" sz="2000" dirty="0" smtClean="0"/>
              <a:t>)}. </a:t>
            </a:r>
            <a:endParaRPr lang="en-US" sz="2000" dirty="0"/>
          </a:p>
        </p:txBody>
      </p:sp>
      <p:pic>
        <p:nvPicPr>
          <p:cNvPr id="6" name="Picture 5" descr="addin_tmp.png"/>
          <p:cNvPicPr>
            <a:picLocks noChangeAspect="1"/>
          </p:cNvPicPr>
          <p:nvPr>
            <p:custDataLst>
              <p:tags r:id="rId1"/>
            </p:custDataLst>
          </p:nvPr>
        </p:nvPicPr>
        <p:blipFill>
          <a:blip r:embed="rId3" cstate="print"/>
          <a:stretch>
            <a:fillRect/>
          </a:stretch>
        </p:blipFill>
        <p:spPr>
          <a:xfrm>
            <a:off x="3505200" y="3124200"/>
            <a:ext cx="3082290" cy="912495"/>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Matrices of Relations on Sets</a:t>
            </a:r>
            <a:endParaRPr lang="en-US" dirty="0"/>
          </a:p>
        </p:txBody>
      </p:sp>
      <p:sp>
        <p:nvSpPr>
          <p:cNvPr id="3" name="Content Placeholder 2"/>
          <p:cNvSpPr>
            <a:spLocks noGrp="1"/>
          </p:cNvSpPr>
          <p:nvPr>
            <p:ph idx="1"/>
          </p:nvPr>
        </p:nvSpPr>
        <p:spPr/>
        <p:txBody>
          <a:bodyPr/>
          <a:lstStyle/>
          <a:p>
            <a:r>
              <a:rPr lang="en-US" dirty="0" smtClean="0"/>
              <a:t>If </a:t>
            </a:r>
            <a:r>
              <a:rPr lang="en-US" b="1" i="1" dirty="0" smtClean="0"/>
              <a:t>R</a:t>
            </a:r>
            <a:r>
              <a:rPr lang="en-US" dirty="0" smtClean="0"/>
              <a:t> is a </a:t>
            </a:r>
            <a:r>
              <a:rPr lang="en-US" b="1" dirty="0" smtClean="0"/>
              <a:t>reflexive relation</a:t>
            </a:r>
            <a:r>
              <a:rPr lang="en-US" dirty="0" smtClean="0"/>
              <a:t>, all the elements on the main diagonal of </a:t>
            </a:r>
            <a:r>
              <a:rPr lang="en-US" b="1" i="1" dirty="0" smtClean="0"/>
              <a:t>M</a:t>
            </a:r>
            <a:r>
              <a:rPr lang="en-US" b="1" i="1" baseline="-25000" dirty="0" smtClean="0"/>
              <a:t>R</a:t>
            </a:r>
            <a:r>
              <a:rPr lang="en-US" dirty="0" smtClean="0"/>
              <a:t> are equal to </a:t>
            </a:r>
            <a:r>
              <a:rPr lang="en-US" b="1" dirty="0" smtClean="0">
                <a:latin typeface="Cambria Math" pitchFamily="18" charset="0"/>
                <a:ea typeface="Cambria Math" pitchFamily="18" charset="0"/>
              </a:rPr>
              <a:t>1</a:t>
            </a:r>
            <a:r>
              <a:rPr lang="en-US" dirty="0" smtClean="0"/>
              <a:t>.</a:t>
            </a:r>
          </a:p>
          <a:p>
            <a:endParaRPr lang="en-US" dirty="0" smtClean="0"/>
          </a:p>
          <a:p>
            <a:pPr>
              <a:buNone/>
            </a:pPr>
            <a:endParaRPr lang="en-US" dirty="0" smtClean="0"/>
          </a:p>
          <a:p>
            <a:r>
              <a:rPr lang="en-US" dirty="0" smtClean="0"/>
              <a:t> </a:t>
            </a:r>
            <a:r>
              <a:rPr lang="en-US" b="1" i="1" dirty="0" smtClean="0"/>
              <a:t>R</a:t>
            </a:r>
            <a:r>
              <a:rPr lang="en-US" dirty="0" smtClean="0"/>
              <a:t> is a </a:t>
            </a:r>
            <a:r>
              <a:rPr lang="en-US" b="1" dirty="0" smtClean="0"/>
              <a:t>symmetric relation</a:t>
            </a:r>
            <a:r>
              <a:rPr lang="en-US" dirty="0" smtClean="0"/>
              <a:t>, if and only if </a:t>
            </a:r>
            <a:r>
              <a:rPr lang="en-US" i="1" dirty="0" err="1" smtClean="0"/>
              <a:t>m</a:t>
            </a:r>
            <a:r>
              <a:rPr lang="en-US" i="1" baseline="-25000" dirty="0" err="1" smtClean="0"/>
              <a:t>ij</a:t>
            </a:r>
            <a:r>
              <a:rPr lang="en-US" dirty="0" smtClean="0"/>
              <a:t> = </a:t>
            </a:r>
            <a:r>
              <a:rPr lang="en-US" b="1" dirty="0" smtClean="0">
                <a:latin typeface="Cambria Math" pitchFamily="18" charset="0"/>
                <a:ea typeface="Cambria Math" pitchFamily="18" charset="0"/>
              </a:rPr>
              <a:t>1</a:t>
            </a:r>
            <a:r>
              <a:rPr lang="en-US" dirty="0" smtClean="0">
                <a:latin typeface="Cambria Math" pitchFamily="18" charset="0"/>
                <a:ea typeface="Cambria Math" pitchFamily="18" charset="0"/>
              </a:rPr>
              <a:t> </a:t>
            </a:r>
            <a:r>
              <a:rPr lang="en-US" dirty="0" smtClean="0"/>
              <a:t>whenever </a:t>
            </a:r>
            <a:r>
              <a:rPr lang="en-US" i="1" dirty="0" err="1" smtClean="0"/>
              <a:t>m</a:t>
            </a:r>
            <a:r>
              <a:rPr lang="en-US" i="1" baseline="-25000" dirty="0" err="1" smtClean="0"/>
              <a:t>ji</a:t>
            </a:r>
            <a:r>
              <a:rPr lang="en-US" dirty="0" smtClean="0"/>
              <a:t> = </a:t>
            </a:r>
            <a:r>
              <a:rPr lang="en-US" b="1" dirty="0" smtClean="0">
                <a:latin typeface="Cambria Math" pitchFamily="18" charset="0"/>
                <a:ea typeface="Cambria Math" pitchFamily="18" charset="0"/>
              </a:rPr>
              <a:t>1</a:t>
            </a:r>
            <a:r>
              <a:rPr lang="en-US" dirty="0" smtClean="0"/>
              <a:t>. </a:t>
            </a:r>
            <a:r>
              <a:rPr lang="en-US" i="1" dirty="0" smtClean="0"/>
              <a:t>R</a:t>
            </a:r>
            <a:r>
              <a:rPr lang="en-US" dirty="0" smtClean="0"/>
              <a:t> is an </a:t>
            </a:r>
            <a:r>
              <a:rPr lang="en-US" b="1" dirty="0" err="1" smtClean="0"/>
              <a:t>antisymmetric</a:t>
            </a:r>
            <a:r>
              <a:rPr lang="en-US" b="1" dirty="0" smtClean="0"/>
              <a:t> relation</a:t>
            </a:r>
            <a:r>
              <a:rPr lang="en-US" dirty="0" smtClean="0"/>
              <a:t>, if and only if </a:t>
            </a:r>
            <a:r>
              <a:rPr lang="en-US" i="1" dirty="0" err="1" smtClean="0"/>
              <a:t>m</a:t>
            </a:r>
            <a:r>
              <a:rPr lang="en-US" i="1" baseline="-25000" dirty="0" err="1" smtClean="0"/>
              <a:t>ij</a:t>
            </a:r>
            <a:r>
              <a:rPr lang="en-US" dirty="0" smtClean="0"/>
              <a:t> = </a:t>
            </a:r>
            <a:r>
              <a:rPr lang="en-US" b="1" dirty="0" smtClean="0">
                <a:latin typeface="Cambria Math" pitchFamily="18" charset="0"/>
                <a:ea typeface="Cambria Math" pitchFamily="18" charset="0"/>
              </a:rPr>
              <a:t>0</a:t>
            </a:r>
            <a:r>
              <a:rPr lang="en-US" dirty="0" smtClean="0">
                <a:latin typeface="Cambria Math" pitchFamily="18" charset="0"/>
                <a:ea typeface="Cambria Math" pitchFamily="18" charset="0"/>
              </a:rPr>
              <a:t>  or </a:t>
            </a:r>
            <a:r>
              <a:rPr lang="en-US" i="1" dirty="0" err="1" smtClean="0"/>
              <a:t>m</a:t>
            </a:r>
            <a:r>
              <a:rPr lang="en-US" i="1" baseline="-25000" dirty="0" err="1" smtClean="0"/>
              <a:t>ji</a:t>
            </a:r>
            <a:r>
              <a:rPr lang="en-US" dirty="0" smtClean="0"/>
              <a:t> = </a:t>
            </a:r>
            <a:r>
              <a:rPr lang="en-US" b="1" dirty="0" smtClean="0">
                <a:latin typeface="Cambria Math" pitchFamily="18" charset="0"/>
                <a:ea typeface="Cambria Math" pitchFamily="18" charset="0"/>
              </a:rPr>
              <a:t>0</a:t>
            </a:r>
            <a:r>
              <a:rPr lang="en-US" dirty="0" smtClean="0">
                <a:latin typeface="Cambria Math" pitchFamily="18" charset="0"/>
                <a:ea typeface="Cambria Math" pitchFamily="18" charset="0"/>
              </a:rPr>
              <a:t> when  </a:t>
            </a:r>
            <a:r>
              <a:rPr lang="en-US" b="1" i="1" dirty="0" err="1" smtClean="0">
                <a:ea typeface="Cambria Math" pitchFamily="18" charset="0"/>
              </a:rPr>
              <a:t>i</a:t>
            </a:r>
            <a:r>
              <a:rPr lang="en-US" b="1" dirty="0" smtClean="0">
                <a:latin typeface="Cambria Math"/>
                <a:ea typeface="Cambria Math"/>
              </a:rPr>
              <a:t>≠</a:t>
            </a:r>
            <a:r>
              <a:rPr lang="en-US" b="1" i="1" dirty="0" smtClean="0">
                <a:ea typeface="Cambria Math" pitchFamily="18" charset="0"/>
              </a:rPr>
              <a:t> j</a:t>
            </a:r>
            <a:r>
              <a:rPr lang="en-US" b="1" dirty="0" smtClean="0"/>
              <a:t>. </a:t>
            </a:r>
          </a:p>
          <a:p>
            <a:endParaRPr lang="en-US" dirty="0"/>
          </a:p>
        </p:txBody>
      </p:sp>
      <p:pic>
        <p:nvPicPr>
          <p:cNvPr id="4" name="Content Placeholder 3" descr="0803.jpg"/>
          <p:cNvPicPr>
            <a:picLocks noChangeAspect="1"/>
          </p:cNvPicPr>
          <p:nvPr/>
        </p:nvPicPr>
        <p:blipFill>
          <a:blip r:embed="rId2" cstate="print"/>
          <a:stretch>
            <a:fillRect/>
          </a:stretch>
        </p:blipFill>
        <p:spPr>
          <a:xfrm>
            <a:off x="6172200" y="2667000"/>
            <a:ext cx="819150" cy="832104"/>
          </a:xfrm>
          <a:prstGeom prst="rect">
            <a:avLst/>
          </a:prstGeom>
        </p:spPr>
      </p:pic>
      <p:pic>
        <p:nvPicPr>
          <p:cNvPr id="5" name="Content Placeholder 5" descr="0804.jpg"/>
          <p:cNvPicPr>
            <a:picLocks noChangeAspect="1"/>
          </p:cNvPicPr>
          <p:nvPr/>
        </p:nvPicPr>
        <p:blipFill>
          <a:blip r:embed="rId3" cstate="print"/>
          <a:stretch>
            <a:fillRect/>
          </a:stretch>
        </p:blipFill>
        <p:spPr>
          <a:xfrm>
            <a:off x="5638800" y="5334000"/>
            <a:ext cx="1937004" cy="976122"/>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438912"/>
          </a:xfrm>
        </p:spPr>
        <p:txBody>
          <a:bodyPr>
            <a:normAutofit fontScale="90000"/>
          </a:bodyPr>
          <a:lstStyle/>
          <a:p>
            <a:r>
              <a:rPr lang="en-US" dirty="0" smtClean="0"/>
              <a:t>Example of a Relation on a Set</a:t>
            </a:r>
            <a:endParaRPr lang="en-US" dirty="0"/>
          </a:p>
        </p:txBody>
      </p:sp>
      <p:sp>
        <p:nvSpPr>
          <p:cNvPr id="7" name="Content Placeholder 6"/>
          <p:cNvSpPr>
            <a:spLocks noGrp="1"/>
          </p:cNvSpPr>
          <p:nvPr>
            <p:ph idx="1"/>
          </p:nvPr>
        </p:nvSpPr>
        <p:spPr>
          <a:xfrm>
            <a:off x="152400" y="1139687"/>
            <a:ext cx="8229600" cy="4389120"/>
          </a:xfrm>
        </p:spPr>
        <p:txBody>
          <a:bodyPr>
            <a:normAutofit/>
          </a:bodyPr>
          <a:lstStyle/>
          <a:p>
            <a:pPr>
              <a:buNone/>
            </a:pPr>
            <a:r>
              <a:rPr lang="en-US" b="1" dirty="0" smtClean="0"/>
              <a:t>   Example </a:t>
            </a:r>
            <a:r>
              <a:rPr lang="en-US" b="1" dirty="0" smtClean="0">
                <a:latin typeface="Cambria Math" pitchFamily="18" charset="0"/>
                <a:ea typeface="Cambria Math" pitchFamily="18" charset="0"/>
              </a:rPr>
              <a:t>3</a:t>
            </a:r>
            <a:r>
              <a:rPr lang="en-US" dirty="0" smtClean="0"/>
              <a:t>: </a:t>
            </a:r>
            <a:r>
              <a:rPr lang="en-US" sz="2000" dirty="0" smtClean="0"/>
              <a:t>Suppose that the relation </a:t>
            </a:r>
            <a:r>
              <a:rPr lang="en-US" sz="2000" i="1" dirty="0" smtClean="0"/>
              <a:t>R</a:t>
            </a:r>
            <a:r>
              <a:rPr lang="en-US" sz="2000" dirty="0" smtClean="0"/>
              <a:t> on a set is represented by the matrix</a:t>
            </a:r>
          </a:p>
          <a:p>
            <a:pPr>
              <a:buNone/>
            </a:pPr>
            <a:endParaRPr lang="en-US" sz="2000" dirty="0" smtClean="0"/>
          </a:p>
          <a:p>
            <a:pPr>
              <a:buNone/>
            </a:pPr>
            <a:endParaRPr lang="en-US" sz="2000" dirty="0" smtClean="0"/>
          </a:p>
          <a:p>
            <a:pPr>
              <a:buNone/>
            </a:pPr>
            <a:r>
              <a:rPr lang="en-US" sz="2000" dirty="0" smtClean="0"/>
              <a:t>   </a:t>
            </a:r>
          </a:p>
          <a:p>
            <a:pPr>
              <a:buNone/>
            </a:pPr>
            <a:endParaRPr lang="en-US" sz="2000" dirty="0" smtClean="0"/>
          </a:p>
        </p:txBody>
      </p:sp>
      <p:pic>
        <p:nvPicPr>
          <p:cNvPr id="10" name="Picture 9" descr="addin_tmp.png"/>
          <p:cNvPicPr>
            <a:picLocks noChangeAspect="1"/>
          </p:cNvPicPr>
          <p:nvPr>
            <p:custDataLst>
              <p:tags r:id="rId1"/>
            </p:custDataLst>
          </p:nvPr>
        </p:nvPicPr>
        <p:blipFill>
          <a:blip r:embed="rId4" cstate="print"/>
          <a:stretch>
            <a:fillRect/>
          </a:stretch>
        </p:blipFill>
        <p:spPr>
          <a:xfrm>
            <a:off x="3112770" y="1678305"/>
            <a:ext cx="2308860" cy="912495"/>
          </a:xfrm>
          <a:prstGeom prst="rect">
            <a:avLst/>
          </a:prstGeom>
        </p:spPr>
      </p:pic>
      <p:sp>
        <p:nvSpPr>
          <p:cNvPr id="3" name="TextBox 2"/>
          <p:cNvSpPr txBox="1"/>
          <p:nvPr/>
        </p:nvSpPr>
        <p:spPr>
          <a:xfrm>
            <a:off x="228600" y="2720357"/>
            <a:ext cx="4343400" cy="2554545"/>
          </a:xfrm>
          <a:prstGeom prst="rect">
            <a:avLst/>
          </a:prstGeom>
          <a:noFill/>
        </p:spPr>
        <p:txBody>
          <a:bodyPr wrap="square" rtlCol="0">
            <a:spAutoFit/>
          </a:bodyPr>
          <a:lstStyle/>
          <a:p>
            <a:pPr>
              <a:buNone/>
            </a:pPr>
            <a:r>
              <a:rPr lang="en-US" sz="2000" b="1" dirty="0"/>
              <a:t>Is </a:t>
            </a:r>
            <a:r>
              <a:rPr lang="en-US" sz="2000" b="1" i="1" dirty="0"/>
              <a:t>R</a:t>
            </a:r>
            <a:r>
              <a:rPr lang="en-US" sz="2000" b="1" dirty="0"/>
              <a:t> reflexive, symmetric, and/or antisymmetric?</a:t>
            </a:r>
          </a:p>
          <a:p>
            <a:r>
              <a:rPr lang="en-US" sz="2000" b="1" dirty="0"/>
              <a:t>   Solution</a:t>
            </a:r>
            <a:r>
              <a:rPr lang="en-US" sz="2000" dirty="0"/>
              <a:t>:</a:t>
            </a:r>
            <a:br>
              <a:rPr lang="en-US" sz="2000" dirty="0"/>
            </a:br>
            <a:r>
              <a:rPr lang="en-US" sz="2000" dirty="0"/>
              <a:t>This matrix tells us which elements are related to each other.</a:t>
            </a:r>
          </a:p>
          <a:p>
            <a:r>
              <a:rPr lang="en-US" sz="2000" dirty="0"/>
              <a:t>1 means </a:t>
            </a:r>
            <a:r>
              <a:rPr lang="en-US" sz="2000" b="1" dirty="0"/>
              <a:t>related</a:t>
            </a:r>
            <a:endParaRPr lang="en-US" sz="2000" dirty="0"/>
          </a:p>
          <a:p>
            <a:r>
              <a:rPr lang="en-US" sz="2000" dirty="0"/>
              <a:t>0 means </a:t>
            </a:r>
            <a:r>
              <a:rPr lang="en-US" sz="2000" b="1" dirty="0"/>
              <a:t>not related</a:t>
            </a:r>
            <a:endParaRPr lang="en-US" sz="2000" dirty="0"/>
          </a:p>
          <a:p>
            <a:endParaRPr lang="en-US" sz="2000" dirty="0"/>
          </a:p>
        </p:txBody>
      </p:sp>
      <p:sp>
        <p:nvSpPr>
          <p:cNvPr id="6" name="Content Placeholder 2"/>
          <p:cNvSpPr txBox="1">
            <a:spLocks/>
          </p:cNvSpPr>
          <p:nvPr/>
        </p:nvSpPr>
        <p:spPr>
          <a:xfrm>
            <a:off x="4953000" y="2590800"/>
            <a:ext cx="3962400" cy="4389120"/>
          </a:xfrm>
          <a:prstGeom prst="rect">
            <a:avLst/>
          </a:prstGeom>
        </p:spPr>
        <p:txBody>
          <a:bodyPr vert="horz">
            <a:normAutofit/>
          </a:bodyPr>
          <a:lst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r>
              <a:rPr lang="en-US" sz="2000" b="1" dirty="0" smtClean="0"/>
              <a:t>1. Is R Reflexive?</a:t>
            </a:r>
          </a:p>
          <a:p>
            <a:r>
              <a:rPr lang="en-US" sz="2000" dirty="0" smtClean="0"/>
              <a:t> Rule: A relation is </a:t>
            </a:r>
            <a:r>
              <a:rPr lang="en-US" sz="2000" b="1" dirty="0" smtClean="0"/>
              <a:t>reflexive</a:t>
            </a:r>
            <a:r>
              <a:rPr lang="en-US" sz="2000" dirty="0" smtClean="0"/>
              <a:t> if all diagonal elements are 1.</a:t>
            </a:r>
          </a:p>
          <a:p>
            <a:r>
              <a:rPr lang="en-US" sz="2000" dirty="0" smtClean="0"/>
              <a:t>Diagonal elements are:</a:t>
            </a:r>
          </a:p>
          <a:p>
            <a:r>
              <a:rPr lang="en-US" sz="2000" dirty="0" smtClean="0"/>
              <a:t>First row, first column → 1</a:t>
            </a:r>
          </a:p>
          <a:p>
            <a:r>
              <a:rPr lang="en-US" sz="2000" dirty="0" smtClean="0"/>
              <a:t>Second row, second column → 1</a:t>
            </a:r>
          </a:p>
          <a:p>
            <a:r>
              <a:rPr lang="en-US" sz="2000" dirty="0" smtClean="0"/>
              <a:t>Third row, third column → 1</a:t>
            </a:r>
          </a:p>
          <a:p>
            <a:r>
              <a:rPr lang="en-US" sz="2000" dirty="0" smtClean="0"/>
              <a:t>All are 1 ✔</a:t>
            </a:r>
          </a:p>
          <a:p>
            <a:r>
              <a:rPr lang="en-US" sz="2000" dirty="0" smtClean="0"/>
              <a:t>So, </a:t>
            </a:r>
            <a:r>
              <a:rPr lang="en-US" sz="2000" b="1" dirty="0" smtClean="0"/>
              <a:t>R is reflexive</a:t>
            </a:r>
            <a:r>
              <a:rPr lang="en-US" sz="2000" dirty="0" smtClean="0"/>
              <a:t>.</a:t>
            </a:r>
            <a:endParaRPr lang="en-US" sz="2000"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 y="1600200"/>
            <a:ext cx="4572000" cy="3477875"/>
          </a:xfrm>
          <a:prstGeom prst="rect">
            <a:avLst/>
          </a:prstGeom>
        </p:spPr>
        <p:txBody>
          <a:bodyPr>
            <a:spAutoFit/>
          </a:bodyPr>
          <a:lstStyle/>
          <a:p>
            <a:r>
              <a:rPr lang="en-US" b="1" dirty="0"/>
              <a:t>2</a:t>
            </a:r>
            <a:r>
              <a:rPr lang="en-US" sz="2000" b="1" dirty="0"/>
              <a:t>. Is R Symmetric?</a:t>
            </a:r>
          </a:p>
          <a:p>
            <a:r>
              <a:rPr lang="en-US" sz="2000" dirty="0" smtClean="0"/>
              <a:t>Rule</a:t>
            </a:r>
            <a:r>
              <a:rPr lang="en-US" sz="2000" dirty="0"/>
              <a:t>: A relation is </a:t>
            </a:r>
            <a:r>
              <a:rPr lang="en-US" sz="2000" b="1" dirty="0"/>
              <a:t>symmetric</a:t>
            </a:r>
            <a:r>
              <a:rPr lang="en-US" sz="2000" dirty="0"/>
              <a:t> if:</a:t>
            </a:r>
          </a:p>
          <a:p>
            <a:r>
              <a:rPr lang="en-US" sz="2000" dirty="0"/>
              <a:t>If (</a:t>
            </a:r>
            <a:r>
              <a:rPr lang="en-US" sz="2000" dirty="0" err="1"/>
              <a:t>i</a:t>
            </a:r>
            <a:r>
              <a:rPr lang="en-US" sz="2000" dirty="0"/>
              <a:t>, j) = 1</a:t>
            </a:r>
            <a:br>
              <a:rPr lang="en-US" sz="2000" dirty="0"/>
            </a:br>
            <a:r>
              <a:rPr lang="en-US" sz="2000" dirty="0"/>
              <a:t>then (j, </a:t>
            </a:r>
            <a:r>
              <a:rPr lang="en-US" sz="2000" dirty="0" err="1"/>
              <a:t>i</a:t>
            </a:r>
            <a:r>
              <a:rPr lang="en-US" sz="2000" dirty="0"/>
              <a:t>) must also be 1.</a:t>
            </a:r>
          </a:p>
          <a:p>
            <a:r>
              <a:rPr lang="en-US" sz="2000" dirty="0"/>
              <a:t>Check examples:</a:t>
            </a:r>
          </a:p>
          <a:p>
            <a:pPr>
              <a:buFont typeface="Arial" panose="020B0604020202020204" pitchFamily="34" charset="0"/>
              <a:buChar char="•"/>
            </a:pPr>
            <a:r>
              <a:rPr lang="en-US" sz="2000" dirty="0"/>
              <a:t>m₁₂ = 1 and m₂₁ = 1 ✔</a:t>
            </a:r>
          </a:p>
          <a:p>
            <a:pPr>
              <a:buFont typeface="Arial" panose="020B0604020202020204" pitchFamily="34" charset="0"/>
              <a:buChar char="•"/>
            </a:pPr>
            <a:r>
              <a:rPr lang="en-US" sz="2000" dirty="0"/>
              <a:t>m₂₃ = 1 and m₃₂ = 1 ✔</a:t>
            </a:r>
          </a:p>
          <a:p>
            <a:pPr>
              <a:buFont typeface="Arial" panose="020B0604020202020204" pitchFamily="34" charset="0"/>
              <a:buChar char="•"/>
            </a:pPr>
            <a:r>
              <a:rPr lang="en-US" sz="2000" dirty="0"/>
              <a:t>m₁₃ = 0 and m₃₁ = 0 ✔</a:t>
            </a:r>
          </a:p>
          <a:p>
            <a:r>
              <a:rPr lang="en-US" sz="2000" dirty="0"/>
              <a:t>The matrix looks the same on both sides of the diagonal (mirror image).</a:t>
            </a:r>
          </a:p>
          <a:p>
            <a:r>
              <a:rPr lang="en-US" sz="2000" dirty="0"/>
              <a:t>So, </a:t>
            </a:r>
            <a:r>
              <a:rPr lang="en-US" sz="2000" b="1" dirty="0"/>
              <a:t>R is symmetric</a:t>
            </a:r>
            <a:r>
              <a:rPr lang="en-US" sz="2000" dirty="0"/>
              <a:t> ✔</a:t>
            </a:r>
          </a:p>
        </p:txBody>
      </p:sp>
      <p:sp>
        <p:nvSpPr>
          <p:cNvPr id="5" name="Rectangle 4"/>
          <p:cNvSpPr/>
          <p:nvPr/>
        </p:nvSpPr>
        <p:spPr>
          <a:xfrm>
            <a:off x="4648200" y="1447800"/>
            <a:ext cx="4572000" cy="3477875"/>
          </a:xfrm>
          <a:prstGeom prst="rect">
            <a:avLst/>
          </a:prstGeom>
        </p:spPr>
        <p:txBody>
          <a:bodyPr>
            <a:spAutoFit/>
          </a:bodyPr>
          <a:lstStyle/>
          <a:p>
            <a:r>
              <a:rPr lang="en-US" sz="2000" b="1" dirty="0"/>
              <a:t>3. Is R Antisymmetric?</a:t>
            </a:r>
          </a:p>
          <a:p>
            <a:r>
              <a:rPr lang="en-US" sz="2000" dirty="0" smtClean="0"/>
              <a:t>Rule</a:t>
            </a:r>
            <a:r>
              <a:rPr lang="en-US" sz="2000" dirty="0"/>
              <a:t>: A relation is </a:t>
            </a:r>
            <a:r>
              <a:rPr lang="en-US" sz="2000" b="1" dirty="0"/>
              <a:t>antisymmetric</a:t>
            </a:r>
            <a:r>
              <a:rPr lang="en-US" sz="2000" dirty="0"/>
              <a:t> if:</a:t>
            </a:r>
          </a:p>
          <a:p>
            <a:r>
              <a:rPr lang="en-US" sz="2000" dirty="0"/>
              <a:t>For different elements (</a:t>
            </a:r>
            <a:r>
              <a:rPr lang="en-US" sz="2000" dirty="0" err="1"/>
              <a:t>i</a:t>
            </a:r>
            <a:r>
              <a:rPr lang="en-US" sz="2000" dirty="0"/>
              <a:t> ≠ j),</a:t>
            </a:r>
            <a:br>
              <a:rPr lang="en-US" sz="2000" dirty="0"/>
            </a:br>
            <a:r>
              <a:rPr lang="en-US" sz="2000" dirty="0"/>
              <a:t>both mᵢⱼ and mⱼᵢ cannot be 1 at the same time.</a:t>
            </a:r>
          </a:p>
          <a:p>
            <a:r>
              <a:rPr lang="en-US" sz="2000" dirty="0"/>
              <a:t>But here:</a:t>
            </a:r>
          </a:p>
          <a:p>
            <a:pPr>
              <a:buFont typeface="Arial" panose="020B0604020202020204" pitchFamily="34" charset="0"/>
              <a:buChar char="•"/>
            </a:pPr>
            <a:r>
              <a:rPr lang="en-US" sz="2000" dirty="0"/>
              <a:t>m₁₂ = 1</a:t>
            </a:r>
          </a:p>
          <a:p>
            <a:pPr>
              <a:buFont typeface="Arial" panose="020B0604020202020204" pitchFamily="34" charset="0"/>
              <a:buChar char="•"/>
            </a:pPr>
            <a:r>
              <a:rPr lang="en-US" sz="2000" dirty="0"/>
              <a:t>m₂₁ = 1</a:t>
            </a:r>
          </a:p>
          <a:p>
            <a:r>
              <a:rPr lang="en-US" sz="2000" dirty="0"/>
              <a:t>Both are 1 and 1 ≠ 2 ❌</a:t>
            </a:r>
          </a:p>
          <a:p>
            <a:r>
              <a:rPr lang="en-US" sz="2000" dirty="0"/>
              <a:t>So this breaks the antisymmetric rule.</a:t>
            </a:r>
          </a:p>
          <a:p>
            <a:r>
              <a:rPr lang="en-US" sz="2000" dirty="0"/>
              <a:t>Therefore, </a:t>
            </a:r>
            <a:r>
              <a:rPr lang="en-US" sz="2000" b="1" dirty="0"/>
              <a:t>R is NOT antisymmetric</a:t>
            </a:r>
            <a:r>
              <a:rPr lang="en-US" sz="2000" dirty="0"/>
              <a:t>.</a:t>
            </a:r>
          </a:p>
        </p:txBody>
      </p:sp>
      <p:sp>
        <p:nvSpPr>
          <p:cNvPr id="7" name="Title 1"/>
          <p:cNvSpPr>
            <a:spLocks noGrp="1"/>
          </p:cNvSpPr>
          <p:nvPr>
            <p:ph type="title"/>
          </p:nvPr>
        </p:nvSpPr>
        <p:spPr>
          <a:xfrm>
            <a:off x="457200" y="762000"/>
            <a:ext cx="8229600" cy="438912"/>
          </a:xfrm>
        </p:spPr>
        <p:txBody>
          <a:bodyPr>
            <a:normAutofit fontScale="90000"/>
          </a:bodyPr>
          <a:lstStyle/>
          <a:p>
            <a:r>
              <a:rPr lang="en-US" dirty="0" smtClean="0"/>
              <a:t>Example of a Relation on a Set</a:t>
            </a:r>
            <a:endParaRPr lang="en-US" dirty="0"/>
          </a:p>
        </p:txBody>
      </p:sp>
    </p:spTree>
    <p:extLst>
      <p:ext uri="{BB962C8B-B14F-4D97-AF65-F5344CB8AC3E}">
        <p14:creationId xmlns:p14="http://schemas.microsoft.com/office/powerpoint/2010/main" val="22516538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91312"/>
          </a:xfrm>
        </p:spPr>
        <p:txBody>
          <a:bodyPr>
            <a:normAutofit fontScale="90000"/>
          </a:bodyPr>
          <a:lstStyle/>
          <a:p>
            <a:r>
              <a:rPr lang="en-US" sz="4000" dirty="0" smtClean="0"/>
              <a:t>Representing Relations Using Digraphs</a:t>
            </a:r>
            <a:endParaRPr lang="en-US" sz="4000" dirty="0"/>
          </a:p>
        </p:txBody>
      </p:sp>
      <p:sp>
        <p:nvSpPr>
          <p:cNvPr id="3" name="Content Placeholder 2"/>
          <p:cNvSpPr>
            <a:spLocks noGrp="1"/>
          </p:cNvSpPr>
          <p:nvPr>
            <p:ph idx="1"/>
          </p:nvPr>
        </p:nvSpPr>
        <p:spPr>
          <a:xfrm>
            <a:off x="311350" y="1376082"/>
            <a:ext cx="8229600" cy="4872317"/>
          </a:xfrm>
        </p:spPr>
        <p:txBody>
          <a:bodyPr>
            <a:normAutofit fontScale="62500" lnSpcReduction="20000"/>
          </a:bodyPr>
          <a:lstStyle/>
          <a:p>
            <a:r>
              <a:rPr lang="en-US" b="1" dirty="0" smtClean="0"/>
              <a:t>   </a:t>
            </a:r>
            <a:r>
              <a:rPr lang="en-US" sz="2900" b="1" dirty="0" smtClean="0"/>
              <a:t>Definition</a:t>
            </a:r>
            <a:r>
              <a:rPr lang="en-US" sz="2900" dirty="0" smtClean="0"/>
              <a:t>: </a:t>
            </a:r>
            <a:r>
              <a:rPr lang="en-US" sz="2900" dirty="0"/>
              <a:t>A </a:t>
            </a:r>
            <a:r>
              <a:rPr lang="en-US" sz="2900" b="1" dirty="0"/>
              <a:t>directed graph</a:t>
            </a:r>
            <a:r>
              <a:rPr lang="en-US" sz="2900" dirty="0"/>
              <a:t> is:</a:t>
            </a:r>
          </a:p>
          <a:p>
            <a:r>
              <a:rPr lang="en-US" sz="2900" dirty="0"/>
              <a:t>A set of </a:t>
            </a:r>
            <a:r>
              <a:rPr lang="en-US" sz="2900" b="1" dirty="0"/>
              <a:t>points</a:t>
            </a:r>
            <a:r>
              <a:rPr lang="en-US" sz="2900" dirty="0"/>
              <a:t> → called </a:t>
            </a:r>
            <a:r>
              <a:rPr lang="en-US" sz="2900" b="1" dirty="0"/>
              <a:t>vertices (or nodes)</a:t>
            </a:r>
            <a:endParaRPr lang="en-US" sz="2900" dirty="0"/>
          </a:p>
          <a:p>
            <a:r>
              <a:rPr lang="en-US" sz="2900" dirty="0"/>
              <a:t>A set of </a:t>
            </a:r>
            <a:r>
              <a:rPr lang="en-US" sz="2900" b="1" dirty="0"/>
              <a:t>arrows between points</a:t>
            </a:r>
            <a:r>
              <a:rPr lang="en-US" sz="2900" dirty="0"/>
              <a:t> → called </a:t>
            </a:r>
            <a:r>
              <a:rPr lang="en-US" sz="2900" b="1" dirty="0"/>
              <a:t>edges (or </a:t>
            </a:r>
            <a:r>
              <a:rPr lang="en-US" sz="2900" b="1" dirty="0" smtClean="0"/>
              <a:t>arcs)</a:t>
            </a:r>
            <a:endParaRPr lang="en-US" sz="2900" dirty="0" smtClean="0"/>
          </a:p>
          <a:p>
            <a:r>
              <a:rPr lang="en-US" sz="2900" dirty="0" smtClean="0"/>
              <a:t>The </a:t>
            </a:r>
            <a:r>
              <a:rPr lang="en-US" sz="2900" dirty="0"/>
              <a:t>arrows have </a:t>
            </a:r>
            <a:r>
              <a:rPr lang="en-US" sz="2900" b="1" dirty="0" smtClean="0"/>
              <a:t>direction</a:t>
            </a:r>
            <a:r>
              <a:rPr lang="en-US" sz="2900" dirty="0" smtClean="0"/>
              <a:t>, That’s </a:t>
            </a:r>
            <a:r>
              <a:rPr lang="en-US" sz="2900" dirty="0"/>
              <a:t>why the edges are written as </a:t>
            </a:r>
            <a:r>
              <a:rPr lang="en-US" sz="2900" b="1" dirty="0"/>
              <a:t>ordered pairs</a:t>
            </a:r>
            <a:r>
              <a:rPr lang="en-US" sz="2900" dirty="0"/>
              <a:t> like: </a:t>
            </a:r>
            <a:r>
              <a:rPr lang="en-US" sz="2900" b="1" dirty="0">
                <a:solidFill>
                  <a:srgbClr val="0070C0"/>
                </a:solidFill>
              </a:rPr>
              <a:t>(</a:t>
            </a:r>
            <a:r>
              <a:rPr lang="en-US" sz="2900" b="1" dirty="0" err="1">
                <a:solidFill>
                  <a:srgbClr val="0070C0"/>
                </a:solidFill>
              </a:rPr>
              <a:t>a,b</a:t>
            </a:r>
            <a:r>
              <a:rPr lang="en-US" sz="2900" b="1" dirty="0" smtClean="0">
                <a:solidFill>
                  <a:srgbClr val="0070C0"/>
                </a:solidFill>
              </a:rPr>
              <a:t>)</a:t>
            </a:r>
          </a:p>
          <a:p>
            <a:r>
              <a:rPr lang="en-US" sz="2900" dirty="0"/>
              <a:t>This </a:t>
            </a:r>
            <a:r>
              <a:rPr lang="en-US" sz="2900" dirty="0" smtClean="0"/>
              <a:t>means the </a:t>
            </a:r>
            <a:r>
              <a:rPr lang="en-US" sz="2900" dirty="0"/>
              <a:t>arrow </a:t>
            </a:r>
            <a:r>
              <a:rPr lang="en-US" sz="2900" b="1" dirty="0"/>
              <a:t>starts from a</a:t>
            </a:r>
            <a:endParaRPr lang="en-US" sz="2900" dirty="0"/>
          </a:p>
          <a:p>
            <a:r>
              <a:rPr lang="en-US" sz="2900" dirty="0"/>
              <a:t>The arrow </a:t>
            </a:r>
            <a:r>
              <a:rPr lang="en-US" sz="2900" b="1" dirty="0"/>
              <a:t>goes to b</a:t>
            </a:r>
            <a:endParaRPr lang="en-US" sz="2900" dirty="0"/>
          </a:p>
          <a:p>
            <a:endParaRPr lang="en-US" sz="2900" b="1" dirty="0">
              <a:solidFill>
                <a:srgbClr val="0070C0"/>
              </a:solidFill>
            </a:endParaRPr>
          </a:p>
          <a:p>
            <a:pPr>
              <a:buNone/>
            </a:pPr>
            <a:r>
              <a:rPr lang="en-US" sz="2900" b="1" dirty="0" smtClean="0"/>
              <a:t>    </a:t>
            </a:r>
          </a:p>
          <a:p>
            <a:pPr>
              <a:buNone/>
            </a:pPr>
            <a:r>
              <a:rPr lang="en-US" sz="2900" b="1" dirty="0" smtClean="0"/>
              <a:t>    Example </a:t>
            </a:r>
            <a:r>
              <a:rPr lang="en-US" sz="2900" b="1" dirty="0" smtClean="0">
                <a:latin typeface="Cambria Math" pitchFamily="18" charset="0"/>
                <a:ea typeface="Cambria Math" pitchFamily="18" charset="0"/>
              </a:rPr>
              <a:t>7</a:t>
            </a:r>
            <a:r>
              <a:rPr lang="en-US" sz="2900" dirty="0" smtClean="0"/>
              <a:t>:  A drawing of the directed graph with vertices </a:t>
            </a:r>
            <a:r>
              <a:rPr lang="en-US" sz="2900" i="1" dirty="0" smtClean="0"/>
              <a:t>a</a:t>
            </a:r>
            <a:r>
              <a:rPr lang="en-US" sz="2900" dirty="0" smtClean="0"/>
              <a:t>, </a:t>
            </a:r>
            <a:r>
              <a:rPr lang="en-US" sz="2900" i="1" dirty="0" smtClean="0"/>
              <a:t>b</a:t>
            </a:r>
            <a:r>
              <a:rPr lang="en-US" sz="2900" dirty="0" smtClean="0"/>
              <a:t>, </a:t>
            </a:r>
            <a:r>
              <a:rPr lang="en-US" sz="2900" i="1" dirty="0" smtClean="0"/>
              <a:t>c</a:t>
            </a:r>
            <a:r>
              <a:rPr lang="en-US" sz="2900" dirty="0" smtClean="0"/>
              <a:t>, and </a:t>
            </a:r>
            <a:r>
              <a:rPr lang="en-US" sz="2900" i="1" dirty="0" smtClean="0"/>
              <a:t>d</a:t>
            </a:r>
            <a:r>
              <a:rPr lang="en-US" sz="2900" dirty="0" smtClean="0"/>
              <a:t>, and edges   (</a:t>
            </a:r>
            <a:r>
              <a:rPr lang="en-US" sz="2900" i="1" dirty="0" smtClean="0"/>
              <a:t>a</a:t>
            </a:r>
            <a:r>
              <a:rPr lang="en-US" sz="2900" dirty="0" smtClean="0"/>
              <a:t>, </a:t>
            </a:r>
            <a:r>
              <a:rPr lang="en-US" sz="2900" i="1" dirty="0" smtClean="0"/>
              <a:t>b</a:t>
            </a:r>
            <a:r>
              <a:rPr lang="en-US" sz="2900" dirty="0" smtClean="0"/>
              <a:t>), (</a:t>
            </a:r>
            <a:r>
              <a:rPr lang="en-US" sz="2900" i="1" dirty="0" smtClean="0"/>
              <a:t>a</a:t>
            </a:r>
            <a:r>
              <a:rPr lang="en-US" sz="2900" dirty="0" smtClean="0"/>
              <a:t>, </a:t>
            </a:r>
            <a:r>
              <a:rPr lang="en-US" sz="2900" i="1" dirty="0" smtClean="0"/>
              <a:t>d</a:t>
            </a:r>
            <a:r>
              <a:rPr lang="en-US" sz="2900" dirty="0" smtClean="0"/>
              <a:t>), (</a:t>
            </a:r>
            <a:r>
              <a:rPr lang="en-US" sz="2900" i="1" dirty="0" smtClean="0"/>
              <a:t>b</a:t>
            </a:r>
            <a:r>
              <a:rPr lang="en-US" sz="2900" dirty="0" smtClean="0"/>
              <a:t>, </a:t>
            </a:r>
            <a:r>
              <a:rPr lang="en-US" sz="2900" i="1" dirty="0" smtClean="0"/>
              <a:t>b</a:t>
            </a:r>
            <a:r>
              <a:rPr lang="en-US" sz="2900" dirty="0" smtClean="0"/>
              <a:t>), (</a:t>
            </a:r>
            <a:r>
              <a:rPr lang="en-US" sz="2900" i="1" dirty="0" smtClean="0"/>
              <a:t>b</a:t>
            </a:r>
            <a:r>
              <a:rPr lang="en-US" sz="2900" dirty="0" smtClean="0"/>
              <a:t>, </a:t>
            </a:r>
            <a:r>
              <a:rPr lang="en-US" sz="2900" i="1" dirty="0" smtClean="0"/>
              <a:t>d</a:t>
            </a:r>
            <a:r>
              <a:rPr lang="en-US" sz="2900" dirty="0" smtClean="0"/>
              <a:t>), (</a:t>
            </a:r>
            <a:r>
              <a:rPr lang="en-US" sz="2900" i="1" dirty="0" smtClean="0"/>
              <a:t>c</a:t>
            </a:r>
            <a:r>
              <a:rPr lang="en-US" sz="2900" dirty="0" smtClean="0"/>
              <a:t>, a), (</a:t>
            </a:r>
            <a:r>
              <a:rPr lang="en-US" sz="2900" i="1" dirty="0" smtClean="0"/>
              <a:t>c,</a:t>
            </a:r>
            <a:r>
              <a:rPr lang="en-US" sz="2900" dirty="0" smtClean="0"/>
              <a:t> </a:t>
            </a:r>
            <a:r>
              <a:rPr lang="en-US" sz="2900" i="1" dirty="0" smtClean="0"/>
              <a:t>b</a:t>
            </a:r>
            <a:r>
              <a:rPr lang="en-US" sz="2900" dirty="0" smtClean="0"/>
              <a:t>), and (</a:t>
            </a:r>
            <a:r>
              <a:rPr lang="en-US" sz="2900" i="1" dirty="0" smtClean="0"/>
              <a:t>d</a:t>
            </a:r>
            <a:r>
              <a:rPr lang="en-US" sz="2900" dirty="0" smtClean="0"/>
              <a:t>, </a:t>
            </a:r>
            <a:r>
              <a:rPr lang="en-US" sz="2900" i="1" dirty="0" smtClean="0"/>
              <a:t>b</a:t>
            </a:r>
            <a:r>
              <a:rPr lang="en-US" sz="2900" dirty="0" smtClean="0"/>
              <a:t>) is shown here.</a:t>
            </a:r>
          </a:p>
          <a:p>
            <a:pPr>
              <a:buNone/>
            </a:pPr>
            <a:endParaRPr lang="en-US" sz="2900" dirty="0" smtClean="0"/>
          </a:p>
          <a:p>
            <a:pPr>
              <a:buNone/>
            </a:pPr>
            <a:endParaRPr lang="en-US" sz="2900" dirty="0" smtClean="0"/>
          </a:p>
          <a:p>
            <a:pPr>
              <a:buNone/>
            </a:pPr>
            <a:endParaRPr lang="en-US" sz="2900" dirty="0" smtClean="0"/>
          </a:p>
          <a:p>
            <a:pPr>
              <a:buNone/>
            </a:pPr>
            <a:endParaRPr lang="en-US" sz="2900" dirty="0" smtClean="0"/>
          </a:p>
          <a:p>
            <a:pPr>
              <a:buNone/>
            </a:pPr>
            <a:r>
              <a:rPr lang="en-US" sz="2900" dirty="0" smtClean="0"/>
              <a:t>   </a:t>
            </a:r>
          </a:p>
          <a:p>
            <a:pPr>
              <a:buNone/>
            </a:pPr>
            <a:endParaRPr lang="en-US" sz="2900" dirty="0" smtClean="0"/>
          </a:p>
          <a:p>
            <a:pPr>
              <a:buNone/>
            </a:pPr>
            <a:endParaRPr lang="en-US" sz="2900" dirty="0" smtClean="0"/>
          </a:p>
          <a:p>
            <a:pPr>
              <a:buNone/>
            </a:pPr>
            <a:endParaRPr lang="en-US" sz="2900" dirty="0"/>
          </a:p>
        </p:txBody>
      </p:sp>
      <p:pic>
        <p:nvPicPr>
          <p:cNvPr id="4" name="Content Placeholder 3" descr="0805.jpg"/>
          <p:cNvPicPr>
            <a:picLocks noChangeAspect="1"/>
          </p:cNvPicPr>
          <p:nvPr/>
        </p:nvPicPr>
        <p:blipFill>
          <a:blip r:embed="rId2" cstate="print"/>
          <a:stretch>
            <a:fillRect/>
          </a:stretch>
        </p:blipFill>
        <p:spPr>
          <a:xfrm>
            <a:off x="2765898" y="4800600"/>
            <a:ext cx="976122" cy="1108710"/>
          </a:xfrm>
          <a:prstGeom prst="rect">
            <a:avLst/>
          </a:prstGeom>
        </p:spPr>
      </p:pic>
      <p:sp>
        <p:nvSpPr>
          <p:cNvPr id="7" name="TextBox 6"/>
          <p:cNvSpPr txBox="1"/>
          <p:nvPr/>
        </p:nvSpPr>
        <p:spPr>
          <a:xfrm>
            <a:off x="4727675" y="2514600"/>
            <a:ext cx="4419600" cy="1200329"/>
          </a:xfrm>
          <a:prstGeom prst="rect">
            <a:avLst/>
          </a:prstGeom>
          <a:noFill/>
        </p:spPr>
        <p:txBody>
          <a:bodyPr wrap="square" rtlCol="0">
            <a:spAutoFit/>
          </a:bodyPr>
          <a:lstStyle/>
          <a:p>
            <a:r>
              <a:rPr lang="en-US" b="1" dirty="0"/>
              <a:t>What is a Loop?</a:t>
            </a:r>
          </a:p>
          <a:p>
            <a:r>
              <a:rPr lang="en-US" dirty="0"/>
              <a:t>If an edge starts and ends at the </a:t>
            </a:r>
            <a:r>
              <a:rPr lang="en-US" b="1" dirty="0"/>
              <a:t>same vertex</a:t>
            </a:r>
            <a:r>
              <a:rPr lang="en-US" dirty="0"/>
              <a:t>, like</a:t>
            </a:r>
            <a:r>
              <a:rPr lang="en-US" dirty="0" smtClean="0"/>
              <a:t>: </a:t>
            </a:r>
            <a:r>
              <a:rPr lang="en-US" b="1" dirty="0" smtClean="0">
                <a:solidFill>
                  <a:srgbClr val="0070C0"/>
                </a:solidFill>
              </a:rPr>
              <a:t>(</a:t>
            </a:r>
            <a:r>
              <a:rPr lang="en-US" b="1" dirty="0" err="1">
                <a:solidFill>
                  <a:srgbClr val="0070C0"/>
                </a:solidFill>
              </a:rPr>
              <a:t>a,a</a:t>
            </a:r>
            <a:r>
              <a:rPr lang="en-US" b="1" dirty="0" smtClean="0">
                <a:solidFill>
                  <a:srgbClr val="0070C0"/>
                </a:solidFill>
              </a:rPr>
              <a:t>) </a:t>
            </a:r>
            <a:r>
              <a:rPr lang="en-US" dirty="0" smtClean="0"/>
              <a:t>It </a:t>
            </a:r>
            <a:r>
              <a:rPr lang="en-US" dirty="0"/>
              <a:t>means the arrow goes from a vertex back to itself.</a:t>
            </a:r>
          </a:p>
        </p:txBody>
      </p:sp>
      <p:sp>
        <p:nvSpPr>
          <p:cNvPr id="8" name="Rectangle 7"/>
          <p:cNvSpPr/>
          <p:nvPr/>
        </p:nvSpPr>
        <p:spPr>
          <a:xfrm>
            <a:off x="4343400" y="4429393"/>
            <a:ext cx="5778100" cy="2308324"/>
          </a:xfrm>
          <a:prstGeom prst="rect">
            <a:avLst/>
          </a:prstGeom>
        </p:spPr>
        <p:txBody>
          <a:bodyPr wrap="square">
            <a:spAutoFit/>
          </a:bodyPr>
          <a:lstStyle/>
          <a:p>
            <a:r>
              <a:rPr lang="en-US" b="1" dirty="0"/>
              <a:t>Edges:</a:t>
            </a:r>
          </a:p>
          <a:p>
            <a:pPr>
              <a:buFont typeface="Arial" panose="020B0604020202020204" pitchFamily="34" charset="0"/>
              <a:buChar char="•"/>
            </a:pPr>
            <a:r>
              <a:rPr lang="en-US" b="1" dirty="0">
                <a:solidFill>
                  <a:srgbClr val="0070C0"/>
                </a:solidFill>
              </a:rPr>
              <a:t>(a, b) </a:t>
            </a:r>
            <a:r>
              <a:rPr lang="en-US" dirty="0"/>
              <a:t>→ arrow from a to b</a:t>
            </a:r>
          </a:p>
          <a:p>
            <a:pPr>
              <a:buFont typeface="Arial" panose="020B0604020202020204" pitchFamily="34" charset="0"/>
              <a:buChar char="•"/>
            </a:pPr>
            <a:r>
              <a:rPr lang="en-US" b="1" dirty="0">
                <a:solidFill>
                  <a:srgbClr val="0070C0"/>
                </a:solidFill>
              </a:rPr>
              <a:t>(a, d)</a:t>
            </a:r>
            <a:r>
              <a:rPr lang="en-US" dirty="0"/>
              <a:t> → arrow from a to d</a:t>
            </a:r>
          </a:p>
          <a:p>
            <a:pPr>
              <a:buFont typeface="Arial" panose="020B0604020202020204" pitchFamily="34" charset="0"/>
              <a:buChar char="•"/>
            </a:pPr>
            <a:r>
              <a:rPr lang="en-US" b="1" dirty="0">
                <a:solidFill>
                  <a:srgbClr val="0070C0"/>
                </a:solidFill>
              </a:rPr>
              <a:t>(b, b)</a:t>
            </a:r>
            <a:r>
              <a:rPr lang="en-US" dirty="0"/>
              <a:t> → loop at b</a:t>
            </a:r>
          </a:p>
          <a:p>
            <a:pPr>
              <a:buFont typeface="Arial" panose="020B0604020202020204" pitchFamily="34" charset="0"/>
              <a:buChar char="•"/>
            </a:pPr>
            <a:r>
              <a:rPr lang="en-US" b="1" dirty="0">
                <a:solidFill>
                  <a:srgbClr val="0070C0"/>
                </a:solidFill>
              </a:rPr>
              <a:t>(b, d) </a:t>
            </a:r>
            <a:r>
              <a:rPr lang="en-US" dirty="0"/>
              <a:t>→ arrow from b to d</a:t>
            </a:r>
          </a:p>
          <a:p>
            <a:pPr>
              <a:buFont typeface="Arial" panose="020B0604020202020204" pitchFamily="34" charset="0"/>
              <a:buChar char="•"/>
            </a:pPr>
            <a:r>
              <a:rPr lang="en-US" b="1" dirty="0">
                <a:solidFill>
                  <a:srgbClr val="0070C0"/>
                </a:solidFill>
              </a:rPr>
              <a:t>(c, a) </a:t>
            </a:r>
            <a:r>
              <a:rPr lang="en-US" dirty="0"/>
              <a:t>→ arrow from c to a</a:t>
            </a:r>
          </a:p>
          <a:p>
            <a:pPr>
              <a:buFont typeface="Arial" panose="020B0604020202020204" pitchFamily="34" charset="0"/>
              <a:buChar char="•"/>
            </a:pPr>
            <a:r>
              <a:rPr lang="en-US" b="1" dirty="0" smtClean="0">
                <a:solidFill>
                  <a:srgbClr val="0070C0"/>
                </a:solidFill>
              </a:rPr>
              <a:t>(c</a:t>
            </a:r>
            <a:r>
              <a:rPr lang="en-US" b="1" dirty="0">
                <a:solidFill>
                  <a:srgbClr val="0070C0"/>
                </a:solidFill>
              </a:rPr>
              <a:t>, </a:t>
            </a:r>
            <a:r>
              <a:rPr lang="en-US" b="1" dirty="0" smtClean="0">
                <a:solidFill>
                  <a:srgbClr val="0070C0"/>
                </a:solidFill>
              </a:rPr>
              <a:t>b) </a:t>
            </a:r>
            <a:r>
              <a:rPr lang="en-US" dirty="0"/>
              <a:t>→ arrow from c to b</a:t>
            </a:r>
          </a:p>
          <a:p>
            <a:pPr>
              <a:buFont typeface="Arial" panose="020B0604020202020204" pitchFamily="34" charset="0"/>
              <a:buChar char="•"/>
            </a:pPr>
            <a:r>
              <a:rPr lang="en-US" b="1" dirty="0">
                <a:solidFill>
                  <a:srgbClr val="0070C0"/>
                </a:solidFill>
              </a:rPr>
              <a:t>(d, b) </a:t>
            </a:r>
            <a:r>
              <a:rPr lang="en-US" dirty="0"/>
              <a:t>→ arrow from d to b</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Examples of Digraphs Representing Relations</a:t>
            </a:r>
            <a:endParaRPr lang="en-US" dirty="0"/>
          </a:p>
        </p:txBody>
      </p:sp>
      <p:sp>
        <p:nvSpPr>
          <p:cNvPr id="3" name="Content Placeholder 2"/>
          <p:cNvSpPr>
            <a:spLocks noGrp="1"/>
          </p:cNvSpPr>
          <p:nvPr>
            <p:ph idx="1"/>
          </p:nvPr>
        </p:nvSpPr>
        <p:spPr/>
        <p:txBody>
          <a:bodyPr>
            <a:normAutofit/>
          </a:bodyPr>
          <a:lstStyle/>
          <a:p>
            <a:pPr>
              <a:buNone/>
            </a:pPr>
            <a:r>
              <a:rPr lang="en-US" b="1" dirty="0" smtClean="0"/>
              <a:t>  Example 8</a:t>
            </a:r>
            <a:r>
              <a:rPr lang="en-US" dirty="0" smtClean="0"/>
              <a:t>: What are the ordered pairs in the relation </a:t>
            </a:r>
            <a:endParaRPr lang="en-US" i="1" dirty="0" smtClean="0"/>
          </a:p>
          <a:p>
            <a:pPr>
              <a:buNone/>
            </a:pPr>
            <a:r>
              <a:rPr lang="en-US" i="1" dirty="0" smtClean="0"/>
              <a:t>   </a:t>
            </a:r>
            <a:r>
              <a:rPr lang="en-US" dirty="0" smtClean="0"/>
              <a:t>represented by this directed graph?</a:t>
            </a:r>
          </a:p>
          <a:p>
            <a:pPr>
              <a:buNone/>
            </a:pPr>
            <a:endParaRPr lang="en-US" dirty="0" smtClean="0"/>
          </a:p>
          <a:p>
            <a:pPr>
              <a:buNone/>
            </a:pPr>
            <a:endParaRPr lang="en-US" dirty="0" smtClean="0"/>
          </a:p>
          <a:p>
            <a:pPr>
              <a:buNone/>
            </a:pPr>
            <a:endParaRPr lang="en-US" dirty="0" smtClean="0"/>
          </a:p>
          <a:p>
            <a:pPr>
              <a:buNone/>
            </a:pPr>
            <a:r>
              <a:rPr lang="en-US" dirty="0" smtClean="0"/>
              <a:t>    </a:t>
            </a:r>
            <a:r>
              <a:rPr lang="en-US" b="1" dirty="0" smtClean="0"/>
              <a:t>Solution</a:t>
            </a:r>
            <a:r>
              <a:rPr lang="en-US" dirty="0" smtClean="0"/>
              <a:t>: The ordered pairs in the relation are</a:t>
            </a:r>
          </a:p>
          <a:p>
            <a:pPr>
              <a:buNone/>
            </a:pPr>
            <a:r>
              <a:rPr lang="en-US" sz="2800" i="1" dirty="0" smtClean="0"/>
              <a:t>   </a:t>
            </a:r>
            <a:r>
              <a:rPr lang="en-US" sz="2800" b="1" dirty="0" smtClean="0">
                <a:solidFill>
                  <a:srgbClr val="0070C0"/>
                </a:solidFill>
              </a:rPr>
              <a:t>(</a:t>
            </a:r>
            <a:r>
              <a:rPr lang="en-US" sz="2800" b="1" dirty="0" smtClean="0">
                <a:solidFill>
                  <a:srgbClr val="0070C0"/>
                </a:solidFill>
                <a:latin typeface="Cambria Math" pitchFamily="18" charset="0"/>
                <a:ea typeface="Cambria Math" pitchFamily="18" charset="0"/>
              </a:rPr>
              <a:t>1, 3</a:t>
            </a:r>
            <a:r>
              <a:rPr lang="en-US" sz="2800" b="1" dirty="0" smtClean="0">
                <a:solidFill>
                  <a:srgbClr val="0070C0"/>
                </a:solidFill>
              </a:rPr>
              <a:t>), (</a:t>
            </a:r>
            <a:r>
              <a:rPr lang="en-US" sz="2800" b="1" dirty="0" smtClean="0">
                <a:solidFill>
                  <a:srgbClr val="0070C0"/>
                </a:solidFill>
                <a:latin typeface="Cambria Math" pitchFamily="18" charset="0"/>
                <a:ea typeface="Cambria Math" pitchFamily="18" charset="0"/>
              </a:rPr>
              <a:t>1, 4</a:t>
            </a:r>
            <a:r>
              <a:rPr lang="en-US" sz="2800" b="1" dirty="0" smtClean="0">
                <a:solidFill>
                  <a:srgbClr val="0070C0"/>
                </a:solidFill>
              </a:rPr>
              <a:t>), (</a:t>
            </a:r>
            <a:r>
              <a:rPr lang="en-US" sz="2800" b="1" dirty="0" smtClean="0">
                <a:solidFill>
                  <a:srgbClr val="0070C0"/>
                </a:solidFill>
                <a:latin typeface="Cambria Math" pitchFamily="18" charset="0"/>
                <a:ea typeface="Cambria Math" pitchFamily="18" charset="0"/>
              </a:rPr>
              <a:t>2, 1</a:t>
            </a:r>
            <a:r>
              <a:rPr lang="en-US" sz="2800" b="1" dirty="0" smtClean="0">
                <a:solidFill>
                  <a:srgbClr val="0070C0"/>
                </a:solidFill>
              </a:rPr>
              <a:t>), (</a:t>
            </a:r>
            <a:r>
              <a:rPr lang="en-US" sz="2800" b="1" dirty="0" smtClean="0">
                <a:solidFill>
                  <a:srgbClr val="0070C0"/>
                </a:solidFill>
                <a:latin typeface="Cambria Math" pitchFamily="18" charset="0"/>
                <a:ea typeface="Cambria Math" pitchFamily="18" charset="0"/>
              </a:rPr>
              <a:t>2, 2</a:t>
            </a:r>
            <a:r>
              <a:rPr lang="en-US" sz="2800" b="1" dirty="0" smtClean="0">
                <a:solidFill>
                  <a:srgbClr val="0070C0"/>
                </a:solidFill>
              </a:rPr>
              <a:t>), (</a:t>
            </a:r>
            <a:r>
              <a:rPr lang="en-US" sz="2800" b="1" dirty="0" smtClean="0">
                <a:solidFill>
                  <a:srgbClr val="0070C0"/>
                </a:solidFill>
                <a:latin typeface="Cambria Math" pitchFamily="18" charset="0"/>
                <a:ea typeface="Cambria Math" pitchFamily="18" charset="0"/>
              </a:rPr>
              <a:t>2, 3</a:t>
            </a:r>
            <a:r>
              <a:rPr lang="en-US" sz="2800" b="1" dirty="0" smtClean="0">
                <a:solidFill>
                  <a:srgbClr val="0070C0"/>
                </a:solidFill>
              </a:rPr>
              <a:t>), (</a:t>
            </a:r>
            <a:r>
              <a:rPr lang="en-US" sz="2800" b="1" dirty="0" smtClean="0">
                <a:solidFill>
                  <a:srgbClr val="0070C0"/>
                </a:solidFill>
                <a:latin typeface="Cambria Math" pitchFamily="18" charset="0"/>
                <a:ea typeface="Cambria Math" pitchFamily="18" charset="0"/>
              </a:rPr>
              <a:t>3, 1</a:t>
            </a:r>
            <a:r>
              <a:rPr lang="en-US" sz="2800" b="1" dirty="0" smtClean="0">
                <a:solidFill>
                  <a:srgbClr val="0070C0"/>
                </a:solidFill>
              </a:rPr>
              <a:t>), (</a:t>
            </a:r>
            <a:r>
              <a:rPr lang="en-US" sz="2800" b="1" dirty="0" smtClean="0">
                <a:solidFill>
                  <a:srgbClr val="0070C0"/>
                </a:solidFill>
                <a:latin typeface="Cambria Math" pitchFamily="18" charset="0"/>
                <a:ea typeface="Cambria Math" pitchFamily="18" charset="0"/>
              </a:rPr>
              <a:t>3, 3</a:t>
            </a:r>
            <a:r>
              <a:rPr lang="en-US" sz="2800" b="1" dirty="0" smtClean="0">
                <a:solidFill>
                  <a:srgbClr val="0070C0"/>
                </a:solidFill>
              </a:rPr>
              <a:t>),        (</a:t>
            </a:r>
            <a:r>
              <a:rPr lang="en-US" sz="2800" b="1" dirty="0" smtClean="0">
                <a:solidFill>
                  <a:srgbClr val="0070C0"/>
                </a:solidFill>
                <a:latin typeface="Cambria Math" pitchFamily="18" charset="0"/>
                <a:ea typeface="Cambria Math" pitchFamily="18" charset="0"/>
              </a:rPr>
              <a:t>4, 1</a:t>
            </a:r>
            <a:r>
              <a:rPr lang="en-US" sz="2800" b="1" dirty="0" smtClean="0">
                <a:solidFill>
                  <a:srgbClr val="0070C0"/>
                </a:solidFill>
              </a:rPr>
              <a:t>),  </a:t>
            </a:r>
            <a:r>
              <a:rPr lang="en-US" sz="2800" b="1" dirty="0" smtClean="0"/>
              <a:t>and</a:t>
            </a:r>
            <a:r>
              <a:rPr lang="en-US" sz="2800" b="1" dirty="0" smtClean="0">
                <a:solidFill>
                  <a:srgbClr val="0070C0"/>
                </a:solidFill>
              </a:rPr>
              <a:t> (</a:t>
            </a:r>
            <a:r>
              <a:rPr lang="en-US" sz="2800" b="1" dirty="0" smtClean="0">
                <a:solidFill>
                  <a:srgbClr val="0070C0"/>
                </a:solidFill>
                <a:latin typeface="Cambria Math" pitchFamily="18" charset="0"/>
                <a:ea typeface="Cambria Math" pitchFamily="18" charset="0"/>
              </a:rPr>
              <a:t>4, 3</a:t>
            </a:r>
            <a:r>
              <a:rPr lang="en-US" sz="2800" b="1" dirty="0" smtClean="0">
                <a:solidFill>
                  <a:srgbClr val="0070C0"/>
                </a:solidFill>
              </a:rPr>
              <a:t>)</a:t>
            </a:r>
            <a:endParaRPr lang="en-US" b="1" dirty="0" smtClean="0">
              <a:solidFill>
                <a:srgbClr val="0070C0"/>
              </a:solidFill>
            </a:endParaRPr>
          </a:p>
          <a:p>
            <a:endParaRPr lang="en-US" dirty="0"/>
          </a:p>
        </p:txBody>
      </p:sp>
      <p:pic>
        <p:nvPicPr>
          <p:cNvPr id="6" name="Content Placeholder 5" descr="0807.jpg"/>
          <p:cNvPicPr>
            <a:picLocks noChangeAspect="1"/>
          </p:cNvPicPr>
          <p:nvPr/>
        </p:nvPicPr>
        <p:blipFill>
          <a:blip r:embed="rId2" cstate="print"/>
          <a:stretch>
            <a:fillRect/>
          </a:stretch>
        </p:blipFill>
        <p:spPr>
          <a:xfrm>
            <a:off x="4038600" y="2971800"/>
            <a:ext cx="994410" cy="1066038"/>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1219200"/>
            <a:ext cx="4572000" cy="6096000"/>
          </a:xfrm>
        </p:spPr>
        <p:txBody>
          <a:bodyPr>
            <a:normAutofit fontScale="85000" lnSpcReduction="20000"/>
          </a:bodyPr>
          <a:lstStyle/>
          <a:p>
            <a:r>
              <a:rPr lang="en-US" sz="1800" b="1" dirty="0"/>
              <a:t>1. </a:t>
            </a:r>
            <a:r>
              <a:rPr lang="en-US" sz="2100" b="1" dirty="0" smtClean="0"/>
              <a:t>Reflexive: </a:t>
            </a:r>
            <a:r>
              <a:rPr lang="en-US" sz="2100" dirty="0" smtClean="0"/>
              <a:t>Every vertex must have a </a:t>
            </a:r>
            <a:r>
              <a:rPr lang="en-US" sz="2100" b="1" dirty="0" smtClean="0"/>
              <a:t>loop</a:t>
            </a:r>
            <a:r>
              <a:rPr lang="en-US" sz="2100" dirty="0" smtClean="0"/>
              <a:t>.</a:t>
            </a:r>
          </a:p>
          <a:p>
            <a:r>
              <a:rPr lang="en-US" sz="2100" dirty="0" smtClean="0"/>
              <a:t>That means:</a:t>
            </a:r>
          </a:p>
          <a:p>
            <a:r>
              <a:rPr lang="en-US" sz="2100" dirty="0" smtClean="0"/>
              <a:t>For every element </a:t>
            </a:r>
            <a:r>
              <a:rPr lang="en-US" sz="2100" b="1" dirty="0" smtClean="0"/>
              <a:t>x</a:t>
            </a:r>
          </a:p>
          <a:p>
            <a:r>
              <a:rPr lang="en-US" sz="2100" dirty="0" smtClean="0"/>
              <a:t>The pair </a:t>
            </a:r>
            <a:r>
              <a:rPr lang="en-US" sz="2100" b="1" dirty="0" smtClean="0">
                <a:solidFill>
                  <a:srgbClr val="0070C0"/>
                </a:solidFill>
              </a:rPr>
              <a:t>(x, x) </a:t>
            </a:r>
            <a:r>
              <a:rPr lang="en-US" sz="2100" dirty="0" smtClean="0"/>
              <a:t>must exist</a:t>
            </a:r>
          </a:p>
          <a:p>
            <a:r>
              <a:rPr lang="en-US" sz="2100" dirty="0" smtClean="0"/>
              <a:t>In the graph: Every vertex must have a </a:t>
            </a:r>
            <a:r>
              <a:rPr lang="en-US" sz="2100" b="1" dirty="0" smtClean="0"/>
              <a:t>small circle (loop) </a:t>
            </a:r>
            <a:r>
              <a:rPr lang="en-US" sz="2100" dirty="0" smtClean="0"/>
              <a:t>on itself.</a:t>
            </a:r>
          </a:p>
          <a:p>
            <a:r>
              <a:rPr lang="en-US" sz="2100" dirty="0" smtClean="0"/>
              <a:t>If even </a:t>
            </a:r>
            <a:r>
              <a:rPr lang="en-US" sz="2100" b="1" dirty="0" smtClean="0"/>
              <a:t>one vertex</a:t>
            </a:r>
            <a:r>
              <a:rPr lang="en-US" sz="2100" dirty="0" smtClean="0"/>
              <a:t> does not have a loop, Then it is </a:t>
            </a:r>
            <a:r>
              <a:rPr lang="en-US" sz="2100" b="1" dirty="0" smtClean="0"/>
              <a:t>NOT reflexive</a:t>
            </a:r>
            <a:r>
              <a:rPr lang="en-US" sz="2100" dirty="0" smtClean="0"/>
              <a:t>.</a:t>
            </a:r>
          </a:p>
          <a:p>
            <a:endParaRPr lang="en-US" sz="2100" dirty="0" smtClean="0"/>
          </a:p>
          <a:p>
            <a:r>
              <a:rPr lang="en-US" sz="2100" b="1" dirty="0" smtClean="0"/>
              <a:t>2. Symmetric</a:t>
            </a:r>
          </a:p>
          <a:p>
            <a:r>
              <a:rPr lang="en-US" sz="2100" dirty="0" smtClean="0"/>
              <a:t>If there is an arrow from </a:t>
            </a:r>
            <a:r>
              <a:rPr lang="en-US" sz="2100" b="1" dirty="0" smtClean="0">
                <a:solidFill>
                  <a:srgbClr val="0070C0"/>
                </a:solidFill>
              </a:rPr>
              <a:t>x to y</a:t>
            </a:r>
            <a:r>
              <a:rPr lang="en-US" sz="2100" dirty="0" smtClean="0"/>
              <a:t>,</a:t>
            </a:r>
            <a:br>
              <a:rPr lang="en-US" sz="2100" dirty="0" smtClean="0"/>
            </a:br>
            <a:r>
              <a:rPr lang="en-US" sz="2100" dirty="0" smtClean="0"/>
              <a:t>there must also be an arrow from </a:t>
            </a:r>
            <a:r>
              <a:rPr lang="en-US" sz="2100" b="1" dirty="0" smtClean="0">
                <a:solidFill>
                  <a:srgbClr val="0070C0"/>
                </a:solidFill>
              </a:rPr>
              <a:t>y to x</a:t>
            </a:r>
            <a:r>
              <a:rPr lang="en-US" sz="2100" dirty="0" smtClean="0"/>
              <a:t>.</a:t>
            </a:r>
          </a:p>
          <a:p>
            <a:r>
              <a:rPr lang="en-US" sz="2100" dirty="0" smtClean="0"/>
              <a:t>So If </a:t>
            </a:r>
            <a:r>
              <a:rPr lang="en-US" sz="2100" b="1" dirty="0" smtClean="0">
                <a:solidFill>
                  <a:srgbClr val="0070C0"/>
                </a:solidFill>
              </a:rPr>
              <a:t>(x, y) </a:t>
            </a:r>
            <a:r>
              <a:rPr lang="en-US" sz="2100" dirty="0" smtClean="0"/>
              <a:t>exists, then </a:t>
            </a:r>
            <a:r>
              <a:rPr lang="en-US" sz="2100" b="1" dirty="0" smtClean="0">
                <a:solidFill>
                  <a:srgbClr val="0070C0"/>
                </a:solidFill>
              </a:rPr>
              <a:t>(y, x) </a:t>
            </a:r>
            <a:r>
              <a:rPr lang="en-US" sz="2100" dirty="0" smtClean="0"/>
              <a:t>must also exist.</a:t>
            </a:r>
          </a:p>
          <a:p>
            <a:r>
              <a:rPr lang="en-US" sz="2100" dirty="0" smtClean="0"/>
              <a:t>In the graph: Every arrow must have a matching arrow going back.</a:t>
            </a:r>
          </a:p>
          <a:p>
            <a:r>
              <a:rPr lang="en-US" sz="2100" dirty="0" smtClean="0"/>
              <a:t>Example</a:t>
            </a:r>
            <a:r>
              <a:rPr lang="en-US" sz="2100" dirty="0"/>
              <a:t>:</a:t>
            </a:r>
            <a:br>
              <a:rPr lang="en-US" sz="2100" dirty="0"/>
            </a:br>
            <a:r>
              <a:rPr lang="en-US" sz="2100" b="1" dirty="0">
                <a:solidFill>
                  <a:srgbClr val="0070C0"/>
                </a:solidFill>
              </a:rPr>
              <a:t>x → y</a:t>
            </a:r>
            <a:br>
              <a:rPr lang="en-US" sz="2100" b="1" dirty="0">
                <a:solidFill>
                  <a:srgbClr val="0070C0"/>
                </a:solidFill>
              </a:rPr>
            </a:br>
            <a:r>
              <a:rPr lang="en-US" sz="2100" b="1" dirty="0" err="1">
                <a:solidFill>
                  <a:srgbClr val="0070C0"/>
                </a:solidFill>
              </a:rPr>
              <a:t>y</a:t>
            </a:r>
            <a:r>
              <a:rPr lang="en-US" sz="2100" b="1" dirty="0">
                <a:solidFill>
                  <a:srgbClr val="0070C0"/>
                </a:solidFill>
              </a:rPr>
              <a:t> → x</a:t>
            </a:r>
          </a:p>
          <a:p>
            <a:r>
              <a:rPr lang="en-US" sz="2100" dirty="0"/>
              <a:t>If one direction is </a:t>
            </a:r>
            <a:r>
              <a:rPr lang="en-US" sz="2100" dirty="0" smtClean="0"/>
              <a:t>missing, Then </a:t>
            </a:r>
            <a:r>
              <a:rPr lang="en-US" sz="2100" dirty="0"/>
              <a:t>it is </a:t>
            </a:r>
            <a:r>
              <a:rPr lang="en-US" sz="2100" b="1" dirty="0"/>
              <a:t>NOT symmetric</a:t>
            </a:r>
            <a:r>
              <a:rPr lang="en-US" sz="2100" dirty="0"/>
              <a:t>.</a:t>
            </a:r>
          </a:p>
          <a:p>
            <a:endParaRPr lang="en-US" sz="2100" dirty="0"/>
          </a:p>
        </p:txBody>
      </p:sp>
      <p:sp>
        <p:nvSpPr>
          <p:cNvPr id="4" name="TextBox 3"/>
          <p:cNvSpPr txBox="1"/>
          <p:nvPr/>
        </p:nvSpPr>
        <p:spPr>
          <a:xfrm>
            <a:off x="4800600" y="1097280"/>
            <a:ext cx="5029200" cy="2862322"/>
          </a:xfrm>
          <a:prstGeom prst="rect">
            <a:avLst/>
          </a:prstGeom>
          <a:noFill/>
        </p:spPr>
        <p:txBody>
          <a:bodyPr wrap="square" rtlCol="0">
            <a:spAutoFit/>
          </a:bodyPr>
          <a:lstStyle/>
          <a:p>
            <a:r>
              <a:rPr lang="en-US" b="1" dirty="0"/>
              <a:t>3. </a:t>
            </a:r>
            <a:r>
              <a:rPr lang="en-US" b="1" dirty="0" smtClean="0"/>
              <a:t>Antisymmetric</a:t>
            </a:r>
            <a:endParaRPr lang="en-US" dirty="0" smtClean="0"/>
          </a:p>
          <a:p>
            <a:pPr marL="285750" indent="-285750">
              <a:buClr>
                <a:schemeClr val="accent1"/>
              </a:buClr>
              <a:buFont typeface="Arial" panose="020B0604020202020204" pitchFamily="34" charset="0"/>
              <a:buChar char="•"/>
            </a:pPr>
            <a:r>
              <a:rPr lang="en-US" dirty="0" smtClean="0"/>
              <a:t>If </a:t>
            </a:r>
            <a:r>
              <a:rPr lang="en-US" b="1" dirty="0">
                <a:solidFill>
                  <a:srgbClr val="0070C0"/>
                </a:solidFill>
              </a:rPr>
              <a:t>x → y</a:t>
            </a:r>
            <a:r>
              <a:rPr lang="en-US" dirty="0"/>
              <a:t> exists (and x ≠ y),</a:t>
            </a:r>
            <a:br>
              <a:rPr lang="en-US" dirty="0"/>
            </a:br>
            <a:r>
              <a:rPr lang="en-US" dirty="0"/>
              <a:t>then </a:t>
            </a:r>
            <a:r>
              <a:rPr lang="en-US" b="1" dirty="0">
                <a:solidFill>
                  <a:srgbClr val="0070C0"/>
                </a:solidFill>
              </a:rPr>
              <a:t>y → x </a:t>
            </a:r>
            <a:r>
              <a:rPr lang="en-US" dirty="0"/>
              <a:t>must NOT exist.</a:t>
            </a:r>
          </a:p>
          <a:p>
            <a:r>
              <a:rPr lang="en-US" dirty="0" smtClean="0"/>
              <a:t>So you </a:t>
            </a:r>
            <a:r>
              <a:rPr lang="en-US" dirty="0"/>
              <a:t>cannot have arrows both ways </a:t>
            </a:r>
            <a:endParaRPr lang="en-US" dirty="0" smtClean="0"/>
          </a:p>
          <a:p>
            <a:r>
              <a:rPr lang="en-US" dirty="0" smtClean="0"/>
              <a:t>between two </a:t>
            </a:r>
            <a:r>
              <a:rPr lang="en-US" dirty="0"/>
              <a:t>different vertices.</a:t>
            </a:r>
          </a:p>
          <a:p>
            <a:r>
              <a:rPr lang="en-US" dirty="0"/>
              <a:t>If you see:</a:t>
            </a:r>
            <a:br>
              <a:rPr lang="en-US" dirty="0"/>
            </a:br>
            <a:r>
              <a:rPr lang="en-US" b="1" dirty="0">
                <a:solidFill>
                  <a:srgbClr val="0070C0"/>
                </a:solidFill>
              </a:rPr>
              <a:t>x → y</a:t>
            </a:r>
            <a:br>
              <a:rPr lang="en-US" b="1" dirty="0">
                <a:solidFill>
                  <a:srgbClr val="0070C0"/>
                </a:solidFill>
              </a:rPr>
            </a:br>
            <a:r>
              <a:rPr lang="en-US" dirty="0"/>
              <a:t>and</a:t>
            </a:r>
            <a:br>
              <a:rPr lang="en-US" dirty="0"/>
            </a:br>
            <a:r>
              <a:rPr lang="en-US" b="1" dirty="0">
                <a:solidFill>
                  <a:srgbClr val="0070C0"/>
                </a:solidFill>
              </a:rPr>
              <a:t>y → x</a:t>
            </a:r>
          </a:p>
          <a:p>
            <a:r>
              <a:rPr lang="en-US" dirty="0"/>
              <a:t>and </a:t>
            </a:r>
            <a:r>
              <a:rPr lang="en-US" b="1" dirty="0">
                <a:solidFill>
                  <a:srgbClr val="0070C0"/>
                </a:solidFill>
              </a:rPr>
              <a:t>x ≠ </a:t>
            </a:r>
            <a:r>
              <a:rPr lang="en-US" b="1" dirty="0" smtClean="0">
                <a:solidFill>
                  <a:srgbClr val="0070C0"/>
                </a:solidFill>
              </a:rPr>
              <a:t>y, </a:t>
            </a:r>
            <a:r>
              <a:rPr lang="en-US" dirty="0"/>
              <a:t>t</a:t>
            </a:r>
            <a:r>
              <a:rPr lang="en-US" dirty="0" smtClean="0"/>
              <a:t>hen </a:t>
            </a:r>
            <a:r>
              <a:rPr lang="en-US" dirty="0"/>
              <a:t>it is NOT antisymmetric.</a:t>
            </a:r>
          </a:p>
        </p:txBody>
      </p:sp>
      <p:sp>
        <p:nvSpPr>
          <p:cNvPr id="5" name="TextBox 4"/>
          <p:cNvSpPr txBox="1"/>
          <p:nvPr/>
        </p:nvSpPr>
        <p:spPr>
          <a:xfrm>
            <a:off x="4778298" y="4114800"/>
            <a:ext cx="6675119" cy="2585323"/>
          </a:xfrm>
          <a:prstGeom prst="rect">
            <a:avLst/>
          </a:prstGeom>
          <a:noFill/>
        </p:spPr>
        <p:txBody>
          <a:bodyPr wrap="square" rtlCol="0">
            <a:spAutoFit/>
          </a:bodyPr>
          <a:lstStyle/>
          <a:p>
            <a:r>
              <a:rPr lang="en-US" b="1" dirty="0"/>
              <a:t>4. </a:t>
            </a:r>
            <a:r>
              <a:rPr lang="en-US" b="1" dirty="0" smtClean="0"/>
              <a:t>Transitive: </a:t>
            </a:r>
            <a:r>
              <a:rPr lang="en-US" dirty="0" smtClean="0"/>
              <a:t>This </a:t>
            </a:r>
            <a:r>
              <a:rPr lang="en-US" dirty="0"/>
              <a:t>means:</a:t>
            </a:r>
          </a:p>
          <a:p>
            <a:r>
              <a:rPr lang="en-US" dirty="0" smtClean="0"/>
              <a:t>If </a:t>
            </a:r>
            <a:r>
              <a:rPr lang="en-US" dirty="0"/>
              <a:t>you can go from </a:t>
            </a:r>
            <a:r>
              <a:rPr lang="en-US" b="1" dirty="0">
                <a:solidFill>
                  <a:srgbClr val="0070C0"/>
                </a:solidFill>
              </a:rPr>
              <a:t>x → y</a:t>
            </a:r>
            <a:br>
              <a:rPr lang="en-US" b="1" dirty="0">
                <a:solidFill>
                  <a:srgbClr val="0070C0"/>
                </a:solidFill>
              </a:rPr>
            </a:br>
            <a:r>
              <a:rPr lang="en-US" dirty="0"/>
              <a:t>and from </a:t>
            </a:r>
            <a:r>
              <a:rPr lang="en-US" b="1" dirty="0">
                <a:solidFill>
                  <a:srgbClr val="0070C0"/>
                </a:solidFill>
              </a:rPr>
              <a:t>y → z</a:t>
            </a:r>
            <a:br>
              <a:rPr lang="en-US" b="1" dirty="0">
                <a:solidFill>
                  <a:srgbClr val="0070C0"/>
                </a:solidFill>
              </a:rPr>
            </a:br>
            <a:r>
              <a:rPr lang="en-US" dirty="0"/>
              <a:t>then you must also be able to go from </a:t>
            </a:r>
            <a:r>
              <a:rPr lang="en-US" b="1" dirty="0">
                <a:solidFill>
                  <a:srgbClr val="0070C0"/>
                </a:solidFill>
              </a:rPr>
              <a:t>x → z</a:t>
            </a:r>
            <a:r>
              <a:rPr lang="en-US" dirty="0"/>
              <a:t>.</a:t>
            </a:r>
          </a:p>
          <a:p>
            <a:r>
              <a:rPr lang="en-US" dirty="0"/>
              <a:t>So </a:t>
            </a:r>
            <a:r>
              <a:rPr lang="en-US" dirty="0" smtClean="0"/>
              <a:t>if: </a:t>
            </a:r>
            <a:r>
              <a:rPr lang="en-US" b="1" dirty="0" smtClean="0">
                <a:solidFill>
                  <a:srgbClr val="0070C0"/>
                </a:solidFill>
              </a:rPr>
              <a:t>x </a:t>
            </a:r>
            <a:r>
              <a:rPr lang="en-US" b="1" dirty="0">
                <a:solidFill>
                  <a:srgbClr val="0070C0"/>
                </a:solidFill>
              </a:rPr>
              <a:t>→ y</a:t>
            </a:r>
            <a:br>
              <a:rPr lang="en-US" b="1" dirty="0">
                <a:solidFill>
                  <a:srgbClr val="0070C0"/>
                </a:solidFill>
              </a:rPr>
            </a:br>
            <a:r>
              <a:rPr lang="en-US" b="1" dirty="0" smtClean="0">
                <a:solidFill>
                  <a:srgbClr val="0070C0"/>
                </a:solidFill>
              </a:rPr>
              <a:t>          </a:t>
            </a:r>
            <a:r>
              <a:rPr lang="en-US" b="1" dirty="0" err="1" smtClean="0">
                <a:solidFill>
                  <a:srgbClr val="0070C0"/>
                </a:solidFill>
              </a:rPr>
              <a:t>y</a:t>
            </a:r>
            <a:r>
              <a:rPr lang="en-US" b="1" dirty="0" smtClean="0">
                <a:solidFill>
                  <a:srgbClr val="0070C0"/>
                </a:solidFill>
              </a:rPr>
              <a:t> </a:t>
            </a:r>
            <a:r>
              <a:rPr lang="en-US" b="1" dirty="0">
                <a:solidFill>
                  <a:srgbClr val="0070C0"/>
                </a:solidFill>
              </a:rPr>
              <a:t>→ z</a:t>
            </a:r>
          </a:p>
          <a:p>
            <a:r>
              <a:rPr lang="en-US" dirty="0"/>
              <a:t>Then </a:t>
            </a:r>
            <a:r>
              <a:rPr lang="en-US" b="1" dirty="0">
                <a:solidFill>
                  <a:srgbClr val="0070C0"/>
                </a:solidFill>
              </a:rPr>
              <a:t>(x → z</a:t>
            </a:r>
            <a:r>
              <a:rPr lang="en-US" dirty="0"/>
              <a:t>) must also be present.</a:t>
            </a:r>
          </a:p>
          <a:p>
            <a:r>
              <a:rPr lang="en-US" dirty="0"/>
              <a:t>If that direct arrow is missing </a:t>
            </a:r>
            <a:br>
              <a:rPr lang="en-US" dirty="0"/>
            </a:br>
            <a:r>
              <a:rPr lang="en-US" dirty="0"/>
              <a:t>Then it is NOT transitive.</a:t>
            </a:r>
          </a:p>
        </p:txBody>
      </p:sp>
      <p:sp>
        <p:nvSpPr>
          <p:cNvPr id="6" name="Title 1"/>
          <p:cNvSpPr>
            <a:spLocks noGrp="1"/>
          </p:cNvSpPr>
          <p:nvPr>
            <p:ph type="title"/>
          </p:nvPr>
        </p:nvSpPr>
        <p:spPr>
          <a:xfrm>
            <a:off x="304800" y="942082"/>
            <a:ext cx="9372600" cy="237232"/>
          </a:xfrm>
        </p:spPr>
        <p:txBody>
          <a:bodyPr>
            <a:noAutofit/>
          </a:bodyPr>
          <a:lstStyle/>
          <a:p>
            <a:r>
              <a:rPr lang="en-US" sz="3600" b="1" dirty="0" smtClean="0"/>
              <a:t>Determining which Properties a Relation has from its Digraph</a:t>
            </a:r>
            <a:endParaRPr lang="en-US" sz="3600" b="1" dirty="0"/>
          </a:p>
        </p:txBody>
      </p:sp>
    </p:spTree>
    <p:extLst>
      <p:ext uri="{BB962C8B-B14F-4D97-AF65-F5344CB8AC3E}">
        <p14:creationId xmlns:p14="http://schemas.microsoft.com/office/powerpoint/2010/main" val="7137072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 </a:t>
            </a:r>
            <a:endParaRPr lang="en-US" dirty="0"/>
          </a:p>
        </p:txBody>
      </p:sp>
      <p:sp>
        <p:nvSpPr>
          <p:cNvPr id="4" name="Oval 3"/>
          <p:cNvSpPr/>
          <p:nvPr/>
        </p:nvSpPr>
        <p:spPr>
          <a:xfrm>
            <a:off x="2590800" y="259080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4648200" y="259080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4724400" y="411480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2667000" y="419100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reeform 38"/>
          <p:cNvSpPr/>
          <p:nvPr/>
        </p:nvSpPr>
        <p:spPr>
          <a:xfrm>
            <a:off x="2443216" y="2399168"/>
            <a:ext cx="382419" cy="353085"/>
          </a:xfrm>
          <a:custGeom>
            <a:avLst/>
            <a:gdLst>
              <a:gd name="connsiteX0" fmla="*/ 127968 w 382419"/>
              <a:gd name="connsiteY0" fmla="*/ 353085 h 353085"/>
              <a:gd name="connsiteX1" fmla="*/ 37434 w 382419"/>
              <a:gd name="connsiteY1" fmla="*/ 280658 h 353085"/>
              <a:gd name="connsiteX2" fmla="*/ 19327 w 382419"/>
              <a:gd name="connsiteY2" fmla="*/ 253497 h 353085"/>
              <a:gd name="connsiteX3" fmla="*/ 1220 w 382419"/>
              <a:gd name="connsiteY3" fmla="*/ 226337 h 353085"/>
              <a:gd name="connsiteX4" fmla="*/ 10273 w 382419"/>
              <a:gd name="connsiteY4" fmla="*/ 99588 h 353085"/>
              <a:gd name="connsiteX5" fmla="*/ 73647 w 382419"/>
              <a:gd name="connsiteY5" fmla="*/ 27161 h 353085"/>
              <a:gd name="connsiteX6" fmla="*/ 164182 w 382419"/>
              <a:gd name="connsiteY6" fmla="*/ 0 h 353085"/>
              <a:gd name="connsiteX7" fmla="*/ 290931 w 382419"/>
              <a:gd name="connsiteY7" fmla="*/ 18107 h 353085"/>
              <a:gd name="connsiteX8" fmla="*/ 318091 w 382419"/>
              <a:gd name="connsiteY8" fmla="*/ 36214 h 353085"/>
              <a:gd name="connsiteX9" fmla="*/ 327144 w 382419"/>
              <a:gd name="connsiteY9" fmla="*/ 63375 h 353085"/>
              <a:gd name="connsiteX10" fmla="*/ 345251 w 382419"/>
              <a:gd name="connsiteY10" fmla="*/ 90535 h 353085"/>
              <a:gd name="connsiteX11" fmla="*/ 363358 w 382419"/>
              <a:gd name="connsiteY11" fmla="*/ 144856 h 353085"/>
              <a:gd name="connsiteX12" fmla="*/ 372412 w 382419"/>
              <a:gd name="connsiteY12" fmla="*/ 172016 h 353085"/>
              <a:gd name="connsiteX13" fmla="*/ 381465 w 382419"/>
              <a:gd name="connsiteY13" fmla="*/ 208230 h 353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2419" h="353085">
                <a:moveTo>
                  <a:pt x="127968" y="353085"/>
                </a:moveTo>
                <a:cubicBezTo>
                  <a:pt x="53002" y="328098"/>
                  <a:pt x="84234" y="350860"/>
                  <a:pt x="37434" y="280658"/>
                </a:cubicBezTo>
                <a:lnTo>
                  <a:pt x="19327" y="253497"/>
                </a:lnTo>
                <a:lnTo>
                  <a:pt x="1220" y="226337"/>
                </a:lnTo>
                <a:cubicBezTo>
                  <a:pt x="4238" y="184087"/>
                  <a:pt x="0" y="140681"/>
                  <a:pt x="10273" y="99588"/>
                </a:cubicBezTo>
                <a:cubicBezTo>
                  <a:pt x="17157" y="72052"/>
                  <a:pt x="46063" y="39421"/>
                  <a:pt x="73647" y="27161"/>
                </a:cubicBezTo>
                <a:cubicBezTo>
                  <a:pt x="101983" y="14567"/>
                  <a:pt x="134087" y="7524"/>
                  <a:pt x="164182" y="0"/>
                </a:cubicBezTo>
                <a:cubicBezTo>
                  <a:pt x="189615" y="2312"/>
                  <a:pt x="256099" y="691"/>
                  <a:pt x="290931" y="18107"/>
                </a:cubicBezTo>
                <a:cubicBezTo>
                  <a:pt x="300663" y="22973"/>
                  <a:pt x="309038" y="30178"/>
                  <a:pt x="318091" y="36214"/>
                </a:cubicBezTo>
                <a:cubicBezTo>
                  <a:pt x="321109" y="45268"/>
                  <a:pt x="322876" y="54839"/>
                  <a:pt x="327144" y="63375"/>
                </a:cubicBezTo>
                <a:cubicBezTo>
                  <a:pt x="332010" y="73107"/>
                  <a:pt x="340832" y="80592"/>
                  <a:pt x="345251" y="90535"/>
                </a:cubicBezTo>
                <a:cubicBezTo>
                  <a:pt x="353003" y="107976"/>
                  <a:pt x="357322" y="126749"/>
                  <a:pt x="363358" y="144856"/>
                </a:cubicBezTo>
                <a:lnTo>
                  <a:pt x="372412" y="172016"/>
                </a:lnTo>
                <a:cubicBezTo>
                  <a:pt x="382419" y="202038"/>
                  <a:pt x="381465" y="189634"/>
                  <a:pt x="381465" y="208230"/>
                </a:cubicBezTo>
              </a:path>
            </a:pathLst>
          </a:custGeom>
          <a:ln>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41" name="TextBox 40"/>
          <p:cNvSpPr txBox="1"/>
          <p:nvPr/>
        </p:nvSpPr>
        <p:spPr>
          <a:xfrm>
            <a:off x="2133600" y="2743200"/>
            <a:ext cx="381000" cy="523220"/>
          </a:xfrm>
          <a:prstGeom prst="rect">
            <a:avLst/>
          </a:prstGeom>
          <a:noFill/>
        </p:spPr>
        <p:txBody>
          <a:bodyPr wrap="square" rtlCol="0">
            <a:spAutoFit/>
          </a:bodyPr>
          <a:lstStyle/>
          <a:p>
            <a:r>
              <a:rPr lang="en-US" sz="2800" i="1" dirty="0" smtClean="0"/>
              <a:t>a</a:t>
            </a:r>
            <a:endParaRPr lang="en-US" sz="2800" i="1" dirty="0"/>
          </a:p>
        </p:txBody>
      </p:sp>
      <p:sp>
        <p:nvSpPr>
          <p:cNvPr id="42" name="TextBox 41"/>
          <p:cNvSpPr txBox="1"/>
          <p:nvPr/>
        </p:nvSpPr>
        <p:spPr>
          <a:xfrm>
            <a:off x="4267200" y="4038600"/>
            <a:ext cx="381000" cy="523220"/>
          </a:xfrm>
          <a:prstGeom prst="rect">
            <a:avLst/>
          </a:prstGeom>
          <a:noFill/>
        </p:spPr>
        <p:txBody>
          <a:bodyPr wrap="square" rtlCol="0">
            <a:spAutoFit/>
          </a:bodyPr>
          <a:lstStyle/>
          <a:p>
            <a:r>
              <a:rPr lang="en-US" sz="2800" i="1" dirty="0" smtClean="0"/>
              <a:t>d</a:t>
            </a:r>
            <a:endParaRPr lang="en-US" sz="2800" i="1" dirty="0"/>
          </a:p>
        </p:txBody>
      </p:sp>
      <p:sp>
        <p:nvSpPr>
          <p:cNvPr id="43" name="TextBox 42"/>
          <p:cNvSpPr txBox="1"/>
          <p:nvPr/>
        </p:nvSpPr>
        <p:spPr>
          <a:xfrm>
            <a:off x="2286000" y="4114800"/>
            <a:ext cx="381000" cy="523220"/>
          </a:xfrm>
          <a:prstGeom prst="rect">
            <a:avLst/>
          </a:prstGeom>
          <a:noFill/>
        </p:spPr>
        <p:txBody>
          <a:bodyPr wrap="square" rtlCol="0">
            <a:spAutoFit/>
          </a:bodyPr>
          <a:lstStyle/>
          <a:p>
            <a:r>
              <a:rPr lang="en-US" sz="2800" i="1" dirty="0" smtClean="0"/>
              <a:t>c</a:t>
            </a:r>
            <a:endParaRPr lang="en-US" sz="2800" i="1" dirty="0"/>
          </a:p>
        </p:txBody>
      </p:sp>
      <p:sp>
        <p:nvSpPr>
          <p:cNvPr id="44" name="TextBox 43"/>
          <p:cNvSpPr txBox="1"/>
          <p:nvPr/>
        </p:nvSpPr>
        <p:spPr>
          <a:xfrm>
            <a:off x="4267200" y="2667000"/>
            <a:ext cx="381000" cy="523220"/>
          </a:xfrm>
          <a:prstGeom prst="rect">
            <a:avLst/>
          </a:prstGeom>
          <a:noFill/>
        </p:spPr>
        <p:txBody>
          <a:bodyPr wrap="square" rtlCol="0">
            <a:spAutoFit/>
          </a:bodyPr>
          <a:lstStyle/>
          <a:p>
            <a:r>
              <a:rPr lang="en-US" sz="2800" i="1" dirty="0" smtClean="0"/>
              <a:t>b</a:t>
            </a:r>
            <a:endParaRPr lang="en-US" sz="2800" i="1" dirty="0"/>
          </a:p>
        </p:txBody>
      </p:sp>
      <p:sp>
        <p:nvSpPr>
          <p:cNvPr id="14" name="Title 1"/>
          <p:cNvSpPr txBox="1">
            <a:spLocks/>
          </p:cNvSpPr>
          <p:nvPr/>
        </p:nvSpPr>
        <p:spPr>
          <a:xfrm>
            <a:off x="609600" y="856488"/>
            <a:ext cx="8229600" cy="1143000"/>
          </a:xfrm>
          <a:prstGeom prst="rect">
            <a:avLst/>
          </a:prstGeom>
        </p:spPr>
        <p:txBody>
          <a:bodyPr vert="horz" lIns="0" rIns="0" bIns="0" anchor="b">
            <a:normAutofit fontScale="75000" lnSpcReduction="200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5000" b="0" i="0" u="none" strike="noStrike" kern="1200" cap="none" spc="0" normalizeH="0" baseline="0" noProof="0" dirty="0" smtClean="0">
                <a:ln>
                  <a:noFill/>
                </a:ln>
                <a:solidFill>
                  <a:schemeClr val="tx2"/>
                </a:solidFill>
                <a:effectLst/>
                <a:uLnTx/>
                <a:uFillTx/>
                <a:latin typeface="+mj-lt"/>
                <a:ea typeface="+mj-ea"/>
                <a:cs typeface="+mj-cs"/>
              </a:rPr>
              <a:t>Determining which Properties a Relation has from its Digraph – Example 1</a:t>
            </a:r>
            <a:endParaRPr kumimoji="0" lang="en-US" sz="5000" b="0" i="0" u="none" strike="noStrike" kern="1200" cap="none" spc="0" normalizeH="0" baseline="0" noProof="0" dirty="0">
              <a:ln>
                <a:noFill/>
              </a:ln>
              <a:solidFill>
                <a:schemeClr val="tx2"/>
              </a:solidFill>
              <a:effectLst/>
              <a:uLnTx/>
              <a:uFillTx/>
              <a:latin typeface="+mj-lt"/>
              <a:ea typeface="+mj-ea"/>
              <a:cs typeface="+mj-cs"/>
            </a:endParaRPr>
          </a:p>
        </p:txBody>
      </p:sp>
      <p:pic>
        <p:nvPicPr>
          <p:cNvPr id="3" name="Picture 2"/>
          <p:cNvPicPr>
            <a:picLocks noChangeAspect="1"/>
          </p:cNvPicPr>
          <p:nvPr/>
        </p:nvPicPr>
        <p:blipFill rotWithShape="1">
          <a:blip r:embed="rId2"/>
          <a:srcRect t="17352"/>
          <a:stretch/>
        </p:blipFill>
        <p:spPr>
          <a:xfrm>
            <a:off x="533400" y="4905379"/>
            <a:ext cx="7112366" cy="1863186"/>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2286000" y="259080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4724400" y="259080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p:cNvCxnSpPr/>
          <p:nvPr/>
        </p:nvCxnSpPr>
        <p:spPr>
          <a:xfrm>
            <a:off x="2667000" y="2743200"/>
            <a:ext cx="1981200" cy="1588"/>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1905000" y="2667000"/>
            <a:ext cx="381000" cy="523220"/>
          </a:xfrm>
          <a:prstGeom prst="rect">
            <a:avLst/>
          </a:prstGeom>
          <a:noFill/>
        </p:spPr>
        <p:txBody>
          <a:bodyPr wrap="square" rtlCol="0">
            <a:spAutoFit/>
          </a:bodyPr>
          <a:lstStyle/>
          <a:p>
            <a:r>
              <a:rPr lang="en-US" sz="2800" i="1" dirty="0" smtClean="0"/>
              <a:t>a</a:t>
            </a:r>
            <a:endParaRPr lang="en-US" sz="2800" i="1" dirty="0"/>
          </a:p>
        </p:txBody>
      </p:sp>
      <p:sp>
        <p:nvSpPr>
          <p:cNvPr id="31" name="TextBox 30"/>
          <p:cNvSpPr txBox="1"/>
          <p:nvPr/>
        </p:nvSpPr>
        <p:spPr>
          <a:xfrm>
            <a:off x="4267200" y="2895600"/>
            <a:ext cx="381000" cy="523220"/>
          </a:xfrm>
          <a:prstGeom prst="rect">
            <a:avLst/>
          </a:prstGeom>
          <a:noFill/>
        </p:spPr>
        <p:txBody>
          <a:bodyPr wrap="square" rtlCol="0">
            <a:spAutoFit/>
          </a:bodyPr>
          <a:lstStyle/>
          <a:p>
            <a:r>
              <a:rPr lang="en-US" sz="2800" i="1" dirty="0" smtClean="0"/>
              <a:t>b</a:t>
            </a:r>
            <a:endParaRPr lang="en-US" sz="2800" i="1" dirty="0"/>
          </a:p>
        </p:txBody>
      </p:sp>
      <p:sp>
        <p:nvSpPr>
          <p:cNvPr id="32" name="TextBox 31"/>
          <p:cNvSpPr txBox="1"/>
          <p:nvPr/>
        </p:nvSpPr>
        <p:spPr>
          <a:xfrm>
            <a:off x="1905000" y="4038600"/>
            <a:ext cx="381000" cy="523220"/>
          </a:xfrm>
          <a:prstGeom prst="rect">
            <a:avLst/>
          </a:prstGeom>
          <a:noFill/>
        </p:spPr>
        <p:txBody>
          <a:bodyPr wrap="square" rtlCol="0">
            <a:spAutoFit/>
          </a:bodyPr>
          <a:lstStyle/>
          <a:p>
            <a:r>
              <a:rPr lang="en-US" sz="2800" i="1" dirty="0" smtClean="0"/>
              <a:t>c</a:t>
            </a:r>
            <a:endParaRPr lang="en-US" sz="2800" i="1" dirty="0"/>
          </a:p>
        </p:txBody>
      </p:sp>
      <p:sp>
        <p:nvSpPr>
          <p:cNvPr id="33" name="TextBox 32"/>
          <p:cNvSpPr txBox="1"/>
          <p:nvPr/>
        </p:nvSpPr>
        <p:spPr>
          <a:xfrm>
            <a:off x="4191000" y="4038600"/>
            <a:ext cx="381000" cy="523220"/>
          </a:xfrm>
          <a:prstGeom prst="rect">
            <a:avLst/>
          </a:prstGeom>
          <a:noFill/>
        </p:spPr>
        <p:txBody>
          <a:bodyPr wrap="square" rtlCol="0">
            <a:spAutoFit/>
          </a:bodyPr>
          <a:lstStyle/>
          <a:p>
            <a:r>
              <a:rPr lang="en-US" sz="2800" i="1" dirty="0" smtClean="0"/>
              <a:t>d</a:t>
            </a:r>
            <a:endParaRPr lang="en-US" sz="2800" i="1" dirty="0"/>
          </a:p>
        </p:txBody>
      </p:sp>
      <p:sp>
        <p:nvSpPr>
          <p:cNvPr id="34" name="Oval 33"/>
          <p:cNvSpPr/>
          <p:nvPr/>
        </p:nvSpPr>
        <p:spPr>
          <a:xfrm>
            <a:off x="2362200" y="411480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p:cNvSpPr/>
          <p:nvPr/>
        </p:nvSpPr>
        <p:spPr>
          <a:xfrm>
            <a:off x="4724400" y="419100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7" name="Straight Arrow Connector 36"/>
          <p:cNvCxnSpPr/>
          <p:nvPr/>
        </p:nvCxnSpPr>
        <p:spPr>
          <a:xfrm flipV="1">
            <a:off x="4724400" y="2971800"/>
            <a:ext cx="0" cy="1143000"/>
          </a:xfrm>
          <a:prstGeom prst="straightConnector1">
            <a:avLst/>
          </a:prstGeom>
          <a:ln>
            <a:solidFill>
              <a:schemeClr val="accent1">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39" name="Straight Arrow Connector 38"/>
          <p:cNvCxnSpPr/>
          <p:nvPr/>
        </p:nvCxnSpPr>
        <p:spPr>
          <a:xfrm>
            <a:off x="5029200" y="2895600"/>
            <a:ext cx="0" cy="1295400"/>
          </a:xfrm>
          <a:prstGeom prst="straightConnector1">
            <a:avLst/>
          </a:prstGeom>
          <a:ln>
            <a:solidFill>
              <a:schemeClr val="accent1">
                <a:lumMod val="75000"/>
              </a:schemeClr>
            </a:solidFill>
            <a:tailEnd type="arrow"/>
          </a:ln>
        </p:spPr>
        <p:style>
          <a:lnRef idx="2">
            <a:schemeClr val="accent1"/>
          </a:lnRef>
          <a:fillRef idx="0">
            <a:schemeClr val="accent1"/>
          </a:fillRef>
          <a:effectRef idx="1">
            <a:schemeClr val="accent1"/>
          </a:effectRef>
          <a:fontRef idx="minor">
            <a:schemeClr val="tx1"/>
          </a:fontRef>
        </p:style>
      </p:cxnSp>
      <p:sp>
        <p:nvSpPr>
          <p:cNvPr id="16" name="Title 1"/>
          <p:cNvSpPr txBox="1">
            <a:spLocks/>
          </p:cNvSpPr>
          <p:nvPr/>
        </p:nvSpPr>
        <p:spPr>
          <a:xfrm>
            <a:off x="457200" y="685800"/>
            <a:ext cx="8229600" cy="1143000"/>
          </a:xfrm>
          <a:prstGeom prst="rect">
            <a:avLst/>
          </a:prstGeom>
        </p:spPr>
        <p:txBody>
          <a:bodyPr vert="horz" lIns="0" rIns="0" bIns="0" anchor="b">
            <a:normAutofit fontScale="75000" lnSpcReduction="200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5000" b="0" i="0" u="none" strike="noStrike" kern="1200" cap="none" spc="0" normalizeH="0" baseline="0" noProof="0" dirty="0" smtClean="0">
                <a:ln>
                  <a:noFill/>
                </a:ln>
                <a:solidFill>
                  <a:schemeClr val="tx2"/>
                </a:solidFill>
                <a:effectLst/>
                <a:uLnTx/>
                <a:uFillTx/>
                <a:latin typeface="+mj-lt"/>
                <a:ea typeface="+mj-ea"/>
                <a:cs typeface="+mj-cs"/>
              </a:rPr>
              <a:t>Determining which Properties a Relation has from its Digraph – Example 2</a:t>
            </a:r>
            <a:endParaRPr kumimoji="0" lang="en-US" sz="5000" b="0" i="0" u="none" strike="noStrike" kern="1200" cap="none" spc="0" normalizeH="0" baseline="0" noProof="0" dirty="0">
              <a:ln>
                <a:noFill/>
              </a:ln>
              <a:solidFill>
                <a:schemeClr val="tx2"/>
              </a:solidFill>
              <a:effectLst/>
              <a:uLnTx/>
              <a:uFillTx/>
              <a:latin typeface="+mj-lt"/>
              <a:ea typeface="+mj-ea"/>
              <a:cs typeface="+mj-cs"/>
            </a:endParaRPr>
          </a:p>
        </p:txBody>
      </p:sp>
      <p:pic>
        <p:nvPicPr>
          <p:cNvPr id="2" name="Picture 1"/>
          <p:cNvPicPr>
            <a:picLocks noChangeAspect="1"/>
          </p:cNvPicPr>
          <p:nvPr/>
        </p:nvPicPr>
        <p:blipFill rotWithShape="1">
          <a:blip r:embed="rId2"/>
          <a:srcRect t="22277"/>
          <a:stretch/>
        </p:blipFill>
        <p:spPr>
          <a:xfrm>
            <a:off x="882466" y="5001178"/>
            <a:ext cx="7150467" cy="1559683"/>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2286000" y="259080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4724400" y="259080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4876800" y="411480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990600" y="5122398"/>
            <a:ext cx="6629400" cy="1631216"/>
          </a:xfrm>
          <a:prstGeom prst="rect">
            <a:avLst/>
          </a:prstGeom>
          <a:noFill/>
        </p:spPr>
        <p:txBody>
          <a:bodyPr wrap="square" rtlCol="0">
            <a:spAutoFit/>
          </a:bodyPr>
          <a:lstStyle/>
          <a:p>
            <a:r>
              <a:rPr lang="en-US" sz="2000" i="1" dirty="0" smtClean="0"/>
              <a:t>Reflexive?</a:t>
            </a:r>
            <a:r>
              <a:rPr lang="en-US" sz="2000" dirty="0" smtClean="0"/>
              <a:t> No, there are no loops</a:t>
            </a:r>
          </a:p>
          <a:p>
            <a:r>
              <a:rPr lang="en-US" sz="2000" i="1" dirty="0" smtClean="0"/>
              <a:t>Symmetric?</a:t>
            </a:r>
            <a:r>
              <a:rPr lang="en-US" sz="2000" dirty="0" smtClean="0"/>
              <a:t> No,  </a:t>
            </a:r>
          </a:p>
          <a:p>
            <a:r>
              <a:rPr lang="en-US" sz="2000" i="1" dirty="0" err="1" smtClean="0"/>
              <a:t>Antisymmetric</a:t>
            </a:r>
            <a:r>
              <a:rPr lang="en-US" sz="2000" i="1" dirty="0" smtClean="0"/>
              <a:t>?</a:t>
            </a:r>
            <a:r>
              <a:rPr lang="en-US" sz="2000" dirty="0" smtClean="0"/>
              <a:t> Yes, whenever there is an edge from one</a:t>
            </a:r>
          </a:p>
          <a:p>
            <a:r>
              <a:rPr lang="en-US" sz="2000" dirty="0" smtClean="0"/>
              <a:t>         vertex  to another, there is not one going back  </a:t>
            </a:r>
          </a:p>
          <a:p>
            <a:r>
              <a:rPr lang="en-US" sz="2000" i="1" dirty="0" smtClean="0"/>
              <a:t>Transitive? Yes, </a:t>
            </a:r>
            <a:endParaRPr lang="en-US" sz="2000" dirty="0"/>
          </a:p>
        </p:txBody>
      </p:sp>
      <p:cxnSp>
        <p:nvCxnSpPr>
          <p:cNvPr id="15" name="Straight Arrow Connector 14"/>
          <p:cNvCxnSpPr/>
          <p:nvPr/>
        </p:nvCxnSpPr>
        <p:spPr>
          <a:xfrm>
            <a:off x="2667000" y="2743200"/>
            <a:ext cx="1981200" cy="1588"/>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rot="16200000" flipH="1">
            <a:off x="1943100" y="3390900"/>
            <a:ext cx="990600" cy="1524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V="1">
            <a:off x="2743200" y="2895600"/>
            <a:ext cx="1905000" cy="9906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1828800" y="2590800"/>
            <a:ext cx="381000" cy="523220"/>
          </a:xfrm>
          <a:prstGeom prst="rect">
            <a:avLst/>
          </a:prstGeom>
          <a:noFill/>
        </p:spPr>
        <p:txBody>
          <a:bodyPr wrap="square" rtlCol="0">
            <a:spAutoFit/>
          </a:bodyPr>
          <a:lstStyle/>
          <a:p>
            <a:r>
              <a:rPr lang="en-US" sz="2800" i="1" dirty="0" smtClean="0"/>
              <a:t>a</a:t>
            </a:r>
            <a:endParaRPr lang="en-US" sz="2800" i="1" dirty="0"/>
          </a:p>
        </p:txBody>
      </p:sp>
      <p:sp>
        <p:nvSpPr>
          <p:cNvPr id="20" name="TextBox 19"/>
          <p:cNvSpPr txBox="1"/>
          <p:nvPr/>
        </p:nvSpPr>
        <p:spPr>
          <a:xfrm>
            <a:off x="4419600" y="4114800"/>
            <a:ext cx="381000" cy="523220"/>
          </a:xfrm>
          <a:prstGeom prst="rect">
            <a:avLst/>
          </a:prstGeom>
          <a:noFill/>
        </p:spPr>
        <p:txBody>
          <a:bodyPr wrap="square" rtlCol="0">
            <a:spAutoFit/>
          </a:bodyPr>
          <a:lstStyle/>
          <a:p>
            <a:r>
              <a:rPr lang="en-US" sz="2800" i="1" dirty="0" smtClean="0"/>
              <a:t>d</a:t>
            </a:r>
            <a:endParaRPr lang="en-US" sz="2800" i="1" dirty="0"/>
          </a:p>
        </p:txBody>
      </p:sp>
      <p:sp>
        <p:nvSpPr>
          <p:cNvPr id="22" name="TextBox 21"/>
          <p:cNvSpPr txBox="1"/>
          <p:nvPr/>
        </p:nvSpPr>
        <p:spPr>
          <a:xfrm>
            <a:off x="1905000" y="3962400"/>
            <a:ext cx="381000" cy="523220"/>
          </a:xfrm>
          <a:prstGeom prst="rect">
            <a:avLst/>
          </a:prstGeom>
          <a:noFill/>
        </p:spPr>
        <p:txBody>
          <a:bodyPr wrap="square" rtlCol="0">
            <a:spAutoFit/>
          </a:bodyPr>
          <a:lstStyle/>
          <a:p>
            <a:r>
              <a:rPr lang="en-US" sz="2800" i="1" dirty="0" smtClean="0"/>
              <a:t>c</a:t>
            </a:r>
            <a:endParaRPr lang="en-US" sz="2800" i="1" dirty="0"/>
          </a:p>
        </p:txBody>
      </p:sp>
      <p:sp>
        <p:nvSpPr>
          <p:cNvPr id="23" name="TextBox 22"/>
          <p:cNvSpPr txBox="1"/>
          <p:nvPr/>
        </p:nvSpPr>
        <p:spPr>
          <a:xfrm>
            <a:off x="4648200" y="2971800"/>
            <a:ext cx="381000" cy="523220"/>
          </a:xfrm>
          <a:prstGeom prst="rect">
            <a:avLst/>
          </a:prstGeom>
          <a:noFill/>
        </p:spPr>
        <p:txBody>
          <a:bodyPr wrap="square" rtlCol="0">
            <a:spAutoFit/>
          </a:bodyPr>
          <a:lstStyle/>
          <a:p>
            <a:r>
              <a:rPr lang="en-US" sz="2800" i="1" dirty="0" smtClean="0"/>
              <a:t>b</a:t>
            </a:r>
            <a:endParaRPr lang="en-US" sz="2800" i="1" dirty="0"/>
          </a:p>
        </p:txBody>
      </p:sp>
      <p:sp>
        <p:nvSpPr>
          <p:cNvPr id="24" name="Oval 23"/>
          <p:cNvSpPr/>
          <p:nvPr/>
        </p:nvSpPr>
        <p:spPr>
          <a:xfrm>
            <a:off x="2514600" y="403860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itle 1"/>
          <p:cNvSpPr txBox="1">
            <a:spLocks/>
          </p:cNvSpPr>
          <p:nvPr/>
        </p:nvSpPr>
        <p:spPr>
          <a:xfrm>
            <a:off x="457200" y="685800"/>
            <a:ext cx="8229600" cy="1143000"/>
          </a:xfrm>
          <a:prstGeom prst="rect">
            <a:avLst/>
          </a:prstGeom>
        </p:spPr>
        <p:txBody>
          <a:bodyPr vert="horz" lIns="0" rIns="0" bIns="0" anchor="b">
            <a:normAutofit fontScale="75000" lnSpcReduction="200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5000" b="0" i="0" u="none" strike="noStrike" kern="1200" cap="none" spc="0" normalizeH="0" baseline="0" noProof="0" dirty="0" smtClean="0">
                <a:ln>
                  <a:noFill/>
                </a:ln>
                <a:solidFill>
                  <a:schemeClr val="tx2"/>
                </a:solidFill>
                <a:effectLst/>
                <a:uLnTx/>
                <a:uFillTx/>
                <a:latin typeface="+mj-lt"/>
                <a:ea typeface="+mj-ea"/>
                <a:cs typeface="+mj-cs"/>
              </a:rPr>
              <a:t>Determining which Properties a Relation has from its Digraph – Example </a:t>
            </a:r>
            <a:r>
              <a:rPr lang="en-US" sz="5000" dirty="0" smtClean="0">
                <a:solidFill>
                  <a:schemeClr val="tx2"/>
                </a:solidFill>
                <a:latin typeface="+mj-lt"/>
                <a:ea typeface="+mj-ea"/>
                <a:cs typeface="+mj-cs"/>
              </a:rPr>
              <a:t>3</a:t>
            </a:r>
            <a:endParaRPr kumimoji="0" lang="en-US" sz="5000" b="0" i="0" u="none" strike="noStrike" kern="1200" cap="none" spc="0" normalizeH="0" baseline="0" noProof="0" dirty="0">
              <a:ln>
                <a:noFill/>
              </a:ln>
              <a:solidFill>
                <a:schemeClr val="tx2"/>
              </a:solidFill>
              <a:effectLst/>
              <a:uLnTx/>
              <a:uFillTx/>
              <a:latin typeface="+mj-lt"/>
              <a:ea typeface="+mj-ea"/>
              <a:cs typeface="+mj-cs"/>
            </a:endParaRPr>
          </a:p>
        </p:txBody>
      </p:sp>
      <p:sp>
        <p:nvSpPr>
          <p:cNvPr id="5" name="Rectangle 3"/>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chemeClr val="tx1"/>
                </a:solidFill>
                <a:effectLst/>
                <a:latin typeface="Google Sans Text"/>
              </a:rPr>
              <a:t>$a \to c$</a:t>
            </a:r>
            <a:r>
              <a:rPr kumimoji="0" lang="en-US" altLang="en-US" sz="1800" b="0" i="0" u="none" strike="noStrike" cap="none" normalizeH="0" baseline="0" smtClean="0">
                <a:ln>
                  <a:noFill/>
                </a:ln>
                <a:solidFill>
                  <a:schemeClr val="tx1"/>
                </a:solidFill>
                <a:effectLst/>
              </a:rPr>
              <a:t> would need a matching </a:t>
            </a:r>
            <a:r>
              <a:rPr kumimoji="0" lang="en-US" altLang="en-US" sz="1800" b="0" i="0" u="none" strike="noStrike" cap="none" normalizeH="0" baseline="0" smtClean="0">
                <a:ln>
                  <a:noFill/>
                </a:ln>
                <a:solidFill>
                  <a:schemeClr val="tx1"/>
                </a:solidFill>
                <a:effectLst/>
                <a:latin typeface="Google Sans Text"/>
              </a:rPr>
              <a:t>$c \to a$</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pic>
        <p:nvPicPr>
          <p:cNvPr id="6" name="Picture 5"/>
          <p:cNvPicPr>
            <a:picLocks noChangeAspect="1"/>
          </p:cNvPicPr>
          <p:nvPr/>
        </p:nvPicPr>
        <p:blipFill rotWithShape="1">
          <a:blip r:embed="rId2"/>
          <a:srcRect t="44055"/>
          <a:stretch/>
        </p:blipFill>
        <p:spPr>
          <a:xfrm>
            <a:off x="2819400" y="5538439"/>
            <a:ext cx="5471532" cy="255778"/>
          </a:xfrm>
          <a:prstGeom prst="rect">
            <a:avLst/>
          </a:prstGeom>
        </p:spPr>
      </p:pic>
      <p:pic>
        <p:nvPicPr>
          <p:cNvPr id="7" name="Picture 6"/>
          <p:cNvPicPr>
            <a:picLocks noChangeAspect="1"/>
          </p:cNvPicPr>
          <p:nvPr/>
        </p:nvPicPr>
        <p:blipFill rotWithShape="1">
          <a:blip r:embed="rId3"/>
          <a:srcRect t="35481"/>
          <a:stretch/>
        </p:blipFill>
        <p:spPr>
          <a:xfrm>
            <a:off x="2708224" y="6439516"/>
            <a:ext cx="4032352" cy="266084"/>
          </a:xfrm>
          <a:prstGeom prst="rect">
            <a:avLst/>
          </a:prstGeom>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2286000" y="259080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4800600" y="259080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2438400" y="3962400"/>
            <a:ext cx="3048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4876800" y="419100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838200" y="4724400"/>
            <a:ext cx="7467600" cy="1754326"/>
          </a:xfrm>
          <a:prstGeom prst="rect">
            <a:avLst/>
          </a:prstGeom>
          <a:noFill/>
        </p:spPr>
        <p:txBody>
          <a:bodyPr wrap="square" rtlCol="0">
            <a:spAutoFit/>
          </a:bodyPr>
          <a:lstStyle/>
          <a:p>
            <a:pPr>
              <a:buFont typeface="Arial" pitchFamily="34" charset="0"/>
              <a:buChar char="•"/>
            </a:pPr>
            <a:r>
              <a:rPr lang="en-US" dirty="0" smtClean="0"/>
              <a:t> </a:t>
            </a:r>
            <a:r>
              <a:rPr lang="en-US" i="1" dirty="0" smtClean="0"/>
              <a:t>Reflexive?</a:t>
            </a:r>
            <a:r>
              <a:rPr lang="en-US" dirty="0" smtClean="0"/>
              <a:t> No, there are no loops</a:t>
            </a:r>
          </a:p>
          <a:p>
            <a:pPr>
              <a:buFont typeface="Arial" pitchFamily="34" charset="0"/>
              <a:buChar char="•"/>
            </a:pPr>
            <a:r>
              <a:rPr lang="en-US" dirty="0" smtClean="0"/>
              <a:t> </a:t>
            </a:r>
            <a:r>
              <a:rPr lang="en-US" i="1" dirty="0" smtClean="0"/>
              <a:t>Symmetric?</a:t>
            </a:r>
            <a:r>
              <a:rPr lang="en-US" dirty="0" smtClean="0"/>
              <a:t> No, for example, there is no edge from </a:t>
            </a:r>
            <a:r>
              <a:rPr lang="en-US" i="1" dirty="0" smtClean="0"/>
              <a:t>d</a:t>
            </a:r>
            <a:r>
              <a:rPr lang="en-US" dirty="0" smtClean="0"/>
              <a:t> to </a:t>
            </a:r>
            <a:r>
              <a:rPr lang="en-US" i="1" dirty="0" smtClean="0"/>
              <a:t>a</a:t>
            </a:r>
            <a:r>
              <a:rPr lang="en-US" dirty="0" smtClean="0"/>
              <a:t> </a:t>
            </a:r>
          </a:p>
          <a:p>
            <a:pPr>
              <a:buFont typeface="Arial" pitchFamily="34" charset="0"/>
              <a:buChar char="•"/>
            </a:pPr>
            <a:r>
              <a:rPr lang="en-US" dirty="0" smtClean="0"/>
              <a:t> </a:t>
            </a:r>
            <a:r>
              <a:rPr lang="en-US" i="1" dirty="0" err="1" smtClean="0"/>
              <a:t>Antisymmetric</a:t>
            </a:r>
            <a:r>
              <a:rPr lang="en-US" i="1" dirty="0" smtClean="0"/>
              <a:t>?</a:t>
            </a:r>
            <a:r>
              <a:rPr lang="en-US" dirty="0" smtClean="0"/>
              <a:t> Yes, whenever there is an edge from one vertex</a:t>
            </a:r>
          </a:p>
          <a:p>
            <a:r>
              <a:rPr lang="en-US" dirty="0" smtClean="0"/>
              <a:t>                  to another, there is not one going back  </a:t>
            </a:r>
          </a:p>
          <a:p>
            <a:pPr>
              <a:buFont typeface="Arial" pitchFamily="34" charset="0"/>
              <a:buChar char="•"/>
            </a:pPr>
            <a:r>
              <a:rPr lang="en-US" dirty="0" smtClean="0"/>
              <a:t> </a:t>
            </a:r>
            <a:r>
              <a:rPr lang="en-US" i="1" dirty="0" smtClean="0"/>
              <a:t>Transitive? </a:t>
            </a:r>
            <a:r>
              <a:rPr lang="en-US" dirty="0" smtClean="0"/>
              <a:t>Yes (trivially), there  are no two edges where the first</a:t>
            </a:r>
          </a:p>
          <a:p>
            <a:r>
              <a:rPr lang="en-US" dirty="0" smtClean="0"/>
              <a:t>                  edge ends at the vertex where the second edge begins</a:t>
            </a:r>
            <a:endParaRPr lang="en-US" dirty="0"/>
          </a:p>
        </p:txBody>
      </p:sp>
      <p:cxnSp>
        <p:nvCxnSpPr>
          <p:cNvPr id="18" name="Straight Arrow Connector 17"/>
          <p:cNvCxnSpPr/>
          <p:nvPr/>
        </p:nvCxnSpPr>
        <p:spPr>
          <a:xfrm>
            <a:off x="2667000" y="2819400"/>
            <a:ext cx="2362200" cy="12954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rot="10800000" flipV="1">
            <a:off x="2743200" y="2743200"/>
            <a:ext cx="1905000" cy="12192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1828800" y="2590800"/>
            <a:ext cx="381000" cy="523220"/>
          </a:xfrm>
          <a:prstGeom prst="rect">
            <a:avLst/>
          </a:prstGeom>
          <a:noFill/>
        </p:spPr>
        <p:txBody>
          <a:bodyPr wrap="square" rtlCol="0">
            <a:spAutoFit/>
          </a:bodyPr>
          <a:lstStyle/>
          <a:p>
            <a:r>
              <a:rPr lang="en-US" sz="2800" i="1" dirty="0" smtClean="0"/>
              <a:t>a</a:t>
            </a:r>
            <a:endParaRPr lang="en-US" sz="2800" i="1" dirty="0"/>
          </a:p>
        </p:txBody>
      </p:sp>
      <p:sp>
        <p:nvSpPr>
          <p:cNvPr id="15" name="TextBox 14"/>
          <p:cNvSpPr txBox="1"/>
          <p:nvPr/>
        </p:nvSpPr>
        <p:spPr>
          <a:xfrm>
            <a:off x="4419600" y="4038600"/>
            <a:ext cx="381000" cy="523220"/>
          </a:xfrm>
          <a:prstGeom prst="rect">
            <a:avLst/>
          </a:prstGeom>
          <a:noFill/>
        </p:spPr>
        <p:txBody>
          <a:bodyPr wrap="square" rtlCol="0">
            <a:spAutoFit/>
          </a:bodyPr>
          <a:lstStyle/>
          <a:p>
            <a:r>
              <a:rPr lang="en-US" sz="2800" i="1" dirty="0" smtClean="0"/>
              <a:t>d</a:t>
            </a:r>
            <a:endParaRPr lang="en-US" sz="2800" i="1" dirty="0"/>
          </a:p>
        </p:txBody>
      </p:sp>
      <p:sp>
        <p:nvSpPr>
          <p:cNvPr id="16" name="TextBox 15"/>
          <p:cNvSpPr txBox="1"/>
          <p:nvPr/>
        </p:nvSpPr>
        <p:spPr>
          <a:xfrm>
            <a:off x="1981200" y="3886200"/>
            <a:ext cx="381000" cy="523220"/>
          </a:xfrm>
          <a:prstGeom prst="rect">
            <a:avLst/>
          </a:prstGeom>
          <a:noFill/>
        </p:spPr>
        <p:txBody>
          <a:bodyPr wrap="square" rtlCol="0">
            <a:spAutoFit/>
          </a:bodyPr>
          <a:lstStyle/>
          <a:p>
            <a:r>
              <a:rPr lang="en-US" sz="2800" i="1" dirty="0" smtClean="0"/>
              <a:t>c</a:t>
            </a:r>
            <a:endParaRPr lang="en-US" sz="2800" i="1" dirty="0"/>
          </a:p>
        </p:txBody>
      </p:sp>
      <p:sp>
        <p:nvSpPr>
          <p:cNvPr id="19" name="TextBox 18"/>
          <p:cNvSpPr txBox="1"/>
          <p:nvPr/>
        </p:nvSpPr>
        <p:spPr>
          <a:xfrm>
            <a:off x="4267200" y="2286000"/>
            <a:ext cx="381000" cy="523220"/>
          </a:xfrm>
          <a:prstGeom prst="rect">
            <a:avLst/>
          </a:prstGeom>
          <a:noFill/>
        </p:spPr>
        <p:txBody>
          <a:bodyPr wrap="square" rtlCol="0">
            <a:spAutoFit/>
          </a:bodyPr>
          <a:lstStyle/>
          <a:p>
            <a:r>
              <a:rPr lang="en-US" sz="2800" i="1" dirty="0" smtClean="0"/>
              <a:t>b</a:t>
            </a:r>
            <a:endParaRPr lang="en-US" sz="2800" i="1" dirty="0"/>
          </a:p>
        </p:txBody>
      </p:sp>
      <p:sp>
        <p:nvSpPr>
          <p:cNvPr id="21" name="Title 1"/>
          <p:cNvSpPr txBox="1">
            <a:spLocks/>
          </p:cNvSpPr>
          <p:nvPr/>
        </p:nvSpPr>
        <p:spPr>
          <a:xfrm>
            <a:off x="609600" y="381000"/>
            <a:ext cx="8229600" cy="1143000"/>
          </a:xfrm>
          <a:prstGeom prst="rect">
            <a:avLst/>
          </a:prstGeom>
        </p:spPr>
        <p:txBody>
          <a:bodyPr vert="horz" lIns="0" rIns="0" bIns="0" anchor="b">
            <a:normAutofit fontScale="75000" lnSpcReduction="200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5000" b="0" i="0" u="none" strike="noStrike" kern="1200" cap="none" spc="0" normalizeH="0" baseline="0" noProof="0" dirty="0" smtClean="0">
                <a:ln>
                  <a:noFill/>
                </a:ln>
                <a:solidFill>
                  <a:schemeClr val="tx2"/>
                </a:solidFill>
                <a:effectLst/>
                <a:uLnTx/>
                <a:uFillTx/>
                <a:latin typeface="+mj-lt"/>
                <a:ea typeface="+mj-ea"/>
                <a:cs typeface="+mj-cs"/>
              </a:rPr>
              <a:t>Determining which Properties a Relation has from its Digraph – Example </a:t>
            </a:r>
            <a:r>
              <a:rPr lang="en-US" sz="5000" dirty="0" smtClean="0">
                <a:solidFill>
                  <a:schemeClr val="tx2"/>
                </a:solidFill>
                <a:latin typeface="+mj-lt"/>
                <a:ea typeface="+mj-ea"/>
                <a:cs typeface="+mj-cs"/>
              </a:rPr>
              <a:t>4</a:t>
            </a:r>
            <a:endParaRPr kumimoji="0" lang="en-US" sz="5000" b="0" i="0" u="none" strike="noStrike" kern="1200" cap="none" spc="0" normalizeH="0" baseline="0" noProof="0" dirty="0">
              <a:ln>
                <a:noFill/>
              </a:ln>
              <a:solidFill>
                <a:schemeClr val="tx2"/>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81000"/>
            <a:ext cx="8229600" cy="1143000"/>
          </a:xfrm>
        </p:spPr>
        <p:txBody>
          <a:bodyPr>
            <a:noAutofit/>
          </a:bodyPr>
          <a:lstStyle/>
          <a:p>
            <a:r>
              <a:rPr lang="en-US" sz="4000" dirty="0" smtClean="0"/>
              <a:t>Example of the Powers of a Relation</a:t>
            </a:r>
            <a:endParaRPr lang="en-US" sz="4000" dirty="0"/>
          </a:p>
        </p:txBody>
      </p:sp>
      <p:grpSp>
        <p:nvGrpSpPr>
          <p:cNvPr id="18" name="Group 17"/>
          <p:cNvGrpSpPr/>
          <p:nvPr/>
        </p:nvGrpSpPr>
        <p:grpSpPr>
          <a:xfrm>
            <a:off x="1219200" y="1752600"/>
            <a:ext cx="2286000" cy="1956375"/>
            <a:chOff x="1905000" y="2590800"/>
            <a:chExt cx="4572000" cy="4587861"/>
          </a:xfrm>
        </p:grpSpPr>
        <p:sp>
          <p:nvSpPr>
            <p:cNvPr id="4" name="Oval 3"/>
            <p:cNvSpPr/>
            <p:nvPr/>
          </p:nvSpPr>
          <p:spPr>
            <a:xfrm>
              <a:off x="2362200" y="26670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2362200" y="44958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5410200" y="44958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5486400" y="26670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1905000" y="2743200"/>
              <a:ext cx="381000" cy="523220"/>
            </a:xfrm>
            <a:prstGeom prst="rect">
              <a:avLst/>
            </a:prstGeom>
            <a:noFill/>
          </p:spPr>
          <p:txBody>
            <a:bodyPr wrap="square" rtlCol="0">
              <a:spAutoFit/>
            </a:bodyPr>
            <a:lstStyle/>
            <a:p>
              <a:r>
                <a:rPr lang="en-US" sz="2800" i="1" dirty="0" smtClean="0"/>
                <a:t>a</a:t>
              </a:r>
              <a:endParaRPr lang="en-US" sz="2800" i="1" dirty="0"/>
            </a:p>
          </p:txBody>
        </p:sp>
        <p:sp>
          <p:nvSpPr>
            <p:cNvPr id="9" name="TextBox 8"/>
            <p:cNvSpPr txBox="1"/>
            <p:nvPr/>
          </p:nvSpPr>
          <p:spPr>
            <a:xfrm>
              <a:off x="6096000" y="2590800"/>
              <a:ext cx="381000" cy="523220"/>
            </a:xfrm>
            <a:prstGeom prst="rect">
              <a:avLst/>
            </a:prstGeom>
            <a:noFill/>
          </p:spPr>
          <p:txBody>
            <a:bodyPr wrap="square" rtlCol="0">
              <a:spAutoFit/>
            </a:bodyPr>
            <a:lstStyle/>
            <a:p>
              <a:r>
                <a:rPr lang="en-US" sz="2800" i="1" dirty="0" smtClean="0"/>
                <a:t>b</a:t>
              </a:r>
              <a:endParaRPr lang="en-US" sz="2800" i="1" dirty="0"/>
            </a:p>
          </p:txBody>
        </p:sp>
        <p:sp>
          <p:nvSpPr>
            <p:cNvPr id="10" name="TextBox 9"/>
            <p:cNvSpPr txBox="1"/>
            <p:nvPr/>
          </p:nvSpPr>
          <p:spPr>
            <a:xfrm>
              <a:off x="5486400" y="5029200"/>
              <a:ext cx="381000" cy="523220"/>
            </a:xfrm>
            <a:prstGeom prst="rect">
              <a:avLst/>
            </a:prstGeom>
            <a:noFill/>
          </p:spPr>
          <p:txBody>
            <a:bodyPr wrap="square" rtlCol="0">
              <a:spAutoFit/>
            </a:bodyPr>
            <a:lstStyle/>
            <a:p>
              <a:r>
                <a:rPr lang="en-US" sz="2800" i="1" dirty="0" smtClean="0"/>
                <a:t>c</a:t>
              </a:r>
              <a:endParaRPr lang="en-US" sz="2800" i="1" dirty="0"/>
            </a:p>
          </p:txBody>
        </p:sp>
        <p:sp>
          <p:nvSpPr>
            <p:cNvPr id="11" name="TextBox 10"/>
            <p:cNvSpPr txBox="1"/>
            <p:nvPr/>
          </p:nvSpPr>
          <p:spPr>
            <a:xfrm>
              <a:off x="2438400" y="5105400"/>
              <a:ext cx="381000" cy="523220"/>
            </a:xfrm>
            <a:prstGeom prst="rect">
              <a:avLst/>
            </a:prstGeom>
            <a:noFill/>
          </p:spPr>
          <p:txBody>
            <a:bodyPr wrap="square" rtlCol="0">
              <a:spAutoFit/>
            </a:bodyPr>
            <a:lstStyle/>
            <a:p>
              <a:r>
                <a:rPr lang="en-US" sz="2800" i="1" dirty="0" smtClean="0"/>
                <a:t>d</a:t>
              </a:r>
              <a:endParaRPr lang="en-US" sz="2800" i="1" dirty="0"/>
            </a:p>
          </p:txBody>
        </p:sp>
        <p:cxnSp>
          <p:nvCxnSpPr>
            <p:cNvPr id="13" name="Straight Arrow Connector 12"/>
            <p:cNvCxnSpPr/>
            <p:nvPr/>
          </p:nvCxnSpPr>
          <p:spPr>
            <a:xfrm>
              <a:off x="2895600" y="2895600"/>
              <a:ext cx="2438400" cy="158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V="1">
              <a:off x="2819400" y="3048000"/>
              <a:ext cx="2590800" cy="14478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rot="5400000">
              <a:off x="5067300" y="3771900"/>
              <a:ext cx="1219200" cy="762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rot="10800000" flipV="1">
              <a:off x="2819400" y="4648200"/>
              <a:ext cx="2438400" cy="762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3886200" y="5807315"/>
              <a:ext cx="381000" cy="1371346"/>
            </a:xfrm>
            <a:prstGeom prst="rect">
              <a:avLst/>
            </a:prstGeom>
            <a:noFill/>
          </p:spPr>
          <p:txBody>
            <a:bodyPr wrap="square" rtlCol="0">
              <a:spAutoFit/>
            </a:bodyPr>
            <a:lstStyle/>
            <a:p>
              <a:r>
                <a:rPr lang="en-US" sz="3200" i="1" dirty="0" smtClean="0"/>
                <a:t>R</a:t>
              </a:r>
              <a:endParaRPr lang="en-US" sz="3200" i="1" dirty="0"/>
            </a:p>
          </p:txBody>
        </p:sp>
      </p:grpSp>
      <p:grpSp>
        <p:nvGrpSpPr>
          <p:cNvPr id="21" name="Group 20"/>
          <p:cNvGrpSpPr/>
          <p:nvPr/>
        </p:nvGrpSpPr>
        <p:grpSpPr>
          <a:xfrm>
            <a:off x="5029200" y="1676400"/>
            <a:ext cx="2133600" cy="1956375"/>
            <a:chOff x="1676400" y="1676400"/>
            <a:chExt cx="4800600" cy="4609120"/>
          </a:xfrm>
        </p:grpSpPr>
        <p:sp>
          <p:nvSpPr>
            <p:cNvPr id="22" name="Oval 21"/>
            <p:cNvSpPr/>
            <p:nvPr/>
          </p:nvSpPr>
          <p:spPr>
            <a:xfrm>
              <a:off x="2362200" y="18288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2362200" y="36576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5410200" y="36576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5486400" y="18288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p:nvPr/>
          </p:nvSpPr>
          <p:spPr>
            <a:xfrm>
              <a:off x="1676400" y="1676400"/>
              <a:ext cx="381000" cy="523220"/>
            </a:xfrm>
            <a:prstGeom prst="rect">
              <a:avLst/>
            </a:prstGeom>
            <a:noFill/>
          </p:spPr>
          <p:txBody>
            <a:bodyPr wrap="square" rtlCol="0">
              <a:spAutoFit/>
            </a:bodyPr>
            <a:lstStyle/>
            <a:p>
              <a:r>
                <a:rPr lang="en-US" sz="2800" i="1" dirty="0" smtClean="0"/>
                <a:t>a</a:t>
              </a:r>
              <a:endParaRPr lang="en-US" sz="2800" i="1" dirty="0"/>
            </a:p>
          </p:txBody>
        </p:sp>
        <p:sp>
          <p:nvSpPr>
            <p:cNvPr id="27" name="TextBox 26"/>
            <p:cNvSpPr txBox="1"/>
            <p:nvPr/>
          </p:nvSpPr>
          <p:spPr>
            <a:xfrm>
              <a:off x="6096000" y="1676400"/>
              <a:ext cx="381000" cy="523220"/>
            </a:xfrm>
            <a:prstGeom prst="rect">
              <a:avLst/>
            </a:prstGeom>
            <a:noFill/>
          </p:spPr>
          <p:txBody>
            <a:bodyPr wrap="square" rtlCol="0">
              <a:spAutoFit/>
            </a:bodyPr>
            <a:lstStyle/>
            <a:p>
              <a:r>
                <a:rPr lang="en-US" sz="2800" i="1" dirty="0" smtClean="0"/>
                <a:t>b</a:t>
              </a:r>
              <a:endParaRPr lang="en-US" sz="2800" i="1" dirty="0"/>
            </a:p>
          </p:txBody>
        </p:sp>
        <p:sp>
          <p:nvSpPr>
            <p:cNvPr id="28" name="TextBox 27"/>
            <p:cNvSpPr txBox="1"/>
            <p:nvPr/>
          </p:nvSpPr>
          <p:spPr>
            <a:xfrm>
              <a:off x="5486400" y="4191000"/>
              <a:ext cx="381000" cy="523220"/>
            </a:xfrm>
            <a:prstGeom prst="rect">
              <a:avLst/>
            </a:prstGeom>
            <a:noFill/>
          </p:spPr>
          <p:txBody>
            <a:bodyPr wrap="square" rtlCol="0">
              <a:spAutoFit/>
            </a:bodyPr>
            <a:lstStyle/>
            <a:p>
              <a:r>
                <a:rPr lang="en-US" sz="2800" i="1" dirty="0" smtClean="0"/>
                <a:t>c</a:t>
              </a:r>
              <a:endParaRPr lang="en-US" sz="2800" i="1" dirty="0"/>
            </a:p>
          </p:txBody>
        </p:sp>
        <p:sp>
          <p:nvSpPr>
            <p:cNvPr id="29" name="TextBox 28"/>
            <p:cNvSpPr txBox="1"/>
            <p:nvPr/>
          </p:nvSpPr>
          <p:spPr>
            <a:xfrm>
              <a:off x="2438400" y="4267200"/>
              <a:ext cx="381000" cy="523220"/>
            </a:xfrm>
            <a:prstGeom prst="rect">
              <a:avLst/>
            </a:prstGeom>
            <a:noFill/>
          </p:spPr>
          <p:txBody>
            <a:bodyPr wrap="square" rtlCol="0">
              <a:spAutoFit/>
            </a:bodyPr>
            <a:lstStyle/>
            <a:p>
              <a:r>
                <a:rPr lang="en-US" sz="2800" i="1" dirty="0" smtClean="0"/>
                <a:t>d</a:t>
              </a:r>
              <a:endParaRPr lang="en-US" sz="2800" i="1" dirty="0"/>
            </a:p>
          </p:txBody>
        </p:sp>
        <p:cxnSp>
          <p:nvCxnSpPr>
            <p:cNvPr id="30" name="Straight Arrow Connector 29"/>
            <p:cNvCxnSpPr/>
            <p:nvPr/>
          </p:nvCxnSpPr>
          <p:spPr>
            <a:xfrm flipV="1">
              <a:off x="2819400" y="2209800"/>
              <a:ext cx="2590800" cy="1447800"/>
            </a:xfrm>
            <a:prstGeom prst="straightConnector1">
              <a:avLst/>
            </a:prstGeom>
            <a:ln w="28575">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rot="5400000">
              <a:off x="5067300" y="2933700"/>
              <a:ext cx="1219200" cy="76200"/>
            </a:xfrm>
            <a:prstGeom prst="straightConnector1">
              <a:avLst/>
            </a:prstGeom>
            <a:ln w="28575">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rot="10800000" flipV="1">
              <a:off x="2819400" y="3810000"/>
              <a:ext cx="2438400" cy="76200"/>
            </a:xfrm>
            <a:prstGeom prst="straightConnector1">
              <a:avLst/>
            </a:prstGeom>
            <a:ln w="28575">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3562350" y="4907820"/>
              <a:ext cx="1474470" cy="1377700"/>
            </a:xfrm>
            <a:prstGeom prst="rect">
              <a:avLst/>
            </a:prstGeom>
            <a:noFill/>
          </p:spPr>
          <p:txBody>
            <a:bodyPr wrap="square" rtlCol="0">
              <a:spAutoFit/>
            </a:bodyPr>
            <a:lstStyle/>
            <a:p>
              <a:r>
                <a:rPr lang="en-US" sz="3200" i="1" dirty="0" smtClean="0"/>
                <a:t>R</a:t>
              </a:r>
              <a:r>
                <a:rPr lang="en-US" sz="3200" baseline="30000" dirty="0" smtClean="0">
                  <a:latin typeface="Cambria Math" pitchFamily="18" charset="0"/>
                  <a:ea typeface="Cambria Math" pitchFamily="18" charset="0"/>
                </a:rPr>
                <a:t>2</a:t>
              </a:r>
              <a:endParaRPr lang="en-US" sz="3200" baseline="30000" dirty="0">
                <a:latin typeface="Cambria Math" pitchFamily="18" charset="0"/>
                <a:ea typeface="Cambria Math" pitchFamily="18" charset="0"/>
              </a:endParaRPr>
            </a:p>
          </p:txBody>
        </p:sp>
        <p:cxnSp>
          <p:nvCxnSpPr>
            <p:cNvPr id="34" name="Straight Arrow Connector 33"/>
            <p:cNvCxnSpPr/>
            <p:nvPr/>
          </p:nvCxnSpPr>
          <p:spPr>
            <a:xfrm>
              <a:off x="2895600" y="2209800"/>
              <a:ext cx="2514600" cy="13716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36" name="Oval 35"/>
          <p:cNvSpPr/>
          <p:nvPr/>
        </p:nvSpPr>
        <p:spPr>
          <a:xfrm>
            <a:off x="5428129" y="4334968"/>
            <a:ext cx="179294" cy="1694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p:cNvSpPr/>
          <p:nvPr/>
        </p:nvSpPr>
        <p:spPr>
          <a:xfrm>
            <a:off x="5428129" y="5148179"/>
            <a:ext cx="179294" cy="1694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p:cNvSpPr/>
          <p:nvPr/>
        </p:nvSpPr>
        <p:spPr>
          <a:xfrm>
            <a:off x="6862482" y="5148179"/>
            <a:ext cx="179294" cy="1694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p:cNvSpPr/>
          <p:nvPr/>
        </p:nvSpPr>
        <p:spPr>
          <a:xfrm>
            <a:off x="6898341" y="4334968"/>
            <a:ext cx="179294" cy="1694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p:cNvSpPr txBox="1"/>
          <p:nvPr/>
        </p:nvSpPr>
        <p:spPr>
          <a:xfrm>
            <a:off x="5105400" y="4334968"/>
            <a:ext cx="179294" cy="232660"/>
          </a:xfrm>
          <a:prstGeom prst="rect">
            <a:avLst/>
          </a:prstGeom>
          <a:noFill/>
        </p:spPr>
        <p:txBody>
          <a:bodyPr wrap="square" rtlCol="0">
            <a:spAutoFit/>
          </a:bodyPr>
          <a:lstStyle/>
          <a:p>
            <a:r>
              <a:rPr lang="en-US" sz="2800" i="1" dirty="0" smtClean="0"/>
              <a:t>a</a:t>
            </a:r>
            <a:endParaRPr lang="en-US" sz="2800" i="1" dirty="0"/>
          </a:p>
        </p:txBody>
      </p:sp>
      <p:sp>
        <p:nvSpPr>
          <p:cNvPr id="41" name="TextBox 40"/>
          <p:cNvSpPr txBox="1"/>
          <p:nvPr/>
        </p:nvSpPr>
        <p:spPr>
          <a:xfrm>
            <a:off x="7391400" y="4267200"/>
            <a:ext cx="179294" cy="232660"/>
          </a:xfrm>
          <a:prstGeom prst="rect">
            <a:avLst/>
          </a:prstGeom>
          <a:noFill/>
        </p:spPr>
        <p:txBody>
          <a:bodyPr wrap="square" rtlCol="0">
            <a:spAutoFit/>
          </a:bodyPr>
          <a:lstStyle/>
          <a:p>
            <a:r>
              <a:rPr lang="en-US" sz="2800" i="1" dirty="0" smtClean="0"/>
              <a:t>b</a:t>
            </a:r>
            <a:endParaRPr lang="en-US" sz="2800" i="1" dirty="0"/>
          </a:p>
        </p:txBody>
      </p:sp>
      <p:sp>
        <p:nvSpPr>
          <p:cNvPr id="42" name="TextBox 41"/>
          <p:cNvSpPr txBox="1"/>
          <p:nvPr/>
        </p:nvSpPr>
        <p:spPr>
          <a:xfrm>
            <a:off x="6898341" y="5385366"/>
            <a:ext cx="179294" cy="232660"/>
          </a:xfrm>
          <a:prstGeom prst="rect">
            <a:avLst/>
          </a:prstGeom>
          <a:noFill/>
        </p:spPr>
        <p:txBody>
          <a:bodyPr wrap="square" rtlCol="0">
            <a:spAutoFit/>
          </a:bodyPr>
          <a:lstStyle/>
          <a:p>
            <a:r>
              <a:rPr lang="en-US" sz="2800" i="1" dirty="0" smtClean="0"/>
              <a:t>c</a:t>
            </a:r>
            <a:endParaRPr lang="en-US" sz="2800" i="1" dirty="0"/>
          </a:p>
        </p:txBody>
      </p:sp>
      <p:sp>
        <p:nvSpPr>
          <p:cNvPr id="43" name="TextBox 42"/>
          <p:cNvSpPr txBox="1"/>
          <p:nvPr/>
        </p:nvSpPr>
        <p:spPr>
          <a:xfrm>
            <a:off x="5463988" y="5419250"/>
            <a:ext cx="179294" cy="232660"/>
          </a:xfrm>
          <a:prstGeom prst="rect">
            <a:avLst/>
          </a:prstGeom>
          <a:noFill/>
        </p:spPr>
        <p:txBody>
          <a:bodyPr wrap="square" rtlCol="0">
            <a:spAutoFit/>
          </a:bodyPr>
          <a:lstStyle/>
          <a:p>
            <a:r>
              <a:rPr lang="en-US" sz="2800" i="1" dirty="0" smtClean="0"/>
              <a:t>d</a:t>
            </a:r>
            <a:endParaRPr lang="en-US" sz="2800" i="1" dirty="0"/>
          </a:p>
        </p:txBody>
      </p:sp>
      <p:sp>
        <p:nvSpPr>
          <p:cNvPr id="44" name="TextBox 43"/>
          <p:cNvSpPr txBox="1"/>
          <p:nvPr/>
        </p:nvSpPr>
        <p:spPr>
          <a:xfrm>
            <a:off x="6019800" y="5562600"/>
            <a:ext cx="753036" cy="584775"/>
          </a:xfrm>
          <a:prstGeom prst="rect">
            <a:avLst/>
          </a:prstGeom>
          <a:noFill/>
        </p:spPr>
        <p:txBody>
          <a:bodyPr wrap="square" rtlCol="0">
            <a:spAutoFit/>
          </a:bodyPr>
          <a:lstStyle/>
          <a:p>
            <a:r>
              <a:rPr lang="en-US" sz="3200" i="1" dirty="0" smtClean="0"/>
              <a:t>R</a:t>
            </a:r>
            <a:r>
              <a:rPr lang="en-US" sz="3200" baseline="30000" dirty="0" smtClean="0">
                <a:latin typeface="Cambria Math" pitchFamily="18" charset="0"/>
                <a:ea typeface="Cambria Math" pitchFamily="18" charset="0"/>
              </a:rPr>
              <a:t>3</a:t>
            </a:r>
            <a:endParaRPr lang="en-US" sz="3200" baseline="30000" dirty="0">
              <a:latin typeface="Cambria Math" pitchFamily="18" charset="0"/>
              <a:ea typeface="Cambria Math" pitchFamily="18" charset="0"/>
            </a:endParaRPr>
          </a:p>
        </p:txBody>
      </p:sp>
      <p:cxnSp>
        <p:nvCxnSpPr>
          <p:cNvPr id="45" name="Straight Arrow Connector 44"/>
          <p:cNvCxnSpPr/>
          <p:nvPr/>
        </p:nvCxnSpPr>
        <p:spPr>
          <a:xfrm rot="5400000">
            <a:off x="5228776" y="4843204"/>
            <a:ext cx="542141" cy="74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Right Arrow 62"/>
          <p:cNvSpPr/>
          <p:nvPr/>
        </p:nvSpPr>
        <p:spPr>
          <a:xfrm>
            <a:off x="4191000" y="2209800"/>
            <a:ext cx="304800" cy="228600"/>
          </a:xfrm>
          <a:prstGeom prst="rightArrow">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 name="Down Arrow 63"/>
          <p:cNvSpPr/>
          <p:nvPr/>
        </p:nvSpPr>
        <p:spPr>
          <a:xfrm>
            <a:off x="6019800" y="3733800"/>
            <a:ext cx="304800" cy="228600"/>
          </a:xfrm>
          <a:prstGeom prst="downArrow">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5" name="Right Arrow 64"/>
          <p:cNvSpPr/>
          <p:nvPr/>
        </p:nvSpPr>
        <p:spPr>
          <a:xfrm rot="10800000">
            <a:off x="4191000" y="4724400"/>
            <a:ext cx="304800" cy="228600"/>
          </a:xfrm>
          <a:prstGeom prst="rightArrow">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66" name="Group 65"/>
          <p:cNvGrpSpPr/>
          <p:nvPr/>
        </p:nvGrpSpPr>
        <p:grpSpPr>
          <a:xfrm>
            <a:off x="1066800" y="4114800"/>
            <a:ext cx="2743200" cy="2108775"/>
            <a:chOff x="1752600" y="1676400"/>
            <a:chExt cx="4876800" cy="4177096"/>
          </a:xfrm>
        </p:grpSpPr>
        <p:sp>
          <p:nvSpPr>
            <p:cNvPr id="67" name="Oval 66"/>
            <p:cNvSpPr/>
            <p:nvPr/>
          </p:nvSpPr>
          <p:spPr>
            <a:xfrm>
              <a:off x="2362200" y="18288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2362200" y="36576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p:cNvSpPr/>
            <p:nvPr/>
          </p:nvSpPr>
          <p:spPr>
            <a:xfrm>
              <a:off x="5410200" y="36576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p:cNvSpPr/>
            <p:nvPr/>
          </p:nvSpPr>
          <p:spPr>
            <a:xfrm>
              <a:off x="5486400" y="18288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TextBox 70"/>
            <p:cNvSpPr txBox="1"/>
            <p:nvPr/>
          </p:nvSpPr>
          <p:spPr>
            <a:xfrm>
              <a:off x="1752600" y="1905000"/>
              <a:ext cx="381000" cy="523220"/>
            </a:xfrm>
            <a:prstGeom prst="rect">
              <a:avLst/>
            </a:prstGeom>
            <a:noFill/>
          </p:spPr>
          <p:txBody>
            <a:bodyPr wrap="square" rtlCol="0">
              <a:spAutoFit/>
            </a:bodyPr>
            <a:lstStyle/>
            <a:p>
              <a:r>
                <a:rPr lang="en-US" sz="2800" i="1" dirty="0" smtClean="0"/>
                <a:t>a</a:t>
              </a:r>
              <a:endParaRPr lang="en-US" sz="2800" i="1" dirty="0"/>
            </a:p>
          </p:txBody>
        </p:sp>
        <p:sp>
          <p:nvSpPr>
            <p:cNvPr id="72" name="TextBox 71"/>
            <p:cNvSpPr txBox="1"/>
            <p:nvPr/>
          </p:nvSpPr>
          <p:spPr>
            <a:xfrm>
              <a:off x="6248400" y="1676400"/>
              <a:ext cx="381000" cy="523220"/>
            </a:xfrm>
            <a:prstGeom prst="rect">
              <a:avLst/>
            </a:prstGeom>
            <a:noFill/>
          </p:spPr>
          <p:txBody>
            <a:bodyPr wrap="square" rtlCol="0">
              <a:spAutoFit/>
            </a:bodyPr>
            <a:lstStyle/>
            <a:p>
              <a:r>
                <a:rPr lang="en-US" sz="2800" i="1" dirty="0" smtClean="0"/>
                <a:t>b</a:t>
              </a:r>
              <a:endParaRPr lang="en-US" sz="2800" i="1" dirty="0"/>
            </a:p>
          </p:txBody>
        </p:sp>
        <p:sp>
          <p:nvSpPr>
            <p:cNvPr id="73" name="TextBox 72"/>
            <p:cNvSpPr txBox="1"/>
            <p:nvPr/>
          </p:nvSpPr>
          <p:spPr>
            <a:xfrm>
              <a:off x="5486400" y="4191000"/>
              <a:ext cx="381000" cy="523220"/>
            </a:xfrm>
            <a:prstGeom prst="rect">
              <a:avLst/>
            </a:prstGeom>
            <a:noFill/>
          </p:spPr>
          <p:txBody>
            <a:bodyPr wrap="square" rtlCol="0">
              <a:spAutoFit/>
            </a:bodyPr>
            <a:lstStyle/>
            <a:p>
              <a:r>
                <a:rPr lang="en-US" sz="2800" i="1" dirty="0" smtClean="0"/>
                <a:t>c</a:t>
              </a:r>
              <a:endParaRPr lang="en-US" sz="2800" i="1" dirty="0"/>
            </a:p>
          </p:txBody>
        </p:sp>
        <p:sp>
          <p:nvSpPr>
            <p:cNvPr id="74" name="TextBox 73"/>
            <p:cNvSpPr txBox="1"/>
            <p:nvPr/>
          </p:nvSpPr>
          <p:spPr>
            <a:xfrm>
              <a:off x="2438400" y="4267200"/>
              <a:ext cx="381000" cy="523220"/>
            </a:xfrm>
            <a:prstGeom prst="rect">
              <a:avLst/>
            </a:prstGeom>
            <a:noFill/>
          </p:spPr>
          <p:txBody>
            <a:bodyPr wrap="square" rtlCol="0">
              <a:spAutoFit/>
            </a:bodyPr>
            <a:lstStyle/>
            <a:p>
              <a:r>
                <a:rPr lang="en-US" sz="2800" i="1" dirty="0" smtClean="0"/>
                <a:t>d</a:t>
              </a:r>
              <a:endParaRPr lang="en-US" sz="2800" i="1" dirty="0"/>
            </a:p>
          </p:txBody>
        </p:sp>
        <p:cxnSp>
          <p:nvCxnSpPr>
            <p:cNvPr id="75" name="Straight Arrow Connector 74"/>
            <p:cNvCxnSpPr/>
            <p:nvPr/>
          </p:nvCxnSpPr>
          <p:spPr>
            <a:xfrm>
              <a:off x="2895600" y="2057400"/>
              <a:ext cx="2438400" cy="158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6" name="Straight Arrow Connector 75"/>
            <p:cNvCxnSpPr/>
            <p:nvPr/>
          </p:nvCxnSpPr>
          <p:spPr>
            <a:xfrm flipV="1">
              <a:off x="2819400" y="2209800"/>
              <a:ext cx="2590800" cy="14478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p:nvPr/>
          </p:nvCxnSpPr>
          <p:spPr>
            <a:xfrm rot="5400000">
              <a:off x="5067300" y="2933700"/>
              <a:ext cx="1219200" cy="762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p:nvPr/>
          </p:nvCxnSpPr>
          <p:spPr>
            <a:xfrm rot="10800000" flipV="1">
              <a:off x="2819400" y="3810000"/>
              <a:ext cx="2438400" cy="762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3513667" y="4695164"/>
              <a:ext cx="1828800" cy="1158332"/>
            </a:xfrm>
            <a:prstGeom prst="rect">
              <a:avLst/>
            </a:prstGeom>
            <a:noFill/>
          </p:spPr>
          <p:txBody>
            <a:bodyPr wrap="square" rtlCol="0">
              <a:spAutoFit/>
            </a:bodyPr>
            <a:lstStyle/>
            <a:p>
              <a:r>
                <a:rPr lang="en-US" sz="3200" i="1" dirty="0" smtClean="0"/>
                <a:t>R</a:t>
              </a:r>
              <a:r>
                <a:rPr lang="en-US" sz="3200" baseline="30000" dirty="0" smtClean="0">
                  <a:latin typeface="Cambria Math" pitchFamily="18" charset="0"/>
                  <a:ea typeface="Cambria Math" pitchFamily="18" charset="0"/>
                </a:rPr>
                <a:t>4</a:t>
              </a:r>
              <a:endParaRPr lang="en-US" sz="3200" baseline="30000" dirty="0">
                <a:latin typeface="Cambria Math" pitchFamily="18" charset="0"/>
                <a:ea typeface="Cambria Math" pitchFamily="18" charset="0"/>
              </a:endParaRPr>
            </a:p>
          </p:txBody>
        </p:sp>
      </p:grpSp>
      <p:sp>
        <p:nvSpPr>
          <p:cNvPr id="80" name="TextBox 79"/>
          <p:cNvSpPr txBox="1"/>
          <p:nvPr/>
        </p:nvSpPr>
        <p:spPr>
          <a:xfrm>
            <a:off x="685800" y="6172200"/>
            <a:ext cx="8229600" cy="646331"/>
          </a:xfrm>
          <a:prstGeom prst="rect">
            <a:avLst/>
          </a:prstGeom>
          <a:noFill/>
          <a:ln>
            <a:solidFill>
              <a:schemeClr val="tx2"/>
            </a:solidFill>
          </a:ln>
        </p:spPr>
        <p:txBody>
          <a:bodyPr wrap="square" rtlCol="0">
            <a:spAutoFit/>
          </a:bodyPr>
          <a:lstStyle/>
          <a:p>
            <a:r>
              <a:rPr lang="en-US" dirty="0" smtClean="0"/>
              <a:t>The pair (</a:t>
            </a:r>
            <a:r>
              <a:rPr lang="en-US" dirty="0" err="1" smtClean="0"/>
              <a:t>x,y</a:t>
            </a:r>
            <a:r>
              <a:rPr lang="en-US" dirty="0" smtClean="0"/>
              <a:t>) is in  </a:t>
            </a:r>
            <a:r>
              <a:rPr lang="en-US" i="1" dirty="0" err="1" smtClean="0"/>
              <a:t>R</a:t>
            </a:r>
            <a:r>
              <a:rPr lang="en-US" i="1" baseline="30000" dirty="0" err="1" smtClean="0">
                <a:ea typeface="Cambria Math" pitchFamily="18" charset="0"/>
              </a:rPr>
              <a:t>n</a:t>
            </a:r>
            <a:r>
              <a:rPr lang="en-US" baseline="30000" dirty="0" smtClean="0">
                <a:latin typeface="Cambria Math" pitchFamily="18" charset="0"/>
                <a:ea typeface="Cambria Math" pitchFamily="18" charset="0"/>
              </a:rPr>
              <a:t> </a:t>
            </a:r>
            <a:r>
              <a:rPr lang="en-US" dirty="0" smtClean="0"/>
              <a:t> if there is a path of length </a:t>
            </a:r>
            <a:r>
              <a:rPr lang="en-US" i="1" dirty="0" smtClean="0"/>
              <a:t>n</a:t>
            </a:r>
            <a:r>
              <a:rPr lang="en-US" dirty="0" smtClean="0"/>
              <a:t> from </a:t>
            </a:r>
            <a:r>
              <a:rPr lang="en-US" i="1" dirty="0" smtClean="0"/>
              <a:t>x</a:t>
            </a:r>
            <a:r>
              <a:rPr lang="en-US" dirty="0" smtClean="0"/>
              <a:t> to </a:t>
            </a:r>
            <a:r>
              <a:rPr lang="en-US" i="1" dirty="0" smtClean="0"/>
              <a:t>y</a:t>
            </a:r>
            <a:r>
              <a:rPr lang="en-US" dirty="0" smtClean="0"/>
              <a:t>  in </a:t>
            </a:r>
            <a:r>
              <a:rPr lang="en-US" i="1" dirty="0" smtClean="0"/>
              <a:t>R</a:t>
            </a:r>
            <a:endParaRPr lang="en-US" dirty="0" smtClean="0"/>
          </a:p>
          <a:p>
            <a:r>
              <a:rPr lang="en-US" dirty="0" smtClean="0"/>
              <a:t>             (following the direction of the arrows). </a:t>
            </a:r>
            <a:endParaRPr lang="en-US" baseline="30000" dirty="0" smtClean="0">
              <a:latin typeface="Cambria Math" pitchFamily="18" charset="0"/>
              <a:ea typeface="Cambria Math" pitchFamily="18" charset="0"/>
            </a:endParaRPr>
          </a:p>
        </p:txBody>
      </p:sp>
      <p:sp>
        <p:nvSpPr>
          <p:cNvPr id="93" name="Freeform 92"/>
          <p:cNvSpPr/>
          <p:nvPr/>
        </p:nvSpPr>
        <p:spPr>
          <a:xfrm>
            <a:off x="7010400" y="4191000"/>
            <a:ext cx="330850" cy="348856"/>
          </a:xfrm>
          <a:custGeom>
            <a:avLst/>
            <a:gdLst>
              <a:gd name="connsiteX0" fmla="*/ 0 w 330850"/>
              <a:gd name="connsiteY0" fmla="*/ 126749 h 348856"/>
              <a:gd name="connsiteX1" fmla="*/ 45268 w 330850"/>
              <a:gd name="connsiteY1" fmla="*/ 45268 h 348856"/>
              <a:gd name="connsiteX2" fmla="*/ 72428 w 330850"/>
              <a:gd name="connsiteY2" fmla="*/ 36214 h 348856"/>
              <a:gd name="connsiteX3" fmla="*/ 99588 w 330850"/>
              <a:gd name="connsiteY3" fmla="*/ 18107 h 348856"/>
              <a:gd name="connsiteX4" fmla="*/ 153909 w 330850"/>
              <a:gd name="connsiteY4" fmla="*/ 0 h 348856"/>
              <a:gd name="connsiteX5" fmla="*/ 190123 w 330850"/>
              <a:gd name="connsiteY5" fmla="*/ 9054 h 348856"/>
              <a:gd name="connsiteX6" fmla="*/ 244444 w 330850"/>
              <a:gd name="connsiteY6" fmla="*/ 27161 h 348856"/>
              <a:gd name="connsiteX7" fmla="*/ 307818 w 330850"/>
              <a:gd name="connsiteY7" fmla="*/ 108642 h 348856"/>
              <a:gd name="connsiteX8" fmla="*/ 316872 w 330850"/>
              <a:gd name="connsiteY8" fmla="*/ 135802 h 348856"/>
              <a:gd name="connsiteX9" fmla="*/ 289711 w 330850"/>
              <a:gd name="connsiteY9" fmla="*/ 298765 h 348856"/>
              <a:gd name="connsiteX10" fmla="*/ 262551 w 330850"/>
              <a:gd name="connsiteY10" fmla="*/ 307818 h 348856"/>
              <a:gd name="connsiteX11" fmla="*/ 235390 w 330850"/>
              <a:gd name="connsiteY11" fmla="*/ 325925 h 348856"/>
              <a:gd name="connsiteX12" fmla="*/ 90535 w 330850"/>
              <a:gd name="connsiteY12" fmla="*/ 325925 h 348856"/>
              <a:gd name="connsiteX13" fmla="*/ 36214 w 330850"/>
              <a:gd name="connsiteY13" fmla="*/ 307818 h 34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0850" h="348856">
                <a:moveTo>
                  <a:pt x="0" y="126749"/>
                </a:moveTo>
                <a:cubicBezTo>
                  <a:pt x="7972" y="102834"/>
                  <a:pt x="21921" y="53051"/>
                  <a:pt x="45268" y="45268"/>
                </a:cubicBezTo>
                <a:cubicBezTo>
                  <a:pt x="54321" y="42250"/>
                  <a:pt x="63892" y="40482"/>
                  <a:pt x="72428" y="36214"/>
                </a:cubicBezTo>
                <a:cubicBezTo>
                  <a:pt x="82160" y="31348"/>
                  <a:pt x="89645" y="22526"/>
                  <a:pt x="99588" y="18107"/>
                </a:cubicBezTo>
                <a:cubicBezTo>
                  <a:pt x="117029" y="10355"/>
                  <a:pt x="153909" y="0"/>
                  <a:pt x="153909" y="0"/>
                </a:cubicBezTo>
                <a:cubicBezTo>
                  <a:pt x="165980" y="3018"/>
                  <a:pt x="178205" y="5479"/>
                  <a:pt x="190123" y="9054"/>
                </a:cubicBezTo>
                <a:cubicBezTo>
                  <a:pt x="208404" y="14539"/>
                  <a:pt x="244444" y="27161"/>
                  <a:pt x="244444" y="27161"/>
                </a:cubicBezTo>
                <a:cubicBezTo>
                  <a:pt x="267879" y="50596"/>
                  <a:pt x="296988" y="76154"/>
                  <a:pt x="307818" y="108642"/>
                </a:cubicBezTo>
                <a:lnTo>
                  <a:pt x="316872" y="135802"/>
                </a:lnTo>
                <a:cubicBezTo>
                  <a:pt x="315989" y="149048"/>
                  <a:pt x="330850" y="265854"/>
                  <a:pt x="289711" y="298765"/>
                </a:cubicBezTo>
                <a:cubicBezTo>
                  <a:pt x="282259" y="304727"/>
                  <a:pt x="271604" y="304800"/>
                  <a:pt x="262551" y="307818"/>
                </a:cubicBezTo>
                <a:cubicBezTo>
                  <a:pt x="253497" y="313854"/>
                  <a:pt x="245122" y="321059"/>
                  <a:pt x="235390" y="325925"/>
                </a:cubicBezTo>
                <a:cubicBezTo>
                  <a:pt x="189530" y="348856"/>
                  <a:pt x="140940" y="329803"/>
                  <a:pt x="90535" y="325925"/>
                </a:cubicBezTo>
                <a:lnTo>
                  <a:pt x="36214" y="307818"/>
                </a:lnTo>
              </a:path>
            </a:pathLst>
          </a:custGeom>
          <a:ln>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94" name="Freeform 93"/>
          <p:cNvSpPr/>
          <p:nvPr/>
        </p:nvSpPr>
        <p:spPr>
          <a:xfrm>
            <a:off x="6934200" y="5029200"/>
            <a:ext cx="330850" cy="348856"/>
          </a:xfrm>
          <a:custGeom>
            <a:avLst/>
            <a:gdLst>
              <a:gd name="connsiteX0" fmla="*/ 0 w 330850"/>
              <a:gd name="connsiteY0" fmla="*/ 126749 h 348856"/>
              <a:gd name="connsiteX1" fmla="*/ 45268 w 330850"/>
              <a:gd name="connsiteY1" fmla="*/ 45268 h 348856"/>
              <a:gd name="connsiteX2" fmla="*/ 72428 w 330850"/>
              <a:gd name="connsiteY2" fmla="*/ 36214 h 348856"/>
              <a:gd name="connsiteX3" fmla="*/ 99588 w 330850"/>
              <a:gd name="connsiteY3" fmla="*/ 18107 h 348856"/>
              <a:gd name="connsiteX4" fmla="*/ 153909 w 330850"/>
              <a:gd name="connsiteY4" fmla="*/ 0 h 348856"/>
              <a:gd name="connsiteX5" fmla="*/ 190123 w 330850"/>
              <a:gd name="connsiteY5" fmla="*/ 9054 h 348856"/>
              <a:gd name="connsiteX6" fmla="*/ 244444 w 330850"/>
              <a:gd name="connsiteY6" fmla="*/ 27161 h 348856"/>
              <a:gd name="connsiteX7" fmla="*/ 307818 w 330850"/>
              <a:gd name="connsiteY7" fmla="*/ 108642 h 348856"/>
              <a:gd name="connsiteX8" fmla="*/ 316872 w 330850"/>
              <a:gd name="connsiteY8" fmla="*/ 135802 h 348856"/>
              <a:gd name="connsiteX9" fmla="*/ 289711 w 330850"/>
              <a:gd name="connsiteY9" fmla="*/ 298765 h 348856"/>
              <a:gd name="connsiteX10" fmla="*/ 262551 w 330850"/>
              <a:gd name="connsiteY10" fmla="*/ 307818 h 348856"/>
              <a:gd name="connsiteX11" fmla="*/ 235390 w 330850"/>
              <a:gd name="connsiteY11" fmla="*/ 325925 h 348856"/>
              <a:gd name="connsiteX12" fmla="*/ 90535 w 330850"/>
              <a:gd name="connsiteY12" fmla="*/ 325925 h 348856"/>
              <a:gd name="connsiteX13" fmla="*/ 36214 w 330850"/>
              <a:gd name="connsiteY13" fmla="*/ 307818 h 34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0850" h="348856">
                <a:moveTo>
                  <a:pt x="0" y="126749"/>
                </a:moveTo>
                <a:cubicBezTo>
                  <a:pt x="7972" y="102834"/>
                  <a:pt x="21921" y="53051"/>
                  <a:pt x="45268" y="45268"/>
                </a:cubicBezTo>
                <a:cubicBezTo>
                  <a:pt x="54321" y="42250"/>
                  <a:pt x="63892" y="40482"/>
                  <a:pt x="72428" y="36214"/>
                </a:cubicBezTo>
                <a:cubicBezTo>
                  <a:pt x="82160" y="31348"/>
                  <a:pt x="89645" y="22526"/>
                  <a:pt x="99588" y="18107"/>
                </a:cubicBezTo>
                <a:cubicBezTo>
                  <a:pt x="117029" y="10355"/>
                  <a:pt x="153909" y="0"/>
                  <a:pt x="153909" y="0"/>
                </a:cubicBezTo>
                <a:cubicBezTo>
                  <a:pt x="165980" y="3018"/>
                  <a:pt x="178205" y="5479"/>
                  <a:pt x="190123" y="9054"/>
                </a:cubicBezTo>
                <a:cubicBezTo>
                  <a:pt x="208404" y="14539"/>
                  <a:pt x="244444" y="27161"/>
                  <a:pt x="244444" y="27161"/>
                </a:cubicBezTo>
                <a:cubicBezTo>
                  <a:pt x="267879" y="50596"/>
                  <a:pt x="296988" y="76154"/>
                  <a:pt x="307818" y="108642"/>
                </a:cubicBezTo>
                <a:lnTo>
                  <a:pt x="316872" y="135802"/>
                </a:lnTo>
                <a:cubicBezTo>
                  <a:pt x="315989" y="149048"/>
                  <a:pt x="330850" y="265854"/>
                  <a:pt x="289711" y="298765"/>
                </a:cubicBezTo>
                <a:cubicBezTo>
                  <a:pt x="282259" y="304727"/>
                  <a:pt x="271604" y="304800"/>
                  <a:pt x="262551" y="307818"/>
                </a:cubicBezTo>
                <a:cubicBezTo>
                  <a:pt x="253497" y="313854"/>
                  <a:pt x="245122" y="321059"/>
                  <a:pt x="235390" y="325925"/>
                </a:cubicBezTo>
                <a:cubicBezTo>
                  <a:pt x="189530" y="348856"/>
                  <a:pt x="140940" y="329803"/>
                  <a:pt x="90535" y="325925"/>
                </a:cubicBezTo>
                <a:lnTo>
                  <a:pt x="36214" y="307818"/>
                </a:lnTo>
              </a:path>
            </a:pathLst>
          </a:custGeom>
          <a:ln>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95" name="Freeform 94"/>
          <p:cNvSpPr/>
          <p:nvPr/>
        </p:nvSpPr>
        <p:spPr>
          <a:xfrm rot="881162">
            <a:off x="5525642" y="5062139"/>
            <a:ext cx="304800" cy="348856"/>
          </a:xfrm>
          <a:custGeom>
            <a:avLst/>
            <a:gdLst>
              <a:gd name="connsiteX0" fmla="*/ 0 w 330850"/>
              <a:gd name="connsiteY0" fmla="*/ 126749 h 348856"/>
              <a:gd name="connsiteX1" fmla="*/ 45268 w 330850"/>
              <a:gd name="connsiteY1" fmla="*/ 45268 h 348856"/>
              <a:gd name="connsiteX2" fmla="*/ 72428 w 330850"/>
              <a:gd name="connsiteY2" fmla="*/ 36214 h 348856"/>
              <a:gd name="connsiteX3" fmla="*/ 99588 w 330850"/>
              <a:gd name="connsiteY3" fmla="*/ 18107 h 348856"/>
              <a:gd name="connsiteX4" fmla="*/ 153909 w 330850"/>
              <a:gd name="connsiteY4" fmla="*/ 0 h 348856"/>
              <a:gd name="connsiteX5" fmla="*/ 190123 w 330850"/>
              <a:gd name="connsiteY5" fmla="*/ 9054 h 348856"/>
              <a:gd name="connsiteX6" fmla="*/ 244444 w 330850"/>
              <a:gd name="connsiteY6" fmla="*/ 27161 h 348856"/>
              <a:gd name="connsiteX7" fmla="*/ 307818 w 330850"/>
              <a:gd name="connsiteY7" fmla="*/ 108642 h 348856"/>
              <a:gd name="connsiteX8" fmla="*/ 316872 w 330850"/>
              <a:gd name="connsiteY8" fmla="*/ 135802 h 348856"/>
              <a:gd name="connsiteX9" fmla="*/ 289711 w 330850"/>
              <a:gd name="connsiteY9" fmla="*/ 298765 h 348856"/>
              <a:gd name="connsiteX10" fmla="*/ 262551 w 330850"/>
              <a:gd name="connsiteY10" fmla="*/ 307818 h 348856"/>
              <a:gd name="connsiteX11" fmla="*/ 235390 w 330850"/>
              <a:gd name="connsiteY11" fmla="*/ 325925 h 348856"/>
              <a:gd name="connsiteX12" fmla="*/ 90535 w 330850"/>
              <a:gd name="connsiteY12" fmla="*/ 325925 h 348856"/>
              <a:gd name="connsiteX13" fmla="*/ 36214 w 330850"/>
              <a:gd name="connsiteY13" fmla="*/ 307818 h 34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0850" h="348856">
                <a:moveTo>
                  <a:pt x="0" y="126749"/>
                </a:moveTo>
                <a:cubicBezTo>
                  <a:pt x="7972" y="102834"/>
                  <a:pt x="21921" y="53051"/>
                  <a:pt x="45268" y="45268"/>
                </a:cubicBezTo>
                <a:cubicBezTo>
                  <a:pt x="54321" y="42250"/>
                  <a:pt x="63892" y="40482"/>
                  <a:pt x="72428" y="36214"/>
                </a:cubicBezTo>
                <a:cubicBezTo>
                  <a:pt x="82160" y="31348"/>
                  <a:pt x="89645" y="22526"/>
                  <a:pt x="99588" y="18107"/>
                </a:cubicBezTo>
                <a:cubicBezTo>
                  <a:pt x="117029" y="10355"/>
                  <a:pt x="153909" y="0"/>
                  <a:pt x="153909" y="0"/>
                </a:cubicBezTo>
                <a:cubicBezTo>
                  <a:pt x="165980" y="3018"/>
                  <a:pt x="178205" y="5479"/>
                  <a:pt x="190123" y="9054"/>
                </a:cubicBezTo>
                <a:cubicBezTo>
                  <a:pt x="208404" y="14539"/>
                  <a:pt x="244444" y="27161"/>
                  <a:pt x="244444" y="27161"/>
                </a:cubicBezTo>
                <a:cubicBezTo>
                  <a:pt x="267879" y="50596"/>
                  <a:pt x="296988" y="76154"/>
                  <a:pt x="307818" y="108642"/>
                </a:cubicBezTo>
                <a:lnTo>
                  <a:pt x="316872" y="135802"/>
                </a:lnTo>
                <a:cubicBezTo>
                  <a:pt x="315989" y="149048"/>
                  <a:pt x="330850" y="265854"/>
                  <a:pt x="289711" y="298765"/>
                </a:cubicBezTo>
                <a:cubicBezTo>
                  <a:pt x="282259" y="304727"/>
                  <a:pt x="271604" y="304800"/>
                  <a:pt x="262551" y="307818"/>
                </a:cubicBezTo>
                <a:cubicBezTo>
                  <a:pt x="253497" y="313854"/>
                  <a:pt x="245122" y="321059"/>
                  <a:pt x="235390" y="325925"/>
                </a:cubicBezTo>
                <a:cubicBezTo>
                  <a:pt x="189530" y="348856"/>
                  <a:pt x="140940" y="329803"/>
                  <a:pt x="90535" y="325925"/>
                </a:cubicBezTo>
                <a:lnTo>
                  <a:pt x="36214" y="307818"/>
                </a:lnTo>
              </a:path>
            </a:pathLst>
          </a:custGeom>
          <a:ln>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p:cNvPicPr>
            <a:picLocks noGrp="1" noChangeAspect="1"/>
          </p:cNvPicPr>
          <p:nvPr>
            <p:ph idx="1"/>
          </p:nvPr>
        </p:nvPicPr>
        <p:blipFill>
          <a:blip r:embed="rId2"/>
          <a:stretch>
            <a:fillRect/>
          </a:stretch>
        </p:blipFill>
        <p:spPr>
          <a:xfrm>
            <a:off x="152400" y="1711976"/>
            <a:ext cx="8229600" cy="1008888"/>
          </a:xfrm>
          <a:prstGeom prst="rect">
            <a:avLst/>
          </a:prstGeom>
        </p:spPr>
      </p:pic>
      <p:pic>
        <p:nvPicPr>
          <p:cNvPr id="9" name="Picture 8"/>
          <p:cNvPicPr>
            <a:picLocks noChangeAspect="1"/>
          </p:cNvPicPr>
          <p:nvPr/>
        </p:nvPicPr>
        <p:blipFill>
          <a:blip r:embed="rId3"/>
          <a:stretch>
            <a:fillRect/>
          </a:stretch>
        </p:blipFill>
        <p:spPr>
          <a:xfrm>
            <a:off x="226740" y="2855476"/>
            <a:ext cx="8253761" cy="1887008"/>
          </a:xfrm>
          <a:prstGeom prst="rect">
            <a:avLst/>
          </a:prstGeom>
        </p:spPr>
      </p:pic>
      <p:pic>
        <p:nvPicPr>
          <p:cNvPr id="10" name="Picture 9"/>
          <p:cNvPicPr>
            <a:picLocks noChangeAspect="1"/>
          </p:cNvPicPr>
          <p:nvPr/>
        </p:nvPicPr>
        <p:blipFill>
          <a:blip r:embed="rId4"/>
          <a:stretch>
            <a:fillRect/>
          </a:stretch>
        </p:blipFill>
        <p:spPr>
          <a:xfrm>
            <a:off x="250901" y="4742484"/>
            <a:ext cx="7644162" cy="1980903"/>
          </a:xfrm>
          <a:prstGeom prst="rect">
            <a:avLst/>
          </a:prstGeom>
        </p:spPr>
      </p:pic>
      <p:sp>
        <p:nvSpPr>
          <p:cNvPr id="11" name="Title 1"/>
          <p:cNvSpPr>
            <a:spLocks noGrp="1"/>
          </p:cNvSpPr>
          <p:nvPr>
            <p:ph type="title"/>
          </p:nvPr>
        </p:nvSpPr>
        <p:spPr>
          <a:xfrm>
            <a:off x="250901" y="-203692"/>
            <a:ext cx="8229600" cy="1143000"/>
          </a:xfrm>
        </p:spPr>
        <p:txBody>
          <a:bodyPr>
            <a:noAutofit/>
          </a:bodyPr>
          <a:lstStyle/>
          <a:p>
            <a:r>
              <a:rPr lang="en-US" sz="4000" dirty="0" smtClean="0"/>
              <a:t>Example of the Powers of a Relation</a:t>
            </a:r>
            <a:endParaRPr lang="en-US" sz="4000" dirty="0"/>
          </a:p>
        </p:txBody>
      </p:sp>
      <p:sp>
        <p:nvSpPr>
          <p:cNvPr id="12" name="TextBox 11"/>
          <p:cNvSpPr txBox="1"/>
          <p:nvPr/>
        </p:nvSpPr>
        <p:spPr>
          <a:xfrm>
            <a:off x="280638" y="1073420"/>
            <a:ext cx="3416918" cy="461665"/>
          </a:xfrm>
          <a:prstGeom prst="rect">
            <a:avLst/>
          </a:prstGeom>
          <a:noFill/>
        </p:spPr>
        <p:txBody>
          <a:bodyPr wrap="square" rtlCol="0">
            <a:spAutoFit/>
          </a:bodyPr>
          <a:lstStyle/>
          <a:p>
            <a:r>
              <a:rPr lang="en-US" sz="2400" b="1" dirty="0" smtClean="0"/>
              <a:t>Solution</a:t>
            </a:r>
            <a:endParaRPr lang="en-US" sz="2400" b="1" dirty="0"/>
          </a:p>
        </p:txBody>
      </p:sp>
    </p:spTree>
    <p:extLst>
      <p:ext uri="{BB962C8B-B14F-4D97-AF65-F5344CB8AC3E}">
        <p14:creationId xmlns:p14="http://schemas.microsoft.com/office/powerpoint/2010/main" val="23509379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Equivalence Relations</a:t>
            </a:r>
            <a:endParaRPr lang="en-US" dirty="0"/>
          </a:p>
        </p:txBody>
      </p:sp>
      <p:sp>
        <p:nvSpPr>
          <p:cNvPr id="3" name="Subtitle 2"/>
          <p:cNvSpPr>
            <a:spLocks noGrp="1"/>
          </p:cNvSpPr>
          <p:nvPr>
            <p:ph type="subTitle" idx="1"/>
          </p:nvPr>
        </p:nvSpPr>
        <p:spPr/>
        <p:txBody>
          <a:bodyPr/>
          <a:lstStyle/>
          <a:p>
            <a:r>
              <a:rPr lang="en-US" dirty="0" smtClean="0"/>
              <a:t>Section 9.5</a:t>
            </a:r>
            <a:endParaRPr 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Section Summary</a:t>
            </a:r>
            <a:endParaRPr lang="en-US" dirty="0"/>
          </a:p>
        </p:txBody>
      </p:sp>
      <p:sp>
        <p:nvSpPr>
          <p:cNvPr id="3" name="Content Placeholder 2"/>
          <p:cNvSpPr>
            <a:spLocks noGrp="1"/>
          </p:cNvSpPr>
          <p:nvPr>
            <p:ph idx="1"/>
          </p:nvPr>
        </p:nvSpPr>
        <p:spPr/>
        <p:txBody>
          <a:bodyPr>
            <a:normAutofit/>
          </a:bodyPr>
          <a:lstStyle/>
          <a:p>
            <a:r>
              <a:rPr lang="en-US" dirty="0" smtClean="0"/>
              <a:t>Equivalence Relations</a:t>
            </a:r>
          </a:p>
          <a:p>
            <a:r>
              <a:rPr lang="en-US" dirty="0" smtClean="0"/>
              <a:t>Equivalence Classes</a:t>
            </a:r>
          </a:p>
          <a:p>
            <a:r>
              <a:rPr lang="en-US" dirty="0" smtClean="0"/>
              <a:t>Equivalence Classes and Partitions</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Equivalence Relations</a:t>
            </a:r>
            <a:endParaRPr lang="en-US" dirty="0"/>
          </a:p>
        </p:txBody>
      </p:sp>
      <p:sp>
        <p:nvSpPr>
          <p:cNvPr id="3" name="Content Placeholder 2"/>
          <p:cNvSpPr>
            <a:spLocks noGrp="1"/>
          </p:cNvSpPr>
          <p:nvPr>
            <p:ph idx="1"/>
          </p:nvPr>
        </p:nvSpPr>
        <p:spPr/>
        <p:txBody>
          <a:bodyPr/>
          <a:lstStyle/>
          <a:p>
            <a:pPr>
              <a:buNone/>
            </a:pPr>
            <a:r>
              <a:rPr lang="en-US" b="1" dirty="0" smtClean="0"/>
              <a:t>   Definition </a:t>
            </a:r>
            <a:r>
              <a:rPr lang="en-US" b="1" dirty="0" smtClean="0">
                <a:latin typeface="Cambria Math" pitchFamily="18" charset="0"/>
                <a:ea typeface="Cambria Math" pitchFamily="18" charset="0"/>
              </a:rPr>
              <a:t>1</a:t>
            </a:r>
            <a:r>
              <a:rPr lang="en-US" dirty="0" smtClean="0"/>
              <a:t>:  A relation on a set </a:t>
            </a:r>
            <a:r>
              <a:rPr lang="en-US" i="1" dirty="0" smtClean="0"/>
              <a:t>A</a:t>
            </a:r>
            <a:r>
              <a:rPr lang="en-US" dirty="0" smtClean="0"/>
              <a:t> is called an </a:t>
            </a:r>
            <a:r>
              <a:rPr lang="en-US" i="1" dirty="0" smtClean="0"/>
              <a:t>equivalence relation </a:t>
            </a:r>
            <a:r>
              <a:rPr lang="en-US" dirty="0" smtClean="0"/>
              <a:t>if it is reflexive, symmetric, and transitive. </a:t>
            </a:r>
          </a:p>
          <a:p>
            <a:pPr>
              <a:buNone/>
            </a:pPr>
            <a:endParaRPr lang="en-US" dirty="0" smtClean="0"/>
          </a:p>
          <a:p>
            <a:pPr>
              <a:buNone/>
            </a:pPr>
            <a:r>
              <a:rPr lang="en-US" b="1" dirty="0" smtClean="0"/>
              <a:t>   Definition </a:t>
            </a:r>
            <a:r>
              <a:rPr lang="en-US" b="1" dirty="0" smtClean="0">
                <a:latin typeface="Cambria Math" pitchFamily="18" charset="0"/>
                <a:ea typeface="Cambria Math" pitchFamily="18" charset="0"/>
              </a:rPr>
              <a:t>2</a:t>
            </a:r>
            <a:r>
              <a:rPr lang="en-US" dirty="0" smtClean="0"/>
              <a:t>:  Two elements </a:t>
            </a:r>
            <a:r>
              <a:rPr lang="en-US" i="1" dirty="0" smtClean="0"/>
              <a:t>a</a:t>
            </a:r>
            <a:r>
              <a:rPr lang="en-US" dirty="0" smtClean="0"/>
              <a:t>, and </a:t>
            </a:r>
            <a:r>
              <a:rPr lang="en-US" i="1" dirty="0" smtClean="0"/>
              <a:t>b</a:t>
            </a:r>
            <a:r>
              <a:rPr lang="en-US" dirty="0" smtClean="0"/>
              <a:t> that are related by an equivalence relation are called  </a:t>
            </a:r>
            <a:r>
              <a:rPr lang="en-US" i="1" dirty="0" smtClean="0"/>
              <a:t>equivalent.  </a:t>
            </a:r>
            <a:r>
              <a:rPr lang="en-US" dirty="0" smtClean="0"/>
              <a:t>The notation </a:t>
            </a:r>
            <a:r>
              <a:rPr lang="en-US" i="1" dirty="0" smtClean="0"/>
              <a:t>a</a:t>
            </a:r>
            <a:r>
              <a:rPr lang="en-US" dirty="0" smtClean="0"/>
              <a:t> </a:t>
            </a:r>
            <a:r>
              <a:rPr lang="en-US" dirty="0" smtClean="0">
                <a:latin typeface="Cambria Math"/>
                <a:ea typeface="Cambria Math"/>
              </a:rPr>
              <a:t>∼ </a:t>
            </a:r>
            <a:r>
              <a:rPr lang="en-US" i="1" dirty="0" smtClean="0"/>
              <a:t>b</a:t>
            </a:r>
            <a:r>
              <a:rPr lang="en-US" dirty="0" smtClean="0"/>
              <a:t> is often used to denote that </a:t>
            </a:r>
            <a:r>
              <a:rPr lang="en-US" i="1" dirty="0" smtClean="0"/>
              <a:t>a</a:t>
            </a:r>
            <a:r>
              <a:rPr lang="en-US" dirty="0" smtClean="0"/>
              <a:t> and </a:t>
            </a:r>
            <a:r>
              <a:rPr lang="en-US" i="1" dirty="0" smtClean="0"/>
              <a:t>b</a:t>
            </a:r>
            <a:r>
              <a:rPr lang="en-US" dirty="0" smtClean="0"/>
              <a:t> are equivalent elements with respect to a particular equivalence relation.</a:t>
            </a:r>
          </a:p>
          <a:p>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143000"/>
          </a:xfrm>
        </p:spPr>
        <p:txBody>
          <a:bodyPr/>
          <a:lstStyle/>
          <a:p>
            <a:r>
              <a:rPr lang="en-US" dirty="0" smtClean="0"/>
              <a:t>Strings</a:t>
            </a:r>
            <a:endParaRPr lang="en-US" dirty="0"/>
          </a:p>
        </p:txBody>
      </p:sp>
      <p:sp>
        <p:nvSpPr>
          <p:cNvPr id="3" name="Content Placeholder 2"/>
          <p:cNvSpPr>
            <a:spLocks noGrp="1"/>
          </p:cNvSpPr>
          <p:nvPr>
            <p:ph idx="1"/>
          </p:nvPr>
        </p:nvSpPr>
        <p:spPr>
          <a:xfrm>
            <a:off x="457200" y="1828800"/>
            <a:ext cx="8229600" cy="4389120"/>
          </a:xfrm>
        </p:spPr>
        <p:txBody>
          <a:bodyPr>
            <a:normAutofit fontScale="55000" lnSpcReduction="20000"/>
          </a:bodyPr>
          <a:lstStyle/>
          <a:p>
            <a:pPr>
              <a:buNone/>
            </a:pPr>
            <a:r>
              <a:rPr lang="en-US" b="1" dirty="0" smtClean="0"/>
              <a:t>   </a:t>
            </a:r>
          </a:p>
          <a:p>
            <a:pPr>
              <a:buNone/>
            </a:pPr>
            <a:r>
              <a:rPr lang="en-US" b="1" dirty="0" smtClean="0"/>
              <a:t>     </a:t>
            </a:r>
            <a:r>
              <a:rPr lang="en-US" sz="3400" b="1" dirty="0" smtClean="0"/>
              <a:t>Example</a:t>
            </a:r>
            <a:r>
              <a:rPr lang="en-US" sz="3400" dirty="0" smtClean="0"/>
              <a:t>: Suppose that </a:t>
            </a:r>
            <a:r>
              <a:rPr lang="en-US" sz="3400" i="1" dirty="0" smtClean="0"/>
              <a:t>R</a:t>
            </a:r>
            <a:r>
              <a:rPr lang="en-US" sz="3400" dirty="0" smtClean="0"/>
              <a:t> is the relation on the set of strings of English letters such that </a:t>
            </a:r>
            <a:r>
              <a:rPr lang="en-US" sz="3400" i="1" dirty="0" err="1" smtClean="0"/>
              <a:t>aRb</a:t>
            </a:r>
            <a:r>
              <a:rPr lang="en-US" sz="3400" dirty="0" smtClean="0"/>
              <a:t> if and only if </a:t>
            </a:r>
            <a:r>
              <a:rPr lang="en-US" sz="3400" i="1" dirty="0" smtClean="0"/>
              <a:t>l</a:t>
            </a:r>
            <a:r>
              <a:rPr lang="en-US" sz="3400" dirty="0" smtClean="0"/>
              <a:t>(</a:t>
            </a:r>
            <a:r>
              <a:rPr lang="en-US" sz="3400" i="1" dirty="0" smtClean="0"/>
              <a:t>a</a:t>
            </a:r>
            <a:r>
              <a:rPr lang="en-US" sz="3400" dirty="0" smtClean="0"/>
              <a:t>) = </a:t>
            </a:r>
            <a:r>
              <a:rPr lang="en-US" sz="3400" i="1" dirty="0" smtClean="0"/>
              <a:t>l</a:t>
            </a:r>
            <a:r>
              <a:rPr lang="en-US" sz="3400" dirty="0" smtClean="0"/>
              <a:t>(</a:t>
            </a:r>
            <a:r>
              <a:rPr lang="en-US" sz="3400" i="1" dirty="0" smtClean="0"/>
              <a:t>b</a:t>
            </a:r>
            <a:r>
              <a:rPr lang="en-US" sz="3400" dirty="0" smtClean="0"/>
              <a:t>), where </a:t>
            </a:r>
            <a:r>
              <a:rPr lang="en-US" sz="3400" i="1" dirty="0" smtClean="0"/>
              <a:t>l</a:t>
            </a:r>
            <a:r>
              <a:rPr lang="en-US" sz="3400" dirty="0" smtClean="0"/>
              <a:t>(</a:t>
            </a:r>
            <a:r>
              <a:rPr lang="en-US" sz="3400" i="1" dirty="0" smtClean="0"/>
              <a:t>x</a:t>
            </a:r>
            <a:r>
              <a:rPr lang="en-US" sz="3400" dirty="0" smtClean="0"/>
              <a:t>) is the length of the string </a:t>
            </a:r>
            <a:r>
              <a:rPr lang="en-US" sz="3400" i="1" dirty="0" smtClean="0"/>
              <a:t>x</a:t>
            </a:r>
            <a:r>
              <a:rPr lang="en-US" sz="3400" dirty="0" smtClean="0"/>
              <a:t>. Is </a:t>
            </a:r>
            <a:r>
              <a:rPr lang="en-US" sz="3400" i="1" dirty="0" smtClean="0"/>
              <a:t>R</a:t>
            </a:r>
            <a:r>
              <a:rPr lang="en-US" sz="3400" dirty="0" smtClean="0"/>
              <a:t> an equivalence relation? </a:t>
            </a:r>
          </a:p>
          <a:p>
            <a:pPr>
              <a:buNone/>
            </a:pPr>
            <a:endParaRPr lang="en-US" sz="3400" dirty="0" smtClean="0"/>
          </a:p>
          <a:p>
            <a:pPr>
              <a:buNone/>
            </a:pPr>
            <a:r>
              <a:rPr lang="en-US" sz="3400" dirty="0" smtClean="0"/>
              <a:t>    </a:t>
            </a:r>
            <a:r>
              <a:rPr lang="en-US" sz="3400" b="1" dirty="0" smtClean="0"/>
              <a:t>Solution</a:t>
            </a:r>
            <a:r>
              <a:rPr lang="en-US" sz="3400" dirty="0" smtClean="0"/>
              <a:t>: Show that all of the properties of an equivalence relation hold.</a:t>
            </a:r>
          </a:p>
          <a:p>
            <a:pPr lvl="1"/>
            <a:r>
              <a:rPr lang="en-US" sz="3400" i="1" dirty="0" smtClean="0"/>
              <a:t>Reflexivity</a:t>
            </a:r>
            <a:r>
              <a:rPr lang="en-US" sz="3400" dirty="0" smtClean="0"/>
              <a:t>: Because</a:t>
            </a:r>
            <a:r>
              <a:rPr lang="en-US" sz="3400" i="1" dirty="0" smtClean="0"/>
              <a:t> l</a:t>
            </a:r>
            <a:r>
              <a:rPr lang="en-US" sz="3400" dirty="0" smtClean="0"/>
              <a:t>(</a:t>
            </a:r>
            <a:r>
              <a:rPr lang="en-US" sz="3400" i="1" dirty="0" smtClean="0"/>
              <a:t>a</a:t>
            </a:r>
            <a:r>
              <a:rPr lang="en-US" sz="3400" dirty="0" smtClean="0"/>
              <a:t>) = </a:t>
            </a:r>
            <a:r>
              <a:rPr lang="en-US" sz="3400" i="1" dirty="0" smtClean="0"/>
              <a:t>l</a:t>
            </a:r>
            <a:r>
              <a:rPr lang="en-US" sz="3400" dirty="0" smtClean="0"/>
              <a:t>(</a:t>
            </a:r>
            <a:r>
              <a:rPr lang="en-US" sz="3400" i="1" dirty="0" smtClean="0"/>
              <a:t>a</a:t>
            </a:r>
            <a:r>
              <a:rPr lang="en-US" sz="3400" dirty="0" smtClean="0"/>
              <a:t>), it follows that </a:t>
            </a:r>
            <a:r>
              <a:rPr lang="en-US" sz="3400" i="1" dirty="0" err="1" smtClean="0"/>
              <a:t>aRa</a:t>
            </a:r>
            <a:r>
              <a:rPr lang="en-US" sz="3400" dirty="0" smtClean="0"/>
              <a:t> for all strings </a:t>
            </a:r>
            <a:r>
              <a:rPr lang="en-US" sz="3400" i="1" dirty="0" smtClean="0"/>
              <a:t>a</a:t>
            </a:r>
            <a:r>
              <a:rPr lang="en-US" sz="3400" dirty="0" smtClean="0"/>
              <a:t>. </a:t>
            </a:r>
          </a:p>
          <a:p>
            <a:pPr lvl="1"/>
            <a:r>
              <a:rPr lang="en-US" sz="3400" i="1" dirty="0" smtClean="0"/>
              <a:t>Symmetry</a:t>
            </a:r>
            <a:r>
              <a:rPr lang="en-US" sz="3400" dirty="0" smtClean="0"/>
              <a:t>: Suppose that </a:t>
            </a:r>
            <a:r>
              <a:rPr lang="en-US" sz="3400" i="1" dirty="0" err="1" smtClean="0"/>
              <a:t>aRb</a:t>
            </a:r>
            <a:r>
              <a:rPr lang="en-US" sz="3400" i="1" dirty="0" smtClean="0"/>
              <a:t>.</a:t>
            </a:r>
            <a:r>
              <a:rPr lang="en-US" sz="3400" dirty="0" smtClean="0"/>
              <a:t>  Since </a:t>
            </a:r>
            <a:r>
              <a:rPr lang="en-US" sz="3400" i="1" dirty="0" smtClean="0"/>
              <a:t>l</a:t>
            </a:r>
            <a:r>
              <a:rPr lang="en-US" sz="3400" dirty="0" smtClean="0"/>
              <a:t>(</a:t>
            </a:r>
            <a:r>
              <a:rPr lang="en-US" sz="3400" i="1" dirty="0" smtClean="0"/>
              <a:t>a</a:t>
            </a:r>
            <a:r>
              <a:rPr lang="en-US" sz="3400" dirty="0" smtClean="0"/>
              <a:t>) = </a:t>
            </a:r>
            <a:r>
              <a:rPr lang="en-US" sz="3400" i="1" dirty="0" smtClean="0"/>
              <a:t>l</a:t>
            </a:r>
            <a:r>
              <a:rPr lang="en-US" sz="3400" dirty="0" smtClean="0"/>
              <a:t>(</a:t>
            </a:r>
            <a:r>
              <a:rPr lang="en-US" sz="3400" i="1" dirty="0" smtClean="0"/>
              <a:t>b</a:t>
            </a:r>
            <a:r>
              <a:rPr lang="en-US" sz="3400" dirty="0" smtClean="0"/>
              <a:t>), </a:t>
            </a:r>
            <a:r>
              <a:rPr lang="en-US" sz="3400" i="1" dirty="0" smtClean="0"/>
              <a:t>l</a:t>
            </a:r>
            <a:r>
              <a:rPr lang="en-US" sz="3400" dirty="0" smtClean="0"/>
              <a:t>(</a:t>
            </a:r>
            <a:r>
              <a:rPr lang="en-US" sz="3400" i="1" dirty="0" smtClean="0"/>
              <a:t>b</a:t>
            </a:r>
            <a:r>
              <a:rPr lang="en-US" sz="3400" dirty="0" smtClean="0"/>
              <a:t>) = </a:t>
            </a:r>
            <a:r>
              <a:rPr lang="en-US" sz="3400" i="1" dirty="0" smtClean="0"/>
              <a:t>l</a:t>
            </a:r>
            <a:r>
              <a:rPr lang="en-US" sz="3400" dirty="0" smtClean="0"/>
              <a:t>(</a:t>
            </a:r>
            <a:r>
              <a:rPr lang="en-US" sz="3400" i="1" dirty="0" smtClean="0"/>
              <a:t>a</a:t>
            </a:r>
            <a:r>
              <a:rPr lang="en-US" sz="3400" dirty="0" smtClean="0"/>
              <a:t>) also holds  and </a:t>
            </a:r>
            <a:r>
              <a:rPr lang="en-US" sz="3400" i="1" dirty="0" err="1" smtClean="0"/>
              <a:t>bRa</a:t>
            </a:r>
            <a:r>
              <a:rPr lang="en-US" sz="3400" dirty="0" smtClean="0"/>
              <a:t>. </a:t>
            </a:r>
          </a:p>
          <a:p>
            <a:pPr lvl="1"/>
            <a:r>
              <a:rPr lang="en-US" sz="3400" i="1" dirty="0" smtClean="0"/>
              <a:t>Transitivity</a:t>
            </a:r>
            <a:r>
              <a:rPr lang="en-US" sz="3400" dirty="0" smtClean="0"/>
              <a:t>: Suppose that </a:t>
            </a:r>
            <a:r>
              <a:rPr lang="en-US" sz="3400" dirty="0" err="1" smtClean="0"/>
              <a:t>a</a:t>
            </a:r>
            <a:r>
              <a:rPr lang="en-US" sz="3400" i="1" dirty="0" err="1" smtClean="0"/>
              <a:t>R</a:t>
            </a:r>
            <a:r>
              <a:rPr lang="en-US" sz="3400" dirty="0" err="1" smtClean="0"/>
              <a:t>b</a:t>
            </a:r>
            <a:r>
              <a:rPr lang="en-US" sz="3400" i="1" dirty="0" smtClean="0"/>
              <a:t> </a:t>
            </a:r>
            <a:r>
              <a:rPr lang="en-US" sz="3400" dirty="0" smtClean="0"/>
              <a:t>and </a:t>
            </a:r>
            <a:r>
              <a:rPr lang="en-US" sz="3400" i="1" dirty="0" err="1" smtClean="0"/>
              <a:t>bRc</a:t>
            </a:r>
            <a:r>
              <a:rPr lang="en-US" sz="3400" dirty="0" smtClean="0"/>
              <a:t>. Since </a:t>
            </a:r>
            <a:r>
              <a:rPr lang="en-US" sz="3400" i="1" dirty="0" smtClean="0"/>
              <a:t>l</a:t>
            </a:r>
            <a:r>
              <a:rPr lang="en-US" sz="3400" dirty="0" smtClean="0"/>
              <a:t>(</a:t>
            </a:r>
            <a:r>
              <a:rPr lang="en-US" sz="3400" i="1" dirty="0" smtClean="0"/>
              <a:t>a</a:t>
            </a:r>
            <a:r>
              <a:rPr lang="en-US" sz="3400" dirty="0" smtClean="0"/>
              <a:t>) = </a:t>
            </a:r>
            <a:r>
              <a:rPr lang="en-US" sz="3400" i="1" dirty="0" smtClean="0"/>
              <a:t>l</a:t>
            </a:r>
            <a:r>
              <a:rPr lang="en-US" sz="3400" dirty="0" smtClean="0"/>
              <a:t>(</a:t>
            </a:r>
            <a:r>
              <a:rPr lang="en-US" sz="3400" i="1" dirty="0" smtClean="0"/>
              <a:t>b</a:t>
            </a:r>
            <a:r>
              <a:rPr lang="en-US" sz="3400" dirty="0" smtClean="0"/>
              <a:t>),and </a:t>
            </a:r>
            <a:r>
              <a:rPr lang="en-US" sz="3400" i="1" dirty="0" smtClean="0"/>
              <a:t>l</a:t>
            </a:r>
            <a:r>
              <a:rPr lang="en-US" sz="3400" dirty="0" smtClean="0"/>
              <a:t>(</a:t>
            </a:r>
            <a:r>
              <a:rPr lang="en-US" sz="3400" i="1" dirty="0" smtClean="0"/>
              <a:t>b</a:t>
            </a:r>
            <a:r>
              <a:rPr lang="en-US" sz="3400" dirty="0" smtClean="0"/>
              <a:t>) = </a:t>
            </a:r>
            <a:r>
              <a:rPr lang="en-US" sz="3400" i="1" dirty="0" smtClean="0"/>
              <a:t>l</a:t>
            </a:r>
            <a:r>
              <a:rPr lang="en-US" sz="3400" dirty="0" smtClean="0"/>
              <a:t>(</a:t>
            </a:r>
            <a:r>
              <a:rPr lang="en-US" sz="3400" i="1" dirty="0" smtClean="0"/>
              <a:t>c</a:t>
            </a:r>
            <a:r>
              <a:rPr lang="en-US" sz="3400" dirty="0" smtClean="0"/>
              <a:t>), </a:t>
            </a:r>
            <a:r>
              <a:rPr lang="en-US" sz="3400" i="1" dirty="0" smtClean="0"/>
              <a:t>l</a:t>
            </a:r>
            <a:r>
              <a:rPr lang="en-US" sz="3400" dirty="0" smtClean="0"/>
              <a:t>(</a:t>
            </a:r>
            <a:r>
              <a:rPr lang="en-US" sz="3400" i="1" dirty="0" smtClean="0"/>
              <a:t>a</a:t>
            </a:r>
            <a:r>
              <a:rPr lang="en-US" sz="3400" dirty="0" smtClean="0"/>
              <a:t>) = </a:t>
            </a:r>
            <a:r>
              <a:rPr lang="en-US" sz="3400" i="1" dirty="0" smtClean="0"/>
              <a:t>l</a:t>
            </a:r>
            <a:r>
              <a:rPr lang="en-US" sz="3400" dirty="0" smtClean="0"/>
              <a:t>(</a:t>
            </a:r>
            <a:r>
              <a:rPr lang="en-US" sz="3400" i="1" dirty="0" smtClean="0"/>
              <a:t>a</a:t>
            </a:r>
            <a:r>
              <a:rPr lang="en-US" sz="3400" dirty="0" smtClean="0"/>
              <a:t>) also holds and </a:t>
            </a:r>
            <a:r>
              <a:rPr lang="en-US" sz="3400" i="1" dirty="0" err="1" smtClean="0"/>
              <a:t>aRc</a:t>
            </a:r>
            <a:r>
              <a:rPr lang="en-US" sz="3400" dirty="0" smtClean="0"/>
              <a:t>. </a:t>
            </a:r>
          </a:p>
          <a:p>
            <a:pPr>
              <a:buNone/>
            </a:pPr>
            <a:endParaRPr lang="en-US" dirty="0" smtClean="0"/>
          </a:p>
          <a:p>
            <a:pPr>
              <a:buNone/>
            </a:pPr>
            <a:endParaRPr lang="en-US" dirty="0" smtClean="0"/>
          </a:p>
          <a:p>
            <a:pPr>
              <a:buNone/>
            </a:pPr>
            <a:r>
              <a:rPr lang="en-US" dirty="0" smtClean="0"/>
              <a:t>         </a:t>
            </a: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Congruence Modulo </a:t>
            </a:r>
            <a:r>
              <a:rPr lang="en-US" i="1" dirty="0" smtClean="0"/>
              <a:t>m</a:t>
            </a:r>
            <a:endParaRPr lang="en-US" i="1" dirty="0"/>
          </a:p>
        </p:txBody>
      </p:sp>
      <p:sp>
        <p:nvSpPr>
          <p:cNvPr id="3" name="Content Placeholder 2"/>
          <p:cNvSpPr>
            <a:spLocks noGrp="1"/>
          </p:cNvSpPr>
          <p:nvPr>
            <p:ph idx="1"/>
          </p:nvPr>
        </p:nvSpPr>
        <p:spPr/>
        <p:txBody>
          <a:bodyPr>
            <a:normAutofit fontScale="77500" lnSpcReduction="20000"/>
          </a:bodyPr>
          <a:lstStyle/>
          <a:p>
            <a:pPr>
              <a:buNone/>
            </a:pPr>
            <a:r>
              <a:rPr lang="en-US" dirty="0" smtClean="0"/>
              <a:t>   </a:t>
            </a:r>
            <a:r>
              <a:rPr lang="en-US" b="1" dirty="0" smtClean="0"/>
              <a:t>Example</a:t>
            </a:r>
            <a:r>
              <a:rPr lang="en-US" dirty="0" smtClean="0"/>
              <a:t>:  Let </a:t>
            </a:r>
            <a:r>
              <a:rPr lang="en-US" i="1" dirty="0" smtClean="0"/>
              <a:t>m</a:t>
            </a:r>
            <a:r>
              <a:rPr lang="en-US" dirty="0" smtClean="0"/>
              <a:t> be an integer with </a:t>
            </a:r>
            <a:r>
              <a:rPr lang="en-US" i="1" dirty="0" smtClean="0"/>
              <a:t>m</a:t>
            </a:r>
            <a:r>
              <a:rPr lang="en-US" dirty="0" smtClean="0"/>
              <a:t> &gt; </a:t>
            </a:r>
            <a:r>
              <a:rPr lang="en-US" dirty="0" smtClean="0">
                <a:latin typeface="Cambria Math" pitchFamily="18" charset="0"/>
                <a:ea typeface="Cambria Math" pitchFamily="18" charset="0"/>
              </a:rPr>
              <a:t>1</a:t>
            </a:r>
            <a:r>
              <a:rPr lang="en-US" dirty="0" smtClean="0"/>
              <a:t>. Show that the relation </a:t>
            </a:r>
          </a:p>
          <a:p>
            <a:pPr>
              <a:buNone/>
            </a:pPr>
            <a:r>
              <a:rPr lang="en-US" dirty="0" smtClean="0"/>
              <a:t>         </a:t>
            </a:r>
            <a:r>
              <a:rPr lang="en-US" i="1" dirty="0" smtClean="0"/>
              <a:t>R</a:t>
            </a:r>
            <a:r>
              <a:rPr lang="en-US" dirty="0" smtClean="0"/>
              <a:t> = {(</a:t>
            </a:r>
            <a:r>
              <a:rPr lang="en-US" i="1" dirty="0" err="1" smtClean="0"/>
              <a:t>a</a:t>
            </a:r>
            <a:r>
              <a:rPr lang="en-US" dirty="0" err="1" smtClean="0"/>
              <a:t>,</a:t>
            </a:r>
            <a:r>
              <a:rPr lang="en-US" i="1" dirty="0" err="1" smtClean="0"/>
              <a:t>b</a:t>
            </a:r>
            <a:r>
              <a:rPr lang="en-US" dirty="0" smtClean="0"/>
              <a:t>) | </a:t>
            </a:r>
            <a:r>
              <a:rPr lang="en-US" i="1" dirty="0" smtClean="0"/>
              <a:t>a</a:t>
            </a:r>
            <a:r>
              <a:rPr lang="en-US" dirty="0" smtClean="0"/>
              <a:t> </a:t>
            </a:r>
            <a:r>
              <a:rPr lang="en-US" dirty="0" smtClean="0">
                <a:latin typeface="Cambria Math"/>
                <a:ea typeface="Cambria Math"/>
              </a:rPr>
              <a:t>≡</a:t>
            </a:r>
            <a:r>
              <a:rPr lang="en-US" dirty="0" smtClean="0"/>
              <a:t> </a:t>
            </a:r>
            <a:r>
              <a:rPr lang="en-US" i="1" dirty="0" smtClean="0"/>
              <a:t>b</a:t>
            </a:r>
            <a:r>
              <a:rPr lang="en-US" dirty="0" smtClean="0"/>
              <a:t> (mod </a:t>
            </a:r>
            <a:r>
              <a:rPr lang="en-US" i="1" dirty="0" smtClean="0"/>
              <a:t>m</a:t>
            </a:r>
            <a:r>
              <a:rPr lang="en-US" dirty="0" smtClean="0"/>
              <a:t>)} </a:t>
            </a:r>
          </a:p>
          <a:p>
            <a:pPr>
              <a:buNone/>
            </a:pPr>
            <a:r>
              <a:rPr lang="en-US" dirty="0" smtClean="0"/>
              <a:t>    is an equivalence relation on the set of integers.</a:t>
            </a:r>
          </a:p>
          <a:p>
            <a:pPr>
              <a:buNone/>
            </a:pPr>
            <a:endParaRPr lang="en-US" dirty="0" smtClean="0"/>
          </a:p>
          <a:p>
            <a:pPr>
              <a:buNone/>
            </a:pPr>
            <a:r>
              <a:rPr lang="en-US" b="1" dirty="0" smtClean="0"/>
              <a:t>   Solution</a:t>
            </a:r>
            <a:r>
              <a:rPr lang="en-US" dirty="0" smtClean="0"/>
              <a:t>:  Recall that </a:t>
            </a:r>
            <a:r>
              <a:rPr lang="en-US" i="1" dirty="0" smtClean="0"/>
              <a:t>a</a:t>
            </a:r>
            <a:r>
              <a:rPr lang="en-US" dirty="0" smtClean="0"/>
              <a:t> </a:t>
            </a:r>
            <a:r>
              <a:rPr lang="en-US" dirty="0" smtClean="0">
                <a:latin typeface="Cambria Math"/>
                <a:ea typeface="Cambria Math"/>
              </a:rPr>
              <a:t>≡</a:t>
            </a:r>
            <a:r>
              <a:rPr lang="en-US" dirty="0" smtClean="0"/>
              <a:t> </a:t>
            </a:r>
            <a:r>
              <a:rPr lang="en-US" i="1" dirty="0" smtClean="0"/>
              <a:t>b</a:t>
            </a:r>
            <a:r>
              <a:rPr lang="en-US" dirty="0" smtClean="0"/>
              <a:t> (mod </a:t>
            </a:r>
            <a:r>
              <a:rPr lang="en-US" i="1" dirty="0" smtClean="0"/>
              <a:t>m</a:t>
            </a:r>
            <a:r>
              <a:rPr lang="en-US" dirty="0" smtClean="0"/>
              <a:t>) if and only if </a:t>
            </a:r>
            <a:r>
              <a:rPr lang="en-US" i="1" dirty="0" smtClean="0"/>
              <a:t>m</a:t>
            </a:r>
            <a:r>
              <a:rPr lang="en-US" dirty="0" smtClean="0"/>
              <a:t>  divides </a:t>
            </a:r>
            <a:r>
              <a:rPr lang="en-US" i="1" dirty="0" smtClean="0"/>
              <a:t>a</a:t>
            </a:r>
            <a:r>
              <a:rPr lang="en-US" dirty="0" smtClean="0"/>
              <a:t> </a:t>
            </a:r>
            <a:r>
              <a:rPr lang="en-US" dirty="0" smtClean="0">
                <a:latin typeface="Cambria Math"/>
                <a:ea typeface="Cambria Math"/>
              </a:rPr>
              <a:t>−</a:t>
            </a:r>
            <a:r>
              <a:rPr lang="en-US" dirty="0" smtClean="0"/>
              <a:t> </a:t>
            </a:r>
            <a:r>
              <a:rPr lang="en-US" i="1" dirty="0" smtClean="0"/>
              <a:t>b</a:t>
            </a:r>
            <a:r>
              <a:rPr lang="en-US" dirty="0" smtClean="0"/>
              <a:t>.</a:t>
            </a:r>
          </a:p>
          <a:p>
            <a:pPr lvl="1"/>
            <a:r>
              <a:rPr lang="en-US" i="1" dirty="0" smtClean="0"/>
              <a:t>Reflexivity</a:t>
            </a:r>
            <a:r>
              <a:rPr lang="en-US" dirty="0" smtClean="0"/>
              <a:t>:  </a:t>
            </a:r>
            <a:r>
              <a:rPr lang="en-US" i="1" dirty="0" smtClean="0"/>
              <a:t>a</a:t>
            </a:r>
            <a:r>
              <a:rPr lang="en-US" dirty="0" smtClean="0"/>
              <a:t> </a:t>
            </a:r>
            <a:r>
              <a:rPr lang="en-US" dirty="0" smtClean="0">
                <a:latin typeface="Cambria Math"/>
                <a:ea typeface="Cambria Math"/>
              </a:rPr>
              <a:t>≡</a:t>
            </a:r>
            <a:r>
              <a:rPr lang="en-US" dirty="0" smtClean="0"/>
              <a:t> </a:t>
            </a:r>
            <a:r>
              <a:rPr lang="en-US" i="1" dirty="0" smtClean="0"/>
              <a:t>a</a:t>
            </a:r>
            <a:r>
              <a:rPr lang="en-US" dirty="0" smtClean="0"/>
              <a:t> (mod </a:t>
            </a:r>
            <a:r>
              <a:rPr lang="en-US" i="1" dirty="0" smtClean="0"/>
              <a:t>m</a:t>
            </a:r>
            <a:r>
              <a:rPr lang="en-US" dirty="0" smtClean="0"/>
              <a:t>) since </a:t>
            </a:r>
            <a:r>
              <a:rPr lang="en-US" i="1" dirty="0" smtClean="0"/>
              <a:t>a</a:t>
            </a:r>
            <a:r>
              <a:rPr lang="en-US" dirty="0" smtClean="0"/>
              <a:t> </a:t>
            </a:r>
            <a:r>
              <a:rPr lang="en-US" dirty="0" smtClean="0">
                <a:latin typeface="Cambria Math"/>
                <a:ea typeface="Cambria Math"/>
              </a:rPr>
              <a:t>−</a:t>
            </a:r>
            <a:r>
              <a:rPr lang="en-US" dirty="0" smtClean="0"/>
              <a:t> </a:t>
            </a:r>
            <a:r>
              <a:rPr lang="en-US" i="1" dirty="0" smtClean="0"/>
              <a:t>a </a:t>
            </a:r>
            <a:r>
              <a:rPr lang="en-US" dirty="0" smtClean="0"/>
              <a:t>= </a:t>
            </a:r>
            <a:r>
              <a:rPr lang="en-US" dirty="0" smtClean="0">
                <a:latin typeface="Cambria Math" pitchFamily="18" charset="0"/>
                <a:ea typeface="Cambria Math" pitchFamily="18" charset="0"/>
              </a:rPr>
              <a:t>0</a:t>
            </a:r>
            <a:r>
              <a:rPr lang="en-US" dirty="0" smtClean="0"/>
              <a:t> is divisible by </a:t>
            </a:r>
            <a:r>
              <a:rPr lang="en-US" i="1" dirty="0" smtClean="0"/>
              <a:t>m</a:t>
            </a:r>
            <a:r>
              <a:rPr lang="en-US" dirty="0" smtClean="0"/>
              <a:t> since              </a:t>
            </a:r>
            <a:r>
              <a:rPr lang="en-US" dirty="0" smtClean="0">
                <a:latin typeface="Cambria Math" pitchFamily="18" charset="0"/>
                <a:ea typeface="Cambria Math" pitchFamily="18" charset="0"/>
              </a:rPr>
              <a:t>0</a:t>
            </a:r>
            <a:r>
              <a:rPr lang="en-US" dirty="0" smtClean="0"/>
              <a:t> = </a:t>
            </a:r>
            <a:r>
              <a:rPr lang="en-US" dirty="0" smtClean="0">
                <a:latin typeface="Cambria Math" pitchFamily="18" charset="0"/>
                <a:ea typeface="Cambria Math" pitchFamily="18" charset="0"/>
              </a:rPr>
              <a:t>0</a:t>
            </a:r>
            <a:r>
              <a:rPr lang="en-US" dirty="0" smtClean="0"/>
              <a:t> </a:t>
            </a:r>
            <a:r>
              <a:rPr lang="en-US" dirty="0" smtClean="0">
                <a:latin typeface="Cambria Math"/>
                <a:ea typeface="Cambria Math"/>
              </a:rPr>
              <a:t>∙ </a:t>
            </a:r>
            <a:r>
              <a:rPr lang="en-US" i="1" dirty="0" smtClean="0"/>
              <a:t>m</a:t>
            </a:r>
            <a:r>
              <a:rPr lang="en-US" dirty="0" smtClean="0"/>
              <a:t>.</a:t>
            </a:r>
          </a:p>
          <a:p>
            <a:pPr lvl="1"/>
            <a:r>
              <a:rPr lang="en-US" i="1" dirty="0" smtClean="0"/>
              <a:t>Symmetry</a:t>
            </a:r>
            <a:r>
              <a:rPr lang="en-US" dirty="0" smtClean="0"/>
              <a:t>:  Suppose that </a:t>
            </a:r>
            <a:r>
              <a:rPr lang="en-US" i="1" dirty="0" smtClean="0"/>
              <a:t>a</a:t>
            </a:r>
            <a:r>
              <a:rPr lang="en-US" dirty="0" smtClean="0"/>
              <a:t> </a:t>
            </a:r>
            <a:r>
              <a:rPr lang="en-US" dirty="0" smtClean="0">
                <a:latin typeface="Cambria Math"/>
                <a:ea typeface="Cambria Math"/>
              </a:rPr>
              <a:t>≡</a:t>
            </a:r>
            <a:r>
              <a:rPr lang="en-US" dirty="0" smtClean="0"/>
              <a:t> </a:t>
            </a:r>
            <a:r>
              <a:rPr lang="en-US" i="1" dirty="0" smtClean="0"/>
              <a:t>b</a:t>
            </a:r>
            <a:r>
              <a:rPr lang="en-US" dirty="0" smtClean="0"/>
              <a:t> (mod </a:t>
            </a:r>
            <a:r>
              <a:rPr lang="en-US" i="1" dirty="0" smtClean="0"/>
              <a:t>m</a:t>
            </a:r>
            <a:r>
              <a:rPr lang="en-US" dirty="0" smtClean="0"/>
              <a:t>). Then </a:t>
            </a:r>
            <a:r>
              <a:rPr lang="en-US" i="1" dirty="0" smtClean="0"/>
              <a:t>a</a:t>
            </a:r>
            <a:r>
              <a:rPr lang="en-US" dirty="0" smtClean="0"/>
              <a:t> </a:t>
            </a:r>
            <a:r>
              <a:rPr lang="en-US" dirty="0" smtClean="0">
                <a:latin typeface="Cambria Math"/>
                <a:ea typeface="Cambria Math"/>
              </a:rPr>
              <a:t>−</a:t>
            </a:r>
            <a:r>
              <a:rPr lang="en-US" dirty="0" smtClean="0"/>
              <a:t> </a:t>
            </a:r>
            <a:r>
              <a:rPr lang="en-US" i="1" dirty="0" smtClean="0"/>
              <a:t>b</a:t>
            </a:r>
            <a:r>
              <a:rPr lang="en-US" dirty="0" smtClean="0"/>
              <a:t> is divisible by </a:t>
            </a:r>
            <a:r>
              <a:rPr lang="en-US" i="1" dirty="0" smtClean="0"/>
              <a:t>m</a:t>
            </a:r>
            <a:r>
              <a:rPr lang="en-US" dirty="0" smtClean="0"/>
              <a:t>, and so </a:t>
            </a:r>
            <a:r>
              <a:rPr lang="en-US" i="1" dirty="0" smtClean="0"/>
              <a:t>a</a:t>
            </a:r>
            <a:r>
              <a:rPr lang="en-US" dirty="0" smtClean="0"/>
              <a:t> </a:t>
            </a:r>
            <a:r>
              <a:rPr lang="en-US" dirty="0" smtClean="0">
                <a:latin typeface="Cambria Math"/>
                <a:ea typeface="Cambria Math"/>
              </a:rPr>
              <a:t>−</a:t>
            </a:r>
            <a:r>
              <a:rPr lang="en-US" dirty="0" smtClean="0"/>
              <a:t> </a:t>
            </a:r>
            <a:r>
              <a:rPr lang="en-US" i="1" dirty="0" smtClean="0"/>
              <a:t>b</a:t>
            </a:r>
            <a:r>
              <a:rPr lang="en-US" dirty="0" smtClean="0"/>
              <a:t> = </a:t>
            </a:r>
            <a:r>
              <a:rPr lang="en-US" i="1" dirty="0" smtClean="0">
                <a:ea typeface="Cambria Math" pitchFamily="18" charset="0"/>
              </a:rPr>
              <a:t>k</a:t>
            </a:r>
            <a:r>
              <a:rPr lang="en-US" i="1" dirty="0" smtClean="0"/>
              <a:t>m</a:t>
            </a:r>
            <a:r>
              <a:rPr lang="en-US" dirty="0" smtClean="0"/>
              <a:t>, where </a:t>
            </a:r>
            <a:r>
              <a:rPr lang="en-US" i="1" dirty="0" smtClean="0"/>
              <a:t>k</a:t>
            </a:r>
            <a:r>
              <a:rPr lang="en-US" dirty="0" smtClean="0"/>
              <a:t> is an integer. It follows that</a:t>
            </a:r>
            <a:r>
              <a:rPr lang="en-US" i="1" dirty="0" smtClean="0"/>
              <a:t> b</a:t>
            </a:r>
            <a:r>
              <a:rPr lang="en-US" dirty="0" smtClean="0"/>
              <a:t> </a:t>
            </a:r>
            <a:r>
              <a:rPr lang="en-US" dirty="0" smtClean="0">
                <a:latin typeface="Cambria Math"/>
                <a:ea typeface="Cambria Math"/>
              </a:rPr>
              <a:t>−</a:t>
            </a:r>
            <a:r>
              <a:rPr lang="en-US" dirty="0" smtClean="0"/>
              <a:t> </a:t>
            </a:r>
            <a:r>
              <a:rPr lang="en-US" i="1" dirty="0" smtClean="0"/>
              <a:t>a</a:t>
            </a:r>
            <a:r>
              <a:rPr lang="en-US" dirty="0" smtClean="0"/>
              <a:t> = (</a:t>
            </a:r>
            <a:r>
              <a:rPr lang="en-US" dirty="0" smtClean="0">
                <a:latin typeface="Cambria Math"/>
                <a:ea typeface="Cambria Math"/>
              </a:rPr>
              <a:t>− </a:t>
            </a:r>
            <a:r>
              <a:rPr lang="en-US" i="1" dirty="0" smtClean="0">
                <a:ea typeface="Cambria Math" pitchFamily="18" charset="0"/>
              </a:rPr>
              <a:t>k</a:t>
            </a:r>
            <a:r>
              <a:rPr lang="en-US" dirty="0" smtClean="0">
                <a:ea typeface="Cambria Math" pitchFamily="18" charset="0"/>
              </a:rPr>
              <a:t>)</a:t>
            </a:r>
            <a:r>
              <a:rPr lang="en-US" dirty="0" smtClean="0"/>
              <a:t> </a:t>
            </a:r>
            <a:r>
              <a:rPr lang="en-US" i="1" dirty="0" smtClean="0"/>
              <a:t>m, so b</a:t>
            </a:r>
            <a:r>
              <a:rPr lang="en-US" dirty="0" smtClean="0"/>
              <a:t> </a:t>
            </a:r>
            <a:r>
              <a:rPr lang="en-US" dirty="0" smtClean="0">
                <a:latin typeface="Cambria Math"/>
                <a:ea typeface="Cambria Math"/>
              </a:rPr>
              <a:t>≡</a:t>
            </a:r>
            <a:r>
              <a:rPr lang="en-US" dirty="0" smtClean="0"/>
              <a:t> </a:t>
            </a:r>
            <a:r>
              <a:rPr lang="en-US" i="1" dirty="0" smtClean="0"/>
              <a:t>a</a:t>
            </a:r>
            <a:r>
              <a:rPr lang="en-US" dirty="0" smtClean="0"/>
              <a:t> (mod </a:t>
            </a:r>
            <a:r>
              <a:rPr lang="en-US" i="1" dirty="0" smtClean="0"/>
              <a:t>m</a:t>
            </a:r>
            <a:r>
              <a:rPr lang="en-US" dirty="0" smtClean="0"/>
              <a:t>). </a:t>
            </a:r>
          </a:p>
          <a:p>
            <a:pPr lvl="1"/>
            <a:r>
              <a:rPr lang="en-US" i="1" dirty="0" smtClean="0"/>
              <a:t>Transitivity</a:t>
            </a:r>
            <a:r>
              <a:rPr lang="en-US" dirty="0" smtClean="0"/>
              <a:t>: Suppose that </a:t>
            </a:r>
            <a:r>
              <a:rPr lang="en-US" i="1" dirty="0" smtClean="0"/>
              <a:t>a</a:t>
            </a:r>
            <a:r>
              <a:rPr lang="en-US" dirty="0" smtClean="0"/>
              <a:t> </a:t>
            </a:r>
            <a:r>
              <a:rPr lang="en-US" dirty="0" smtClean="0">
                <a:latin typeface="Cambria Math"/>
                <a:ea typeface="Cambria Math"/>
              </a:rPr>
              <a:t>≡</a:t>
            </a:r>
            <a:r>
              <a:rPr lang="en-US" dirty="0" smtClean="0"/>
              <a:t> </a:t>
            </a:r>
            <a:r>
              <a:rPr lang="en-US" i="1" dirty="0" smtClean="0"/>
              <a:t>b</a:t>
            </a:r>
            <a:r>
              <a:rPr lang="en-US" dirty="0" smtClean="0"/>
              <a:t> (mod </a:t>
            </a:r>
            <a:r>
              <a:rPr lang="en-US" i="1" dirty="0" smtClean="0"/>
              <a:t>m</a:t>
            </a:r>
            <a:r>
              <a:rPr lang="en-US" dirty="0" smtClean="0"/>
              <a:t>) and </a:t>
            </a:r>
            <a:r>
              <a:rPr lang="en-US" i="1" dirty="0" smtClean="0"/>
              <a:t>b</a:t>
            </a:r>
            <a:r>
              <a:rPr lang="en-US" dirty="0" smtClean="0"/>
              <a:t> </a:t>
            </a:r>
            <a:r>
              <a:rPr lang="en-US" dirty="0" smtClean="0">
                <a:latin typeface="Cambria Math"/>
                <a:ea typeface="Cambria Math"/>
              </a:rPr>
              <a:t>≡</a:t>
            </a:r>
            <a:r>
              <a:rPr lang="en-US" dirty="0" smtClean="0"/>
              <a:t> </a:t>
            </a:r>
            <a:r>
              <a:rPr lang="en-US" i="1" dirty="0" smtClean="0"/>
              <a:t>c</a:t>
            </a:r>
            <a:r>
              <a:rPr lang="en-US" dirty="0" smtClean="0"/>
              <a:t> (mod </a:t>
            </a:r>
            <a:r>
              <a:rPr lang="en-US" i="1" dirty="0" smtClean="0"/>
              <a:t>m</a:t>
            </a:r>
            <a:r>
              <a:rPr lang="en-US" dirty="0" smtClean="0"/>
              <a:t>). Then </a:t>
            </a:r>
            <a:r>
              <a:rPr lang="en-US" i="1" dirty="0" smtClean="0"/>
              <a:t>m</a:t>
            </a:r>
            <a:r>
              <a:rPr lang="en-US" dirty="0" smtClean="0"/>
              <a:t> divides both </a:t>
            </a:r>
            <a:r>
              <a:rPr lang="en-US" i="1" dirty="0" smtClean="0"/>
              <a:t>a</a:t>
            </a:r>
            <a:r>
              <a:rPr lang="en-US" dirty="0" smtClean="0"/>
              <a:t> </a:t>
            </a:r>
            <a:r>
              <a:rPr lang="en-US" dirty="0" smtClean="0">
                <a:latin typeface="Cambria Math"/>
                <a:ea typeface="Cambria Math"/>
              </a:rPr>
              <a:t>−</a:t>
            </a:r>
            <a:r>
              <a:rPr lang="en-US" dirty="0" smtClean="0"/>
              <a:t> </a:t>
            </a:r>
            <a:r>
              <a:rPr lang="en-US" i="1" dirty="0" smtClean="0"/>
              <a:t>b</a:t>
            </a:r>
            <a:r>
              <a:rPr lang="en-US" dirty="0" smtClean="0"/>
              <a:t> and </a:t>
            </a:r>
            <a:r>
              <a:rPr lang="en-US" i="1" dirty="0" smtClean="0"/>
              <a:t>b</a:t>
            </a:r>
            <a:r>
              <a:rPr lang="en-US" dirty="0" smtClean="0"/>
              <a:t> </a:t>
            </a:r>
            <a:r>
              <a:rPr lang="en-US" dirty="0" smtClean="0">
                <a:latin typeface="Cambria Math"/>
                <a:ea typeface="Cambria Math"/>
              </a:rPr>
              <a:t>−</a:t>
            </a:r>
            <a:r>
              <a:rPr lang="en-US" dirty="0" smtClean="0"/>
              <a:t> </a:t>
            </a:r>
            <a:r>
              <a:rPr lang="en-US" i="1" dirty="0" smtClean="0"/>
              <a:t>c.</a:t>
            </a:r>
            <a:r>
              <a:rPr lang="en-US" dirty="0" smtClean="0"/>
              <a:t> Hence, there are integers </a:t>
            </a:r>
            <a:r>
              <a:rPr lang="en-US" i="1" dirty="0" smtClean="0"/>
              <a:t>k</a:t>
            </a:r>
            <a:r>
              <a:rPr lang="en-US" dirty="0" smtClean="0"/>
              <a:t> and </a:t>
            </a:r>
            <a:r>
              <a:rPr lang="en-US" i="1" dirty="0" smtClean="0"/>
              <a:t>l </a:t>
            </a:r>
            <a:r>
              <a:rPr lang="en-US" dirty="0" smtClean="0"/>
              <a:t>with          </a:t>
            </a:r>
            <a:r>
              <a:rPr lang="en-US" i="1" dirty="0" smtClean="0"/>
              <a:t> a</a:t>
            </a:r>
            <a:r>
              <a:rPr lang="en-US" dirty="0" smtClean="0"/>
              <a:t> </a:t>
            </a:r>
            <a:r>
              <a:rPr lang="en-US" dirty="0" smtClean="0">
                <a:latin typeface="Cambria Math"/>
                <a:ea typeface="Cambria Math"/>
              </a:rPr>
              <a:t>−</a:t>
            </a:r>
            <a:r>
              <a:rPr lang="en-US" dirty="0" smtClean="0"/>
              <a:t> </a:t>
            </a:r>
            <a:r>
              <a:rPr lang="en-US" i="1" dirty="0" smtClean="0"/>
              <a:t>b</a:t>
            </a:r>
            <a:r>
              <a:rPr lang="en-US" dirty="0" smtClean="0"/>
              <a:t> = </a:t>
            </a:r>
            <a:r>
              <a:rPr lang="en-US" i="1" dirty="0" smtClean="0">
                <a:ea typeface="Cambria Math" pitchFamily="18" charset="0"/>
              </a:rPr>
              <a:t>k</a:t>
            </a:r>
            <a:r>
              <a:rPr lang="en-US" i="1" dirty="0" smtClean="0"/>
              <a:t>m  and b</a:t>
            </a:r>
            <a:r>
              <a:rPr lang="en-US" dirty="0" smtClean="0"/>
              <a:t> </a:t>
            </a:r>
            <a:r>
              <a:rPr lang="en-US" dirty="0" smtClean="0">
                <a:latin typeface="Cambria Math"/>
                <a:ea typeface="Cambria Math"/>
              </a:rPr>
              <a:t>−</a:t>
            </a:r>
            <a:r>
              <a:rPr lang="en-US" dirty="0" smtClean="0"/>
              <a:t> </a:t>
            </a:r>
            <a:r>
              <a:rPr lang="en-US" i="1" dirty="0" smtClean="0"/>
              <a:t>c</a:t>
            </a:r>
            <a:r>
              <a:rPr lang="en-US" dirty="0" smtClean="0"/>
              <a:t> = </a:t>
            </a:r>
            <a:r>
              <a:rPr lang="en-US" i="1" dirty="0" smtClean="0">
                <a:ea typeface="Cambria Math" pitchFamily="18" charset="0"/>
              </a:rPr>
              <a:t>l</a:t>
            </a:r>
            <a:r>
              <a:rPr lang="en-US" i="1" dirty="0" smtClean="0"/>
              <a:t>m. </a:t>
            </a:r>
            <a:r>
              <a:rPr lang="en-US" dirty="0" smtClean="0"/>
              <a:t>We obtain by adding the equations: </a:t>
            </a:r>
          </a:p>
          <a:p>
            <a:pPr lvl="1">
              <a:buNone/>
            </a:pPr>
            <a:r>
              <a:rPr lang="en-US" dirty="0" smtClean="0"/>
              <a:t>               </a:t>
            </a:r>
            <a:r>
              <a:rPr lang="en-US" i="1" dirty="0" smtClean="0"/>
              <a:t>a</a:t>
            </a:r>
            <a:r>
              <a:rPr lang="en-US" dirty="0" smtClean="0"/>
              <a:t> </a:t>
            </a:r>
            <a:r>
              <a:rPr lang="en-US" dirty="0" smtClean="0">
                <a:latin typeface="Cambria Math"/>
                <a:ea typeface="Cambria Math"/>
              </a:rPr>
              <a:t>−</a:t>
            </a:r>
            <a:r>
              <a:rPr lang="en-US" dirty="0" smtClean="0"/>
              <a:t> </a:t>
            </a:r>
            <a:r>
              <a:rPr lang="en-US" i="1" dirty="0" smtClean="0"/>
              <a:t>c</a:t>
            </a:r>
            <a:r>
              <a:rPr lang="en-US" dirty="0" smtClean="0"/>
              <a:t> = (</a:t>
            </a:r>
            <a:r>
              <a:rPr lang="en-US" i="1" dirty="0" smtClean="0"/>
              <a:t>a</a:t>
            </a:r>
            <a:r>
              <a:rPr lang="en-US" dirty="0" smtClean="0"/>
              <a:t> </a:t>
            </a:r>
            <a:r>
              <a:rPr lang="en-US" dirty="0" smtClean="0">
                <a:latin typeface="Cambria Math"/>
                <a:ea typeface="Cambria Math"/>
              </a:rPr>
              <a:t>−</a:t>
            </a:r>
            <a:r>
              <a:rPr lang="en-US" dirty="0" smtClean="0"/>
              <a:t> </a:t>
            </a:r>
            <a:r>
              <a:rPr lang="en-US" i="1" dirty="0" smtClean="0"/>
              <a:t>b</a:t>
            </a:r>
            <a:r>
              <a:rPr lang="en-US" dirty="0" smtClean="0"/>
              <a:t>) </a:t>
            </a:r>
            <a:r>
              <a:rPr lang="en-US" i="1" dirty="0" smtClean="0">
                <a:ea typeface="Cambria Math" pitchFamily="18" charset="0"/>
              </a:rPr>
              <a:t> + </a:t>
            </a:r>
            <a:r>
              <a:rPr lang="en-US" dirty="0" smtClean="0"/>
              <a:t>(</a:t>
            </a:r>
            <a:r>
              <a:rPr lang="en-US" i="1" dirty="0" smtClean="0"/>
              <a:t>b</a:t>
            </a:r>
            <a:r>
              <a:rPr lang="en-US" dirty="0" smtClean="0"/>
              <a:t> </a:t>
            </a:r>
            <a:r>
              <a:rPr lang="en-US" dirty="0" smtClean="0">
                <a:latin typeface="Cambria Math"/>
                <a:ea typeface="Cambria Math"/>
              </a:rPr>
              <a:t>−</a:t>
            </a:r>
            <a:r>
              <a:rPr lang="en-US" dirty="0" smtClean="0"/>
              <a:t> </a:t>
            </a:r>
            <a:r>
              <a:rPr lang="en-US" i="1" dirty="0" smtClean="0"/>
              <a:t>c</a:t>
            </a:r>
            <a:r>
              <a:rPr lang="en-US" dirty="0" smtClean="0"/>
              <a:t>)  = </a:t>
            </a:r>
            <a:r>
              <a:rPr lang="en-US" i="1" dirty="0" smtClean="0">
                <a:ea typeface="Cambria Math" pitchFamily="18" charset="0"/>
              </a:rPr>
              <a:t>k</a:t>
            </a:r>
            <a:r>
              <a:rPr lang="en-US" i="1" dirty="0" smtClean="0"/>
              <a:t>m</a:t>
            </a:r>
            <a:r>
              <a:rPr lang="en-US" dirty="0" smtClean="0"/>
              <a:t> +</a:t>
            </a:r>
            <a:r>
              <a:rPr lang="en-US" i="1" dirty="0" smtClean="0">
                <a:ea typeface="Cambria Math" pitchFamily="18" charset="0"/>
              </a:rPr>
              <a:t> l</a:t>
            </a:r>
            <a:r>
              <a:rPr lang="en-US" i="1" dirty="0" smtClean="0"/>
              <a:t>m = </a:t>
            </a:r>
            <a:r>
              <a:rPr lang="en-US" dirty="0" smtClean="0"/>
              <a:t>(</a:t>
            </a:r>
            <a:r>
              <a:rPr lang="en-US" i="1" dirty="0" smtClean="0"/>
              <a:t>k + l</a:t>
            </a:r>
            <a:r>
              <a:rPr lang="en-US" dirty="0" smtClean="0"/>
              <a:t>)</a:t>
            </a:r>
            <a:r>
              <a:rPr lang="en-US" i="1" dirty="0" smtClean="0"/>
              <a:t> m.</a:t>
            </a:r>
            <a:endParaRPr lang="en-US" dirty="0" smtClean="0"/>
          </a:p>
          <a:p>
            <a:pPr lvl="1">
              <a:buNone/>
            </a:pPr>
            <a:r>
              <a:rPr lang="en-US" dirty="0" smtClean="0"/>
              <a:t>    Therefore, </a:t>
            </a:r>
            <a:r>
              <a:rPr lang="en-US" i="1" dirty="0" smtClean="0"/>
              <a:t>a</a:t>
            </a:r>
            <a:r>
              <a:rPr lang="en-US" dirty="0" smtClean="0"/>
              <a:t> </a:t>
            </a:r>
            <a:r>
              <a:rPr lang="en-US" dirty="0" smtClean="0">
                <a:latin typeface="Cambria Math"/>
                <a:ea typeface="Cambria Math"/>
              </a:rPr>
              <a:t>≡</a:t>
            </a:r>
            <a:r>
              <a:rPr lang="en-US" dirty="0" smtClean="0"/>
              <a:t> </a:t>
            </a:r>
            <a:r>
              <a:rPr lang="en-US" i="1" dirty="0" smtClean="0"/>
              <a:t>c</a:t>
            </a:r>
            <a:r>
              <a:rPr lang="en-US" dirty="0" smtClean="0"/>
              <a:t> (mod </a:t>
            </a:r>
            <a:r>
              <a:rPr lang="en-US" i="1" dirty="0" smtClean="0"/>
              <a:t>m</a:t>
            </a:r>
            <a:r>
              <a:rPr lang="en-US" dirty="0" smtClean="0"/>
              <a:t>).</a:t>
            </a:r>
          </a:p>
          <a:p>
            <a:pPr>
              <a:buNone/>
            </a:pPr>
            <a:endParaRPr lang="en-US" dirty="0" smtClean="0"/>
          </a:p>
          <a:p>
            <a:pPr>
              <a:buNone/>
            </a:pPr>
            <a:endParaRPr lang="en-US" dirty="0" smtClean="0"/>
          </a:p>
          <a:p>
            <a:pPr>
              <a:buNone/>
            </a:pPr>
            <a:endParaRPr lang="en-US" dirty="0" smtClean="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Divides</a:t>
            </a:r>
            <a:endParaRPr lang="en-US" dirty="0"/>
          </a:p>
        </p:txBody>
      </p:sp>
      <p:sp>
        <p:nvSpPr>
          <p:cNvPr id="3" name="Content Placeholder 2"/>
          <p:cNvSpPr>
            <a:spLocks noGrp="1"/>
          </p:cNvSpPr>
          <p:nvPr>
            <p:ph idx="1"/>
          </p:nvPr>
        </p:nvSpPr>
        <p:spPr/>
        <p:txBody>
          <a:bodyPr>
            <a:normAutofit fontScale="85000" lnSpcReduction="20000"/>
          </a:bodyPr>
          <a:lstStyle/>
          <a:p>
            <a:pPr>
              <a:buNone/>
            </a:pPr>
            <a:r>
              <a:rPr lang="en-US" b="1" dirty="0" smtClean="0"/>
              <a:t>   Example</a:t>
            </a:r>
            <a:r>
              <a:rPr lang="en-US" dirty="0" smtClean="0"/>
              <a:t>:  Show that the “divides” relation on the set of positive integers is not an equivalence relation.</a:t>
            </a:r>
          </a:p>
          <a:p>
            <a:pPr>
              <a:buNone/>
            </a:pPr>
            <a:r>
              <a:rPr lang="en-US" dirty="0" smtClean="0"/>
              <a:t>   </a:t>
            </a:r>
            <a:r>
              <a:rPr lang="en-US" b="1" dirty="0" smtClean="0"/>
              <a:t>Solution</a:t>
            </a:r>
            <a:r>
              <a:rPr lang="en-US" dirty="0" smtClean="0"/>
              <a:t>: The properties of reflexivity, and transitivity do hold, but there relation is not transitive. Hence, “divides” is not an equivalence relation.</a:t>
            </a:r>
          </a:p>
          <a:p>
            <a:pPr lvl="1"/>
            <a:r>
              <a:rPr lang="en-US" i="1" dirty="0" smtClean="0"/>
              <a:t>Reflexivity</a:t>
            </a:r>
            <a:r>
              <a:rPr lang="en-US" dirty="0" smtClean="0"/>
              <a:t>:  </a:t>
            </a:r>
            <a:r>
              <a:rPr lang="en-US" i="1" dirty="0" smtClean="0"/>
              <a:t>a</a:t>
            </a:r>
            <a:r>
              <a:rPr lang="en-US" dirty="0" smtClean="0"/>
              <a:t> </a:t>
            </a:r>
            <a:r>
              <a:rPr lang="en-US" dirty="0" smtClean="0">
                <a:latin typeface="Cambria Math"/>
                <a:ea typeface="Cambria Math"/>
              </a:rPr>
              <a:t>∣ </a:t>
            </a:r>
            <a:r>
              <a:rPr lang="en-US" i="1" dirty="0" smtClean="0">
                <a:ea typeface="Cambria Math"/>
              </a:rPr>
              <a:t>a</a:t>
            </a:r>
            <a:r>
              <a:rPr lang="en-US" dirty="0" smtClean="0">
                <a:latin typeface="Cambria Math"/>
                <a:ea typeface="Cambria Math"/>
              </a:rPr>
              <a:t> for all </a:t>
            </a:r>
            <a:r>
              <a:rPr lang="en-US" i="1" dirty="0" smtClean="0">
                <a:ea typeface="Cambria Math"/>
              </a:rPr>
              <a:t>a</a:t>
            </a:r>
            <a:r>
              <a:rPr lang="en-US" dirty="0" smtClean="0">
                <a:latin typeface="Cambria Math"/>
                <a:ea typeface="Cambria Math"/>
              </a:rPr>
              <a:t>. </a:t>
            </a:r>
            <a:endParaRPr lang="en-US" dirty="0" smtClean="0"/>
          </a:p>
          <a:p>
            <a:pPr lvl="1"/>
            <a:r>
              <a:rPr lang="en-US" i="1" dirty="0" smtClean="0"/>
              <a:t>Not Symmetric</a:t>
            </a:r>
            <a:r>
              <a:rPr lang="en-US" dirty="0" smtClean="0"/>
              <a:t>: For example, </a:t>
            </a:r>
            <a:r>
              <a:rPr lang="en-US" dirty="0" smtClean="0">
                <a:latin typeface="Cambria Math" pitchFamily="18" charset="0"/>
                <a:ea typeface="Cambria Math" pitchFamily="18" charset="0"/>
              </a:rPr>
              <a:t>2</a:t>
            </a:r>
            <a:r>
              <a:rPr lang="en-US" dirty="0" smtClean="0"/>
              <a:t> </a:t>
            </a:r>
            <a:r>
              <a:rPr lang="en-US" dirty="0" smtClean="0">
                <a:latin typeface="Cambria Math"/>
                <a:ea typeface="Cambria Math"/>
              </a:rPr>
              <a:t>∣</a:t>
            </a:r>
            <a:r>
              <a:rPr lang="en-US" dirty="0" smtClean="0"/>
              <a:t> </a:t>
            </a:r>
            <a:r>
              <a:rPr lang="en-US" dirty="0" smtClean="0">
                <a:latin typeface="Cambria Math" pitchFamily="18" charset="0"/>
                <a:ea typeface="Cambria Math" pitchFamily="18" charset="0"/>
              </a:rPr>
              <a:t>4</a:t>
            </a:r>
            <a:r>
              <a:rPr lang="en-US" dirty="0" smtClean="0"/>
              <a:t>, but </a:t>
            </a:r>
            <a:r>
              <a:rPr lang="en-US" dirty="0" smtClean="0">
                <a:latin typeface="Cambria Math" pitchFamily="18" charset="0"/>
                <a:ea typeface="Cambria Math" pitchFamily="18" charset="0"/>
              </a:rPr>
              <a:t>4</a:t>
            </a:r>
            <a:r>
              <a:rPr lang="en-US" dirty="0" smtClean="0"/>
              <a:t> </a:t>
            </a:r>
            <a:r>
              <a:rPr lang="en-US" dirty="0" smtClean="0">
                <a:latin typeface="Cambria Math"/>
                <a:ea typeface="Cambria Math"/>
              </a:rPr>
              <a:t>∤ 2. </a:t>
            </a:r>
            <a:r>
              <a:rPr lang="en-US" dirty="0" smtClean="0">
                <a:ea typeface="Cambria Math"/>
              </a:rPr>
              <a:t>Hence, the relation is not symmetric. </a:t>
            </a:r>
            <a:endParaRPr lang="en-US" dirty="0" smtClean="0"/>
          </a:p>
          <a:p>
            <a:pPr lvl="1"/>
            <a:r>
              <a:rPr lang="en-US" i="1" dirty="0" smtClean="0"/>
              <a:t>Transitivity</a:t>
            </a:r>
            <a:r>
              <a:rPr lang="en-US" dirty="0" smtClean="0"/>
              <a:t>:  Suppose that </a:t>
            </a:r>
            <a:r>
              <a:rPr lang="en-US" i="1" dirty="0" smtClean="0"/>
              <a:t>a</a:t>
            </a:r>
            <a:r>
              <a:rPr lang="en-US" dirty="0" smtClean="0"/>
              <a:t> divides </a:t>
            </a:r>
            <a:r>
              <a:rPr lang="en-US" i="1" dirty="0" smtClean="0"/>
              <a:t>b</a:t>
            </a:r>
            <a:r>
              <a:rPr lang="en-US" dirty="0" smtClean="0"/>
              <a:t> and </a:t>
            </a:r>
            <a:r>
              <a:rPr lang="en-US" i="1" dirty="0" smtClean="0"/>
              <a:t>b</a:t>
            </a:r>
            <a:r>
              <a:rPr lang="en-US" dirty="0" smtClean="0"/>
              <a:t> divides </a:t>
            </a:r>
            <a:r>
              <a:rPr lang="en-US" i="1" dirty="0" smtClean="0"/>
              <a:t>c</a:t>
            </a:r>
            <a:r>
              <a:rPr lang="en-US" dirty="0" smtClean="0"/>
              <a:t>. Then there are positive integers </a:t>
            </a:r>
            <a:r>
              <a:rPr lang="en-US" i="1" dirty="0" smtClean="0"/>
              <a:t>k</a:t>
            </a:r>
            <a:r>
              <a:rPr lang="en-US" dirty="0" smtClean="0"/>
              <a:t> and </a:t>
            </a:r>
            <a:r>
              <a:rPr lang="en-US" i="1" dirty="0" smtClean="0"/>
              <a:t>l </a:t>
            </a:r>
            <a:r>
              <a:rPr lang="en-US" dirty="0" smtClean="0"/>
              <a:t>such that </a:t>
            </a:r>
            <a:r>
              <a:rPr lang="en-US" i="1" dirty="0" smtClean="0"/>
              <a:t>b</a:t>
            </a:r>
            <a:r>
              <a:rPr lang="en-US" dirty="0" smtClean="0"/>
              <a:t> = </a:t>
            </a:r>
            <a:r>
              <a:rPr lang="en-US" i="1" dirty="0" err="1" smtClean="0"/>
              <a:t>ak</a:t>
            </a:r>
            <a:r>
              <a:rPr lang="en-US" dirty="0" smtClean="0"/>
              <a:t> and </a:t>
            </a:r>
            <a:r>
              <a:rPr lang="en-US" i="1" dirty="0" smtClean="0"/>
              <a:t>c</a:t>
            </a:r>
            <a:r>
              <a:rPr lang="en-US" dirty="0" smtClean="0"/>
              <a:t> = </a:t>
            </a:r>
            <a:r>
              <a:rPr lang="en-US" i="1" dirty="0" smtClean="0"/>
              <a:t>bl</a:t>
            </a:r>
            <a:r>
              <a:rPr lang="en-US" dirty="0" smtClean="0"/>
              <a:t>. Hence, </a:t>
            </a:r>
            <a:r>
              <a:rPr lang="en-US" i="1" dirty="0" smtClean="0"/>
              <a:t>c</a:t>
            </a:r>
            <a:r>
              <a:rPr lang="en-US" dirty="0" smtClean="0"/>
              <a:t> = </a:t>
            </a:r>
            <a:r>
              <a:rPr lang="en-US" i="1" dirty="0" smtClean="0"/>
              <a:t>a</a:t>
            </a:r>
            <a:r>
              <a:rPr lang="en-US" dirty="0" smtClean="0"/>
              <a:t>(</a:t>
            </a:r>
            <a:r>
              <a:rPr lang="en-US" i="1" dirty="0" err="1" smtClean="0"/>
              <a:t>kl</a:t>
            </a:r>
            <a:r>
              <a:rPr lang="en-US" dirty="0" smtClean="0"/>
              <a:t>), so </a:t>
            </a:r>
            <a:r>
              <a:rPr lang="en-US" i="1" dirty="0" smtClean="0"/>
              <a:t>a</a:t>
            </a:r>
            <a:r>
              <a:rPr lang="en-US" dirty="0" smtClean="0"/>
              <a:t> divides </a:t>
            </a:r>
            <a:r>
              <a:rPr lang="en-US" i="1" dirty="0" smtClean="0"/>
              <a:t>c</a:t>
            </a:r>
            <a:r>
              <a:rPr lang="en-US" dirty="0" smtClean="0"/>
              <a:t>. Therefore, the relation is transitive. </a:t>
            </a:r>
          </a:p>
          <a:p>
            <a:pPr>
              <a:buNone/>
            </a:pPr>
            <a:endParaRPr lang="en-US" dirty="0" smtClean="0"/>
          </a:p>
          <a:p>
            <a:pPr>
              <a:buNone/>
            </a:pPr>
            <a:endParaRPr lang="en-US" dirty="0" smtClean="0"/>
          </a:p>
          <a:p>
            <a:pPr>
              <a:buNone/>
            </a:pPr>
            <a:r>
              <a:rPr lang="en-US" dirty="0" smtClean="0"/>
              <a:t>         </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Equivalence Classes</a:t>
            </a:r>
            <a:endParaRPr lang="en-US" dirty="0"/>
          </a:p>
        </p:txBody>
      </p:sp>
      <p:sp>
        <p:nvSpPr>
          <p:cNvPr id="3" name="Content Placeholder 2"/>
          <p:cNvSpPr>
            <a:spLocks noGrp="1"/>
          </p:cNvSpPr>
          <p:nvPr>
            <p:ph idx="1"/>
          </p:nvPr>
        </p:nvSpPr>
        <p:spPr/>
        <p:txBody>
          <a:bodyPr>
            <a:normAutofit fontScale="70000" lnSpcReduction="20000"/>
          </a:bodyPr>
          <a:lstStyle/>
          <a:p>
            <a:pPr>
              <a:buNone/>
            </a:pPr>
            <a:r>
              <a:rPr lang="en-US" b="1" dirty="0" smtClean="0"/>
              <a:t>     Definition </a:t>
            </a:r>
            <a:r>
              <a:rPr lang="en-US" b="1" dirty="0" smtClean="0">
                <a:latin typeface="Cambria Math" pitchFamily="18" charset="0"/>
                <a:ea typeface="Cambria Math" pitchFamily="18" charset="0"/>
              </a:rPr>
              <a:t>3</a:t>
            </a:r>
            <a:r>
              <a:rPr lang="en-US" dirty="0" smtClean="0"/>
              <a:t>:  Let </a:t>
            </a:r>
            <a:r>
              <a:rPr lang="en-US" i="1" dirty="0" smtClean="0"/>
              <a:t>R</a:t>
            </a:r>
            <a:r>
              <a:rPr lang="en-US" dirty="0" smtClean="0"/>
              <a:t> be an equivalence relation on a set </a:t>
            </a:r>
            <a:r>
              <a:rPr lang="en-US" i="1" dirty="0" smtClean="0"/>
              <a:t>A. </a:t>
            </a:r>
            <a:r>
              <a:rPr lang="en-US" dirty="0" smtClean="0"/>
              <a:t> The set of all elements that are related to an element </a:t>
            </a:r>
            <a:r>
              <a:rPr lang="en-US" i="1" dirty="0" smtClean="0"/>
              <a:t>a</a:t>
            </a:r>
            <a:r>
              <a:rPr lang="en-US" dirty="0" smtClean="0"/>
              <a:t> of </a:t>
            </a:r>
            <a:r>
              <a:rPr lang="en-US" i="1" dirty="0" smtClean="0"/>
              <a:t>A</a:t>
            </a:r>
            <a:r>
              <a:rPr lang="en-US" dirty="0" smtClean="0"/>
              <a:t> is called the  </a:t>
            </a:r>
            <a:r>
              <a:rPr lang="en-US" i="1" dirty="0" smtClean="0"/>
              <a:t>equivalence class </a:t>
            </a:r>
            <a:r>
              <a:rPr lang="en-US" dirty="0" smtClean="0"/>
              <a:t>of </a:t>
            </a:r>
            <a:r>
              <a:rPr lang="en-US" i="1" dirty="0" smtClean="0"/>
              <a:t>a</a:t>
            </a:r>
            <a:r>
              <a:rPr lang="en-US" dirty="0" smtClean="0"/>
              <a:t>. The equivalence class of </a:t>
            </a:r>
            <a:r>
              <a:rPr lang="en-US" i="1" dirty="0" smtClean="0"/>
              <a:t>a</a:t>
            </a:r>
            <a:r>
              <a:rPr lang="en-US" dirty="0" smtClean="0"/>
              <a:t> with respect to </a:t>
            </a:r>
            <a:r>
              <a:rPr lang="en-US" i="1" dirty="0" smtClean="0"/>
              <a:t>R</a:t>
            </a:r>
            <a:r>
              <a:rPr lang="en-US" dirty="0" smtClean="0"/>
              <a:t> is denoted by [</a:t>
            </a:r>
            <a:r>
              <a:rPr lang="en-US" i="1" dirty="0" smtClean="0"/>
              <a:t>a</a:t>
            </a:r>
            <a:r>
              <a:rPr lang="en-US" dirty="0" smtClean="0"/>
              <a:t>]</a:t>
            </a:r>
            <a:r>
              <a:rPr lang="en-US" i="1" baseline="-25000" dirty="0" smtClean="0"/>
              <a:t>R</a:t>
            </a:r>
            <a:r>
              <a:rPr lang="en-US" dirty="0" smtClean="0"/>
              <a:t>.  </a:t>
            </a:r>
          </a:p>
          <a:p>
            <a:pPr>
              <a:buNone/>
            </a:pPr>
            <a:r>
              <a:rPr lang="en-US" dirty="0" smtClean="0"/>
              <a:t>     When only one relation is under consideration, we can write [</a:t>
            </a:r>
            <a:r>
              <a:rPr lang="en-US" i="1" dirty="0" smtClean="0"/>
              <a:t>a</a:t>
            </a:r>
            <a:r>
              <a:rPr lang="en-US" dirty="0" smtClean="0"/>
              <a:t>], without the subscript </a:t>
            </a:r>
            <a:r>
              <a:rPr lang="en-US" i="1" dirty="0" smtClean="0"/>
              <a:t>R</a:t>
            </a:r>
            <a:r>
              <a:rPr lang="en-US" dirty="0" smtClean="0"/>
              <a:t>,  for this equivalence class. </a:t>
            </a:r>
          </a:p>
          <a:p>
            <a:pPr>
              <a:buNone/>
            </a:pPr>
            <a:r>
              <a:rPr lang="en-US" dirty="0" smtClean="0"/>
              <a:t> </a:t>
            </a:r>
          </a:p>
          <a:p>
            <a:pPr>
              <a:buNone/>
            </a:pPr>
            <a:r>
              <a:rPr lang="en-US" dirty="0" smtClean="0"/>
              <a:t>      Note that  [</a:t>
            </a:r>
            <a:r>
              <a:rPr lang="en-US" i="1" dirty="0" smtClean="0"/>
              <a:t>a</a:t>
            </a:r>
            <a:r>
              <a:rPr lang="en-US" dirty="0" smtClean="0"/>
              <a:t>]</a:t>
            </a:r>
            <a:r>
              <a:rPr lang="en-US" i="1" baseline="-25000" dirty="0" smtClean="0"/>
              <a:t>R </a:t>
            </a:r>
            <a:r>
              <a:rPr lang="en-US" i="1" dirty="0" smtClean="0"/>
              <a:t>= </a:t>
            </a:r>
            <a:r>
              <a:rPr lang="en-US" dirty="0" smtClean="0"/>
              <a:t>{</a:t>
            </a:r>
            <a:r>
              <a:rPr lang="en-US" i="1" dirty="0" smtClean="0"/>
              <a:t>s|</a:t>
            </a:r>
            <a:r>
              <a:rPr lang="en-US" dirty="0" smtClean="0"/>
              <a:t>(</a:t>
            </a:r>
            <a:r>
              <a:rPr lang="en-US" i="1" dirty="0" err="1" smtClean="0"/>
              <a:t>a</a:t>
            </a:r>
            <a:r>
              <a:rPr lang="en-US" dirty="0" err="1" smtClean="0"/>
              <a:t>,</a:t>
            </a:r>
            <a:r>
              <a:rPr lang="en-US" i="1" dirty="0" err="1" smtClean="0"/>
              <a:t>s</a:t>
            </a:r>
            <a:r>
              <a:rPr lang="en-US" dirty="0" smtClean="0"/>
              <a:t>)</a:t>
            </a:r>
            <a:r>
              <a:rPr lang="en-US" i="1" dirty="0" smtClean="0"/>
              <a:t> </a:t>
            </a:r>
            <a:r>
              <a:rPr lang="en-US" dirty="0" smtClean="0">
                <a:latin typeface="Cambria Math"/>
                <a:ea typeface="Cambria Math"/>
              </a:rPr>
              <a:t>∈</a:t>
            </a:r>
            <a:r>
              <a:rPr lang="en-US" i="1" dirty="0" smtClean="0"/>
              <a:t> R</a:t>
            </a:r>
            <a:r>
              <a:rPr lang="en-US" dirty="0" smtClean="0"/>
              <a:t>}</a:t>
            </a:r>
            <a:r>
              <a:rPr lang="en-US" i="1" dirty="0" smtClean="0"/>
              <a:t>.</a:t>
            </a:r>
          </a:p>
          <a:p>
            <a:pPr>
              <a:buNone/>
            </a:pPr>
            <a:endParaRPr lang="en-US" dirty="0" smtClean="0"/>
          </a:p>
          <a:p>
            <a:r>
              <a:rPr lang="en-US" dirty="0" smtClean="0"/>
              <a:t>If</a:t>
            </a:r>
            <a:r>
              <a:rPr lang="en-US" i="1" dirty="0" smtClean="0"/>
              <a:t>  b </a:t>
            </a:r>
            <a:r>
              <a:rPr lang="en-US" dirty="0" smtClean="0">
                <a:latin typeface="Cambria Math"/>
                <a:ea typeface="Cambria Math"/>
              </a:rPr>
              <a:t>∈ </a:t>
            </a:r>
            <a:r>
              <a:rPr lang="en-US" dirty="0" smtClean="0"/>
              <a:t>[</a:t>
            </a:r>
            <a:r>
              <a:rPr lang="en-US" i="1" dirty="0" smtClean="0"/>
              <a:t>a</a:t>
            </a:r>
            <a:r>
              <a:rPr lang="en-US" dirty="0" smtClean="0"/>
              <a:t>]</a:t>
            </a:r>
            <a:r>
              <a:rPr lang="en-US" i="1" baseline="-25000" dirty="0" smtClean="0"/>
              <a:t>R</a:t>
            </a:r>
            <a:r>
              <a:rPr lang="en-US" dirty="0" smtClean="0"/>
              <a:t>, then </a:t>
            </a:r>
            <a:r>
              <a:rPr lang="en-US" i="1" dirty="0" smtClean="0"/>
              <a:t>b</a:t>
            </a:r>
            <a:r>
              <a:rPr lang="en-US" dirty="0" smtClean="0"/>
              <a:t> is called a representative of this equivalence class. Any element of a class can be used as a representative of the class. </a:t>
            </a:r>
          </a:p>
          <a:p>
            <a:r>
              <a:rPr lang="en-US" dirty="0" smtClean="0"/>
              <a:t>The equivalence classes of the relation congruence modulo </a:t>
            </a:r>
            <a:r>
              <a:rPr lang="en-US" i="1" dirty="0" smtClean="0"/>
              <a:t>m</a:t>
            </a:r>
            <a:r>
              <a:rPr lang="en-US" dirty="0" smtClean="0"/>
              <a:t> are called the </a:t>
            </a:r>
            <a:r>
              <a:rPr lang="en-US" i="1" dirty="0" smtClean="0"/>
              <a:t>congruence classes modulo m</a:t>
            </a:r>
            <a:r>
              <a:rPr lang="en-US" dirty="0" smtClean="0"/>
              <a:t>. The congruence class of an integer a modulo m is denoted by [</a:t>
            </a:r>
            <a:r>
              <a:rPr lang="en-US" i="1" dirty="0" smtClean="0"/>
              <a:t>a</a:t>
            </a:r>
            <a:r>
              <a:rPr lang="en-US" dirty="0" smtClean="0"/>
              <a:t>]</a:t>
            </a:r>
            <a:r>
              <a:rPr lang="en-US" i="1" baseline="-25000" dirty="0" smtClean="0"/>
              <a:t>m</a:t>
            </a:r>
            <a:r>
              <a:rPr lang="en-US" dirty="0" smtClean="0"/>
              <a:t>, so [</a:t>
            </a:r>
            <a:r>
              <a:rPr lang="en-US" i="1" dirty="0" smtClean="0"/>
              <a:t>a</a:t>
            </a:r>
            <a:r>
              <a:rPr lang="en-US" dirty="0" smtClean="0"/>
              <a:t>]</a:t>
            </a:r>
            <a:r>
              <a:rPr lang="en-US" i="1" baseline="-25000" dirty="0" smtClean="0"/>
              <a:t>m</a:t>
            </a:r>
            <a:r>
              <a:rPr lang="en-US" i="1" dirty="0" smtClean="0"/>
              <a:t> = </a:t>
            </a:r>
            <a:r>
              <a:rPr lang="en-US" dirty="0" smtClean="0"/>
              <a:t>{…, </a:t>
            </a:r>
            <a:r>
              <a:rPr lang="en-US" i="1" dirty="0" smtClean="0"/>
              <a:t>a</a:t>
            </a:r>
            <a:r>
              <a:rPr lang="en-US" dirty="0" smtClean="0">
                <a:latin typeface="Cambria Math"/>
                <a:ea typeface="Cambria Math"/>
              </a:rPr>
              <a:t>−2</a:t>
            </a:r>
            <a:r>
              <a:rPr lang="en-US" i="1" dirty="0" smtClean="0">
                <a:ea typeface="Cambria Math"/>
              </a:rPr>
              <a:t>m</a:t>
            </a:r>
            <a:r>
              <a:rPr lang="en-US" dirty="0" smtClean="0">
                <a:latin typeface="Cambria Math"/>
                <a:ea typeface="Cambria Math"/>
              </a:rPr>
              <a:t>,</a:t>
            </a:r>
            <a:r>
              <a:rPr lang="en-US" dirty="0" smtClean="0"/>
              <a:t> </a:t>
            </a:r>
            <a:r>
              <a:rPr lang="en-US" i="1" dirty="0" smtClean="0"/>
              <a:t>a</a:t>
            </a:r>
            <a:r>
              <a:rPr lang="en-US" dirty="0" smtClean="0">
                <a:latin typeface="Cambria Math"/>
                <a:ea typeface="Cambria Math"/>
              </a:rPr>
              <a:t>−</a:t>
            </a:r>
            <a:r>
              <a:rPr lang="en-US" i="1" dirty="0" smtClean="0">
                <a:ea typeface="Cambria Math"/>
              </a:rPr>
              <a:t>m</a:t>
            </a:r>
            <a:r>
              <a:rPr lang="en-US" dirty="0" smtClean="0">
                <a:latin typeface="Cambria Math"/>
                <a:ea typeface="Cambria Math"/>
              </a:rPr>
              <a:t>, </a:t>
            </a:r>
            <a:r>
              <a:rPr lang="en-US" i="1" dirty="0" smtClean="0"/>
              <a:t>a</a:t>
            </a:r>
            <a:r>
              <a:rPr lang="en-US" dirty="0" smtClean="0">
                <a:latin typeface="Cambria Math"/>
                <a:ea typeface="Cambria Math"/>
              </a:rPr>
              <a:t>+2</a:t>
            </a:r>
            <a:r>
              <a:rPr lang="en-US" i="1" dirty="0" smtClean="0">
                <a:ea typeface="Cambria Math"/>
              </a:rPr>
              <a:t>m</a:t>
            </a:r>
            <a:r>
              <a:rPr lang="en-US" dirty="0" smtClean="0">
                <a:latin typeface="Cambria Math"/>
                <a:ea typeface="Cambria Math"/>
              </a:rPr>
              <a:t>, </a:t>
            </a:r>
            <a:r>
              <a:rPr lang="en-US" i="1" dirty="0" smtClean="0"/>
              <a:t>a</a:t>
            </a:r>
            <a:r>
              <a:rPr lang="en-US" dirty="0" smtClean="0">
                <a:latin typeface="Cambria Math"/>
                <a:ea typeface="Cambria Math"/>
              </a:rPr>
              <a:t>+2</a:t>
            </a:r>
            <a:r>
              <a:rPr lang="en-US" i="1" dirty="0" smtClean="0">
                <a:latin typeface="Cambria Math"/>
                <a:ea typeface="Cambria Math"/>
              </a:rPr>
              <a:t>m</a:t>
            </a:r>
            <a:r>
              <a:rPr lang="en-US" dirty="0" smtClean="0">
                <a:latin typeface="Cambria Math"/>
                <a:ea typeface="Cambria Math"/>
              </a:rPr>
              <a:t>, … </a:t>
            </a:r>
            <a:r>
              <a:rPr lang="en-US" dirty="0" smtClean="0"/>
              <a:t>}</a:t>
            </a:r>
            <a:r>
              <a:rPr lang="en-US" i="1" dirty="0" smtClean="0"/>
              <a:t>. </a:t>
            </a:r>
            <a:r>
              <a:rPr lang="en-US" dirty="0" smtClean="0"/>
              <a:t>For example, </a:t>
            </a:r>
          </a:p>
          <a:p>
            <a:pPr>
              <a:buNone/>
            </a:pPr>
            <a:endParaRPr lang="en-US" dirty="0" smtClean="0"/>
          </a:p>
          <a:p>
            <a:pPr lvl="1">
              <a:buNone/>
            </a:pPr>
            <a:r>
              <a:rPr lang="en-US" dirty="0" smtClean="0"/>
              <a:t>   [</a:t>
            </a:r>
            <a:r>
              <a:rPr lang="en-US" dirty="0" smtClean="0">
                <a:latin typeface="Cambria Math" pitchFamily="18" charset="0"/>
                <a:ea typeface="Cambria Math" pitchFamily="18" charset="0"/>
              </a:rPr>
              <a:t>0</a:t>
            </a:r>
            <a:r>
              <a:rPr lang="en-US" dirty="0" smtClean="0"/>
              <a:t>]</a:t>
            </a:r>
            <a:r>
              <a:rPr lang="en-US" baseline="-25000" dirty="0" smtClean="0">
                <a:latin typeface="Cambria Math" pitchFamily="18" charset="0"/>
                <a:ea typeface="Cambria Math" pitchFamily="18" charset="0"/>
              </a:rPr>
              <a:t>4</a:t>
            </a:r>
            <a:r>
              <a:rPr lang="en-US" dirty="0" smtClean="0"/>
              <a:t> = {…, </a:t>
            </a:r>
            <a:r>
              <a:rPr lang="en-US" dirty="0" smtClean="0">
                <a:latin typeface="Cambria Math"/>
                <a:ea typeface="Cambria Math"/>
              </a:rPr>
              <a:t>−</a:t>
            </a:r>
            <a:r>
              <a:rPr lang="en-US" dirty="0" smtClean="0">
                <a:latin typeface="Cambria Math" pitchFamily="18" charset="0"/>
                <a:ea typeface="Cambria Math" pitchFamily="18" charset="0"/>
              </a:rPr>
              <a:t>8,</a:t>
            </a:r>
            <a:r>
              <a:rPr lang="en-US" dirty="0" smtClean="0">
                <a:latin typeface="Cambria Math"/>
                <a:ea typeface="Cambria Math"/>
              </a:rPr>
              <a:t> −</a:t>
            </a:r>
            <a:r>
              <a:rPr lang="en-US" dirty="0" smtClean="0">
                <a:latin typeface="Cambria Math" pitchFamily="18" charset="0"/>
                <a:ea typeface="Cambria Math" pitchFamily="18" charset="0"/>
              </a:rPr>
              <a:t>4 , 0, 4 , 8 , …}                        </a:t>
            </a:r>
            <a:r>
              <a:rPr lang="en-US" dirty="0" smtClean="0"/>
              <a:t>[</a:t>
            </a:r>
            <a:r>
              <a:rPr lang="en-US" dirty="0" smtClean="0">
                <a:latin typeface="Cambria Math" pitchFamily="18" charset="0"/>
                <a:ea typeface="Cambria Math" pitchFamily="18" charset="0"/>
              </a:rPr>
              <a:t>1</a:t>
            </a:r>
            <a:r>
              <a:rPr lang="en-US" dirty="0" smtClean="0"/>
              <a:t>]</a:t>
            </a:r>
            <a:r>
              <a:rPr lang="en-US" baseline="-25000" dirty="0" smtClean="0">
                <a:latin typeface="Cambria Math" pitchFamily="18" charset="0"/>
                <a:ea typeface="Cambria Math" pitchFamily="18" charset="0"/>
              </a:rPr>
              <a:t>4</a:t>
            </a:r>
            <a:r>
              <a:rPr lang="en-US" dirty="0" smtClean="0"/>
              <a:t> = {…, </a:t>
            </a:r>
            <a:r>
              <a:rPr lang="en-US" dirty="0" smtClean="0">
                <a:latin typeface="Cambria Math"/>
                <a:ea typeface="Cambria Math"/>
              </a:rPr>
              <a:t>−</a:t>
            </a:r>
            <a:r>
              <a:rPr lang="en-US" dirty="0" smtClean="0">
                <a:latin typeface="Cambria Math" pitchFamily="18" charset="0"/>
                <a:ea typeface="Cambria Math" pitchFamily="18" charset="0"/>
              </a:rPr>
              <a:t>7,</a:t>
            </a:r>
            <a:r>
              <a:rPr lang="en-US" dirty="0" smtClean="0">
                <a:latin typeface="Cambria Math"/>
                <a:ea typeface="Cambria Math"/>
              </a:rPr>
              <a:t> −</a:t>
            </a:r>
            <a:r>
              <a:rPr lang="en-US" dirty="0" smtClean="0">
                <a:latin typeface="Cambria Math" pitchFamily="18" charset="0"/>
                <a:ea typeface="Cambria Math" pitchFamily="18" charset="0"/>
              </a:rPr>
              <a:t>3 , 1, 5 , 9 , …}</a:t>
            </a:r>
          </a:p>
          <a:p>
            <a:pPr lvl="1">
              <a:buNone/>
            </a:pPr>
            <a:endParaRPr lang="en-US" dirty="0" smtClean="0">
              <a:latin typeface="Cambria Math" pitchFamily="18" charset="0"/>
              <a:ea typeface="Cambria Math" pitchFamily="18" charset="0"/>
            </a:endParaRPr>
          </a:p>
          <a:p>
            <a:pPr marL="274320" lvl="1" indent="-274320">
              <a:buClr>
                <a:schemeClr val="accent3"/>
              </a:buClr>
              <a:buSzPct val="95000"/>
              <a:buNone/>
            </a:pPr>
            <a:r>
              <a:rPr lang="en-US" dirty="0" smtClean="0"/>
              <a:t>          [</a:t>
            </a:r>
            <a:r>
              <a:rPr lang="en-US" dirty="0" smtClean="0">
                <a:latin typeface="Cambria Math" pitchFamily="18" charset="0"/>
                <a:ea typeface="Cambria Math" pitchFamily="18" charset="0"/>
              </a:rPr>
              <a:t>2</a:t>
            </a:r>
            <a:r>
              <a:rPr lang="en-US" dirty="0" smtClean="0"/>
              <a:t>]</a:t>
            </a:r>
            <a:r>
              <a:rPr lang="en-US" baseline="-25000" dirty="0" smtClean="0">
                <a:latin typeface="Cambria Math" pitchFamily="18" charset="0"/>
                <a:ea typeface="Cambria Math" pitchFamily="18" charset="0"/>
              </a:rPr>
              <a:t>4</a:t>
            </a:r>
            <a:r>
              <a:rPr lang="en-US" dirty="0" smtClean="0"/>
              <a:t> = {…, </a:t>
            </a:r>
            <a:r>
              <a:rPr lang="en-US" dirty="0" smtClean="0">
                <a:latin typeface="Cambria Math"/>
                <a:ea typeface="Cambria Math"/>
              </a:rPr>
              <a:t>−</a:t>
            </a:r>
            <a:r>
              <a:rPr lang="en-US" dirty="0" smtClean="0">
                <a:latin typeface="Cambria Math" pitchFamily="18" charset="0"/>
                <a:ea typeface="Cambria Math" pitchFamily="18" charset="0"/>
              </a:rPr>
              <a:t>6,</a:t>
            </a:r>
            <a:r>
              <a:rPr lang="en-US" dirty="0" smtClean="0">
                <a:latin typeface="Cambria Math"/>
                <a:ea typeface="Cambria Math"/>
              </a:rPr>
              <a:t> −</a:t>
            </a:r>
            <a:r>
              <a:rPr lang="en-US" dirty="0" smtClean="0">
                <a:latin typeface="Cambria Math" pitchFamily="18" charset="0"/>
                <a:ea typeface="Cambria Math" pitchFamily="18" charset="0"/>
              </a:rPr>
              <a:t>2 , 2, 6 , 10 , …}                      </a:t>
            </a:r>
            <a:r>
              <a:rPr lang="en-US" dirty="0" smtClean="0"/>
              <a:t>[</a:t>
            </a:r>
            <a:r>
              <a:rPr lang="en-US" dirty="0" smtClean="0">
                <a:latin typeface="Cambria Math" pitchFamily="18" charset="0"/>
                <a:ea typeface="Cambria Math" pitchFamily="18" charset="0"/>
              </a:rPr>
              <a:t>3</a:t>
            </a:r>
            <a:r>
              <a:rPr lang="en-US" dirty="0" smtClean="0"/>
              <a:t>]</a:t>
            </a:r>
            <a:r>
              <a:rPr lang="en-US" baseline="-25000" dirty="0" smtClean="0">
                <a:latin typeface="Cambria Math" pitchFamily="18" charset="0"/>
                <a:ea typeface="Cambria Math" pitchFamily="18" charset="0"/>
              </a:rPr>
              <a:t>4</a:t>
            </a:r>
            <a:r>
              <a:rPr lang="en-US" dirty="0" smtClean="0"/>
              <a:t> = {…, </a:t>
            </a:r>
            <a:r>
              <a:rPr lang="en-US" dirty="0" smtClean="0">
                <a:latin typeface="Cambria Math"/>
                <a:ea typeface="Cambria Math"/>
              </a:rPr>
              <a:t>−</a:t>
            </a:r>
            <a:r>
              <a:rPr lang="en-US" dirty="0" smtClean="0">
                <a:latin typeface="Cambria Math" pitchFamily="18" charset="0"/>
                <a:ea typeface="Cambria Math" pitchFamily="18" charset="0"/>
              </a:rPr>
              <a:t>5,</a:t>
            </a:r>
            <a:r>
              <a:rPr lang="en-US" dirty="0" smtClean="0">
                <a:latin typeface="Cambria Math"/>
                <a:ea typeface="Cambria Math"/>
              </a:rPr>
              <a:t> −</a:t>
            </a:r>
            <a:r>
              <a:rPr lang="en-US" dirty="0" smtClean="0">
                <a:latin typeface="Cambria Math" pitchFamily="18" charset="0"/>
                <a:ea typeface="Cambria Math" pitchFamily="18" charset="0"/>
              </a:rPr>
              <a:t>1 , 3, 7 , 11 , …}</a:t>
            </a:r>
          </a:p>
          <a:p>
            <a:pPr>
              <a:buNone/>
            </a:pP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Equivalence Classes and Partitions</a:t>
            </a:r>
            <a:endParaRPr lang="en-US" dirty="0"/>
          </a:p>
        </p:txBody>
      </p:sp>
      <p:sp>
        <p:nvSpPr>
          <p:cNvPr id="3" name="Content Placeholder 2"/>
          <p:cNvSpPr>
            <a:spLocks noGrp="1"/>
          </p:cNvSpPr>
          <p:nvPr>
            <p:ph idx="1"/>
          </p:nvPr>
        </p:nvSpPr>
        <p:spPr>
          <a:xfrm>
            <a:off x="457200" y="1935480"/>
            <a:ext cx="8610600" cy="4389120"/>
          </a:xfrm>
        </p:spPr>
        <p:txBody>
          <a:bodyPr>
            <a:normAutofit fontScale="92500"/>
          </a:bodyPr>
          <a:lstStyle/>
          <a:p>
            <a:pPr>
              <a:buNone/>
            </a:pPr>
            <a:r>
              <a:rPr lang="en-US" b="1" dirty="0" smtClean="0"/>
              <a:t>   Theorem  </a:t>
            </a:r>
            <a:r>
              <a:rPr lang="en-US" b="1" dirty="0" smtClean="0">
                <a:latin typeface="Cambria Math" pitchFamily="18" charset="0"/>
                <a:ea typeface="Cambria Math" pitchFamily="18" charset="0"/>
              </a:rPr>
              <a:t>1</a:t>
            </a:r>
            <a:r>
              <a:rPr lang="en-US" dirty="0" smtClean="0"/>
              <a:t>:  let </a:t>
            </a:r>
            <a:r>
              <a:rPr lang="en-US" i="1" dirty="0" smtClean="0"/>
              <a:t>R</a:t>
            </a:r>
            <a:r>
              <a:rPr lang="en-US" dirty="0" smtClean="0"/>
              <a:t> be an equivalence relation on a set </a:t>
            </a:r>
            <a:r>
              <a:rPr lang="en-US" i="1" dirty="0" smtClean="0"/>
              <a:t>A. </a:t>
            </a:r>
            <a:r>
              <a:rPr lang="en-US" dirty="0" smtClean="0"/>
              <a:t> These statements for elements </a:t>
            </a:r>
            <a:r>
              <a:rPr lang="en-US" i="1" dirty="0" smtClean="0"/>
              <a:t>a</a:t>
            </a:r>
            <a:r>
              <a:rPr lang="en-US" dirty="0" smtClean="0"/>
              <a:t> and </a:t>
            </a:r>
            <a:r>
              <a:rPr lang="en-US" i="1" dirty="0" smtClean="0"/>
              <a:t>b</a:t>
            </a:r>
            <a:r>
              <a:rPr lang="en-US" dirty="0" smtClean="0"/>
              <a:t> of </a:t>
            </a:r>
            <a:r>
              <a:rPr lang="en-US" i="1" dirty="0" smtClean="0"/>
              <a:t>A </a:t>
            </a:r>
            <a:r>
              <a:rPr lang="en-US" dirty="0" smtClean="0"/>
              <a:t>are equivalent: </a:t>
            </a:r>
          </a:p>
          <a:p>
            <a:pPr lvl="1">
              <a:buNone/>
            </a:pPr>
            <a:r>
              <a:rPr lang="en-US" dirty="0" smtClean="0"/>
              <a:t>    (</a:t>
            </a:r>
            <a:r>
              <a:rPr lang="en-US" i="1" dirty="0" err="1" smtClean="0"/>
              <a:t>i</a:t>
            </a:r>
            <a:r>
              <a:rPr lang="en-US" dirty="0" smtClean="0"/>
              <a:t>)   </a:t>
            </a:r>
            <a:r>
              <a:rPr lang="en-US" i="1" dirty="0" err="1" smtClean="0"/>
              <a:t>aRb</a:t>
            </a:r>
            <a:r>
              <a:rPr lang="en-US" i="1" dirty="0" smtClean="0"/>
              <a:t> </a:t>
            </a:r>
            <a:r>
              <a:rPr lang="en-US" dirty="0"/>
              <a:t>→ </a:t>
            </a:r>
            <a:r>
              <a:rPr lang="en-US" b="1" dirty="0"/>
              <a:t>a</a:t>
            </a:r>
            <a:r>
              <a:rPr lang="en-US" dirty="0"/>
              <a:t> is </a:t>
            </a:r>
            <a:r>
              <a:rPr lang="en-US" b="1" dirty="0"/>
              <a:t>related</a:t>
            </a:r>
            <a:r>
              <a:rPr lang="en-US" dirty="0"/>
              <a:t> to </a:t>
            </a:r>
            <a:r>
              <a:rPr lang="en-US" b="1" dirty="0"/>
              <a:t>b</a:t>
            </a:r>
            <a:endParaRPr lang="en-US" b="1" i="1" dirty="0" smtClean="0"/>
          </a:p>
          <a:p>
            <a:pPr lvl="1">
              <a:buNone/>
            </a:pPr>
            <a:r>
              <a:rPr lang="en-US" dirty="0" smtClean="0"/>
              <a:t>    (</a:t>
            </a:r>
            <a:r>
              <a:rPr lang="en-US" i="1" dirty="0" smtClean="0"/>
              <a:t>ii</a:t>
            </a:r>
            <a:r>
              <a:rPr lang="en-US" dirty="0" smtClean="0"/>
              <a:t>)  [</a:t>
            </a:r>
            <a:r>
              <a:rPr lang="en-US" i="1" dirty="0" smtClean="0"/>
              <a:t>a</a:t>
            </a:r>
            <a:r>
              <a:rPr lang="en-US" dirty="0" smtClean="0"/>
              <a:t>] = [</a:t>
            </a:r>
            <a:r>
              <a:rPr lang="en-US" i="1" dirty="0" smtClean="0"/>
              <a:t>b</a:t>
            </a:r>
            <a:r>
              <a:rPr lang="en-US" dirty="0" smtClean="0"/>
              <a:t>] </a:t>
            </a:r>
            <a:r>
              <a:rPr lang="en-US" dirty="0"/>
              <a:t>→ a and b belong to the </a:t>
            </a:r>
            <a:r>
              <a:rPr lang="en-US" b="1" dirty="0"/>
              <a:t>same group</a:t>
            </a:r>
            <a:endParaRPr lang="en-US" dirty="0" smtClean="0"/>
          </a:p>
          <a:p>
            <a:pPr lvl="1">
              <a:buNone/>
            </a:pPr>
            <a:r>
              <a:rPr lang="en-US" dirty="0" smtClean="0"/>
              <a:t>    (</a:t>
            </a:r>
            <a:r>
              <a:rPr lang="en-US" i="1" dirty="0" smtClean="0"/>
              <a:t>iii</a:t>
            </a:r>
            <a:r>
              <a:rPr lang="en-US" dirty="0" smtClean="0"/>
              <a:t>) [</a:t>
            </a:r>
            <a:r>
              <a:rPr lang="en-US" i="1" dirty="0" smtClean="0"/>
              <a:t>a</a:t>
            </a:r>
            <a:r>
              <a:rPr lang="en-US" dirty="0" smtClean="0"/>
              <a:t>] </a:t>
            </a:r>
            <a:r>
              <a:rPr lang="en-US" dirty="0" smtClean="0">
                <a:latin typeface="Cambria Math"/>
                <a:ea typeface="Cambria Math"/>
              </a:rPr>
              <a:t>∩</a:t>
            </a:r>
            <a:r>
              <a:rPr lang="en-US" dirty="0" smtClean="0"/>
              <a:t> [</a:t>
            </a:r>
            <a:r>
              <a:rPr lang="en-US" i="1" dirty="0" smtClean="0"/>
              <a:t>b</a:t>
            </a:r>
            <a:r>
              <a:rPr lang="en-US" dirty="0" smtClean="0"/>
              <a:t>] = </a:t>
            </a:r>
            <a:r>
              <a:rPr lang="en-US" dirty="0" smtClean="0">
                <a:latin typeface="Cambria Math"/>
                <a:ea typeface="Cambria Math"/>
              </a:rPr>
              <a:t>∅ </a:t>
            </a:r>
            <a:r>
              <a:rPr lang="en-US" dirty="0"/>
              <a:t>→</a:t>
            </a:r>
            <a:r>
              <a:rPr lang="en-US" dirty="0" smtClean="0">
                <a:latin typeface="Cambria Math"/>
                <a:ea typeface="Cambria Math"/>
              </a:rPr>
              <a:t> </a:t>
            </a:r>
            <a:r>
              <a:rPr lang="en-US" b="1" dirty="0"/>
              <a:t>are not disjoint</a:t>
            </a:r>
            <a:r>
              <a:rPr lang="en-US" dirty="0"/>
              <a:t> → they </a:t>
            </a:r>
            <a:r>
              <a:rPr lang="en-US" b="1" dirty="0"/>
              <a:t>share elements</a:t>
            </a:r>
            <a:endParaRPr lang="en-US" dirty="0" smtClean="0">
              <a:latin typeface="Cambria Math"/>
              <a:ea typeface="Cambria Math"/>
            </a:endParaRPr>
          </a:p>
          <a:p>
            <a:pPr lvl="1">
              <a:buNone/>
            </a:pPr>
            <a:r>
              <a:rPr lang="en-US" b="1" dirty="0" smtClean="0">
                <a:latin typeface="Cambria Math"/>
                <a:ea typeface="Cambria Math"/>
              </a:rPr>
              <a:t>Proof</a:t>
            </a:r>
            <a:r>
              <a:rPr lang="en-US" dirty="0" smtClean="0">
                <a:latin typeface="Cambria Math"/>
                <a:ea typeface="Cambria Math"/>
              </a:rPr>
              <a:t>: We show that (</a:t>
            </a:r>
            <a:r>
              <a:rPr lang="en-US" i="1" dirty="0" err="1" smtClean="0">
                <a:ea typeface="Cambria Math"/>
              </a:rPr>
              <a:t>i</a:t>
            </a:r>
            <a:r>
              <a:rPr lang="en-US" dirty="0" smtClean="0">
                <a:latin typeface="Cambria Math"/>
                <a:ea typeface="Cambria Math"/>
              </a:rPr>
              <a:t>) implies (</a:t>
            </a:r>
            <a:r>
              <a:rPr lang="en-US" i="1" dirty="0" smtClean="0">
                <a:ea typeface="Cambria Math" pitchFamily="18" charset="0"/>
              </a:rPr>
              <a:t>ii</a:t>
            </a:r>
            <a:r>
              <a:rPr lang="en-US" dirty="0" smtClean="0">
                <a:latin typeface="Cambria Math"/>
                <a:ea typeface="Cambria Math"/>
              </a:rPr>
              <a:t>). Assume that </a:t>
            </a:r>
            <a:r>
              <a:rPr lang="en-US" i="1" dirty="0" err="1" smtClean="0">
                <a:ea typeface="Cambria Math"/>
              </a:rPr>
              <a:t>aRb</a:t>
            </a:r>
            <a:r>
              <a:rPr lang="en-US" dirty="0" smtClean="0">
                <a:latin typeface="Cambria Math"/>
                <a:ea typeface="Cambria Math"/>
              </a:rPr>
              <a:t>. Now suppose that c ∈</a:t>
            </a:r>
            <a:r>
              <a:rPr lang="en-US" dirty="0" smtClean="0"/>
              <a:t> [</a:t>
            </a:r>
            <a:r>
              <a:rPr lang="en-US" i="1" dirty="0" smtClean="0"/>
              <a:t>a</a:t>
            </a:r>
            <a:r>
              <a:rPr lang="en-US" dirty="0" smtClean="0"/>
              <a:t>]. Then </a:t>
            </a:r>
            <a:r>
              <a:rPr lang="en-US" i="1" dirty="0" err="1" smtClean="0"/>
              <a:t>aRc</a:t>
            </a:r>
            <a:r>
              <a:rPr lang="en-US" dirty="0" smtClean="0"/>
              <a:t>. Because </a:t>
            </a:r>
            <a:r>
              <a:rPr lang="en-US" i="1" dirty="0" err="1" smtClean="0"/>
              <a:t>aRb</a:t>
            </a:r>
            <a:r>
              <a:rPr lang="en-US" dirty="0" smtClean="0"/>
              <a:t> and </a:t>
            </a:r>
            <a:r>
              <a:rPr lang="en-US" i="1" dirty="0" smtClean="0"/>
              <a:t>R</a:t>
            </a:r>
            <a:r>
              <a:rPr lang="en-US" dirty="0" smtClean="0"/>
              <a:t> is symmetric, </a:t>
            </a:r>
            <a:r>
              <a:rPr lang="en-US" i="1" dirty="0" err="1" smtClean="0"/>
              <a:t>bRa</a:t>
            </a:r>
            <a:r>
              <a:rPr lang="en-US" dirty="0" smtClean="0"/>
              <a:t>. Because </a:t>
            </a:r>
            <a:r>
              <a:rPr lang="en-US" i="1" dirty="0" smtClean="0"/>
              <a:t>R</a:t>
            </a:r>
            <a:r>
              <a:rPr lang="en-US" dirty="0" smtClean="0"/>
              <a:t> is transitive and </a:t>
            </a:r>
            <a:r>
              <a:rPr lang="en-US" i="1" dirty="0" err="1" smtClean="0"/>
              <a:t>bRa</a:t>
            </a:r>
            <a:r>
              <a:rPr lang="en-US" dirty="0" smtClean="0"/>
              <a:t> and </a:t>
            </a:r>
            <a:r>
              <a:rPr lang="en-US" i="1" dirty="0" err="1" smtClean="0"/>
              <a:t>aRc</a:t>
            </a:r>
            <a:r>
              <a:rPr lang="en-US" dirty="0" smtClean="0"/>
              <a:t>, it follows that </a:t>
            </a:r>
            <a:r>
              <a:rPr lang="en-US" i="1" dirty="0" err="1" smtClean="0"/>
              <a:t>bRc</a:t>
            </a:r>
            <a:r>
              <a:rPr lang="en-US" dirty="0" smtClean="0"/>
              <a:t>. Hence,</a:t>
            </a:r>
            <a:r>
              <a:rPr lang="en-US" dirty="0" smtClean="0">
                <a:latin typeface="Cambria Math"/>
                <a:ea typeface="Cambria Math"/>
              </a:rPr>
              <a:t> </a:t>
            </a:r>
            <a:r>
              <a:rPr lang="en-US" i="1" dirty="0" smtClean="0">
                <a:ea typeface="Cambria Math"/>
              </a:rPr>
              <a:t>c</a:t>
            </a:r>
            <a:r>
              <a:rPr lang="en-US" dirty="0" smtClean="0">
                <a:latin typeface="Cambria Math"/>
                <a:ea typeface="Cambria Math"/>
              </a:rPr>
              <a:t> ∈</a:t>
            </a:r>
            <a:r>
              <a:rPr lang="en-US" dirty="0" smtClean="0"/>
              <a:t> [</a:t>
            </a:r>
            <a:r>
              <a:rPr lang="en-US" i="1" dirty="0" smtClean="0"/>
              <a:t>b</a:t>
            </a:r>
            <a:r>
              <a:rPr lang="en-US" dirty="0" smtClean="0"/>
              <a:t>]. Therefore, [</a:t>
            </a:r>
            <a:r>
              <a:rPr lang="en-US" i="1" dirty="0" smtClean="0"/>
              <a:t>a</a:t>
            </a:r>
            <a:r>
              <a:rPr lang="en-US" dirty="0" smtClean="0"/>
              <a:t>]</a:t>
            </a:r>
            <a:r>
              <a:rPr lang="en-US" dirty="0" smtClean="0">
                <a:latin typeface="Cambria Math"/>
                <a:ea typeface="Cambria Math"/>
              </a:rPr>
              <a:t>⊆</a:t>
            </a:r>
            <a:r>
              <a:rPr lang="en-US" dirty="0" smtClean="0"/>
              <a:t> [</a:t>
            </a:r>
            <a:r>
              <a:rPr lang="en-US" i="1" dirty="0" smtClean="0"/>
              <a:t>b</a:t>
            </a:r>
            <a:r>
              <a:rPr lang="en-US" dirty="0" smtClean="0"/>
              <a:t>].  A similar argument (omitted here) shows that [</a:t>
            </a:r>
            <a:r>
              <a:rPr lang="en-US" i="1" dirty="0" smtClean="0"/>
              <a:t>b</a:t>
            </a:r>
            <a:r>
              <a:rPr lang="en-US" dirty="0" smtClean="0"/>
              <a:t>]</a:t>
            </a:r>
            <a:r>
              <a:rPr lang="en-US" dirty="0" smtClean="0">
                <a:latin typeface="Cambria Math"/>
                <a:ea typeface="Cambria Math"/>
              </a:rPr>
              <a:t>⊆</a:t>
            </a:r>
            <a:r>
              <a:rPr lang="en-US" dirty="0" smtClean="0"/>
              <a:t> [</a:t>
            </a:r>
            <a:r>
              <a:rPr lang="en-US" i="1" dirty="0" smtClean="0"/>
              <a:t>a</a:t>
            </a:r>
            <a:r>
              <a:rPr lang="en-US" dirty="0" smtClean="0"/>
              <a:t>]. Since [</a:t>
            </a:r>
            <a:r>
              <a:rPr lang="en-US" i="1" dirty="0" smtClean="0"/>
              <a:t>a</a:t>
            </a:r>
            <a:r>
              <a:rPr lang="en-US" dirty="0" smtClean="0"/>
              <a:t>]</a:t>
            </a:r>
            <a:r>
              <a:rPr lang="en-US" dirty="0" smtClean="0">
                <a:latin typeface="Cambria Math"/>
                <a:ea typeface="Cambria Math"/>
              </a:rPr>
              <a:t>⊆</a:t>
            </a:r>
            <a:r>
              <a:rPr lang="en-US" dirty="0" smtClean="0"/>
              <a:t> [</a:t>
            </a:r>
            <a:r>
              <a:rPr lang="en-US" i="1" dirty="0" smtClean="0"/>
              <a:t>b</a:t>
            </a:r>
            <a:r>
              <a:rPr lang="en-US" dirty="0" smtClean="0"/>
              <a:t>] and [</a:t>
            </a:r>
            <a:r>
              <a:rPr lang="en-US" i="1" dirty="0" smtClean="0"/>
              <a:t>b</a:t>
            </a:r>
            <a:r>
              <a:rPr lang="en-US" dirty="0" smtClean="0"/>
              <a:t>]</a:t>
            </a:r>
            <a:r>
              <a:rPr lang="en-US" dirty="0" smtClean="0">
                <a:latin typeface="Cambria Math"/>
                <a:ea typeface="Cambria Math"/>
              </a:rPr>
              <a:t>⊆</a:t>
            </a:r>
            <a:r>
              <a:rPr lang="en-US" dirty="0" smtClean="0"/>
              <a:t> [</a:t>
            </a:r>
            <a:r>
              <a:rPr lang="en-US" i="1" dirty="0" smtClean="0"/>
              <a:t>a</a:t>
            </a:r>
            <a:r>
              <a:rPr lang="en-US" dirty="0" smtClean="0"/>
              <a:t>],  we have shown that [</a:t>
            </a:r>
            <a:r>
              <a:rPr lang="en-US" i="1" dirty="0" smtClean="0"/>
              <a:t>a</a:t>
            </a:r>
            <a:r>
              <a:rPr lang="en-US" dirty="0" smtClean="0"/>
              <a:t>] = [</a:t>
            </a:r>
            <a:r>
              <a:rPr lang="en-US" i="1" dirty="0" smtClean="0"/>
              <a:t>b</a:t>
            </a:r>
            <a:r>
              <a:rPr lang="en-US" dirty="0" smtClean="0"/>
              <a:t>].</a:t>
            </a:r>
          </a:p>
          <a:p>
            <a:pPr lvl="1">
              <a:buNone/>
            </a:pPr>
            <a:endParaRPr lang="en-US" dirty="0"/>
          </a:p>
        </p:txBody>
      </p:sp>
      <p:sp>
        <p:nvSpPr>
          <p:cNvPr id="4" name="TextBox 3"/>
          <p:cNvSpPr txBox="1"/>
          <p:nvPr/>
        </p:nvSpPr>
        <p:spPr>
          <a:xfrm>
            <a:off x="1524000" y="6096000"/>
            <a:ext cx="6477000" cy="369332"/>
          </a:xfrm>
          <a:prstGeom prst="rect">
            <a:avLst/>
          </a:prstGeom>
          <a:noFill/>
        </p:spPr>
        <p:txBody>
          <a:bodyPr wrap="square" rtlCol="0">
            <a:spAutoFit/>
          </a:bodyPr>
          <a:lstStyle/>
          <a:p>
            <a:r>
              <a:rPr lang="en-US" dirty="0" smtClean="0"/>
              <a:t>(</a:t>
            </a:r>
            <a:r>
              <a:rPr lang="en-US" i="1" dirty="0" smtClean="0"/>
              <a:t>see text for proof  that </a:t>
            </a:r>
            <a:r>
              <a:rPr lang="en-US" dirty="0" smtClean="0"/>
              <a:t>(</a:t>
            </a:r>
            <a:r>
              <a:rPr lang="en-US" i="1" dirty="0" smtClean="0"/>
              <a:t>ii</a:t>
            </a:r>
            <a:r>
              <a:rPr lang="en-US" dirty="0" smtClean="0"/>
              <a:t>) </a:t>
            </a:r>
            <a:r>
              <a:rPr lang="en-US" i="1" dirty="0" smtClean="0"/>
              <a:t>implies </a:t>
            </a:r>
            <a:r>
              <a:rPr lang="en-US" dirty="0" smtClean="0"/>
              <a:t>(</a:t>
            </a:r>
            <a:r>
              <a:rPr lang="en-US" i="1" dirty="0" smtClean="0"/>
              <a:t>iii</a:t>
            </a:r>
            <a:r>
              <a:rPr lang="en-US" dirty="0" smtClean="0"/>
              <a:t>) </a:t>
            </a:r>
            <a:r>
              <a:rPr lang="en-US" i="1" dirty="0" smtClean="0"/>
              <a:t>and </a:t>
            </a:r>
            <a:r>
              <a:rPr lang="en-US" dirty="0" smtClean="0"/>
              <a:t>(</a:t>
            </a:r>
            <a:r>
              <a:rPr lang="en-US" i="1" dirty="0" smtClean="0"/>
              <a:t>iii</a:t>
            </a:r>
            <a:r>
              <a:rPr lang="en-US" dirty="0" smtClean="0"/>
              <a:t>) </a:t>
            </a:r>
            <a:r>
              <a:rPr lang="en-US" i="1" dirty="0" smtClean="0"/>
              <a:t>implies </a:t>
            </a:r>
            <a:r>
              <a:rPr lang="en-US" dirty="0" smtClean="0"/>
              <a:t>(</a:t>
            </a:r>
            <a:r>
              <a:rPr lang="en-US" i="1" dirty="0" err="1" smtClean="0"/>
              <a:t>i</a:t>
            </a:r>
            <a:r>
              <a:rPr lang="en-US" dirty="0" smtClean="0"/>
              <a:t>))</a:t>
            </a:r>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2120" y="0"/>
            <a:ext cx="8229600" cy="1143000"/>
          </a:xfrm>
        </p:spPr>
        <p:txBody>
          <a:bodyPr/>
          <a:lstStyle/>
          <a:p>
            <a:r>
              <a:rPr lang="en-US" dirty="0" smtClean="0"/>
              <a:t>Partition of a Set</a:t>
            </a:r>
            <a:endParaRPr lang="en-US" dirty="0"/>
          </a:p>
        </p:txBody>
      </p:sp>
      <p:sp>
        <p:nvSpPr>
          <p:cNvPr id="3" name="Content Placeholder 2"/>
          <p:cNvSpPr>
            <a:spLocks noGrp="1"/>
          </p:cNvSpPr>
          <p:nvPr>
            <p:ph idx="1"/>
          </p:nvPr>
        </p:nvSpPr>
        <p:spPr>
          <a:xfrm>
            <a:off x="152400" y="1308544"/>
            <a:ext cx="8229600" cy="4389120"/>
          </a:xfrm>
        </p:spPr>
        <p:txBody>
          <a:bodyPr/>
          <a:lstStyle/>
          <a:p>
            <a:pPr>
              <a:buNone/>
            </a:pPr>
            <a:r>
              <a:rPr lang="en-US" b="1" dirty="0" smtClean="0"/>
              <a:t>   Definition</a:t>
            </a:r>
            <a:r>
              <a:rPr lang="en-US" dirty="0" smtClean="0"/>
              <a:t>: </a:t>
            </a:r>
            <a:endParaRPr lang="en-US" i="1" dirty="0"/>
          </a:p>
        </p:txBody>
      </p:sp>
      <p:sp>
        <p:nvSpPr>
          <p:cNvPr id="7" name="Rectangle 1"/>
          <p:cNvSpPr>
            <a:spLocks noChangeArrowheads="1"/>
          </p:cNvSpPr>
          <p:nvPr/>
        </p:nvSpPr>
        <p:spPr bwMode="auto">
          <a:xfrm>
            <a:off x="381000" y="1869363"/>
            <a:ext cx="91440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A </a:t>
            </a:r>
            <a:r>
              <a:rPr kumimoji="0" lang="en-US" altLang="en-US" sz="1800" b="1" i="0" u="none" strike="noStrike" cap="none" normalizeH="0" baseline="0" dirty="0" smtClean="0">
                <a:ln>
                  <a:noFill/>
                </a:ln>
                <a:solidFill>
                  <a:schemeClr val="tx1"/>
                </a:solidFill>
                <a:effectLst/>
                <a:latin typeface="Arial" panose="020B0604020202020204" pitchFamily="34" charset="0"/>
              </a:rPr>
              <a:t>partition</a:t>
            </a:r>
            <a:r>
              <a:rPr kumimoji="0" lang="en-US" altLang="en-US" sz="1800" b="0" i="0" u="none" strike="noStrike" cap="none" normalizeH="0" baseline="0" dirty="0" smtClean="0">
                <a:ln>
                  <a:noFill/>
                </a:ln>
                <a:solidFill>
                  <a:schemeClr val="tx1"/>
                </a:solidFill>
                <a:effectLst/>
                <a:latin typeface="Arial" panose="020B0604020202020204" pitchFamily="34" charset="0"/>
              </a:rPr>
              <a:t> means: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 </a:t>
            </a:r>
            <a:r>
              <a:rPr kumimoji="0" lang="en-US" altLang="en-US" sz="1800" b="1" i="0" u="none" strike="noStrike" cap="none" normalizeH="0" baseline="0" dirty="0" smtClean="0">
                <a:ln>
                  <a:noFill/>
                </a:ln>
                <a:solidFill>
                  <a:schemeClr val="tx1"/>
                </a:solidFill>
                <a:effectLst/>
                <a:latin typeface="Arial" panose="020B0604020202020204" pitchFamily="34" charset="0"/>
              </a:rPr>
              <a:t>Divide a set into smaller groups properly</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8" name="Rectangle 7"/>
          <p:cNvSpPr/>
          <p:nvPr/>
        </p:nvSpPr>
        <p:spPr>
          <a:xfrm>
            <a:off x="360680" y="2652792"/>
            <a:ext cx="4572000" cy="1477328"/>
          </a:xfrm>
          <a:prstGeom prst="rect">
            <a:avLst/>
          </a:prstGeom>
        </p:spPr>
        <p:txBody>
          <a:bodyPr>
            <a:spAutoFit/>
          </a:bodyPr>
          <a:lstStyle/>
          <a:p>
            <a:r>
              <a:rPr lang="en-US" dirty="0"/>
              <a:t>You have a </a:t>
            </a:r>
            <a:r>
              <a:rPr lang="en-US" dirty="0" smtClean="0"/>
              <a:t>set</a:t>
            </a:r>
            <a:br>
              <a:rPr lang="en-US" dirty="0" smtClean="0"/>
            </a:br>
            <a:r>
              <a:rPr lang="en-US" b="1" dirty="0" smtClean="0"/>
              <a:t> </a:t>
            </a:r>
            <a:r>
              <a:rPr lang="en-US" b="1" dirty="0"/>
              <a:t>S = {1,2,3,4,5,6}</a:t>
            </a:r>
          </a:p>
          <a:p>
            <a:r>
              <a:rPr lang="en-US" dirty="0"/>
              <a:t>A partition means:</a:t>
            </a:r>
            <a:br>
              <a:rPr lang="en-US" dirty="0"/>
            </a:br>
            <a:r>
              <a:rPr lang="en-US" dirty="0" smtClean="0"/>
              <a:t>Split </a:t>
            </a:r>
            <a:r>
              <a:rPr lang="en-US" dirty="0"/>
              <a:t>it into groups like:</a:t>
            </a:r>
          </a:p>
          <a:p>
            <a:r>
              <a:rPr lang="en-US" dirty="0" smtClean="0"/>
              <a:t>{</a:t>
            </a:r>
            <a:r>
              <a:rPr lang="en-US" dirty="0"/>
              <a:t>1,2}, {3,4}, {5,6}</a:t>
            </a:r>
          </a:p>
        </p:txBody>
      </p:sp>
      <p:sp>
        <p:nvSpPr>
          <p:cNvPr id="9" name="Rectangle 8"/>
          <p:cNvSpPr/>
          <p:nvPr/>
        </p:nvSpPr>
        <p:spPr>
          <a:xfrm>
            <a:off x="365760" y="4392412"/>
            <a:ext cx="2189254" cy="369332"/>
          </a:xfrm>
          <a:prstGeom prst="rect">
            <a:avLst/>
          </a:prstGeom>
        </p:spPr>
        <p:txBody>
          <a:bodyPr wrap="none">
            <a:spAutoFit/>
          </a:bodyPr>
          <a:lstStyle/>
          <a:p>
            <a:r>
              <a:rPr lang="en-US" b="1" dirty="0" smtClean="0">
                <a:solidFill>
                  <a:schemeClr val="accent1"/>
                </a:solidFill>
              </a:rPr>
              <a:t>3 </a:t>
            </a:r>
            <a:r>
              <a:rPr lang="en-US" b="1" dirty="0">
                <a:solidFill>
                  <a:schemeClr val="accent1"/>
                </a:solidFill>
              </a:rPr>
              <a:t>Important Rules </a:t>
            </a:r>
          </a:p>
        </p:txBody>
      </p:sp>
      <p:sp>
        <p:nvSpPr>
          <p:cNvPr id="10" name="Rectangle 9"/>
          <p:cNvSpPr/>
          <p:nvPr/>
        </p:nvSpPr>
        <p:spPr>
          <a:xfrm>
            <a:off x="381000" y="4937188"/>
            <a:ext cx="4572000" cy="1477328"/>
          </a:xfrm>
          <a:prstGeom prst="rect">
            <a:avLst/>
          </a:prstGeom>
        </p:spPr>
        <p:txBody>
          <a:bodyPr>
            <a:spAutoFit/>
          </a:bodyPr>
          <a:lstStyle/>
          <a:p>
            <a:r>
              <a:rPr lang="en-US" b="1" dirty="0"/>
              <a:t>1. No empty group</a:t>
            </a:r>
          </a:p>
          <a:p>
            <a:r>
              <a:rPr lang="en-US" b="1" dirty="0" smtClean="0"/>
              <a:t>Every </a:t>
            </a:r>
            <a:r>
              <a:rPr lang="en-US" b="1" dirty="0"/>
              <a:t>group must have at least one element</a:t>
            </a:r>
          </a:p>
          <a:p>
            <a:r>
              <a:rPr lang="en-US" dirty="0"/>
              <a:t>✔ {1,2}, {3}</a:t>
            </a:r>
            <a:br>
              <a:rPr lang="en-US" dirty="0"/>
            </a:br>
            <a:r>
              <a:rPr lang="en-US" dirty="0"/>
              <a:t>❌ {1,2}, {} (not allowed)</a:t>
            </a:r>
          </a:p>
        </p:txBody>
      </p:sp>
      <p:sp>
        <p:nvSpPr>
          <p:cNvPr id="11" name="Rectangle 10"/>
          <p:cNvSpPr/>
          <p:nvPr/>
        </p:nvSpPr>
        <p:spPr>
          <a:xfrm>
            <a:off x="4340860" y="2616243"/>
            <a:ext cx="4572000" cy="1200329"/>
          </a:xfrm>
          <a:prstGeom prst="rect">
            <a:avLst/>
          </a:prstGeom>
        </p:spPr>
        <p:txBody>
          <a:bodyPr>
            <a:spAutoFit/>
          </a:bodyPr>
          <a:lstStyle/>
          <a:p>
            <a:r>
              <a:rPr lang="en-US" b="1" dirty="0"/>
              <a:t>2. No overlap (no repetition)</a:t>
            </a:r>
          </a:p>
          <a:p>
            <a:r>
              <a:rPr lang="en-US" dirty="0" smtClean="0"/>
              <a:t> </a:t>
            </a:r>
            <a:r>
              <a:rPr lang="en-US" b="1" dirty="0"/>
              <a:t>No element should appear in two groups</a:t>
            </a:r>
          </a:p>
          <a:p>
            <a:r>
              <a:rPr lang="en-US" dirty="0"/>
              <a:t>✔ {1,2}, {3,4}</a:t>
            </a:r>
            <a:br>
              <a:rPr lang="en-US" dirty="0"/>
            </a:br>
            <a:r>
              <a:rPr lang="en-US" dirty="0"/>
              <a:t>❌ {1,2}, {2,3} (2 is repeated ❌)</a:t>
            </a:r>
          </a:p>
        </p:txBody>
      </p:sp>
      <p:sp>
        <p:nvSpPr>
          <p:cNvPr id="12" name="Rectangle 11"/>
          <p:cNvSpPr/>
          <p:nvPr/>
        </p:nvSpPr>
        <p:spPr>
          <a:xfrm>
            <a:off x="4267200" y="4469336"/>
            <a:ext cx="5067300" cy="1200329"/>
          </a:xfrm>
          <a:prstGeom prst="rect">
            <a:avLst/>
          </a:prstGeom>
        </p:spPr>
        <p:txBody>
          <a:bodyPr wrap="square">
            <a:spAutoFit/>
          </a:bodyPr>
          <a:lstStyle/>
          <a:p>
            <a:r>
              <a:rPr lang="en-US" b="1" dirty="0"/>
              <a:t>3. Use all elements of S</a:t>
            </a:r>
          </a:p>
          <a:p>
            <a:r>
              <a:rPr lang="en-US" dirty="0" smtClean="0"/>
              <a:t> </a:t>
            </a:r>
            <a:r>
              <a:rPr lang="en-US" b="1" dirty="0"/>
              <a:t>Every element must be included somewhere</a:t>
            </a:r>
          </a:p>
          <a:p>
            <a:r>
              <a:rPr lang="en-US" dirty="0"/>
              <a:t>✔ {1,2}, {3,4}, {5,6}</a:t>
            </a:r>
            <a:br>
              <a:rPr lang="en-US" dirty="0"/>
            </a:br>
            <a:r>
              <a:rPr lang="en-US" dirty="0"/>
              <a:t>❌ {1,2}, {3,4} (5 and 6 missing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9063" y="472178"/>
            <a:ext cx="8229600" cy="892481"/>
          </a:xfrm>
        </p:spPr>
        <p:txBody>
          <a:bodyPr>
            <a:normAutofit fontScale="90000"/>
          </a:bodyPr>
          <a:lstStyle/>
          <a:p>
            <a:r>
              <a:rPr lang="en-US" dirty="0" smtClean="0"/>
              <a:t>An Equivalence Relation Partitions a Set</a:t>
            </a:r>
            <a:endParaRPr lang="en-US" dirty="0"/>
          </a:p>
        </p:txBody>
      </p:sp>
      <p:sp>
        <p:nvSpPr>
          <p:cNvPr id="5" name="Rectangle 2"/>
          <p:cNvSpPr>
            <a:spLocks noGrp="1" noChangeArrowheads="1"/>
          </p:cNvSpPr>
          <p:nvPr>
            <p:ph idx="1"/>
          </p:nvPr>
        </p:nvSpPr>
        <p:spPr bwMode="auto">
          <a:xfrm>
            <a:off x="199063" y="1364659"/>
            <a:ext cx="7976543"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If you have an </a:t>
            </a:r>
            <a:r>
              <a:rPr kumimoji="0" lang="en-US" altLang="en-US" sz="1800" b="1" i="0" u="none" strike="noStrike" cap="none" normalizeH="0" baseline="0" dirty="0" smtClean="0">
                <a:ln>
                  <a:noFill/>
                </a:ln>
                <a:solidFill>
                  <a:schemeClr val="tx1"/>
                </a:solidFill>
                <a:effectLst/>
                <a:latin typeface="Arial" panose="020B0604020202020204" pitchFamily="34" charset="0"/>
              </a:rPr>
              <a:t>equivalence relation R</a:t>
            </a:r>
            <a:r>
              <a:rPr kumimoji="0" lang="en-US" altLang="en-US" sz="1800" b="0" i="0" u="none" strike="noStrike" cap="none" normalizeH="0" baseline="0" dirty="0" smtClean="0">
                <a:ln>
                  <a:noFill/>
                </a:ln>
                <a:solidFill>
                  <a:schemeClr val="tx1"/>
                </a:solidFill>
                <a:effectLst/>
                <a:latin typeface="Arial" panose="020B0604020202020204" pitchFamily="34" charset="0"/>
              </a:rPr>
              <a:t> on a set A, then:</a:t>
            </a:r>
          </a:p>
          <a:p>
            <a:pPr eaLnBrk="0" fontAlgn="base" hangingPunct="0">
              <a:spcBef>
                <a:spcPct val="0"/>
              </a:spcBef>
              <a:spcAft>
                <a:spcPct val="0"/>
              </a:spcAft>
              <a:buClrTx/>
              <a:buSzTx/>
            </a:pPr>
            <a:r>
              <a:rPr kumimoji="0" lang="en-US" altLang="en-US" sz="1800" b="0" i="0" u="none" strike="noStrike" cap="none" normalizeH="0" baseline="0" dirty="0" smtClean="0">
                <a:ln>
                  <a:noFill/>
                </a:ln>
                <a:solidFill>
                  <a:schemeClr val="tx1"/>
                </a:solidFill>
                <a:effectLst/>
                <a:latin typeface="Arial" panose="020B0604020202020204" pitchFamily="34" charset="0"/>
              </a:rPr>
              <a:t>It automatically divides the set into </a:t>
            </a:r>
            <a:r>
              <a:rPr kumimoji="0" lang="en-US" altLang="en-US" sz="1800" b="1" i="0" u="none" strike="noStrike" cap="none" normalizeH="0" baseline="0" dirty="0" smtClean="0">
                <a:ln>
                  <a:noFill/>
                </a:ln>
                <a:solidFill>
                  <a:schemeClr val="tx1"/>
                </a:solidFill>
                <a:effectLst/>
                <a:latin typeface="Arial" panose="020B0604020202020204" pitchFamily="34" charset="0"/>
              </a:rPr>
              <a:t>groups (called equivalence classes)</a:t>
            </a:r>
            <a:endParaRPr lang="en-US" altLang="en-US" sz="1800" dirty="0">
              <a:latin typeface="Arial" panose="020B0604020202020204" pitchFamily="34" charset="0"/>
            </a:endParaRPr>
          </a:p>
          <a:p>
            <a:pPr eaLnBrk="0" fontAlgn="base" hangingPunct="0">
              <a:spcBef>
                <a:spcPct val="0"/>
              </a:spcBef>
              <a:spcAft>
                <a:spcPct val="0"/>
              </a:spcAft>
              <a:buClrTx/>
              <a:buSzTx/>
            </a:pPr>
            <a:r>
              <a:rPr kumimoji="0" lang="en-US" altLang="en-US" sz="1800" b="0" i="0" u="none" strike="noStrike" cap="none" normalizeH="0" baseline="0" dirty="0" smtClean="0">
                <a:ln>
                  <a:noFill/>
                </a:ln>
                <a:solidFill>
                  <a:schemeClr val="tx1"/>
                </a:solidFill>
                <a:effectLst/>
                <a:latin typeface="Arial" panose="020B0604020202020204" pitchFamily="34" charset="0"/>
              </a:rPr>
              <a:t>These groups form a </a:t>
            </a:r>
            <a:r>
              <a:rPr kumimoji="0" lang="en-US" altLang="en-US" sz="1800" b="1" i="0" u="none" strike="noStrike" cap="none" normalizeH="0" baseline="0" dirty="0" smtClean="0">
                <a:ln>
                  <a:noFill/>
                </a:ln>
                <a:solidFill>
                  <a:schemeClr val="tx1"/>
                </a:solidFill>
                <a:effectLst/>
                <a:latin typeface="Arial" panose="020B0604020202020204" pitchFamily="34" charset="0"/>
              </a:rPr>
              <a:t>partition of A</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 name="Rectangle 5"/>
          <p:cNvSpPr/>
          <p:nvPr/>
        </p:nvSpPr>
        <p:spPr>
          <a:xfrm>
            <a:off x="199063" y="2438400"/>
            <a:ext cx="5638800" cy="1754326"/>
          </a:xfrm>
          <a:prstGeom prst="rect">
            <a:avLst/>
          </a:prstGeom>
        </p:spPr>
        <p:txBody>
          <a:bodyPr wrap="square">
            <a:spAutoFit/>
          </a:bodyPr>
          <a:lstStyle/>
          <a:p>
            <a:r>
              <a:rPr lang="en-US" b="1" dirty="0"/>
              <a:t>1. Every element is in some group</a:t>
            </a:r>
          </a:p>
          <a:p>
            <a:r>
              <a:rPr lang="en-US" dirty="0"/>
              <a:t>For any element </a:t>
            </a:r>
            <a:r>
              <a:rPr lang="en-US" b="1" dirty="0" smtClean="0">
                <a:solidFill>
                  <a:schemeClr val="accent1"/>
                </a:solidFill>
              </a:rPr>
              <a:t>a</a:t>
            </a:r>
            <a:r>
              <a:rPr lang="en-US" dirty="0" smtClean="0"/>
              <a:t> </a:t>
            </a:r>
            <a:r>
              <a:rPr lang="en-US" dirty="0"/>
              <a:t>in </a:t>
            </a:r>
            <a:r>
              <a:rPr lang="en-US" b="1" dirty="0" smtClean="0">
                <a:solidFill>
                  <a:schemeClr val="accent1"/>
                </a:solidFill>
              </a:rPr>
              <a:t>A</a:t>
            </a:r>
            <a:r>
              <a:rPr lang="en-US" dirty="0" smtClean="0"/>
              <a:t>:</a:t>
            </a:r>
            <a:endParaRPr lang="en-US" dirty="0"/>
          </a:p>
          <a:p>
            <a:r>
              <a:rPr lang="en-US" dirty="0" smtClean="0"/>
              <a:t>it </a:t>
            </a:r>
            <a:r>
              <a:rPr lang="en-US" dirty="0"/>
              <a:t>always belongs to its own group </a:t>
            </a:r>
            <a:r>
              <a:rPr lang="en-US" b="1" dirty="0">
                <a:solidFill>
                  <a:schemeClr val="accent1"/>
                </a:solidFill>
              </a:rPr>
              <a:t>[a</a:t>
            </a:r>
            <a:r>
              <a:rPr lang="en-US" b="1" dirty="0" smtClean="0">
                <a:solidFill>
                  <a:schemeClr val="accent1"/>
                </a:solidFill>
              </a:rPr>
              <a:t>]</a:t>
            </a:r>
            <a:endParaRPr lang="en-US" b="1" dirty="0">
              <a:solidFill>
                <a:schemeClr val="accent1"/>
              </a:solidFill>
            </a:endParaRPr>
          </a:p>
          <a:p>
            <a:r>
              <a:rPr lang="en-US" dirty="0"/>
              <a:t>So, if you take </a:t>
            </a:r>
            <a:r>
              <a:rPr lang="en-US" b="1" dirty="0"/>
              <a:t>all groups together</a:t>
            </a:r>
            <a:r>
              <a:rPr lang="en-US" dirty="0"/>
              <a:t>, you get the whole set </a:t>
            </a:r>
            <a:r>
              <a:rPr lang="en-US" b="1" dirty="0" smtClean="0">
                <a:solidFill>
                  <a:schemeClr val="accent1"/>
                </a:solidFill>
              </a:rPr>
              <a:t>A</a:t>
            </a:r>
            <a:endParaRPr lang="en-US" b="1" dirty="0">
              <a:solidFill>
                <a:schemeClr val="accent1"/>
              </a:solidFill>
            </a:endParaRPr>
          </a:p>
          <a:p>
            <a:r>
              <a:rPr lang="en-US" dirty="0" smtClean="0"/>
              <a:t> </a:t>
            </a:r>
            <a:r>
              <a:rPr lang="en-US" b="1" dirty="0"/>
              <a:t>Nothing is left out</a:t>
            </a:r>
          </a:p>
        </p:txBody>
      </p:sp>
      <p:sp>
        <p:nvSpPr>
          <p:cNvPr id="7" name="Rectangle 6"/>
          <p:cNvSpPr/>
          <p:nvPr/>
        </p:nvSpPr>
        <p:spPr>
          <a:xfrm>
            <a:off x="304800" y="4197806"/>
            <a:ext cx="5029200" cy="2062103"/>
          </a:xfrm>
          <a:prstGeom prst="rect">
            <a:avLst/>
          </a:prstGeom>
        </p:spPr>
        <p:txBody>
          <a:bodyPr wrap="square">
            <a:spAutoFit/>
          </a:bodyPr>
          <a:lstStyle/>
          <a:p>
            <a:r>
              <a:rPr lang="en-US" b="1" dirty="0"/>
              <a:t>2. Groups are either same or completely separate</a:t>
            </a:r>
          </a:p>
          <a:p>
            <a:r>
              <a:rPr lang="en-US" dirty="0"/>
              <a:t>From the </a:t>
            </a:r>
            <a:r>
              <a:rPr lang="en-US" dirty="0" smtClean="0"/>
              <a:t>theorem </a:t>
            </a:r>
            <a:r>
              <a:rPr lang="en-US" sz="2000" b="1" dirty="0" smtClean="0"/>
              <a:t>1</a:t>
            </a:r>
            <a:r>
              <a:rPr lang="en-US" dirty="0" smtClean="0"/>
              <a:t>, </a:t>
            </a:r>
            <a:r>
              <a:rPr lang="en-US" dirty="0"/>
              <a:t>Two groups are either:</a:t>
            </a:r>
          </a:p>
          <a:p>
            <a:pPr>
              <a:buFont typeface="Arial" panose="020B0604020202020204" pitchFamily="34" charset="0"/>
              <a:buChar char="•"/>
            </a:pPr>
            <a:r>
              <a:rPr lang="en-US" b="1" dirty="0" smtClean="0"/>
              <a:t>Exactly </a:t>
            </a:r>
            <a:r>
              <a:rPr lang="en-US" b="1" dirty="0"/>
              <a:t>the same</a:t>
            </a:r>
            <a:r>
              <a:rPr lang="en-US" dirty="0"/>
              <a:t>, or </a:t>
            </a:r>
          </a:p>
          <a:p>
            <a:pPr>
              <a:buFont typeface="Arial" panose="020B0604020202020204" pitchFamily="34" charset="0"/>
              <a:buChar char="•"/>
            </a:pPr>
            <a:r>
              <a:rPr lang="en-US" b="1" dirty="0" smtClean="0"/>
              <a:t>Completely </a:t>
            </a:r>
            <a:r>
              <a:rPr lang="en-US" b="1" dirty="0"/>
              <a:t>separate (no common elements)</a:t>
            </a:r>
            <a:r>
              <a:rPr lang="en-US" dirty="0"/>
              <a:t> </a:t>
            </a:r>
          </a:p>
          <a:p>
            <a:endParaRPr lang="en-US" dirty="0" smtClean="0"/>
          </a:p>
          <a:p>
            <a:endParaRPr lang="en-US" dirty="0"/>
          </a:p>
        </p:txBody>
      </p:sp>
      <p:pic>
        <p:nvPicPr>
          <p:cNvPr id="8" name="Picture 7"/>
          <p:cNvPicPr>
            <a:picLocks noChangeAspect="1"/>
          </p:cNvPicPr>
          <p:nvPr/>
        </p:nvPicPr>
        <p:blipFill>
          <a:blip r:embed="rId2"/>
          <a:stretch>
            <a:fillRect/>
          </a:stretch>
        </p:blipFill>
        <p:spPr>
          <a:xfrm>
            <a:off x="457200" y="5638800"/>
            <a:ext cx="3962400" cy="825542"/>
          </a:xfrm>
          <a:prstGeom prst="rect">
            <a:avLst/>
          </a:prstGeom>
        </p:spPr>
      </p:pic>
      <p:sp>
        <p:nvSpPr>
          <p:cNvPr id="10" name="Rectangle 9"/>
          <p:cNvSpPr/>
          <p:nvPr/>
        </p:nvSpPr>
        <p:spPr>
          <a:xfrm>
            <a:off x="457200" y="6464342"/>
            <a:ext cx="2733762" cy="369332"/>
          </a:xfrm>
          <a:prstGeom prst="rect">
            <a:avLst/>
          </a:prstGeom>
        </p:spPr>
        <p:txBody>
          <a:bodyPr wrap="none">
            <a:spAutoFit/>
          </a:bodyPr>
          <a:lstStyle/>
          <a:p>
            <a:r>
              <a:rPr lang="en-US" b="1" dirty="0"/>
              <a:t>No overlapping allowed</a:t>
            </a:r>
          </a:p>
        </p:txBody>
      </p:sp>
      <p:sp>
        <p:nvSpPr>
          <p:cNvPr id="11" name="Rectangle 10"/>
          <p:cNvSpPr/>
          <p:nvPr/>
        </p:nvSpPr>
        <p:spPr>
          <a:xfrm>
            <a:off x="5029200" y="3797774"/>
            <a:ext cx="4572000" cy="1477328"/>
          </a:xfrm>
          <a:prstGeom prst="rect">
            <a:avLst/>
          </a:prstGeom>
        </p:spPr>
        <p:txBody>
          <a:bodyPr>
            <a:spAutoFit/>
          </a:bodyPr>
          <a:lstStyle/>
          <a:p>
            <a:r>
              <a:rPr lang="en-US" b="1" dirty="0">
                <a:solidFill>
                  <a:schemeClr val="accent1"/>
                </a:solidFill>
              </a:rPr>
              <a:t>So what does this mean?</a:t>
            </a:r>
          </a:p>
          <a:p>
            <a:r>
              <a:rPr lang="en-US" b="1" dirty="0"/>
              <a:t>Now we have:</a:t>
            </a:r>
          </a:p>
          <a:p>
            <a:r>
              <a:rPr lang="en-US" dirty="0"/>
              <a:t>✔ Every element is in some group</a:t>
            </a:r>
            <a:br>
              <a:rPr lang="en-US" dirty="0"/>
            </a:br>
            <a:r>
              <a:rPr lang="en-US" dirty="0"/>
              <a:t>✔ No group is empty</a:t>
            </a:r>
            <a:br>
              <a:rPr lang="en-US" dirty="0"/>
            </a:br>
            <a:r>
              <a:rPr lang="en-US" dirty="0"/>
              <a:t>✔ Groups do not overlap</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An Equivalence Relation Partitions a Set (</a:t>
            </a:r>
            <a:r>
              <a:rPr lang="en-US" i="1" dirty="0" smtClean="0"/>
              <a:t>continued</a:t>
            </a:r>
            <a:r>
              <a:rPr lang="en-US" dirty="0" smtClean="0"/>
              <a:t>)</a:t>
            </a:r>
            <a:endParaRPr lang="en-US" dirty="0"/>
          </a:p>
        </p:txBody>
      </p:sp>
      <p:sp>
        <p:nvSpPr>
          <p:cNvPr id="3" name="Content Placeholder 2"/>
          <p:cNvSpPr>
            <a:spLocks noGrp="1"/>
          </p:cNvSpPr>
          <p:nvPr>
            <p:ph idx="1"/>
          </p:nvPr>
        </p:nvSpPr>
        <p:spPr/>
        <p:txBody>
          <a:bodyPr>
            <a:normAutofit fontScale="70000" lnSpcReduction="20000"/>
          </a:bodyPr>
          <a:lstStyle/>
          <a:p>
            <a:pPr>
              <a:buNone/>
            </a:pPr>
            <a:r>
              <a:rPr lang="en-US" b="1" dirty="0" smtClean="0"/>
              <a:t>    Theorem </a:t>
            </a:r>
            <a:r>
              <a:rPr lang="en-US" b="1" dirty="0" smtClean="0">
                <a:latin typeface="Cambria Math" pitchFamily="18" charset="0"/>
                <a:ea typeface="Cambria Math" pitchFamily="18" charset="0"/>
              </a:rPr>
              <a:t>2</a:t>
            </a:r>
            <a:r>
              <a:rPr lang="en-US" dirty="0" smtClean="0"/>
              <a:t>: Let </a:t>
            </a:r>
            <a:r>
              <a:rPr lang="en-US" i="1" dirty="0" smtClean="0"/>
              <a:t>R</a:t>
            </a:r>
            <a:r>
              <a:rPr lang="en-US" dirty="0" smtClean="0"/>
              <a:t> be an equivalence relation on a set </a:t>
            </a:r>
            <a:r>
              <a:rPr lang="en-US" i="1" dirty="0" smtClean="0"/>
              <a:t>S</a:t>
            </a:r>
            <a:r>
              <a:rPr lang="en-US" dirty="0" smtClean="0"/>
              <a:t>.  Then the equivalence classes of </a:t>
            </a:r>
            <a:r>
              <a:rPr lang="en-US" i="1" dirty="0" smtClean="0"/>
              <a:t>R</a:t>
            </a:r>
            <a:r>
              <a:rPr lang="en-US" dirty="0" smtClean="0"/>
              <a:t> form a partition of </a:t>
            </a:r>
            <a:r>
              <a:rPr lang="en-US" i="1" dirty="0" smtClean="0"/>
              <a:t>S</a:t>
            </a:r>
            <a:r>
              <a:rPr lang="en-US" dirty="0" smtClean="0"/>
              <a:t>. Conversely, given a partition {</a:t>
            </a:r>
            <a:r>
              <a:rPr lang="en-US" i="1" dirty="0" smtClean="0"/>
              <a:t>A</a:t>
            </a:r>
            <a:r>
              <a:rPr lang="en-US" i="1" baseline="-25000" dirty="0" smtClean="0"/>
              <a:t>i</a:t>
            </a:r>
            <a:r>
              <a:rPr lang="en-US" dirty="0" smtClean="0"/>
              <a:t> | </a:t>
            </a:r>
            <a:r>
              <a:rPr lang="en-US" i="1" dirty="0" err="1" smtClean="0"/>
              <a:t>i</a:t>
            </a:r>
            <a:r>
              <a:rPr lang="en-US" dirty="0" smtClean="0"/>
              <a:t> </a:t>
            </a:r>
            <a:r>
              <a:rPr lang="en-US" dirty="0" smtClean="0">
                <a:latin typeface="Cambria Math"/>
                <a:ea typeface="Cambria Math"/>
              </a:rPr>
              <a:t>∈</a:t>
            </a:r>
            <a:r>
              <a:rPr lang="en-US" dirty="0" smtClean="0"/>
              <a:t>  </a:t>
            </a:r>
            <a:r>
              <a:rPr lang="en-US" i="1" dirty="0" smtClean="0"/>
              <a:t>I</a:t>
            </a:r>
            <a:r>
              <a:rPr lang="en-US" dirty="0" smtClean="0"/>
              <a:t>} of the set </a:t>
            </a:r>
            <a:r>
              <a:rPr lang="en-US" i="1" dirty="0" smtClean="0"/>
              <a:t>S</a:t>
            </a:r>
            <a:r>
              <a:rPr lang="en-US" dirty="0" smtClean="0"/>
              <a:t>, there is an equivalence relation </a:t>
            </a:r>
            <a:r>
              <a:rPr lang="en-US" i="1" dirty="0" smtClean="0"/>
              <a:t>R</a:t>
            </a:r>
            <a:r>
              <a:rPr lang="en-US" dirty="0" smtClean="0"/>
              <a:t> that has the sets </a:t>
            </a:r>
            <a:r>
              <a:rPr lang="en-US" i="1" dirty="0" smtClean="0"/>
              <a:t>A</a:t>
            </a:r>
            <a:r>
              <a:rPr lang="en-US" i="1" baseline="-25000" dirty="0" smtClean="0"/>
              <a:t>i</a:t>
            </a:r>
            <a:r>
              <a:rPr lang="en-US" dirty="0" smtClean="0"/>
              <a:t>, </a:t>
            </a:r>
            <a:r>
              <a:rPr lang="en-US" i="1" dirty="0" err="1" smtClean="0"/>
              <a:t>i</a:t>
            </a:r>
            <a:r>
              <a:rPr lang="en-US" dirty="0" smtClean="0"/>
              <a:t> </a:t>
            </a:r>
            <a:r>
              <a:rPr lang="en-US" dirty="0" smtClean="0">
                <a:latin typeface="Cambria Math"/>
                <a:ea typeface="Cambria Math"/>
              </a:rPr>
              <a:t>∈</a:t>
            </a:r>
            <a:r>
              <a:rPr lang="en-US" dirty="0" smtClean="0"/>
              <a:t> </a:t>
            </a:r>
            <a:r>
              <a:rPr lang="en-US" i="1" dirty="0" smtClean="0"/>
              <a:t>I</a:t>
            </a:r>
            <a:r>
              <a:rPr lang="en-US" dirty="0" smtClean="0"/>
              <a:t>, as its equivalence classes. </a:t>
            </a:r>
          </a:p>
          <a:p>
            <a:pPr>
              <a:buNone/>
            </a:pPr>
            <a:endParaRPr lang="en-US" dirty="0" smtClean="0"/>
          </a:p>
          <a:p>
            <a:pPr>
              <a:buNone/>
            </a:pPr>
            <a:r>
              <a:rPr lang="en-US" b="1" dirty="0" smtClean="0"/>
              <a:t>     Proof</a:t>
            </a:r>
            <a:r>
              <a:rPr lang="en-US" dirty="0" smtClean="0"/>
              <a:t>: We have already shown the first part of the theorem.</a:t>
            </a:r>
          </a:p>
          <a:p>
            <a:pPr>
              <a:buNone/>
            </a:pPr>
            <a:r>
              <a:rPr lang="en-US" dirty="0" smtClean="0"/>
              <a:t>     For the second part, assume that {</a:t>
            </a:r>
            <a:r>
              <a:rPr lang="en-US" i="1" dirty="0" smtClean="0"/>
              <a:t>A</a:t>
            </a:r>
            <a:r>
              <a:rPr lang="en-US" i="1" baseline="-25000" dirty="0" smtClean="0"/>
              <a:t>i</a:t>
            </a:r>
            <a:r>
              <a:rPr lang="en-US" dirty="0" smtClean="0"/>
              <a:t> | </a:t>
            </a:r>
            <a:r>
              <a:rPr lang="en-US" i="1" dirty="0" err="1" smtClean="0"/>
              <a:t>i</a:t>
            </a:r>
            <a:r>
              <a:rPr lang="en-US" dirty="0" smtClean="0"/>
              <a:t> </a:t>
            </a:r>
            <a:r>
              <a:rPr lang="en-US" dirty="0" smtClean="0">
                <a:latin typeface="Cambria Math"/>
                <a:ea typeface="Cambria Math"/>
              </a:rPr>
              <a:t>∈</a:t>
            </a:r>
            <a:r>
              <a:rPr lang="en-US" dirty="0" smtClean="0"/>
              <a:t> </a:t>
            </a:r>
            <a:r>
              <a:rPr lang="en-US" i="1" dirty="0" smtClean="0"/>
              <a:t>I</a:t>
            </a:r>
            <a:r>
              <a:rPr lang="en-US" dirty="0" smtClean="0"/>
              <a:t>} is a partition of </a:t>
            </a:r>
            <a:r>
              <a:rPr lang="en-US" i="1" dirty="0" smtClean="0"/>
              <a:t>S</a:t>
            </a:r>
            <a:r>
              <a:rPr lang="en-US" dirty="0" smtClean="0"/>
              <a:t>. Let </a:t>
            </a:r>
            <a:r>
              <a:rPr lang="en-US" i="1" dirty="0" smtClean="0"/>
              <a:t>R</a:t>
            </a:r>
            <a:r>
              <a:rPr lang="en-US" dirty="0" smtClean="0"/>
              <a:t> be the relation on </a:t>
            </a:r>
            <a:r>
              <a:rPr lang="en-US" i="1" dirty="0" smtClean="0"/>
              <a:t>S</a:t>
            </a:r>
            <a:r>
              <a:rPr lang="en-US" dirty="0" smtClean="0"/>
              <a:t> consisting of the pairs (</a:t>
            </a:r>
            <a:r>
              <a:rPr lang="en-US" i="1" dirty="0" smtClean="0"/>
              <a:t>x</a:t>
            </a:r>
            <a:r>
              <a:rPr lang="en-US" dirty="0" smtClean="0"/>
              <a:t>, </a:t>
            </a:r>
            <a:r>
              <a:rPr lang="en-US" i="1" dirty="0" smtClean="0"/>
              <a:t>y</a:t>
            </a:r>
            <a:r>
              <a:rPr lang="en-US" dirty="0" smtClean="0"/>
              <a:t>) where </a:t>
            </a:r>
            <a:r>
              <a:rPr lang="en-US" i="1" dirty="0" smtClean="0"/>
              <a:t>x</a:t>
            </a:r>
            <a:r>
              <a:rPr lang="en-US" dirty="0" smtClean="0"/>
              <a:t> and </a:t>
            </a:r>
            <a:r>
              <a:rPr lang="en-US" i="1" dirty="0" smtClean="0"/>
              <a:t>y</a:t>
            </a:r>
            <a:r>
              <a:rPr lang="en-US" dirty="0" smtClean="0"/>
              <a:t> belong to the same subset </a:t>
            </a:r>
            <a:r>
              <a:rPr lang="en-US" i="1" dirty="0" smtClean="0"/>
              <a:t>A</a:t>
            </a:r>
            <a:r>
              <a:rPr lang="en-US" i="1" baseline="-25000" dirty="0" smtClean="0"/>
              <a:t>i</a:t>
            </a:r>
            <a:r>
              <a:rPr lang="en-US" dirty="0" smtClean="0"/>
              <a:t> in the partition. We must show that </a:t>
            </a:r>
            <a:r>
              <a:rPr lang="en-US" i="1" dirty="0" smtClean="0"/>
              <a:t>R</a:t>
            </a:r>
            <a:r>
              <a:rPr lang="en-US" dirty="0" smtClean="0"/>
              <a:t> satisfies the properties of an equivalence relation.</a:t>
            </a:r>
          </a:p>
          <a:p>
            <a:pPr lvl="1"/>
            <a:r>
              <a:rPr lang="en-US" i="1" dirty="0" smtClean="0"/>
              <a:t>Reflexivity</a:t>
            </a:r>
            <a:r>
              <a:rPr lang="en-US" dirty="0" smtClean="0"/>
              <a:t>: </a:t>
            </a:r>
            <a:r>
              <a:rPr lang="en-US" dirty="0"/>
              <a:t>Every element is always in the same group as itself</a:t>
            </a:r>
            <a:r>
              <a:rPr lang="en-US" dirty="0" smtClean="0"/>
              <a:t>. So </a:t>
            </a:r>
            <a:r>
              <a:rPr lang="en-US" b="1" dirty="0"/>
              <a:t>(a, a)</a:t>
            </a:r>
            <a:r>
              <a:rPr lang="en-US" dirty="0"/>
              <a:t> is in </a:t>
            </a:r>
            <a:r>
              <a:rPr lang="en-US" dirty="0" smtClean="0"/>
              <a:t>R</a:t>
            </a:r>
            <a:r>
              <a:rPr lang="en-US" dirty="0"/>
              <a:t>.</a:t>
            </a:r>
            <a:endParaRPr lang="en-US" dirty="0" smtClean="0"/>
          </a:p>
          <a:p>
            <a:pPr lvl="1"/>
            <a:r>
              <a:rPr lang="en-US" i="1" dirty="0" smtClean="0"/>
              <a:t>Symmetry</a:t>
            </a:r>
            <a:r>
              <a:rPr lang="en-US" dirty="0" smtClean="0"/>
              <a:t>: If (</a:t>
            </a:r>
            <a:r>
              <a:rPr lang="en-US" i="1" dirty="0" err="1" smtClean="0"/>
              <a:t>a,b</a:t>
            </a:r>
            <a:r>
              <a:rPr lang="en-US" dirty="0" smtClean="0"/>
              <a:t>) </a:t>
            </a:r>
            <a:r>
              <a:rPr lang="en-US" dirty="0" smtClean="0">
                <a:latin typeface="Cambria Math"/>
                <a:ea typeface="Cambria Math"/>
              </a:rPr>
              <a:t>∈</a:t>
            </a:r>
            <a:r>
              <a:rPr lang="en-US" dirty="0" smtClean="0"/>
              <a:t> </a:t>
            </a:r>
            <a:r>
              <a:rPr lang="en-US" i="1" dirty="0" smtClean="0"/>
              <a:t>R</a:t>
            </a:r>
            <a:r>
              <a:rPr lang="en-US" dirty="0" smtClean="0"/>
              <a:t>, then </a:t>
            </a:r>
            <a:r>
              <a:rPr lang="en-US" i="1" dirty="0" smtClean="0"/>
              <a:t>b</a:t>
            </a:r>
            <a:r>
              <a:rPr lang="en-US" dirty="0" smtClean="0"/>
              <a:t> and </a:t>
            </a:r>
            <a:r>
              <a:rPr lang="en-US" i="1" dirty="0" smtClean="0"/>
              <a:t>a</a:t>
            </a:r>
            <a:r>
              <a:rPr lang="en-US" dirty="0" smtClean="0"/>
              <a:t> are in the same subset of the partition, so (</a:t>
            </a:r>
            <a:r>
              <a:rPr lang="en-US" i="1" dirty="0" err="1" smtClean="0"/>
              <a:t>b,a</a:t>
            </a:r>
            <a:r>
              <a:rPr lang="en-US" dirty="0" smtClean="0"/>
              <a:t>) </a:t>
            </a:r>
            <a:r>
              <a:rPr lang="en-US" dirty="0" smtClean="0">
                <a:latin typeface="Cambria Math"/>
                <a:ea typeface="Cambria Math"/>
              </a:rPr>
              <a:t>∈</a:t>
            </a:r>
            <a:r>
              <a:rPr lang="en-US" dirty="0" smtClean="0"/>
              <a:t> </a:t>
            </a:r>
            <a:r>
              <a:rPr lang="en-US" i="1" dirty="0" smtClean="0"/>
              <a:t>R</a:t>
            </a:r>
            <a:r>
              <a:rPr lang="en-US" dirty="0" smtClean="0"/>
              <a:t>. </a:t>
            </a:r>
          </a:p>
          <a:p>
            <a:pPr lvl="1"/>
            <a:r>
              <a:rPr lang="en-US" i="1" dirty="0" smtClean="0"/>
              <a:t>Transitivity</a:t>
            </a:r>
            <a:r>
              <a:rPr lang="en-US" dirty="0" smtClean="0"/>
              <a:t>: If (</a:t>
            </a:r>
            <a:r>
              <a:rPr lang="en-US" i="1" dirty="0" err="1" smtClean="0"/>
              <a:t>a,b</a:t>
            </a:r>
            <a:r>
              <a:rPr lang="en-US" dirty="0" smtClean="0"/>
              <a:t>) </a:t>
            </a:r>
            <a:r>
              <a:rPr lang="en-US" dirty="0" smtClean="0">
                <a:latin typeface="Cambria Math"/>
                <a:ea typeface="Cambria Math"/>
              </a:rPr>
              <a:t>∈</a:t>
            </a:r>
            <a:r>
              <a:rPr lang="en-US" dirty="0" smtClean="0"/>
              <a:t> </a:t>
            </a:r>
            <a:r>
              <a:rPr lang="en-US" i="1" dirty="0" smtClean="0"/>
              <a:t>R</a:t>
            </a:r>
            <a:r>
              <a:rPr lang="en-US" dirty="0" smtClean="0"/>
              <a:t> and  (</a:t>
            </a:r>
            <a:r>
              <a:rPr lang="en-US" i="1" dirty="0" err="1" smtClean="0"/>
              <a:t>b,c</a:t>
            </a:r>
            <a:r>
              <a:rPr lang="en-US" dirty="0" smtClean="0"/>
              <a:t>) </a:t>
            </a:r>
            <a:r>
              <a:rPr lang="en-US" dirty="0" smtClean="0">
                <a:latin typeface="Cambria Math"/>
                <a:ea typeface="Cambria Math"/>
              </a:rPr>
              <a:t>∈</a:t>
            </a:r>
            <a:r>
              <a:rPr lang="en-US" dirty="0" smtClean="0"/>
              <a:t> </a:t>
            </a:r>
            <a:r>
              <a:rPr lang="en-US" i="1" dirty="0" smtClean="0"/>
              <a:t>R</a:t>
            </a:r>
            <a:r>
              <a:rPr lang="en-US" dirty="0" smtClean="0"/>
              <a:t>, then </a:t>
            </a:r>
            <a:r>
              <a:rPr lang="en-US" i="1" dirty="0" smtClean="0"/>
              <a:t>a</a:t>
            </a:r>
            <a:r>
              <a:rPr lang="en-US" dirty="0" smtClean="0"/>
              <a:t> and </a:t>
            </a:r>
            <a:r>
              <a:rPr lang="en-US" i="1" dirty="0" smtClean="0"/>
              <a:t>b</a:t>
            </a:r>
            <a:r>
              <a:rPr lang="en-US" dirty="0" smtClean="0"/>
              <a:t> are in the same subset of the partition, as are </a:t>
            </a:r>
            <a:r>
              <a:rPr lang="en-US" i="1" dirty="0" smtClean="0"/>
              <a:t> b</a:t>
            </a:r>
            <a:r>
              <a:rPr lang="en-US" dirty="0" smtClean="0"/>
              <a:t> and </a:t>
            </a:r>
            <a:r>
              <a:rPr lang="en-US" i="1" dirty="0" smtClean="0"/>
              <a:t>c</a:t>
            </a:r>
            <a:r>
              <a:rPr lang="en-US" dirty="0" smtClean="0"/>
              <a:t>. Since the subsets are disjoint and </a:t>
            </a:r>
            <a:r>
              <a:rPr lang="en-US" i="1" dirty="0" smtClean="0"/>
              <a:t>b</a:t>
            </a:r>
            <a:r>
              <a:rPr lang="en-US" dirty="0" smtClean="0"/>
              <a:t> belongs to both, the  two subsets of the partition must be identical. Therefore, (</a:t>
            </a:r>
            <a:r>
              <a:rPr lang="en-US" i="1" dirty="0" err="1" smtClean="0"/>
              <a:t>a,c</a:t>
            </a:r>
            <a:r>
              <a:rPr lang="en-US" dirty="0" smtClean="0"/>
              <a:t>) </a:t>
            </a:r>
            <a:r>
              <a:rPr lang="en-US" dirty="0" smtClean="0">
                <a:latin typeface="Cambria Math"/>
                <a:ea typeface="Cambria Math"/>
              </a:rPr>
              <a:t>∈</a:t>
            </a:r>
            <a:r>
              <a:rPr lang="en-US" dirty="0" smtClean="0"/>
              <a:t> </a:t>
            </a:r>
            <a:r>
              <a:rPr lang="en-US" i="1" dirty="0" smtClean="0"/>
              <a:t>R</a:t>
            </a:r>
            <a:r>
              <a:rPr lang="en-US" dirty="0" smtClean="0"/>
              <a:t> since </a:t>
            </a:r>
            <a:r>
              <a:rPr lang="en-US" i="1" dirty="0" smtClean="0"/>
              <a:t>a</a:t>
            </a:r>
            <a:r>
              <a:rPr lang="en-US" dirty="0" smtClean="0"/>
              <a:t> and </a:t>
            </a:r>
            <a:r>
              <a:rPr lang="en-US" i="1" dirty="0" smtClean="0"/>
              <a:t>c</a:t>
            </a:r>
            <a:r>
              <a:rPr lang="en-US" dirty="0" smtClean="0"/>
              <a:t> belong to the same subset of the partition. </a:t>
            </a:r>
          </a:p>
          <a:p>
            <a:pPr>
              <a:buNone/>
            </a:pPr>
            <a:r>
              <a:rPr lang="en-US" dirty="0" smtClean="0"/>
              <a:t>   </a:t>
            </a:r>
          </a:p>
          <a:p>
            <a:pPr>
              <a:buNone/>
            </a:pPr>
            <a:endParaRPr lang="en-US" dirty="0" smtClean="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Partial Orderings</a:t>
            </a:r>
            <a:endParaRPr lang="en-US" dirty="0"/>
          </a:p>
        </p:txBody>
      </p:sp>
      <p:sp>
        <p:nvSpPr>
          <p:cNvPr id="3" name="Subtitle 2"/>
          <p:cNvSpPr>
            <a:spLocks noGrp="1"/>
          </p:cNvSpPr>
          <p:nvPr>
            <p:ph type="subTitle" idx="1"/>
          </p:nvPr>
        </p:nvSpPr>
        <p:spPr/>
        <p:txBody>
          <a:bodyPr/>
          <a:lstStyle/>
          <a:p>
            <a:r>
              <a:rPr lang="en-US" dirty="0" smtClean="0"/>
              <a:t>Section 9.6</a:t>
            </a:r>
            <a:endParaRPr lang="en-US"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Section Summary</a:t>
            </a:r>
            <a:endParaRPr lang="en-US" dirty="0"/>
          </a:p>
        </p:txBody>
      </p:sp>
      <p:sp>
        <p:nvSpPr>
          <p:cNvPr id="3" name="Content Placeholder 2"/>
          <p:cNvSpPr>
            <a:spLocks noGrp="1"/>
          </p:cNvSpPr>
          <p:nvPr>
            <p:ph idx="1"/>
          </p:nvPr>
        </p:nvSpPr>
        <p:spPr/>
        <p:txBody>
          <a:bodyPr>
            <a:normAutofit/>
          </a:bodyPr>
          <a:lstStyle/>
          <a:p>
            <a:r>
              <a:rPr lang="en-US" dirty="0" smtClean="0"/>
              <a:t>Partial Orderings and Partially-ordered Sets</a:t>
            </a:r>
          </a:p>
          <a:p>
            <a:r>
              <a:rPr lang="en-US" dirty="0" smtClean="0"/>
              <a:t>Lexicographic Orderings</a:t>
            </a:r>
          </a:p>
          <a:p>
            <a:r>
              <a:rPr lang="en-US" dirty="0" err="1" smtClean="0"/>
              <a:t>Hasse</a:t>
            </a:r>
            <a:r>
              <a:rPr lang="en-US" dirty="0" smtClean="0"/>
              <a:t> Diagrams </a:t>
            </a:r>
          </a:p>
          <a:p>
            <a:r>
              <a:rPr lang="en-US" dirty="0" smtClean="0"/>
              <a:t>Lattices (</a:t>
            </a:r>
            <a:r>
              <a:rPr lang="en-US" i="1" dirty="0" smtClean="0"/>
              <a:t>not currently in overheads</a:t>
            </a:r>
            <a:r>
              <a:rPr lang="en-US" dirty="0" smtClean="0"/>
              <a:t>)</a:t>
            </a:r>
          </a:p>
          <a:p>
            <a:r>
              <a:rPr lang="en-US" dirty="0" smtClean="0"/>
              <a:t>Topological Sorting (</a:t>
            </a:r>
            <a:r>
              <a:rPr lang="en-US" i="1" dirty="0" smtClean="0"/>
              <a:t>not currently in overheads</a:t>
            </a:r>
            <a:r>
              <a:rPr lang="en-US" dirty="0" smtClean="0"/>
              <a:t>)</a:t>
            </a:r>
          </a:p>
          <a:p>
            <a:endParaRPr lang="en-US" dirty="0" smtClean="0"/>
          </a:p>
          <a:p>
            <a:endParaRPr lang="en-US" dirty="0" smtClean="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Partial Orderings</a:t>
            </a:r>
            <a:endParaRPr lang="en-US" dirty="0"/>
          </a:p>
        </p:txBody>
      </p:sp>
      <p:sp>
        <p:nvSpPr>
          <p:cNvPr id="3" name="Content Placeholder 2"/>
          <p:cNvSpPr>
            <a:spLocks noGrp="1"/>
          </p:cNvSpPr>
          <p:nvPr>
            <p:ph idx="1"/>
          </p:nvPr>
        </p:nvSpPr>
        <p:spPr/>
        <p:txBody>
          <a:bodyPr/>
          <a:lstStyle/>
          <a:p>
            <a:pPr>
              <a:buNone/>
            </a:pPr>
            <a:r>
              <a:rPr lang="en-US" b="1" dirty="0" smtClean="0"/>
              <a:t>   Definition </a:t>
            </a:r>
            <a:r>
              <a:rPr lang="en-US" b="1" dirty="0" smtClean="0">
                <a:latin typeface="Cambria Math" pitchFamily="18" charset="0"/>
                <a:ea typeface="Cambria Math" pitchFamily="18" charset="0"/>
              </a:rPr>
              <a:t>1</a:t>
            </a:r>
            <a:r>
              <a:rPr lang="en-US" dirty="0" smtClean="0"/>
              <a:t>: A relation </a:t>
            </a:r>
            <a:r>
              <a:rPr lang="en-US" i="1" dirty="0" smtClean="0"/>
              <a:t>R</a:t>
            </a:r>
            <a:r>
              <a:rPr lang="en-US" dirty="0" smtClean="0"/>
              <a:t> on a set S is called a </a:t>
            </a:r>
            <a:r>
              <a:rPr lang="en-US" i="1" dirty="0" smtClean="0"/>
              <a:t>partial ordering,</a:t>
            </a:r>
            <a:r>
              <a:rPr lang="en-US" dirty="0" smtClean="0"/>
              <a:t> or </a:t>
            </a:r>
            <a:r>
              <a:rPr lang="en-US" i="1" dirty="0" smtClean="0"/>
              <a:t>partial order, </a:t>
            </a:r>
            <a:r>
              <a:rPr lang="en-US" dirty="0" smtClean="0"/>
              <a:t>if it is reflexive, </a:t>
            </a:r>
            <a:r>
              <a:rPr lang="en-US" dirty="0" err="1" smtClean="0"/>
              <a:t>antisymmetric</a:t>
            </a:r>
            <a:r>
              <a:rPr lang="en-US" dirty="0" smtClean="0"/>
              <a:t>, and transitive. A set together with a partial ordering </a:t>
            </a:r>
            <a:r>
              <a:rPr lang="en-US" i="1" dirty="0" smtClean="0"/>
              <a:t>R</a:t>
            </a:r>
            <a:r>
              <a:rPr lang="en-US" dirty="0" smtClean="0"/>
              <a:t> is called a </a:t>
            </a:r>
            <a:r>
              <a:rPr lang="en-US" i="1" dirty="0" smtClean="0"/>
              <a:t>partially ordered set</a:t>
            </a:r>
            <a:r>
              <a:rPr lang="en-US" dirty="0" smtClean="0"/>
              <a:t>, or </a:t>
            </a:r>
            <a:r>
              <a:rPr lang="en-US" i="1" dirty="0" err="1" smtClean="0"/>
              <a:t>poset</a:t>
            </a:r>
            <a:r>
              <a:rPr lang="en-US" dirty="0" smtClean="0"/>
              <a:t>, and is denoted by (</a:t>
            </a:r>
            <a:r>
              <a:rPr lang="en-US" i="1" dirty="0" smtClean="0"/>
              <a:t>S</a:t>
            </a:r>
            <a:r>
              <a:rPr lang="en-US" dirty="0" smtClean="0"/>
              <a:t>, </a:t>
            </a:r>
            <a:r>
              <a:rPr lang="en-US" i="1" dirty="0" smtClean="0"/>
              <a:t>R</a:t>
            </a:r>
            <a:r>
              <a:rPr lang="en-US" dirty="0" smtClean="0"/>
              <a:t>). Members of </a:t>
            </a:r>
            <a:r>
              <a:rPr lang="en-US" i="1" dirty="0" smtClean="0"/>
              <a:t>S</a:t>
            </a:r>
            <a:r>
              <a:rPr lang="en-US" dirty="0" smtClean="0"/>
              <a:t> are called </a:t>
            </a:r>
            <a:r>
              <a:rPr lang="en-US" i="1" dirty="0" smtClean="0"/>
              <a:t>elements </a:t>
            </a:r>
            <a:r>
              <a:rPr lang="en-US" dirty="0" smtClean="0"/>
              <a:t>of the </a:t>
            </a:r>
            <a:r>
              <a:rPr lang="en-US" dirty="0" err="1" smtClean="0"/>
              <a:t>poset</a:t>
            </a:r>
            <a:r>
              <a:rPr lang="en-US" dirty="0" smtClean="0"/>
              <a:t>. </a:t>
            </a:r>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Partial Orderings (</a:t>
            </a:r>
            <a:r>
              <a:rPr lang="en-US" i="1" dirty="0" smtClean="0"/>
              <a:t>continued</a:t>
            </a:r>
            <a:r>
              <a:rPr lang="en-US" dirty="0" smtClean="0"/>
              <a:t>)</a:t>
            </a:r>
            <a:endParaRPr lang="en-US" dirty="0"/>
          </a:p>
        </p:txBody>
      </p:sp>
      <p:sp>
        <p:nvSpPr>
          <p:cNvPr id="3" name="Content Placeholder 2"/>
          <p:cNvSpPr>
            <a:spLocks noGrp="1"/>
          </p:cNvSpPr>
          <p:nvPr>
            <p:ph idx="1"/>
          </p:nvPr>
        </p:nvSpPr>
        <p:spPr/>
        <p:txBody>
          <a:bodyPr/>
          <a:lstStyle/>
          <a:p>
            <a:pPr>
              <a:buNone/>
            </a:pPr>
            <a:r>
              <a:rPr lang="en-US" b="1" dirty="0" smtClean="0"/>
              <a:t>   Example </a:t>
            </a:r>
            <a:r>
              <a:rPr lang="en-US" b="1" dirty="0" smtClean="0">
                <a:latin typeface="Cambria Math" pitchFamily="18" charset="0"/>
                <a:ea typeface="Cambria Math" pitchFamily="18" charset="0"/>
              </a:rPr>
              <a:t>1</a:t>
            </a:r>
            <a:r>
              <a:rPr lang="en-US" dirty="0" smtClean="0"/>
              <a:t>: Show that the “greater than or equal” relation (</a:t>
            </a:r>
            <a:r>
              <a:rPr lang="en-US" dirty="0" smtClean="0">
                <a:latin typeface="Cambria Math"/>
                <a:ea typeface="Cambria Math"/>
              </a:rPr>
              <a:t>≥</a:t>
            </a:r>
            <a:r>
              <a:rPr lang="en-US" dirty="0" smtClean="0"/>
              <a:t>) is a partial ordering on the set of integers.</a:t>
            </a:r>
          </a:p>
          <a:p>
            <a:pPr lvl="1"/>
            <a:r>
              <a:rPr lang="en-US" i="1" dirty="0" smtClean="0"/>
              <a:t>Reflexivity</a:t>
            </a:r>
            <a:r>
              <a:rPr lang="en-US" dirty="0" smtClean="0"/>
              <a:t>:  </a:t>
            </a:r>
            <a:r>
              <a:rPr lang="en-US" i="1" dirty="0" smtClean="0"/>
              <a:t>a</a:t>
            </a:r>
            <a:r>
              <a:rPr lang="en-US" dirty="0" smtClean="0"/>
              <a:t> </a:t>
            </a:r>
            <a:r>
              <a:rPr lang="en-US" dirty="0" smtClean="0">
                <a:latin typeface="Cambria Math"/>
                <a:ea typeface="Cambria Math"/>
              </a:rPr>
              <a:t>≥</a:t>
            </a:r>
            <a:r>
              <a:rPr lang="en-US" dirty="0" smtClean="0"/>
              <a:t> </a:t>
            </a:r>
            <a:r>
              <a:rPr lang="en-US" i="1" dirty="0" smtClean="0"/>
              <a:t>a</a:t>
            </a:r>
            <a:r>
              <a:rPr lang="en-US" dirty="0" smtClean="0"/>
              <a:t> for every integer </a:t>
            </a:r>
            <a:r>
              <a:rPr lang="en-US" i="1" dirty="0" smtClean="0"/>
              <a:t>a</a:t>
            </a:r>
            <a:r>
              <a:rPr lang="en-US" dirty="0" smtClean="0"/>
              <a:t>.</a:t>
            </a:r>
          </a:p>
          <a:p>
            <a:pPr lvl="1"/>
            <a:r>
              <a:rPr lang="en-US" i="1" dirty="0" err="1" smtClean="0"/>
              <a:t>Antisymmetry</a:t>
            </a:r>
            <a:r>
              <a:rPr lang="en-US" dirty="0" smtClean="0"/>
              <a:t>: If </a:t>
            </a:r>
            <a:r>
              <a:rPr lang="en-US" i="1" dirty="0" smtClean="0"/>
              <a:t>a</a:t>
            </a:r>
            <a:r>
              <a:rPr lang="en-US" dirty="0" smtClean="0"/>
              <a:t> </a:t>
            </a:r>
            <a:r>
              <a:rPr lang="en-US" dirty="0" smtClean="0">
                <a:latin typeface="Cambria Math"/>
                <a:ea typeface="Cambria Math"/>
              </a:rPr>
              <a:t>≥</a:t>
            </a:r>
            <a:r>
              <a:rPr lang="en-US" dirty="0" smtClean="0"/>
              <a:t> </a:t>
            </a:r>
            <a:r>
              <a:rPr lang="en-US" i="1" dirty="0" smtClean="0"/>
              <a:t>b</a:t>
            </a:r>
            <a:r>
              <a:rPr lang="en-US" dirty="0" smtClean="0"/>
              <a:t> and </a:t>
            </a:r>
            <a:r>
              <a:rPr lang="en-US" i="1" dirty="0" smtClean="0"/>
              <a:t>b</a:t>
            </a:r>
            <a:r>
              <a:rPr lang="en-US" dirty="0" smtClean="0"/>
              <a:t> </a:t>
            </a:r>
            <a:r>
              <a:rPr lang="en-US" dirty="0" smtClean="0">
                <a:latin typeface="Cambria Math"/>
                <a:ea typeface="Cambria Math"/>
              </a:rPr>
              <a:t>≥</a:t>
            </a:r>
            <a:r>
              <a:rPr lang="en-US" dirty="0" smtClean="0"/>
              <a:t> </a:t>
            </a:r>
            <a:r>
              <a:rPr lang="en-US" i="1" dirty="0" smtClean="0"/>
              <a:t>a</a:t>
            </a:r>
            <a:r>
              <a:rPr lang="en-US" dirty="0" smtClean="0"/>
              <a:t> , then </a:t>
            </a:r>
            <a:r>
              <a:rPr lang="en-US" i="1" dirty="0" smtClean="0"/>
              <a:t>a</a:t>
            </a:r>
            <a:r>
              <a:rPr lang="en-US" dirty="0" smtClean="0"/>
              <a:t> = </a:t>
            </a:r>
            <a:r>
              <a:rPr lang="en-US" i="1" dirty="0" smtClean="0"/>
              <a:t>b.</a:t>
            </a:r>
          </a:p>
          <a:p>
            <a:pPr lvl="1"/>
            <a:r>
              <a:rPr lang="en-US" i="1" dirty="0" smtClean="0"/>
              <a:t>Transitivity</a:t>
            </a:r>
            <a:r>
              <a:rPr lang="en-US" dirty="0" smtClean="0"/>
              <a:t>: If </a:t>
            </a:r>
            <a:r>
              <a:rPr lang="en-US" i="1" dirty="0" smtClean="0"/>
              <a:t>a</a:t>
            </a:r>
            <a:r>
              <a:rPr lang="en-US" dirty="0" smtClean="0"/>
              <a:t> </a:t>
            </a:r>
            <a:r>
              <a:rPr lang="en-US" dirty="0" smtClean="0">
                <a:latin typeface="Cambria Math"/>
                <a:ea typeface="Cambria Math"/>
              </a:rPr>
              <a:t>≥</a:t>
            </a:r>
            <a:r>
              <a:rPr lang="en-US" dirty="0" smtClean="0"/>
              <a:t> </a:t>
            </a:r>
            <a:r>
              <a:rPr lang="en-US" i="1" dirty="0" smtClean="0"/>
              <a:t>b</a:t>
            </a:r>
            <a:r>
              <a:rPr lang="en-US" dirty="0" smtClean="0"/>
              <a:t> and </a:t>
            </a:r>
            <a:r>
              <a:rPr lang="en-US" i="1" dirty="0" smtClean="0"/>
              <a:t>b</a:t>
            </a:r>
            <a:r>
              <a:rPr lang="en-US" dirty="0" smtClean="0"/>
              <a:t> </a:t>
            </a:r>
            <a:r>
              <a:rPr lang="en-US" dirty="0" smtClean="0">
                <a:latin typeface="Cambria Math"/>
                <a:ea typeface="Cambria Math"/>
              </a:rPr>
              <a:t>≥</a:t>
            </a:r>
            <a:r>
              <a:rPr lang="en-US" dirty="0" smtClean="0"/>
              <a:t> </a:t>
            </a:r>
            <a:r>
              <a:rPr lang="en-US" i="1" dirty="0" smtClean="0"/>
              <a:t>c</a:t>
            </a:r>
            <a:r>
              <a:rPr lang="en-US" dirty="0" smtClean="0"/>
              <a:t> , then </a:t>
            </a:r>
            <a:r>
              <a:rPr lang="en-US" i="1" dirty="0" smtClean="0"/>
              <a:t>a</a:t>
            </a:r>
            <a:r>
              <a:rPr lang="en-US" dirty="0" smtClean="0"/>
              <a:t> </a:t>
            </a:r>
            <a:r>
              <a:rPr lang="en-US" dirty="0" smtClean="0">
                <a:latin typeface="Cambria Math"/>
                <a:ea typeface="Cambria Math"/>
              </a:rPr>
              <a:t>≥</a:t>
            </a:r>
            <a:r>
              <a:rPr lang="en-US" dirty="0" smtClean="0"/>
              <a:t> </a:t>
            </a:r>
            <a:r>
              <a:rPr lang="en-US" i="1" dirty="0" smtClean="0"/>
              <a:t>c.</a:t>
            </a:r>
          </a:p>
          <a:p>
            <a:pPr lvl="1"/>
            <a:endParaRPr lang="en-US" i="1" dirty="0" smtClean="0"/>
          </a:p>
          <a:p>
            <a:pPr lvl="1">
              <a:buNone/>
            </a:pPr>
            <a:endParaRPr lang="en-US" dirty="0"/>
          </a:p>
        </p:txBody>
      </p:sp>
      <p:sp>
        <p:nvSpPr>
          <p:cNvPr id="4" name="TextBox 3"/>
          <p:cNvSpPr txBox="1"/>
          <p:nvPr/>
        </p:nvSpPr>
        <p:spPr>
          <a:xfrm>
            <a:off x="990600" y="4648200"/>
            <a:ext cx="6629400" cy="646331"/>
          </a:xfrm>
          <a:prstGeom prst="rect">
            <a:avLst/>
          </a:prstGeom>
          <a:noFill/>
          <a:ln>
            <a:solidFill>
              <a:schemeClr val="accent1"/>
            </a:solidFill>
          </a:ln>
        </p:spPr>
        <p:txBody>
          <a:bodyPr wrap="square" rtlCol="0">
            <a:spAutoFit/>
          </a:bodyPr>
          <a:lstStyle/>
          <a:p>
            <a:r>
              <a:rPr lang="en-US" dirty="0" smtClean="0"/>
              <a:t>These properties all follow from the order axioms for the integers. (</a:t>
            </a:r>
            <a:r>
              <a:rPr lang="en-US" i="1" dirty="0" smtClean="0"/>
              <a:t>See Appendix </a:t>
            </a:r>
            <a:r>
              <a:rPr lang="en-US" dirty="0" smtClean="0">
                <a:latin typeface="Cambria Math" pitchFamily="18" charset="0"/>
                <a:ea typeface="Cambria Math" pitchFamily="18" charset="0"/>
              </a:rPr>
              <a:t>1</a:t>
            </a:r>
            <a:r>
              <a:rPr lang="en-US" dirty="0" smtClean="0"/>
              <a:t>).</a:t>
            </a:r>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Partial Orderings (</a:t>
            </a:r>
            <a:r>
              <a:rPr lang="en-US" i="1" dirty="0" smtClean="0"/>
              <a:t>continued</a:t>
            </a:r>
            <a:r>
              <a:rPr lang="en-US" dirty="0" smtClean="0"/>
              <a:t>)</a:t>
            </a:r>
            <a:endParaRPr lang="en-US" dirty="0"/>
          </a:p>
        </p:txBody>
      </p:sp>
      <p:sp>
        <p:nvSpPr>
          <p:cNvPr id="3" name="Content Placeholder 2"/>
          <p:cNvSpPr>
            <a:spLocks noGrp="1"/>
          </p:cNvSpPr>
          <p:nvPr>
            <p:ph idx="1"/>
          </p:nvPr>
        </p:nvSpPr>
        <p:spPr/>
        <p:txBody>
          <a:bodyPr>
            <a:normAutofit lnSpcReduction="10000"/>
          </a:bodyPr>
          <a:lstStyle/>
          <a:p>
            <a:pPr>
              <a:buNone/>
            </a:pPr>
            <a:r>
              <a:rPr lang="en-US" b="1" dirty="0" smtClean="0"/>
              <a:t>   Example </a:t>
            </a:r>
            <a:r>
              <a:rPr lang="en-US" b="1" dirty="0" smtClean="0">
                <a:latin typeface="Cambria Math" pitchFamily="18" charset="0"/>
                <a:ea typeface="Cambria Math" pitchFamily="18" charset="0"/>
              </a:rPr>
              <a:t>2</a:t>
            </a:r>
            <a:r>
              <a:rPr lang="en-US" dirty="0" smtClean="0"/>
              <a:t>: Show that the divisibility relation (</a:t>
            </a:r>
            <a:r>
              <a:rPr lang="en-US" dirty="0" smtClean="0">
                <a:latin typeface="Cambria Math"/>
                <a:ea typeface="Cambria Math"/>
              </a:rPr>
              <a:t>∣</a:t>
            </a:r>
            <a:r>
              <a:rPr lang="en-US" dirty="0" smtClean="0"/>
              <a:t>) is a partial ordering on the set of integers.</a:t>
            </a:r>
          </a:p>
          <a:p>
            <a:pPr lvl="1"/>
            <a:r>
              <a:rPr lang="en-US" i="1" dirty="0" smtClean="0"/>
              <a:t>Reflexivity</a:t>
            </a:r>
            <a:r>
              <a:rPr lang="en-US" dirty="0" smtClean="0"/>
              <a:t>: </a:t>
            </a:r>
            <a:r>
              <a:rPr lang="en-US" i="1" dirty="0" smtClean="0"/>
              <a:t>a</a:t>
            </a:r>
            <a:r>
              <a:rPr lang="en-US" dirty="0" smtClean="0"/>
              <a:t> </a:t>
            </a:r>
            <a:r>
              <a:rPr lang="en-US" dirty="0" smtClean="0">
                <a:latin typeface="Cambria Math"/>
                <a:ea typeface="Cambria Math"/>
              </a:rPr>
              <a:t>∣ </a:t>
            </a:r>
            <a:r>
              <a:rPr lang="en-US" i="1" dirty="0" smtClean="0">
                <a:ea typeface="Cambria Math"/>
              </a:rPr>
              <a:t>a</a:t>
            </a:r>
            <a:r>
              <a:rPr lang="en-US" dirty="0" smtClean="0">
                <a:latin typeface="Cambria Math"/>
                <a:ea typeface="Cambria Math"/>
              </a:rPr>
              <a:t> for all integers </a:t>
            </a:r>
            <a:r>
              <a:rPr lang="en-US" i="1" dirty="0" smtClean="0">
                <a:ea typeface="Cambria Math"/>
              </a:rPr>
              <a:t>a</a:t>
            </a:r>
            <a:r>
              <a:rPr lang="en-US" dirty="0" smtClean="0">
                <a:latin typeface="Cambria Math"/>
                <a:ea typeface="Cambria Math"/>
              </a:rPr>
              <a:t>. (</a:t>
            </a:r>
            <a:r>
              <a:rPr lang="en-US" i="1" dirty="0" smtClean="0">
                <a:ea typeface="Cambria Math"/>
              </a:rPr>
              <a:t>see Example </a:t>
            </a:r>
            <a:r>
              <a:rPr lang="en-US" dirty="0" smtClean="0">
                <a:latin typeface="Cambria Math" pitchFamily="18" charset="0"/>
                <a:ea typeface="Cambria Math" pitchFamily="18" charset="0"/>
              </a:rPr>
              <a:t>9</a:t>
            </a:r>
            <a:r>
              <a:rPr lang="en-US" i="1" dirty="0" smtClean="0">
                <a:ea typeface="Cambria Math"/>
              </a:rPr>
              <a:t> in Section </a:t>
            </a:r>
            <a:r>
              <a:rPr lang="en-US" dirty="0" smtClean="0">
                <a:latin typeface="Cambria Math" pitchFamily="18" charset="0"/>
                <a:ea typeface="Cambria Math" pitchFamily="18" charset="0"/>
              </a:rPr>
              <a:t>9.1</a:t>
            </a:r>
            <a:r>
              <a:rPr lang="en-US" dirty="0" smtClean="0">
                <a:latin typeface="Cambria Math"/>
                <a:ea typeface="Cambria Math"/>
              </a:rPr>
              <a:t>) </a:t>
            </a:r>
            <a:endParaRPr lang="en-US" dirty="0" smtClean="0"/>
          </a:p>
          <a:p>
            <a:pPr lvl="1"/>
            <a:r>
              <a:rPr lang="en-US" i="1" dirty="0" err="1" smtClean="0"/>
              <a:t>Antisymmetry</a:t>
            </a:r>
            <a:r>
              <a:rPr lang="en-US" dirty="0" smtClean="0"/>
              <a:t>: If </a:t>
            </a:r>
            <a:r>
              <a:rPr lang="en-US" i="1" dirty="0" smtClean="0"/>
              <a:t>a</a:t>
            </a:r>
            <a:r>
              <a:rPr lang="en-US" dirty="0" smtClean="0"/>
              <a:t> and </a:t>
            </a:r>
            <a:r>
              <a:rPr lang="en-US" i="1" dirty="0" smtClean="0"/>
              <a:t>b</a:t>
            </a:r>
            <a:r>
              <a:rPr lang="en-US" dirty="0" smtClean="0"/>
              <a:t> are positive integers with </a:t>
            </a:r>
            <a:r>
              <a:rPr lang="en-US" i="1" dirty="0" smtClean="0"/>
              <a:t>a</a:t>
            </a:r>
            <a:r>
              <a:rPr lang="en-US" dirty="0" smtClean="0"/>
              <a:t> | </a:t>
            </a:r>
            <a:r>
              <a:rPr lang="en-US" i="1" dirty="0" smtClean="0"/>
              <a:t>b</a:t>
            </a:r>
            <a:r>
              <a:rPr lang="en-US" dirty="0" smtClean="0"/>
              <a:t> and </a:t>
            </a:r>
            <a:r>
              <a:rPr lang="en-US" i="1" dirty="0" smtClean="0"/>
              <a:t>b</a:t>
            </a:r>
            <a:r>
              <a:rPr lang="en-US" dirty="0" smtClean="0"/>
              <a:t> | </a:t>
            </a:r>
            <a:r>
              <a:rPr lang="en-US" i="1" dirty="0" smtClean="0"/>
              <a:t>a</a:t>
            </a:r>
            <a:r>
              <a:rPr lang="en-US" dirty="0" smtClean="0"/>
              <a:t>, then </a:t>
            </a:r>
            <a:r>
              <a:rPr lang="en-US" i="1" dirty="0" smtClean="0"/>
              <a:t>a</a:t>
            </a:r>
            <a:r>
              <a:rPr lang="en-US" dirty="0" smtClean="0"/>
              <a:t> = </a:t>
            </a:r>
            <a:r>
              <a:rPr lang="en-US" i="1" dirty="0" smtClean="0"/>
              <a:t>b</a:t>
            </a:r>
            <a:r>
              <a:rPr lang="en-US" dirty="0" smtClean="0"/>
              <a:t>. (</a:t>
            </a:r>
            <a:r>
              <a:rPr lang="en-US" i="1" dirty="0" smtClean="0"/>
              <a:t>see Example </a:t>
            </a:r>
            <a:r>
              <a:rPr lang="en-US" dirty="0" smtClean="0">
                <a:latin typeface="Cambria Math" pitchFamily="18" charset="0"/>
                <a:ea typeface="Cambria Math" pitchFamily="18" charset="0"/>
              </a:rPr>
              <a:t>12</a:t>
            </a:r>
            <a:r>
              <a:rPr lang="en-US" dirty="0" smtClean="0"/>
              <a:t> </a:t>
            </a:r>
            <a:r>
              <a:rPr lang="en-US" i="1" dirty="0" smtClean="0"/>
              <a:t>in Section </a:t>
            </a:r>
            <a:r>
              <a:rPr lang="en-US" dirty="0" smtClean="0">
                <a:latin typeface="Cambria Math" pitchFamily="18" charset="0"/>
                <a:ea typeface="Cambria Math" pitchFamily="18" charset="0"/>
              </a:rPr>
              <a:t>9.1</a:t>
            </a:r>
            <a:r>
              <a:rPr lang="en-US" dirty="0" smtClean="0"/>
              <a:t>)</a:t>
            </a:r>
            <a:endParaRPr lang="en-US" i="1" dirty="0" smtClean="0"/>
          </a:p>
          <a:p>
            <a:pPr lvl="1"/>
            <a:r>
              <a:rPr lang="en-US" i="1" dirty="0" smtClean="0"/>
              <a:t>Transitivity</a:t>
            </a:r>
            <a:r>
              <a:rPr lang="en-US" dirty="0" smtClean="0"/>
              <a:t>: Suppose that </a:t>
            </a:r>
            <a:r>
              <a:rPr lang="en-US" i="1" dirty="0" smtClean="0"/>
              <a:t>a</a:t>
            </a:r>
            <a:r>
              <a:rPr lang="en-US" dirty="0" smtClean="0"/>
              <a:t> divides </a:t>
            </a:r>
            <a:r>
              <a:rPr lang="en-US" i="1" dirty="0" smtClean="0"/>
              <a:t>b</a:t>
            </a:r>
            <a:r>
              <a:rPr lang="en-US" dirty="0" smtClean="0"/>
              <a:t> and </a:t>
            </a:r>
            <a:r>
              <a:rPr lang="en-US" i="1" dirty="0" smtClean="0"/>
              <a:t>b</a:t>
            </a:r>
            <a:r>
              <a:rPr lang="en-US" dirty="0" smtClean="0"/>
              <a:t> divides </a:t>
            </a:r>
            <a:r>
              <a:rPr lang="en-US" i="1" dirty="0" smtClean="0"/>
              <a:t>c</a:t>
            </a:r>
            <a:r>
              <a:rPr lang="en-US" dirty="0" smtClean="0"/>
              <a:t>. Then there are positive integers </a:t>
            </a:r>
            <a:r>
              <a:rPr lang="en-US" i="1" dirty="0" smtClean="0"/>
              <a:t>k</a:t>
            </a:r>
            <a:r>
              <a:rPr lang="en-US" dirty="0" smtClean="0"/>
              <a:t> and </a:t>
            </a:r>
            <a:r>
              <a:rPr lang="en-US" i="1" dirty="0" smtClean="0"/>
              <a:t>l</a:t>
            </a:r>
            <a:r>
              <a:rPr lang="en-US" dirty="0" smtClean="0"/>
              <a:t> such that </a:t>
            </a:r>
            <a:r>
              <a:rPr lang="en-US" i="1" dirty="0" smtClean="0"/>
              <a:t>b</a:t>
            </a:r>
            <a:r>
              <a:rPr lang="en-US" dirty="0" smtClean="0"/>
              <a:t> = </a:t>
            </a:r>
            <a:r>
              <a:rPr lang="en-US" i="1" dirty="0" err="1" smtClean="0"/>
              <a:t>ak</a:t>
            </a:r>
            <a:r>
              <a:rPr lang="en-US" dirty="0" smtClean="0"/>
              <a:t> and </a:t>
            </a:r>
            <a:r>
              <a:rPr lang="en-US" i="1" dirty="0" smtClean="0"/>
              <a:t>c</a:t>
            </a:r>
            <a:r>
              <a:rPr lang="en-US" dirty="0" smtClean="0"/>
              <a:t> = </a:t>
            </a:r>
            <a:r>
              <a:rPr lang="en-US" i="1" dirty="0" smtClean="0"/>
              <a:t>bl</a:t>
            </a:r>
            <a:r>
              <a:rPr lang="en-US" dirty="0" smtClean="0"/>
              <a:t>. Hence, </a:t>
            </a:r>
            <a:r>
              <a:rPr lang="en-US" i="1" dirty="0" smtClean="0"/>
              <a:t>c</a:t>
            </a:r>
            <a:r>
              <a:rPr lang="en-US" dirty="0" smtClean="0"/>
              <a:t> = </a:t>
            </a:r>
            <a:r>
              <a:rPr lang="en-US" i="1" dirty="0" smtClean="0"/>
              <a:t>a</a:t>
            </a:r>
            <a:r>
              <a:rPr lang="en-US" dirty="0" smtClean="0"/>
              <a:t>(</a:t>
            </a:r>
            <a:r>
              <a:rPr lang="en-US" i="1" dirty="0" err="1" smtClean="0"/>
              <a:t>kl</a:t>
            </a:r>
            <a:r>
              <a:rPr lang="en-US" dirty="0" smtClean="0"/>
              <a:t>), so </a:t>
            </a:r>
            <a:r>
              <a:rPr lang="en-US" i="1" dirty="0" smtClean="0"/>
              <a:t>a</a:t>
            </a:r>
            <a:r>
              <a:rPr lang="en-US" dirty="0" smtClean="0"/>
              <a:t> divides </a:t>
            </a:r>
            <a:r>
              <a:rPr lang="en-US" i="1" dirty="0" smtClean="0"/>
              <a:t>c</a:t>
            </a:r>
            <a:r>
              <a:rPr lang="en-US" dirty="0" smtClean="0"/>
              <a:t>. Therefore, the relation is transitive. </a:t>
            </a:r>
            <a:endParaRPr lang="en-US" i="1" dirty="0" smtClean="0"/>
          </a:p>
          <a:p>
            <a:r>
              <a:rPr lang="en-US" dirty="0" smtClean="0"/>
              <a:t>(</a:t>
            </a:r>
            <a:r>
              <a:rPr lang="en-US" b="1" i="1" dirty="0" smtClean="0"/>
              <a:t>Z</a:t>
            </a:r>
            <a:r>
              <a:rPr lang="en-US" baseline="30000" dirty="0" smtClean="0"/>
              <a:t>+</a:t>
            </a:r>
            <a:r>
              <a:rPr lang="en-US" dirty="0" smtClean="0"/>
              <a:t>, </a:t>
            </a:r>
            <a:r>
              <a:rPr lang="en-US" dirty="0" smtClean="0">
                <a:latin typeface="Cambria Math"/>
                <a:ea typeface="Cambria Math"/>
              </a:rPr>
              <a:t>∣</a:t>
            </a:r>
            <a:r>
              <a:rPr lang="en-US" dirty="0" smtClean="0"/>
              <a:t>) is a </a:t>
            </a:r>
            <a:r>
              <a:rPr lang="en-US" dirty="0" err="1" smtClean="0"/>
              <a:t>poset</a:t>
            </a:r>
            <a:r>
              <a:rPr lang="en-US" dirty="0" smtClean="0"/>
              <a:t>.</a:t>
            </a:r>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Partial Orderings (</a:t>
            </a:r>
            <a:r>
              <a:rPr lang="en-US" i="1" dirty="0" smtClean="0"/>
              <a:t>continued</a:t>
            </a:r>
            <a:r>
              <a:rPr lang="en-US" dirty="0" smtClean="0"/>
              <a:t>)</a:t>
            </a:r>
            <a:endParaRPr lang="en-US" dirty="0"/>
          </a:p>
        </p:txBody>
      </p:sp>
      <p:sp>
        <p:nvSpPr>
          <p:cNvPr id="3" name="Content Placeholder 2"/>
          <p:cNvSpPr>
            <a:spLocks noGrp="1"/>
          </p:cNvSpPr>
          <p:nvPr>
            <p:ph idx="1"/>
          </p:nvPr>
        </p:nvSpPr>
        <p:spPr>
          <a:xfrm>
            <a:off x="457200" y="1915160"/>
            <a:ext cx="8382000" cy="4389120"/>
          </a:xfrm>
        </p:spPr>
        <p:txBody>
          <a:bodyPr>
            <a:normAutofit fontScale="92500" lnSpcReduction="20000"/>
          </a:bodyPr>
          <a:lstStyle/>
          <a:p>
            <a:pPr>
              <a:buNone/>
            </a:pPr>
            <a:r>
              <a:rPr lang="en-US" b="1" dirty="0" smtClean="0"/>
              <a:t>   Example </a:t>
            </a:r>
            <a:r>
              <a:rPr lang="en-US" b="1" dirty="0" smtClean="0">
                <a:latin typeface="Cambria Math" pitchFamily="18" charset="0"/>
                <a:ea typeface="Cambria Math" pitchFamily="18" charset="0"/>
              </a:rPr>
              <a:t>3</a:t>
            </a:r>
            <a:r>
              <a:rPr lang="en-US" dirty="0" smtClean="0"/>
              <a:t>: Show that the inclusion relation (</a:t>
            </a:r>
            <a:r>
              <a:rPr lang="en-US" dirty="0" smtClean="0">
                <a:latin typeface="Cambria Math"/>
                <a:ea typeface="Cambria Math"/>
              </a:rPr>
              <a:t>⊆</a:t>
            </a:r>
            <a:r>
              <a:rPr lang="en-US" dirty="0" smtClean="0"/>
              <a:t>) is a partial ordering on the power set of a set </a:t>
            </a:r>
            <a:r>
              <a:rPr lang="en-US" i="1" dirty="0" smtClean="0"/>
              <a:t>S</a:t>
            </a:r>
            <a:r>
              <a:rPr lang="en-US" dirty="0" smtClean="0"/>
              <a:t>.</a:t>
            </a:r>
          </a:p>
          <a:p>
            <a:pPr lvl="1"/>
            <a:r>
              <a:rPr lang="en-US" b="1" i="1" dirty="0" smtClean="0"/>
              <a:t>Reflexivity</a:t>
            </a:r>
            <a:r>
              <a:rPr lang="en-US" b="1" dirty="0" smtClean="0"/>
              <a:t>:</a:t>
            </a:r>
            <a:r>
              <a:rPr lang="en-US" dirty="0" smtClean="0"/>
              <a:t> </a:t>
            </a:r>
            <a:r>
              <a:rPr lang="en-US" i="1" dirty="0" smtClean="0"/>
              <a:t>A</a:t>
            </a:r>
            <a:r>
              <a:rPr lang="en-US" dirty="0" smtClean="0"/>
              <a:t> </a:t>
            </a:r>
            <a:r>
              <a:rPr lang="en-US" dirty="0" smtClean="0">
                <a:latin typeface="Cambria Math"/>
                <a:ea typeface="Cambria Math"/>
              </a:rPr>
              <a:t>⊆ </a:t>
            </a:r>
            <a:r>
              <a:rPr lang="en-US" i="1" dirty="0" smtClean="0">
                <a:ea typeface="Cambria Math"/>
              </a:rPr>
              <a:t>A</a:t>
            </a:r>
            <a:r>
              <a:rPr lang="en-US" dirty="0" smtClean="0">
                <a:latin typeface="Cambria Math"/>
                <a:ea typeface="Cambria Math"/>
              </a:rPr>
              <a:t>  whenever </a:t>
            </a:r>
            <a:r>
              <a:rPr lang="en-US" i="1" dirty="0" smtClean="0">
                <a:latin typeface="Cambria Math"/>
                <a:ea typeface="Cambria Math"/>
              </a:rPr>
              <a:t>A</a:t>
            </a:r>
            <a:r>
              <a:rPr lang="en-US" dirty="0" smtClean="0">
                <a:latin typeface="Cambria Math"/>
                <a:ea typeface="Cambria Math"/>
              </a:rPr>
              <a:t>  is a subset of </a:t>
            </a:r>
            <a:r>
              <a:rPr lang="en-US" i="1" dirty="0" smtClean="0">
                <a:latin typeface="Cambria Math"/>
                <a:ea typeface="Cambria Math"/>
              </a:rPr>
              <a:t>S</a:t>
            </a:r>
            <a:r>
              <a:rPr lang="en-US" dirty="0" smtClean="0">
                <a:latin typeface="Cambria Math"/>
                <a:ea typeface="Cambria Math"/>
              </a:rPr>
              <a:t>. </a:t>
            </a:r>
            <a:endParaRPr lang="en-US" dirty="0" smtClean="0">
              <a:latin typeface="Cambria Math"/>
              <a:ea typeface="Cambria Math"/>
            </a:endParaRPr>
          </a:p>
          <a:p>
            <a:r>
              <a:rPr lang="en-US" dirty="0"/>
              <a:t>Every set is a subset of itself</a:t>
            </a:r>
          </a:p>
          <a:p>
            <a:r>
              <a:rPr lang="en-US" b="1" dirty="0"/>
              <a:t>Example:</a:t>
            </a:r>
          </a:p>
          <a:p>
            <a:r>
              <a:rPr lang="en-US" dirty="0"/>
              <a:t>{1,2} ⊆ {1,2} </a:t>
            </a:r>
          </a:p>
          <a:p>
            <a:r>
              <a:rPr lang="en-US" dirty="0" smtClean="0"/>
              <a:t>Always true</a:t>
            </a:r>
            <a:endParaRPr lang="en-US" dirty="0" smtClean="0"/>
          </a:p>
          <a:p>
            <a:pPr lvl="1"/>
            <a:r>
              <a:rPr lang="en-US" b="1" i="1" dirty="0" err="1" smtClean="0"/>
              <a:t>Antisymmetry</a:t>
            </a:r>
            <a:r>
              <a:rPr lang="en-US" b="1" dirty="0" smtClean="0"/>
              <a:t>:</a:t>
            </a:r>
            <a:r>
              <a:rPr lang="en-US" dirty="0" smtClean="0"/>
              <a:t> If </a:t>
            </a:r>
            <a:r>
              <a:rPr lang="en-US" i="1" dirty="0" smtClean="0"/>
              <a:t>A</a:t>
            </a:r>
            <a:r>
              <a:rPr lang="en-US" dirty="0" smtClean="0"/>
              <a:t> and </a:t>
            </a:r>
            <a:r>
              <a:rPr lang="en-US" i="1" dirty="0" smtClean="0"/>
              <a:t>B</a:t>
            </a:r>
            <a:r>
              <a:rPr lang="en-US" dirty="0" smtClean="0"/>
              <a:t> are positive integers </a:t>
            </a:r>
            <a:endParaRPr lang="en-US" dirty="0" smtClean="0"/>
          </a:p>
          <a:p>
            <a:pPr marL="393192" lvl="1" indent="0">
              <a:buNone/>
            </a:pPr>
            <a:r>
              <a:rPr lang="en-US" dirty="0" smtClean="0"/>
              <a:t>with  </a:t>
            </a:r>
            <a:r>
              <a:rPr lang="en-US" i="1" dirty="0" smtClean="0"/>
              <a:t>A</a:t>
            </a:r>
            <a:r>
              <a:rPr lang="en-US" dirty="0" smtClean="0"/>
              <a:t> </a:t>
            </a:r>
            <a:r>
              <a:rPr lang="en-US" dirty="0" smtClean="0">
                <a:latin typeface="Cambria Math"/>
                <a:ea typeface="Cambria Math"/>
              </a:rPr>
              <a:t>⊆</a:t>
            </a:r>
            <a:r>
              <a:rPr lang="en-US" dirty="0" smtClean="0"/>
              <a:t> </a:t>
            </a:r>
            <a:r>
              <a:rPr lang="en-US" i="1" dirty="0" smtClean="0"/>
              <a:t>B</a:t>
            </a:r>
            <a:r>
              <a:rPr lang="en-US" dirty="0" smtClean="0"/>
              <a:t> and </a:t>
            </a:r>
            <a:r>
              <a:rPr lang="en-US" i="1" dirty="0" smtClean="0"/>
              <a:t>B</a:t>
            </a:r>
            <a:r>
              <a:rPr lang="en-US" dirty="0" smtClean="0"/>
              <a:t> </a:t>
            </a:r>
            <a:r>
              <a:rPr lang="en-US" dirty="0" smtClean="0">
                <a:latin typeface="Cambria Math"/>
                <a:ea typeface="Cambria Math"/>
              </a:rPr>
              <a:t>⊆</a:t>
            </a:r>
            <a:r>
              <a:rPr lang="en-US" dirty="0" smtClean="0"/>
              <a:t> </a:t>
            </a:r>
            <a:r>
              <a:rPr lang="en-US" i="1" dirty="0" smtClean="0"/>
              <a:t>A</a:t>
            </a:r>
            <a:r>
              <a:rPr lang="en-US" dirty="0" smtClean="0"/>
              <a:t>, then </a:t>
            </a:r>
            <a:r>
              <a:rPr lang="en-US" i="1" dirty="0" smtClean="0"/>
              <a:t>A</a:t>
            </a:r>
            <a:r>
              <a:rPr lang="en-US" dirty="0" smtClean="0"/>
              <a:t> = </a:t>
            </a:r>
            <a:r>
              <a:rPr lang="en-US" i="1" dirty="0" smtClean="0"/>
              <a:t>B</a:t>
            </a:r>
            <a:r>
              <a:rPr lang="en-US" dirty="0" smtClean="0"/>
              <a:t>.</a:t>
            </a:r>
          </a:p>
          <a:p>
            <a:pPr marL="393192" lvl="1" indent="0">
              <a:buNone/>
            </a:pPr>
            <a:r>
              <a:rPr lang="en-US" b="1" dirty="0"/>
              <a:t>Example:</a:t>
            </a:r>
          </a:p>
          <a:p>
            <a:pPr marL="0" lvl="0" indent="0" eaLnBrk="0" fontAlgn="base" hangingPunct="0">
              <a:spcBef>
                <a:spcPct val="0"/>
              </a:spcBef>
              <a:spcAft>
                <a:spcPct val="0"/>
              </a:spcAft>
              <a:buClrTx/>
              <a:buSzTx/>
              <a:buNone/>
            </a:pPr>
            <a:r>
              <a:rPr lang="en-US" altLang="en-US" i="1" dirty="0"/>
              <a:t> </a:t>
            </a:r>
            <a:r>
              <a:rPr lang="en-US" altLang="en-US" i="1" dirty="0" smtClean="0"/>
              <a:t>       </a:t>
            </a:r>
            <a:r>
              <a:rPr lang="en-US" altLang="en-US" sz="1800" dirty="0" smtClean="0">
                <a:latin typeface="Arial" panose="020B0604020202020204" pitchFamily="34" charset="0"/>
              </a:rPr>
              <a:t>A </a:t>
            </a:r>
            <a:r>
              <a:rPr lang="en-US" altLang="en-US" sz="1800" dirty="0">
                <a:latin typeface="Arial" panose="020B0604020202020204" pitchFamily="34" charset="0"/>
              </a:rPr>
              <a:t>= {1,2}, B = {1,2} </a:t>
            </a:r>
          </a:p>
          <a:p>
            <a:pPr marL="0" lvl="0" indent="0" eaLnBrk="0" fontAlgn="base" hangingPunct="0">
              <a:spcBef>
                <a:spcPct val="0"/>
              </a:spcBef>
              <a:spcAft>
                <a:spcPct val="0"/>
              </a:spcAft>
              <a:buClrTx/>
              <a:buSzTx/>
              <a:buNone/>
            </a:pPr>
            <a:r>
              <a:rPr lang="en-US" altLang="en-US" sz="1800" dirty="0" smtClean="0">
                <a:latin typeface="Arial" panose="020B0604020202020204" pitchFamily="34" charset="0"/>
              </a:rPr>
              <a:t>         A </a:t>
            </a:r>
            <a:r>
              <a:rPr lang="en-US" altLang="en-US" sz="1800" dirty="0">
                <a:latin typeface="Arial" panose="020B0604020202020204" pitchFamily="34" charset="0"/>
              </a:rPr>
              <a:t>⊆ B and B ⊆ A </a:t>
            </a:r>
            <a:r>
              <a:rPr lang="en-US" altLang="en-US" sz="1800" dirty="0" smtClean="0">
                <a:latin typeface="Arial" panose="020B0604020202020204" pitchFamily="34" charset="0"/>
              </a:rPr>
              <a:t>✔</a:t>
            </a:r>
            <a:r>
              <a:rPr lang="en-US" altLang="en-US" sz="1800" dirty="0">
                <a:latin typeface="Arial" panose="020B0604020202020204" pitchFamily="34" charset="0"/>
              </a:rPr>
              <a:t/>
            </a:r>
            <a:br>
              <a:rPr lang="en-US" altLang="en-US" sz="1800" dirty="0">
                <a:latin typeface="Arial" panose="020B0604020202020204" pitchFamily="34" charset="0"/>
              </a:rPr>
            </a:br>
            <a:r>
              <a:rPr lang="en-US" altLang="en-US" sz="1800" dirty="0" smtClean="0">
                <a:latin typeface="Arial" panose="020B0604020202020204" pitchFamily="34" charset="0"/>
              </a:rPr>
              <a:t>         So</a:t>
            </a:r>
            <a:r>
              <a:rPr lang="en-US" altLang="en-US" sz="1800" dirty="0">
                <a:latin typeface="Arial" panose="020B0604020202020204" pitchFamily="34" charset="0"/>
              </a:rPr>
              <a:t>, A = B </a:t>
            </a:r>
            <a:endParaRPr lang="en-US" i="1" dirty="0" smtClean="0"/>
          </a:p>
          <a:p>
            <a:pPr>
              <a:buNone/>
            </a:pPr>
            <a:endParaRPr lang="en-US" dirty="0"/>
          </a:p>
        </p:txBody>
      </p:sp>
      <p:sp>
        <p:nvSpPr>
          <p:cNvPr id="6" name="Rectangle 5"/>
          <p:cNvSpPr/>
          <p:nvPr/>
        </p:nvSpPr>
        <p:spPr>
          <a:xfrm>
            <a:off x="6356566" y="5340578"/>
            <a:ext cx="4572000" cy="1631216"/>
          </a:xfrm>
          <a:prstGeom prst="rect">
            <a:avLst/>
          </a:prstGeom>
        </p:spPr>
        <p:txBody>
          <a:bodyPr>
            <a:spAutoFit/>
          </a:bodyPr>
          <a:lstStyle/>
          <a:p>
            <a:pPr>
              <a:buFont typeface="Arial" panose="020B0604020202020204" pitchFamily="34" charset="0"/>
              <a:buChar char="•"/>
            </a:pPr>
            <a:r>
              <a:rPr lang="en-US" sz="2000" dirty="0"/>
              <a:t>A = {1} </a:t>
            </a:r>
          </a:p>
          <a:p>
            <a:pPr>
              <a:buFont typeface="Arial" panose="020B0604020202020204" pitchFamily="34" charset="0"/>
              <a:buChar char="•"/>
            </a:pPr>
            <a:r>
              <a:rPr lang="en-US" sz="2000" dirty="0"/>
              <a:t>B = {1,2} </a:t>
            </a:r>
          </a:p>
          <a:p>
            <a:pPr>
              <a:buFont typeface="Arial" panose="020B0604020202020204" pitchFamily="34" charset="0"/>
              <a:buChar char="•"/>
            </a:pPr>
            <a:r>
              <a:rPr lang="en-US" sz="2000" dirty="0"/>
              <a:t>C = {1,2,3} </a:t>
            </a:r>
          </a:p>
          <a:p>
            <a:r>
              <a:rPr lang="en-US" sz="2000" dirty="0" smtClean="0"/>
              <a:t>  A </a:t>
            </a:r>
            <a:r>
              <a:rPr lang="en-US" sz="2000" dirty="0"/>
              <a:t>⊆ B and B ⊆ C</a:t>
            </a:r>
            <a:br>
              <a:rPr lang="en-US" sz="2000" dirty="0"/>
            </a:br>
            <a:r>
              <a:rPr lang="en-US" sz="2000" dirty="0" smtClean="0"/>
              <a:t>  So</a:t>
            </a:r>
            <a:r>
              <a:rPr lang="en-US" sz="2000" dirty="0"/>
              <a:t>, A ⊆ C </a:t>
            </a:r>
          </a:p>
        </p:txBody>
      </p:sp>
      <p:sp>
        <p:nvSpPr>
          <p:cNvPr id="9" name="Rectangle 8"/>
          <p:cNvSpPr/>
          <p:nvPr/>
        </p:nvSpPr>
        <p:spPr>
          <a:xfrm>
            <a:off x="4648200" y="4763968"/>
            <a:ext cx="5105400" cy="707886"/>
          </a:xfrm>
          <a:prstGeom prst="rect">
            <a:avLst/>
          </a:prstGeom>
        </p:spPr>
        <p:txBody>
          <a:bodyPr wrap="square">
            <a:spAutoFit/>
          </a:bodyPr>
          <a:lstStyle/>
          <a:p>
            <a:pPr marL="800100" lvl="1" indent="-342900">
              <a:buFont typeface="Arial" panose="020B0604020202020204" pitchFamily="34" charset="0"/>
              <a:buChar char="•"/>
            </a:pPr>
            <a:r>
              <a:rPr lang="en-US" sz="2000" b="1" i="1" dirty="0"/>
              <a:t>Transitivity</a:t>
            </a:r>
            <a:r>
              <a:rPr lang="en-US" sz="2000" b="1" dirty="0"/>
              <a:t>:</a:t>
            </a:r>
            <a:r>
              <a:rPr lang="en-US" sz="2000" b="1" i="1" dirty="0"/>
              <a:t> </a:t>
            </a:r>
            <a:r>
              <a:rPr lang="en-US" sz="2000" dirty="0"/>
              <a:t>If</a:t>
            </a:r>
            <a:r>
              <a:rPr lang="en-US" sz="2000" i="1" dirty="0"/>
              <a:t> A</a:t>
            </a:r>
            <a:r>
              <a:rPr lang="en-US" sz="2000" dirty="0"/>
              <a:t> </a:t>
            </a:r>
            <a:r>
              <a:rPr lang="en-US" sz="2000" dirty="0">
                <a:latin typeface="Cambria Math"/>
                <a:ea typeface="Cambria Math"/>
              </a:rPr>
              <a:t>⊆ </a:t>
            </a:r>
            <a:r>
              <a:rPr lang="en-US" sz="2000" i="1" dirty="0"/>
              <a:t>B</a:t>
            </a:r>
            <a:r>
              <a:rPr lang="en-US" sz="2000" dirty="0"/>
              <a:t> and </a:t>
            </a:r>
            <a:r>
              <a:rPr lang="en-US" sz="2000" i="1" dirty="0"/>
              <a:t>B</a:t>
            </a:r>
            <a:r>
              <a:rPr lang="en-US" sz="2000" dirty="0"/>
              <a:t> </a:t>
            </a:r>
            <a:r>
              <a:rPr lang="en-US" sz="2000" dirty="0">
                <a:latin typeface="Cambria Math"/>
                <a:ea typeface="Cambria Math"/>
              </a:rPr>
              <a:t>⊆</a:t>
            </a:r>
            <a:r>
              <a:rPr lang="en-US" sz="2000" dirty="0"/>
              <a:t> </a:t>
            </a:r>
            <a:r>
              <a:rPr lang="en-US" sz="2000" i="1" dirty="0"/>
              <a:t>C</a:t>
            </a:r>
            <a:r>
              <a:rPr lang="en-US" sz="2000" dirty="0"/>
              <a:t>, </a:t>
            </a:r>
            <a:endParaRPr lang="en-US" sz="2000" dirty="0" smtClean="0"/>
          </a:p>
          <a:p>
            <a:pPr lvl="1"/>
            <a:r>
              <a:rPr lang="en-US" sz="2000" dirty="0" smtClean="0"/>
              <a:t>then </a:t>
            </a:r>
            <a:r>
              <a:rPr lang="en-US" sz="2000" i="1" dirty="0"/>
              <a:t>A</a:t>
            </a:r>
            <a:r>
              <a:rPr lang="en-US" sz="2000" dirty="0"/>
              <a:t> </a:t>
            </a:r>
            <a:r>
              <a:rPr lang="en-US" sz="2000" dirty="0">
                <a:latin typeface="Cambria Math"/>
                <a:ea typeface="Cambria Math"/>
              </a:rPr>
              <a:t>⊆</a:t>
            </a:r>
            <a:r>
              <a:rPr lang="en-US" sz="2000" dirty="0"/>
              <a:t> </a:t>
            </a:r>
            <a:r>
              <a:rPr lang="en-US" sz="2000" i="1" dirty="0"/>
              <a:t>C</a:t>
            </a:r>
            <a:r>
              <a:rPr lang="en-US" sz="2000" dirty="0"/>
              <a:t>.</a:t>
            </a:r>
            <a:endParaRPr lang="en-US" sz="2000" i="1" dirty="0"/>
          </a:p>
        </p:txBody>
      </p:sp>
      <p:sp>
        <p:nvSpPr>
          <p:cNvPr id="10" name="Rectangle 9"/>
          <p:cNvSpPr/>
          <p:nvPr/>
        </p:nvSpPr>
        <p:spPr>
          <a:xfrm>
            <a:off x="4495800" y="5376138"/>
            <a:ext cx="1860766" cy="369332"/>
          </a:xfrm>
          <a:prstGeom prst="rect">
            <a:avLst/>
          </a:prstGeom>
        </p:spPr>
        <p:txBody>
          <a:bodyPr wrap="none">
            <a:spAutoFit/>
          </a:bodyPr>
          <a:lstStyle/>
          <a:p>
            <a:pPr marL="393192" lvl="1" indent="0">
              <a:buNone/>
            </a:pPr>
            <a:r>
              <a:rPr lang="en-US" b="1" dirty="0" smtClean="0"/>
              <a:t>     Example</a:t>
            </a:r>
            <a:r>
              <a:rPr lang="en-US" b="1" dirty="0"/>
              <a:t>:</a:t>
            </a:r>
            <a:endParaRPr lang="en-US" b="1"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Comparability</a:t>
            </a:r>
            <a:endParaRPr lang="en-US" dirty="0"/>
          </a:p>
        </p:txBody>
      </p:sp>
      <p:sp>
        <p:nvSpPr>
          <p:cNvPr id="3" name="Content Placeholder 2"/>
          <p:cNvSpPr>
            <a:spLocks noGrp="1"/>
          </p:cNvSpPr>
          <p:nvPr>
            <p:ph idx="1"/>
          </p:nvPr>
        </p:nvSpPr>
        <p:spPr/>
        <p:txBody>
          <a:bodyPr>
            <a:normAutofit fontScale="77500" lnSpcReduction="20000"/>
          </a:bodyPr>
          <a:lstStyle/>
          <a:p>
            <a:pPr>
              <a:buNone/>
            </a:pPr>
            <a:r>
              <a:rPr lang="en-US" b="1" dirty="0" smtClean="0"/>
              <a:t>    Definition </a:t>
            </a:r>
            <a:r>
              <a:rPr lang="en-US" b="1" dirty="0" smtClean="0">
                <a:latin typeface="Cambria Math" pitchFamily="18" charset="0"/>
                <a:ea typeface="Cambria Math" pitchFamily="18" charset="0"/>
              </a:rPr>
              <a:t>2</a:t>
            </a:r>
            <a:r>
              <a:rPr lang="en-US" dirty="0" smtClean="0"/>
              <a:t>: The elements </a:t>
            </a:r>
            <a:r>
              <a:rPr lang="en-US" i="1" dirty="0" smtClean="0"/>
              <a:t>a</a:t>
            </a:r>
            <a:r>
              <a:rPr lang="en-US" dirty="0" smtClean="0"/>
              <a:t> and </a:t>
            </a:r>
            <a:r>
              <a:rPr lang="en-US" i="1" dirty="0" smtClean="0"/>
              <a:t>b</a:t>
            </a:r>
            <a:r>
              <a:rPr lang="en-US" dirty="0" smtClean="0"/>
              <a:t> of a </a:t>
            </a:r>
            <a:r>
              <a:rPr lang="en-US" dirty="0" err="1" smtClean="0"/>
              <a:t>poset</a:t>
            </a:r>
            <a:r>
              <a:rPr lang="en-US" dirty="0" smtClean="0"/>
              <a:t> (</a:t>
            </a:r>
            <a:r>
              <a:rPr lang="en-US" i="1" dirty="0" smtClean="0"/>
              <a:t>S</a:t>
            </a:r>
            <a:r>
              <a:rPr lang="en-US" dirty="0" smtClean="0"/>
              <a:t>,</a:t>
            </a:r>
            <a:r>
              <a:rPr lang="en-US" dirty="0" smtClean="0">
                <a:latin typeface="Cambria Math"/>
                <a:ea typeface="Cambria Math"/>
              </a:rPr>
              <a:t>≼</a:t>
            </a:r>
            <a:r>
              <a:rPr lang="en-US" dirty="0" smtClean="0"/>
              <a:t> ) are </a:t>
            </a:r>
            <a:r>
              <a:rPr lang="en-US" i="1" dirty="0" smtClean="0"/>
              <a:t>comparable</a:t>
            </a:r>
            <a:r>
              <a:rPr lang="en-US" dirty="0" smtClean="0"/>
              <a:t> if either </a:t>
            </a:r>
            <a:r>
              <a:rPr lang="en-US" i="1" dirty="0" smtClean="0"/>
              <a:t>a</a:t>
            </a:r>
            <a:r>
              <a:rPr lang="en-US" dirty="0" smtClean="0"/>
              <a:t> </a:t>
            </a:r>
            <a:r>
              <a:rPr lang="en-US" dirty="0" smtClean="0">
                <a:latin typeface="Cambria Math"/>
                <a:ea typeface="Cambria Math"/>
              </a:rPr>
              <a:t>≼</a:t>
            </a:r>
            <a:r>
              <a:rPr lang="en-US" dirty="0" smtClean="0"/>
              <a:t> </a:t>
            </a:r>
            <a:r>
              <a:rPr lang="en-US" i="1" dirty="0" smtClean="0"/>
              <a:t>b</a:t>
            </a:r>
            <a:r>
              <a:rPr lang="en-US" dirty="0" smtClean="0"/>
              <a:t> or </a:t>
            </a:r>
            <a:r>
              <a:rPr lang="en-US" i="1" dirty="0" smtClean="0"/>
              <a:t>b</a:t>
            </a:r>
            <a:r>
              <a:rPr lang="en-US" dirty="0" smtClean="0"/>
              <a:t> </a:t>
            </a:r>
            <a:r>
              <a:rPr lang="en-US" dirty="0" smtClean="0">
                <a:latin typeface="Cambria Math"/>
                <a:ea typeface="Cambria Math"/>
              </a:rPr>
              <a:t>≼</a:t>
            </a:r>
            <a:r>
              <a:rPr lang="en-US" dirty="0" smtClean="0"/>
              <a:t> </a:t>
            </a:r>
            <a:r>
              <a:rPr lang="en-US" i="1" dirty="0" smtClean="0"/>
              <a:t>a</a:t>
            </a:r>
            <a:r>
              <a:rPr lang="en-US" dirty="0" smtClean="0"/>
              <a:t>. When </a:t>
            </a:r>
            <a:r>
              <a:rPr lang="en-US" i="1" dirty="0" smtClean="0"/>
              <a:t>a</a:t>
            </a:r>
            <a:r>
              <a:rPr lang="en-US" dirty="0" smtClean="0"/>
              <a:t> and </a:t>
            </a:r>
            <a:r>
              <a:rPr lang="en-US" i="1" dirty="0" smtClean="0"/>
              <a:t>b</a:t>
            </a:r>
            <a:r>
              <a:rPr lang="en-US" dirty="0" smtClean="0"/>
              <a:t> are elements of </a:t>
            </a:r>
            <a:r>
              <a:rPr lang="en-US" i="1" dirty="0" smtClean="0"/>
              <a:t>S </a:t>
            </a:r>
            <a:r>
              <a:rPr lang="en-US" dirty="0" smtClean="0"/>
              <a:t>so that  neither          </a:t>
            </a:r>
            <a:r>
              <a:rPr lang="en-US" i="1" dirty="0" smtClean="0"/>
              <a:t>a</a:t>
            </a:r>
            <a:r>
              <a:rPr lang="en-US" dirty="0" smtClean="0"/>
              <a:t> </a:t>
            </a:r>
            <a:r>
              <a:rPr lang="en-US" dirty="0" smtClean="0">
                <a:latin typeface="Cambria Math"/>
                <a:ea typeface="Cambria Math"/>
              </a:rPr>
              <a:t>≼</a:t>
            </a:r>
            <a:r>
              <a:rPr lang="en-US" dirty="0" smtClean="0"/>
              <a:t> </a:t>
            </a:r>
            <a:r>
              <a:rPr lang="en-US" i="1" dirty="0" smtClean="0"/>
              <a:t>b</a:t>
            </a:r>
            <a:r>
              <a:rPr lang="en-US" dirty="0" smtClean="0"/>
              <a:t> nor </a:t>
            </a:r>
            <a:r>
              <a:rPr lang="en-US" i="1" dirty="0" smtClean="0"/>
              <a:t>b</a:t>
            </a:r>
            <a:r>
              <a:rPr lang="en-US" dirty="0" smtClean="0"/>
              <a:t> </a:t>
            </a:r>
            <a:r>
              <a:rPr lang="en-US" dirty="0" smtClean="0">
                <a:latin typeface="Cambria Math"/>
                <a:ea typeface="Cambria Math"/>
              </a:rPr>
              <a:t>≼</a:t>
            </a:r>
            <a:r>
              <a:rPr lang="en-US" dirty="0" smtClean="0"/>
              <a:t> </a:t>
            </a:r>
            <a:r>
              <a:rPr lang="en-US" i="1" dirty="0" smtClean="0"/>
              <a:t>a</a:t>
            </a:r>
            <a:r>
              <a:rPr lang="en-US" dirty="0" smtClean="0"/>
              <a:t>, then </a:t>
            </a:r>
            <a:r>
              <a:rPr lang="en-US" i="1" dirty="0" smtClean="0"/>
              <a:t>a</a:t>
            </a:r>
            <a:r>
              <a:rPr lang="en-US" dirty="0" smtClean="0"/>
              <a:t> and </a:t>
            </a:r>
            <a:r>
              <a:rPr lang="en-US" i="1" dirty="0" smtClean="0"/>
              <a:t>b</a:t>
            </a:r>
            <a:r>
              <a:rPr lang="en-US" dirty="0" smtClean="0"/>
              <a:t> are called i</a:t>
            </a:r>
            <a:r>
              <a:rPr lang="en-US" i="1" dirty="0" smtClean="0"/>
              <a:t>ncomparable</a:t>
            </a:r>
            <a:r>
              <a:rPr lang="en-US" dirty="0" smtClean="0"/>
              <a:t>.</a:t>
            </a:r>
          </a:p>
          <a:p>
            <a:pPr>
              <a:buNone/>
            </a:pPr>
            <a:endParaRPr lang="en-US" dirty="0" smtClean="0"/>
          </a:p>
          <a:p>
            <a:pPr>
              <a:buNone/>
            </a:pPr>
            <a:endParaRPr lang="en-US" dirty="0" smtClean="0"/>
          </a:p>
          <a:p>
            <a:pPr>
              <a:buNone/>
            </a:pPr>
            <a:endParaRPr lang="en-US" dirty="0" smtClean="0"/>
          </a:p>
          <a:p>
            <a:pPr>
              <a:buNone/>
            </a:pPr>
            <a:endParaRPr lang="en-US" dirty="0" smtClean="0"/>
          </a:p>
          <a:p>
            <a:pPr>
              <a:buNone/>
            </a:pPr>
            <a:r>
              <a:rPr lang="en-US" b="1" dirty="0" smtClean="0"/>
              <a:t>     Definition </a:t>
            </a:r>
            <a:r>
              <a:rPr lang="en-US" b="1" dirty="0" smtClean="0">
                <a:latin typeface="Cambria Math" pitchFamily="18" charset="0"/>
                <a:ea typeface="Cambria Math" pitchFamily="18" charset="0"/>
              </a:rPr>
              <a:t>3</a:t>
            </a:r>
            <a:r>
              <a:rPr lang="en-US" dirty="0" smtClean="0"/>
              <a:t>: If  (</a:t>
            </a:r>
            <a:r>
              <a:rPr lang="en-US" i="1" dirty="0" smtClean="0"/>
              <a:t>S</a:t>
            </a:r>
            <a:r>
              <a:rPr lang="en-US" dirty="0" smtClean="0"/>
              <a:t>,</a:t>
            </a:r>
            <a:r>
              <a:rPr lang="en-US" dirty="0" smtClean="0">
                <a:latin typeface="Cambria Math"/>
                <a:ea typeface="Cambria Math"/>
              </a:rPr>
              <a:t>≼</a:t>
            </a:r>
            <a:r>
              <a:rPr lang="en-US" dirty="0" smtClean="0"/>
              <a:t> ) is a </a:t>
            </a:r>
            <a:r>
              <a:rPr lang="en-US" dirty="0" err="1" smtClean="0"/>
              <a:t>poset</a:t>
            </a:r>
            <a:r>
              <a:rPr lang="en-US" dirty="0" smtClean="0"/>
              <a:t> and every two elements of </a:t>
            </a:r>
            <a:r>
              <a:rPr lang="en-US" i="1" dirty="0" smtClean="0"/>
              <a:t>S</a:t>
            </a:r>
            <a:r>
              <a:rPr lang="en-US" dirty="0" smtClean="0"/>
              <a:t> are comparable, </a:t>
            </a:r>
            <a:r>
              <a:rPr lang="en-US" i="1" dirty="0" smtClean="0"/>
              <a:t>S</a:t>
            </a:r>
            <a:r>
              <a:rPr lang="en-US" dirty="0" smtClean="0"/>
              <a:t> is called a </a:t>
            </a:r>
            <a:r>
              <a:rPr lang="en-US" i="1" dirty="0" smtClean="0"/>
              <a:t>totally ordered </a:t>
            </a:r>
            <a:r>
              <a:rPr lang="en-US" dirty="0" smtClean="0"/>
              <a:t>or </a:t>
            </a:r>
            <a:r>
              <a:rPr lang="en-US" i="1" dirty="0" smtClean="0"/>
              <a:t>linearly ordered set</a:t>
            </a:r>
            <a:r>
              <a:rPr lang="en-US" dirty="0" smtClean="0"/>
              <a:t>, and </a:t>
            </a:r>
            <a:r>
              <a:rPr lang="en-US" dirty="0" smtClean="0">
                <a:latin typeface="Cambria Math"/>
                <a:ea typeface="Cambria Math"/>
              </a:rPr>
              <a:t>≼ </a:t>
            </a:r>
            <a:r>
              <a:rPr lang="en-US" dirty="0" smtClean="0"/>
              <a:t>is called a </a:t>
            </a:r>
            <a:r>
              <a:rPr lang="en-US" i="1" dirty="0" smtClean="0"/>
              <a:t>total order </a:t>
            </a:r>
            <a:r>
              <a:rPr lang="en-US" dirty="0" smtClean="0"/>
              <a:t>or a </a:t>
            </a:r>
            <a:r>
              <a:rPr lang="en-US" i="1" dirty="0" smtClean="0"/>
              <a:t>linear order.  </a:t>
            </a:r>
            <a:r>
              <a:rPr lang="en-US" dirty="0" smtClean="0"/>
              <a:t>A totally ordered set is also called a </a:t>
            </a:r>
            <a:r>
              <a:rPr lang="en-US" i="1" dirty="0" smtClean="0"/>
              <a:t>chain. </a:t>
            </a:r>
          </a:p>
          <a:p>
            <a:pPr>
              <a:buNone/>
            </a:pPr>
            <a:r>
              <a:rPr lang="en-US" b="1" dirty="0" smtClean="0"/>
              <a:t>    Definition </a:t>
            </a:r>
            <a:r>
              <a:rPr lang="en-US" b="1" dirty="0" smtClean="0">
                <a:latin typeface="Cambria Math" pitchFamily="18" charset="0"/>
                <a:ea typeface="Cambria Math" pitchFamily="18" charset="0"/>
              </a:rPr>
              <a:t>4</a:t>
            </a:r>
            <a:r>
              <a:rPr lang="en-US" dirty="0" smtClean="0"/>
              <a:t>: (</a:t>
            </a:r>
            <a:r>
              <a:rPr lang="en-US" i="1" dirty="0" smtClean="0"/>
              <a:t>S</a:t>
            </a:r>
            <a:r>
              <a:rPr lang="en-US" dirty="0" smtClean="0"/>
              <a:t>,</a:t>
            </a:r>
            <a:r>
              <a:rPr lang="en-US" dirty="0" smtClean="0">
                <a:latin typeface="Cambria Math"/>
                <a:ea typeface="Cambria Math"/>
              </a:rPr>
              <a:t>≼</a:t>
            </a:r>
            <a:r>
              <a:rPr lang="en-US" dirty="0" smtClean="0"/>
              <a:t> ) is a well-ordered set if it is a </a:t>
            </a:r>
            <a:r>
              <a:rPr lang="en-US" dirty="0" err="1" smtClean="0"/>
              <a:t>poset</a:t>
            </a:r>
            <a:r>
              <a:rPr lang="en-US" dirty="0" smtClean="0"/>
              <a:t> such that </a:t>
            </a:r>
            <a:r>
              <a:rPr lang="en-US" dirty="0" smtClean="0">
                <a:latin typeface="Cambria Math"/>
                <a:ea typeface="Cambria Math"/>
              </a:rPr>
              <a:t>≼</a:t>
            </a:r>
            <a:r>
              <a:rPr lang="en-US" dirty="0" smtClean="0"/>
              <a:t> is a total ordering and every nonempty subset of </a:t>
            </a:r>
            <a:r>
              <a:rPr lang="en-US" i="1" dirty="0" smtClean="0"/>
              <a:t>S</a:t>
            </a:r>
            <a:r>
              <a:rPr lang="en-US" dirty="0" smtClean="0"/>
              <a:t> has a least element. </a:t>
            </a:r>
          </a:p>
          <a:p>
            <a:pPr>
              <a:buNone/>
            </a:pPr>
            <a:r>
              <a:rPr lang="en-US" dirty="0" smtClean="0"/>
              <a:t> </a:t>
            </a:r>
            <a:endParaRPr lang="en-US" dirty="0"/>
          </a:p>
        </p:txBody>
      </p:sp>
      <p:sp>
        <p:nvSpPr>
          <p:cNvPr id="4" name="TextBox 3"/>
          <p:cNvSpPr txBox="1"/>
          <p:nvPr/>
        </p:nvSpPr>
        <p:spPr>
          <a:xfrm>
            <a:off x="2438400" y="2971800"/>
            <a:ext cx="5334000" cy="646331"/>
          </a:xfrm>
          <a:prstGeom prst="rect">
            <a:avLst/>
          </a:prstGeom>
          <a:noFill/>
          <a:ln>
            <a:solidFill>
              <a:schemeClr val="accent1"/>
            </a:solidFill>
          </a:ln>
        </p:spPr>
        <p:txBody>
          <a:bodyPr wrap="square" rtlCol="0">
            <a:spAutoFit/>
          </a:bodyPr>
          <a:lstStyle/>
          <a:p>
            <a:r>
              <a:rPr lang="en-US" dirty="0" smtClean="0"/>
              <a:t>The symbol</a:t>
            </a:r>
            <a:r>
              <a:rPr lang="en-US" dirty="0" smtClean="0">
                <a:latin typeface="Cambria Math"/>
                <a:ea typeface="Cambria Math"/>
              </a:rPr>
              <a:t> </a:t>
            </a:r>
            <a:r>
              <a:rPr lang="en-US" dirty="0" smtClean="0">
                <a:ea typeface="Cambria Math"/>
              </a:rPr>
              <a:t>≼ is used to</a:t>
            </a:r>
            <a:r>
              <a:rPr lang="en-US" dirty="0" smtClean="0"/>
              <a:t>  denote the relation in any </a:t>
            </a:r>
            <a:r>
              <a:rPr lang="en-US" dirty="0" err="1" smtClean="0"/>
              <a:t>poset</a:t>
            </a:r>
            <a:r>
              <a:rPr lang="en-US" dirty="0" smtClean="0"/>
              <a:t>. </a:t>
            </a:r>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Lexicographic Order</a:t>
            </a:r>
            <a:endParaRPr lang="en-US" dirty="0"/>
          </a:p>
        </p:txBody>
      </p:sp>
      <p:sp>
        <p:nvSpPr>
          <p:cNvPr id="3" name="Content Placeholder 2"/>
          <p:cNvSpPr>
            <a:spLocks noGrp="1"/>
          </p:cNvSpPr>
          <p:nvPr>
            <p:ph idx="1"/>
          </p:nvPr>
        </p:nvSpPr>
        <p:spPr/>
        <p:txBody>
          <a:bodyPr>
            <a:normAutofit fontScale="77500" lnSpcReduction="20000"/>
          </a:bodyPr>
          <a:lstStyle/>
          <a:p>
            <a:pPr>
              <a:buNone/>
            </a:pPr>
            <a:r>
              <a:rPr lang="en-US" b="1" dirty="0" smtClean="0"/>
              <a:t>   Definition</a:t>
            </a:r>
            <a:r>
              <a:rPr lang="en-US" dirty="0" smtClean="0"/>
              <a:t>: Given two </a:t>
            </a:r>
            <a:r>
              <a:rPr lang="en-US" dirty="0" err="1" smtClean="0"/>
              <a:t>posets</a:t>
            </a:r>
            <a:r>
              <a:rPr lang="en-US" dirty="0" smtClean="0"/>
              <a:t> (</a:t>
            </a:r>
            <a:r>
              <a:rPr lang="en-US" i="1" dirty="0" smtClean="0"/>
              <a:t>A</a:t>
            </a:r>
            <a:r>
              <a:rPr lang="en-US" baseline="-25000" dirty="0" smtClean="0">
                <a:latin typeface="Cambria Math" pitchFamily="18" charset="0"/>
                <a:ea typeface="Cambria Math" pitchFamily="18" charset="0"/>
              </a:rPr>
              <a:t>1</a:t>
            </a:r>
            <a:r>
              <a:rPr lang="en-US" dirty="0" smtClean="0"/>
              <a:t>,</a:t>
            </a:r>
            <a:r>
              <a:rPr lang="en-US" dirty="0" smtClean="0">
                <a:latin typeface="Cambria Math"/>
                <a:ea typeface="Cambria Math"/>
              </a:rPr>
              <a:t>≼</a:t>
            </a:r>
            <a:r>
              <a:rPr lang="en-US" baseline="-25000" dirty="0" smtClean="0">
                <a:latin typeface="Cambria Math"/>
                <a:ea typeface="Cambria Math"/>
              </a:rPr>
              <a:t>1</a:t>
            </a:r>
            <a:r>
              <a:rPr lang="en-US" dirty="0" smtClean="0"/>
              <a:t>) and (</a:t>
            </a:r>
            <a:r>
              <a:rPr lang="en-US" i="1" dirty="0" smtClean="0"/>
              <a:t>A</a:t>
            </a:r>
            <a:r>
              <a:rPr lang="en-US" baseline="-25000" dirty="0" smtClean="0">
                <a:latin typeface="Cambria Math" pitchFamily="18" charset="0"/>
                <a:ea typeface="Cambria Math" pitchFamily="18" charset="0"/>
              </a:rPr>
              <a:t>2</a:t>
            </a:r>
            <a:r>
              <a:rPr lang="en-US" dirty="0" smtClean="0"/>
              <a:t>,</a:t>
            </a:r>
            <a:r>
              <a:rPr lang="en-US" dirty="0" smtClean="0">
                <a:latin typeface="Cambria Math"/>
                <a:ea typeface="Cambria Math"/>
              </a:rPr>
              <a:t>≼</a:t>
            </a:r>
            <a:r>
              <a:rPr lang="en-US" baseline="-25000" dirty="0" smtClean="0">
                <a:latin typeface="Cambria Math"/>
                <a:ea typeface="Cambria Math"/>
              </a:rPr>
              <a:t>2</a:t>
            </a:r>
            <a:r>
              <a:rPr lang="en-US" dirty="0" smtClean="0"/>
              <a:t>), the </a:t>
            </a:r>
            <a:r>
              <a:rPr lang="en-US" i="1" dirty="0" smtClean="0"/>
              <a:t>lexicographic ordering</a:t>
            </a:r>
            <a:r>
              <a:rPr lang="en-US" dirty="0" smtClean="0"/>
              <a:t>  on </a:t>
            </a:r>
            <a:r>
              <a:rPr lang="en-US" i="1" dirty="0" smtClean="0"/>
              <a:t>A</a:t>
            </a:r>
            <a:r>
              <a:rPr lang="en-US" baseline="-25000" dirty="0" smtClean="0">
                <a:latin typeface="Cambria Math" pitchFamily="18" charset="0"/>
                <a:ea typeface="Cambria Math" pitchFamily="18" charset="0"/>
              </a:rPr>
              <a:t>1 </a:t>
            </a:r>
            <a:r>
              <a:rPr lang="en-US" dirty="0" smtClean="0">
                <a:latin typeface="Cambria Math"/>
                <a:ea typeface="Cambria Math"/>
              </a:rPr>
              <a:t>⨉</a:t>
            </a:r>
            <a:r>
              <a:rPr lang="en-US" dirty="0" smtClean="0"/>
              <a:t> </a:t>
            </a:r>
            <a:r>
              <a:rPr lang="en-US" i="1" dirty="0" smtClean="0"/>
              <a:t>A</a:t>
            </a:r>
            <a:r>
              <a:rPr lang="en-US" baseline="-25000" dirty="0" smtClean="0">
                <a:latin typeface="Cambria Math" pitchFamily="18" charset="0"/>
                <a:ea typeface="Cambria Math" pitchFamily="18" charset="0"/>
              </a:rPr>
              <a:t>2</a:t>
            </a:r>
            <a:r>
              <a:rPr lang="en-US" dirty="0" smtClean="0"/>
              <a:t>  is defined by specifying that  (</a:t>
            </a:r>
            <a:r>
              <a:rPr lang="en-US" i="1" dirty="0" smtClean="0"/>
              <a:t>a</a:t>
            </a:r>
            <a:r>
              <a:rPr lang="en-US" baseline="-25000" dirty="0" smtClean="0">
                <a:latin typeface="Cambria Math" pitchFamily="18" charset="0"/>
                <a:ea typeface="Cambria Math" pitchFamily="18" charset="0"/>
              </a:rPr>
              <a:t>1</a:t>
            </a:r>
            <a:r>
              <a:rPr lang="en-US" dirty="0" smtClean="0"/>
              <a:t>, </a:t>
            </a:r>
            <a:r>
              <a:rPr lang="en-US" i="1" dirty="0" smtClean="0"/>
              <a:t>a</a:t>
            </a:r>
            <a:r>
              <a:rPr lang="en-US" baseline="-25000" dirty="0" smtClean="0">
                <a:latin typeface="Cambria Math" pitchFamily="18" charset="0"/>
                <a:ea typeface="Cambria Math" pitchFamily="18" charset="0"/>
              </a:rPr>
              <a:t>2</a:t>
            </a:r>
            <a:r>
              <a:rPr lang="en-US" dirty="0" smtClean="0"/>
              <a:t>) is less than (</a:t>
            </a:r>
            <a:r>
              <a:rPr lang="en-US" i="1" dirty="0" smtClean="0"/>
              <a:t>b</a:t>
            </a:r>
            <a:r>
              <a:rPr lang="en-US" baseline="-25000" dirty="0" smtClean="0">
                <a:latin typeface="Cambria Math" pitchFamily="18" charset="0"/>
                <a:ea typeface="Cambria Math" pitchFamily="18" charset="0"/>
              </a:rPr>
              <a:t>1</a:t>
            </a:r>
            <a:r>
              <a:rPr lang="en-US" dirty="0" smtClean="0"/>
              <a:t>,</a:t>
            </a:r>
            <a:r>
              <a:rPr lang="en-US" i="1" dirty="0" smtClean="0"/>
              <a:t>b</a:t>
            </a:r>
            <a:r>
              <a:rPr lang="en-US" baseline="-25000" dirty="0" smtClean="0">
                <a:latin typeface="Cambria Math" pitchFamily="18" charset="0"/>
                <a:ea typeface="Cambria Math" pitchFamily="18" charset="0"/>
              </a:rPr>
              <a:t>2</a:t>
            </a:r>
            <a:r>
              <a:rPr lang="en-US" dirty="0" smtClean="0"/>
              <a:t>), that is,</a:t>
            </a:r>
          </a:p>
          <a:p>
            <a:pPr>
              <a:buNone/>
            </a:pPr>
            <a:r>
              <a:rPr lang="en-US" dirty="0" smtClean="0"/>
              <a:t>                 (</a:t>
            </a:r>
            <a:r>
              <a:rPr lang="en-US" i="1" dirty="0" smtClean="0"/>
              <a:t>a</a:t>
            </a:r>
            <a:r>
              <a:rPr lang="en-US" baseline="-25000" dirty="0" smtClean="0">
                <a:latin typeface="Cambria Math" pitchFamily="18" charset="0"/>
                <a:ea typeface="Cambria Math" pitchFamily="18" charset="0"/>
              </a:rPr>
              <a:t>1</a:t>
            </a:r>
            <a:r>
              <a:rPr lang="en-US" dirty="0" smtClean="0"/>
              <a:t>, </a:t>
            </a:r>
            <a:r>
              <a:rPr lang="en-US" i="1" dirty="0" smtClean="0"/>
              <a:t>a</a:t>
            </a:r>
            <a:r>
              <a:rPr lang="en-US" baseline="-25000" dirty="0" smtClean="0">
                <a:latin typeface="Cambria Math" pitchFamily="18" charset="0"/>
                <a:ea typeface="Cambria Math" pitchFamily="18" charset="0"/>
              </a:rPr>
              <a:t>2</a:t>
            </a:r>
            <a:r>
              <a:rPr lang="en-US" dirty="0" smtClean="0"/>
              <a:t>)</a:t>
            </a:r>
            <a:r>
              <a:rPr lang="en-US" dirty="0" smtClean="0">
                <a:latin typeface="Cambria Math"/>
                <a:ea typeface="Cambria Math"/>
              </a:rPr>
              <a:t> ≺</a:t>
            </a:r>
            <a:r>
              <a:rPr lang="en-US" dirty="0" smtClean="0"/>
              <a:t> (</a:t>
            </a:r>
            <a:r>
              <a:rPr lang="en-US" i="1" dirty="0" smtClean="0"/>
              <a:t>b</a:t>
            </a:r>
            <a:r>
              <a:rPr lang="en-US" baseline="-25000" dirty="0" smtClean="0">
                <a:latin typeface="Cambria Math" pitchFamily="18" charset="0"/>
                <a:ea typeface="Cambria Math" pitchFamily="18" charset="0"/>
              </a:rPr>
              <a:t>1</a:t>
            </a:r>
            <a:r>
              <a:rPr lang="en-US" dirty="0" smtClean="0"/>
              <a:t>,</a:t>
            </a:r>
            <a:r>
              <a:rPr lang="en-US" i="1" dirty="0" smtClean="0"/>
              <a:t>b</a:t>
            </a:r>
            <a:r>
              <a:rPr lang="en-US" baseline="-25000" dirty="0" smtClean="0">
                <a:latin typeface="Cambria Math" pitchFamily="18" charset="0"/>
                <a:ea typeface="Cambria Math" pitchFamily="18" charset="0"/>
              </a:rPr>
              <a:t>2</a:t>
            </a:r>
            <a:r>
              <a:rPr lang="en-US" dirty="0" smtClean="0"/>
              <a:t>), </a:t>
            </a:r>
          </a:p>
          <a:p>
            <a:pPr>
              <a:buNone/>
            </a:pPr>
            <a:r>
              <a:rPr lang="en-US" dirty="0" smtClean="0"/>
              <a:t>    either if </a:t>
            </a:r>
            <a:r>
              <a:rPr lang="en-US" i="1" dirty="0" smtClean="0"/>
              <a:t>a</a:t>
            </a:r>
            <a:r>
              <a:rPr lang="en-US" baseline="-25000" dirty="0" smtClean="0">
                <a:latin typeface="Cambria Math" pitchFamily="18" charset="0"/>
                <a:ea typeface="Cambria Math" pitchFamily="18" charset="0"/>
              </a:rPr>
              <a:t>1</a:t>
            </a:r>
            <a:r>
              <a:rPr lang="en-US" dirty="0" smtClean="0">
                <a:latin typeface="Cambria Math"/>
                <a:ea typeface="Cambria Math"/>
              </a:rPr>
              <a:t> ≺</a:t>
            </a:r>
            <a:r>
              <a:rPr lang="en-US" baseline="-25000" dirty="0" smtClean="0">
                <a:latin typeface="Cambria Math"/>
                <a:ea typeface="Cambria Math"/>
              </a:rPr>
              <a:t>1 </a:t>
            </a:r>
            <a:r>
              <a:rPr lang="en-US" i="1" dirty="0" smtClean="0"/>
              <a:t>b</a:t>
            </a:r>
            <a:r>
              <a:rPr lang="en-US" baseline="-25000" dirty="0" smtClean="0">
                <a:latin typeface="Cambria Math" pitchFamily="18" charset="0"/>
                <a:ea typeface="Cambria Math" pitchFamily="18" charset="0"/>
              </a:rPr>
              <a:t>1</a:t>
            </a:r>
            <a:r>
              <a:rPr lang="en-US" dirty="0" smtClean="0"/>
              <a:t> or if </a:t>
            </a:r>
            <a:r>
              <a:rPr lang="en-US" i="1" dirty="0" smtClean="0"/>
              <a:t>a</a:t>
            </a:r>
            <a:r>
              <a:rPr lang="en-US" baseline="-25000" dirty="0" smtClean="0">
                <a:latin typeface="Cambria Math" pitchFamily="18" charset="0"/>
                <a:ea typeface="Cambria Math" pitchFamily="18" charset="0"/>
              </a:rPr>
              <a:t>1</a:t>
            </a:r>
            <a:r>
              <a:rPr lang="en-US" dirty="0" smtClean="0">
                <a:latin typeface="Cambria Math"/>
                <a:ea typeface="Cambria Math"/>
              </a:rPr>
              <a:t> =</a:t>
            </a:r>
            <a:r>
              <a:rPr lang="en-US" baseline="-25000" dirty="0" smtClean="0">
                <a:latin typeface="Cambria Math"/>
                <a:ea typeface="Cambria Math"/>
              </a:rPr>
              <a:t> </a:t>
            </a:r>
            <a:r>
              <a:rPr lang="en-US" i="1" dirty="0" smtClean="0"/>
              <a:t>b</a:t>
            </a:r>
            <a:r>
              <a:rPr lang="en-US" baseline="-25000" dirty="0" smtClean="0">
                <a:latin typeface="Cambria Math" pitchFamily="18" charset="0"/>
                <a:ea typeface="Cambria Math" pitchFamily="18" charset="0"/>
              </a:rPr>
              <a:t>1</a:t>
            </a:r>
            <a:r>
              <a:rPr lang="en-US" dirty="0" smtClean="0"/>
              <a:t> and </a:t>
            </a:r>
            <a:r>
              <a:rPr lang="en-US" i="1" dirty="0" smtClean="0"/>
              <a:t>a</a:t>
            </a:r>
            <a:r>
              <a:rPr lang="en-US" baseline="-25000" dirty="0" smtClean="0">
                <a:latin typeface="Cambria Math" pitchFamily="18" charset="0"/>
                <a:ea typeface="Cambria Math" pitchFamily="18" charset="0"/>
              </a:rPr>
              <a:t>2</a:t>
            </a:r>
            <a:r>
              <a:rPr lang="en-US" dirty="0" smtClean="0">
                <a:latin typeface="Cambria Math"/>
                <a:ea typeface="Cambria Math"/>
              </a:rPr>
              <a:t> ≺</a:t>
            </a:r>
            <a:r>
              <a:rPr lang="en-US" baseline="-25000" dirty="0" smtClean="0">
                <a:latin typeface="Cambria Math"/>
                <a:ea typeface="Cambria Math"/>
              </a:rPr>
              <a:t>2 </a:t>
            </a:r>
            <a:r>
              <a:rPr lang="en-US" i="1" dirty="0" smtClean="0"/>
              <a:t>b</a:t>
            </a:r>
            <a:r>
              <a:rPr lang="en-US" baseline="-25000" dirty="0" smtClean="0">
                <a:latin typeface="Cambria Math" pitchFamily="18" charset="0"/>
                <a:ea typeface="Cambria Math" pitchFamily="18" charset="0"/>
              </a:rPr>
              <a:t>2</a:t>
            </a:r>
            <a:r>
              <a:rPr lang="en-US" dirty="0" smtClean="0"/>
              <a:t>.</a:t>
            </a:r>
          </a:p>
          <a:p>
            <a:r>
              <a:rPr lang="en-US" dirty="0" smtClean="0"/>
              <a:t>This definition can be easily extended to a lexicographic ordering on strings (</a:t>
            </a:r>
            <a:r>
              <a:rPr lang="en-US" i="1" dirty="0" smtClean="0"/>
              <a:t>see text</a:t>
            </a:r>
            <a:r>
              <a:rPr lang="en-US" dirty="0" smtClean="0"/>
              <a:t>).</a:t>
            </a:r>
          </a:p>
          <a:p>
            <a:pPr>
              <a:buNone/>
            </a:pPr>
            <a:r>
              <a:rPr lang="en-US" b="1" dirty="0" smtClean="0"/>
              <a:t>    Example</a:t>
            </a:r>
            <a:r>
              <a:rPr lang="en-US" dirty="0" smtClean="0"/>
              <a:t>:  Consider strings of lowercase English letters. A lexicographic ordering can be defined using the ordering of the letters in the alphabet. This is the same ordering as that used in dictionaries.</a:t>
            </a:r>
          </a:p>
          <a:p>
            <a:pPr lvl="1"/>
            <a:r>
              <a:rPr lang="en-US" i="1" dirty="0" smtClean="0"/>
              <a:t>discreet</a:t>
            </a:r>
            <a:r>
              <a:rPr lang="en-US" dirty="0" smtClean="0"/>
              <a:t> </a:t>
            </a:r>
            <a:r>
              <a:rPr lang="en-US" dirty="0" smtClean="0">
                <a:latin typeface="Cambria Math"/>
                <a:ea typeface="Cambria Math"/>
              </a:rPr>
              <a:t>≺</a:t>
            </a:r>
            <a:r>
              <a:rPr lang="en-US" dirty="0" smtClean="0"/>
              <a:t> </a:t>
            </a:r>
            <a:r>
              <a:rPr lang="en-US" i="1" dirty="0" smtClean="0"/>
              <a:t>discrete</a:t>
            </a:r>
            <a:r>
              <a:rPr lang="en-US" dirty="0" smtClean="0"/>
              <a:t>, because these strings differ in the seventh position and </a:t>
            </a:r>
            <a:r>
              <a:rPr lang="en-US" i="1" dirty="0" smtClean="0"/>
              <a:t>e</a:t>
            </a:r>
            <a:r>
              <a:rPr lang="en-US" dirty="0" smtClean="0"/>
              <a:t> </a:t>
            </a:r>
            <a:r>
              <a:rPr lang="en-US" dirty="0" smtClean="0">
                <a:latin typeface="Cambria Math"/>
                <a:ea typeface="Cambria Math"/>
              </a:rPr>
              <a:t>≺</a:t>
            </a:r>
            <a:r>
              <a:rPr lang="en-US" dirty="0" smtClean="0"/>
              <a:t> </a:t>
            </a:r>
            <a:r>
              <a:rPr lang="en-US" i="1" dirty="0" smtClean="0"/>
              <a:t>t</a:t>
            </a:r>
            <a:r>
              <a:rPr lang="en-US" dirty="0" smtClean="0"/>
              <a:t>. </a:t>
            </a:r>
          </a:p>
          <a:p>
            <a:pPr lvl="1"/>
            <a:r>
              <a:rPr lang="en-US" i="1" dirty="0" smtClean="0"/>
              <a:t>discreet</a:t>
            </a:r>
            <a:r>
              <a:rPr lang="en-US" dirty="0" smtClean="0"/>
              <a:t> </a:t>
            </a:r>
            <a:r>
              <a:rPr lang="en-US" dirty="0" smtClean="0">
                <a:latin typeface="Cambria Math"/>
                <a:ea typeface="Cambria Math"/>
              </a:rPr>
              <a:t>≺</a:t>
            </a:r>
            <a:r>
              <a:rPr lang="en-US" dirty="0" smtClean="0"/>
              <a:t> </a:t>
            </a:r>
            <a:r>
              <a:rPr lang="en-US" i="1" dirty="0" smtClean="0"/>
              <a:t>discreetness</a:t>
            </a:r>
            <a:r>
              <a:rPr lang="en-US" dirty="0" smtClean="0"/>
              <a:t>, because the first eight letters agree, but the second string is longer. </a:t>
            </a:r>
          </a:p>
          <a:p>
            <a:pPr lvl="1"/>
            <a:endParaRPr lang="en-US" dirty="0" smtClean="0"/>
          </a:p>
          <a:p>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Hasse</a:t>
            </a:r>
            <a:r>
              <a:rPr lang="en-US" dirty="0" smtClean="0"/>
              <a:t> Diagrams</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dirty="0" smtClean="0"/>
              <a:t>   </a:t>
            </a:r>
            <a:r>
              <a:rPr lang="en-US" b="1" dirty="0" smtClean="0"/>
              <a:t>Definition</a:t>
            </a:r>
            <a:r>
              <a:rPr lang="en-US" dirty="0" smtClean="0"/>
              <a:t>: A </a:t>
            </a:r>
            <a:r>
              <a:rPr lang="en-US" i="1" dirty="0" err="1" smtClean="0"/>
              <a:t>Hasse</a:t>
            </a:r>
            <a:r>
              <a:rPr lang="en-US" i="1" dirty="0" smtClean="0"/>
              <a:t> diagram </a:t>
            </a:r>
            <a:r>
              <a:rPr lang="en-US" dirty="0" smtClean="0"/>
              <a:t>is a visual representation of a partial ordering that leaves out edges that must be present because of the reflexive and transitive properties.</a:t>
            </a:r>
          </a:p>
          <a:p>
            <a:pPr>
              <a:buNone/>
            </a:pPr>
            <a:r>
              <a:rPr lang="en-US" dirty="0" smtClean="0"/>
              <a:t>    </a:t>
            </a:r>
          </a:p>
          <a:p>
            <a:pPr>
              <a:buNone/>
            </a:pPr>
            <a:r>
              <a:rPr lang="en-US" dirty="0" smtClean="0"/>
              <a:t>   </a:t>
            </a:r>
          </a:p>
          <a:p>
            <a:pPr>
              <a:buNone/>
            </a:pPr>
            <a:endParaRPr lang="en-US" dirty="0" smtClean="0"/>
          </a:p>
          <a:p>
            <a:pPr>
              <a:buNone/>
            </a:pPr>
            <a:endParaRPr lang="en-US" dirty="0" smtClean="0"/>
          </a:p>
          <a:p>
            <a:pPr>
              <a:buNone/>
            </a:pPr>
            <a:endParaRPr lang="en-US" dirty="0" smtClean="0"/>
          </a:p>
          <a:p>
            <a:pPr>
              <a:buNone/>
            </a:pPr>
            <a:r>
              <a:rPr lang="en-US" dirty="0" smtClean="0"/>
              <a:t>   A partial ordering is shown in (a) of the figure above. The loops due to the reflexive property are deleted in (b). The edges that must be present due to the transitive property are deleted in (c). The </a:t>
            </a:r>
            <a:r>
              <a:rPr lang="en-US" dirty="0" err="1" smtClean="0"/>
              <a:t>Hasse</a:t>
            </a:r>
            <a:r>
              <a:rPr lang="en-US" dirty="0" smtClean="0"/>
              <a:t> diagram for the partial ordering (a), is depicted in (c). </a:t>
            </a:r>
            <a:endParaRPr lang="en-US" dirty="0"/>
          </a:p>
        </p:txBody>
      </p:sp>
      <p:pic>
        <p:nvPicPr>
          <p:cNvPr id="4" name="Picture 3" descr="0830.jpg"/>
          <p:cNvPicPr>
            <a:picLocks noChangeAspect="1"/>
          </p:cNvPicPr>
          <p:nvPr/>
        </p:nvPicPr>
        <p:blipFill>
          <a:blip r:embed="rId2" cstate="print"/>
          <a:stretch>
            <a:fillRect/>
          </a:stretch>
        </p:blipFill>
        <p:spPr>
          <a:xfrm>
            <a:off x="3733800" y="2971800"/>
            <a:ext cx="2057400" cy="1552517"/>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Procedure for Constructing a   </a:t>
            </a:r>
            <a:r>
              <a:rPr lang="en-US" dirty="0" err="1" smtClean="0"/>
              <a:t>Hasse</a:t>
            </a:r>
            <a:r>
              <a:rPr lang="en-US" dirty="0" smtClean="0"/>
              <a:t> Diagram</a:t>
            </a:r>
            <a:endParaRPr lang="en-US" dirty="0"/>
          </a:p>
        </p:txBody>
      </p:sp>
      <p:sp>
        <p:nvSpPr>
          <p:cNvPr id="3" name="Content Placeholder 2"/>
          <p:cNvSpPr>
            <a:spLocks noGrp="1"/>
          </p:cNvSpPr>
          <p:nvPr>
            <p:ph idx="1"/>
          </p:nvPr>
        </p:nvSpPr>
        <p:spPr/>
        <p:txBody>
          <a:bodyPr/>
          <a:lstStyle/>
          <a:p>
            <a:r>
              <a:rPr lang="en-US" dirty="0" smtClean="0"/>
              <a:t>To represent a finite </a:t>
            </a:r>
            <a:r>
              <a:rPr lang="en-US" dirty="0" err="1" smtClean="0"/>
              <a:t>poset</a:t>
            </a:r>
            <a:r>
              <a:rPr lang="en-US" dirty="0" smtClean="0"/>
              <a:t> (</a:t>
            </a:r>
            <a:r>
              <a:rPr lang="en-US" i="1" dirty="0" smtClean="0"/>
              <a:t>S</a:t>
            </a:r>
            <a:r>
              <a:rPr lang="en-US" dirty="0" smtClean="0"/>
              <a:t>,</a:t>
            </a:r>
            <a:r>
              <a:rPr lang="en-US" dirty="0" smtClean="0">
                <a:latin typeface="Cambria Math"/>
                <a:ea typeface="Cambria Math"/>
              </a:rPr>
              <a:t>≼</a:t>
            </a:r>
            <a:r>
              <a:rPr lang="en-US" dirty="0" smtClean="0"/>
              <a:t> )  using a </a:t>
            </a:r>
            <a:r>
              <a:rPr lang="en-US" dirty="0" err="1" smtClean="0"/>
              <a:t>Hasse</a:t>
            </a:r>
            <a:r>
              <a:rPr lang="en-US" dirty="0" smtClean="0"/>
              <a:t> diagram, start with the directed graph of the relation:</a:t>
            </a:r>
          </a:p>
          <a:p>
            <a:pPr lvl="1"/>
            <a:r>
              <a:rPr lang="en-US" dirty="0" smtClean="0"/>
              <a:t>Remove the loops (</a:t>
            </a:r>
            <a:r>
              <a:rPr lang="en-US" i="1" dirty="0" smtClean="0"/>
              <a:t>a</a:t>
            </a:r>
            <a:r>
              <a:rPr lang="en-US" dirty="0" smtClean="0"/>
              <a:t>, </a:t>
            </a:r>
            <a:r>
              <a:rPr lang="en-US" i="1" dirty="0" smtClean="0"/>
              <a:t>a</a:t>
            </a:r>
            <a:r>
              <a:rPr lang="en-US" dirty="0" smtClean="0"/>
              <a:t>) present at every vertex due to the reflexive property.</a:t>
            </a:r>
          </a:p>
          <a:p>
            <a:pPr lvl="1"/>
            <a:r>
              <a:rPr lang="en-US" dirty="0" smtClean="0"/>
              <a:t>Remove all edges (</a:t>
            </a:r>
            <a:r>
              <a:rPr lang="en-US" i="1" dirty="0" smtClean="0"/>
              <a:t>x</a:t>
            </a:r>
            <a:r>
              <a:rPr lang="en-US" dirty="0" smtClean="0"/>
              <a:t>, </a:t>
            </a:r>
            <a:r>
              <a:rPr lang="en-US" i="1" dirty="0" smtClean="0"/>
              <a:t>y</a:t>
            </a:r>
            <a:r>
              <a:rPr lang="en-US" dirty="0" smtClean="0"/>
              <a:t>) for which there is an element       </a:t>
            </a:r>
            <a:r>
              <a:rPr lang="en-US" i="1" dirty="0" smtClean="0"/>
              <a:t>z</a:t>
            </a:r>
            <a:r>
              <a:rPr lang="en-US" dirty="0" smtClean="0"/>
              <a:t> </a:t>
            </a:r>
            <a:r>
              <a:rPr lang="en-US" dirty="0" smtClean="0">
                <a:latin typeface="Cambria Math"/>
                <a:ea typeface="Cambria Math"/>
              </a:rPr>
              <a:t>∈ </a:t>
            </a:r>
            <a:r>
              <a:rPr lang="en-US" i="1" dirty="0" smtClean="0"/>
              <a:t>S</a:t>
            </a:r>
            <a:r>
              <a:rPr lang="en-US" dirty="0" smtClean="0"/>
              <a:t> such that </a:t>
            </a:r>
            <a:r>
              <a:rPr lang="en-US" i="1" dirty="0" smtClean="0"/>
              <a:t>x</a:t>
            </a:r>
            <a:r>
              <a:rPr lang="en-US" dirty="0" smtClean="0"/>
              <a:t> </a:t>
            </a:r>
            <a:r>
              <a:rPr lang="en-US" dirty="0" smtClean="0">
                <a:latin typeface="Cambria Math"/>
                <a:ea typeface="Cambria Math"/>
              </a:rPr>
              <a:t>≺ </a:t>
            </a:r>
            <a:r>
              <a:rPr lang="en-US" i="1" dirty="0" smtClean="0"/>
              <a:t>z</a:t>
            </a:r>
            <a:r>
              <a:rPr lang="en-US" dirty="0" smtClean="0"/>
              <a:t> and </a:t>
            </a:r>
            <a:r>
              <a:rPr lang="en-US" i="1" dirty="0" smtClean="0"/>
              <a:t>z</a:t>
            </a:r>
            <a:r>
              <a:rPr lang="en-US" dirty="0" smtClean="0"/>
              <a:t> </a:t>
            </a:r>
            <a:r>
              <a:rPr lang="en-US" dirty="0" smtClean="0">
                <a:latin typeface="Cambria Math"/>
                <a:ea typeface="Cambria Math"/>
              </a:rPr>
              <a:t>≺</a:t>
            </a:r>
            <a:r>
              <a:rPr lang="en-US" dirty="0" smtClean="0"/>
              <a:t> </a:t>
            </a:r>
            <a:r>
              <a:rPr lang="en-US" i="1" dirty="0" smtClean="0"/>
              <a:t>y</a:t>
            </a:r>
            <a:r>
              <a:rPr lang="en-US" dirty="0" smtClean="0"/>
              <a:t>. These are the edges that must be present due to the transitive property.</a:t>
            </a:r>
          </a:p>
          <a:p>
            <a:pPr lvl="1"/>
            <a:r>
              <a:rPr lang="en-US" dirty="0" smtClean="0"/>
              <a:t>Arrange each edge so that its initial vertex is below the terminal vertex. Remove all the arrows, because all edges point upwards toward their terminal vertex. </a:t>
            </a:r>
            <a:endParaRPr lang="en-US"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M_{R} =\left[\begin{array}{ll}&#10;0 &amp; 0\\&#10;1 &amp;0\\&#10;1&amp; 1&#10;\end{array}&#10;\right].&#10;$$&#10;&#10;\end{document}"/>
  <p:tag name="IGUANATEXSIZE" val="20"/>
</p:tagLst>
</file>

<file path=ppt/tags/tag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M_{R} =\left[\begin{array}{lllll}&#10;0&amp;1 &amp; 0&amp; 0 &amp; 0\\&#10;1 &amp;0&amp; 1 &amp; 1 &amp; 0\\&#10;1&amp; 0 &amp; 1 &amp; 0 &amp; 1&#10;\end{array}&#10;\right]?&#10;$$&#10;&#10;\end{document}"/>
  <p:tag name="IGUANATEXSIZE" val="20"/>
</p:tagLst>
</file>

<file path=ppt/tags/tag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M_{R} =\left[\begin{array}{lll}&#10;1 &amp;1&amp; 0\\&#10;1 &amp;1 &amp; 1\\&#10;0&amp; 1 &amp; 1&#10;\end{array}&#10;\right].&#10;$$&#10;&#10;\end{document}"/>
  <p:tag name="IGUANATEXSIZE" val="20"/>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ＭＳ Ｐ明朝"/>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Flow.thmx</Template>
  <TotalTime>21668</TotalTime>
  <Words>5993</Words>
  <Application>Microsoft Office PowerPoint</Application>
  <PresentationFormat>On-screen Show (4:3)</PresentationFormat>
  <Paragraphs>577</Paragraphs>
  <Slides>56</Slides>
  <Notes>4</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56</vt:i4>
      </vt:variant>
    </vt:vector>
  </HeadingPairs>
  <TitlesOfParts>
    <vt:vector size="64" baseType="lpstr">
      <vt:lpstr>Arial</vt:lpstr>
      <vt:lpstr>Calibri</vt:lpstr>
      <vt:lpstr>Cambria Math</vt:lpstr>
      <vt:lpstr>Constantia</vt:lpstr>
      <vt:lpstr>Google Sans Text</vt:lpstr>
      <vt:lpstr>Wingdings 2</vt:lpstr>
      <vt:lpstr>Flow</vt:lpstr>
      <vt:lpstr>Equation</vt:lpstr>
      <vt:lpstr>Relations</vt:lpstr>
      <vt:lpstr>Chapter Summary</vt:lpstr>
      <vt:lpstr>Relations and Their Properties</vt:lpstr>
      <vt:lpstr>Section Summary</vt:lpstr>
      <vt:lpstr>Binary Relations</vt:lpstr>
      <vt:lpstr>Binary Relation on a Set</vt:lpstr>
      <vt:lpstr>Binary Relation on a Set (cont.)</vt:lpstr>
      <vt:lpstr>Binary Relations on a Set (cont.)</vt:lpstr>
      <vt:lpstr>Reflexive Relations</vt:lpstr>
      <vt:lpstr>Symmetric Relations</vt:lpstr>
      <vt:lpstr>Antisymmetric Relations</vt:lpstr>
      <vt:lpstr>Transitive Relations</vt:lpstr>
      <vt:lpstr>Combining Relations</vt:lpstr>
      <vt:lpstr>Composition</vt:lpstr>
      <vt:lpstr>Representing the  Composition of a Relation</vt:lpstr>
      <vt:lpstr>Powers of a Relation</vt:lpstr>
      <vt:lpstr>Representing Relations</vt:lpstr>
      <vt:lpstr>Section Summary</vt:lpstr>
      <vt:lpstr>Representing Relations Using Matrices</vt:lpstr>
      <vt:lpstr>Representing Relations Using Matrices</vt:lpstr>
      <vt:lpstr>Examples of Representing Relations Using Matrices</vt:lpstr>
      <vt:lpstr>Examples of Representing Relations Using Matrices</vt:lpstr>
      <vt:lpstr>Examples of Representing Relations Using Matrices (cont.)</vt:lpstr>
      <vt:lpstr>Matrices of Relations on Sets</vt:lpstr>
      <vt:lpstr>Example of a Relation on a Set</vt:lpstr>
      <vt:lpstr>Example of a Relation on a Set</vt:lpstr>
      <vt:lpstr>Representing Relations Using Digraphs</vt:lpstr>
      <vt:lpstr>Examples of Digraphs Representing Relations</vt:lpstr>
      <vt:lpstr>Determining which Properties a Relation has from its Digraph</vt:lpstr>
      <vt:lpstr> </vt:lpstr>
      <vt:lpstr>PowerPoint Presentation</vt:lpstr>
      <vt:lpstr>PowerPoint Presentation</vt:lpstr>
      <vt:lpstr>PowerPoint Presentation</vt:lpstr>
      <vt:lpstr>Example of the Powers of a Relation</vt:lpstr>
      <vt:lpstr>Example of the Powers of a Relation</vt:lpstr>
      <vt:lpstr>Equivalence Relations</vt:lpstr>
      <vt:lpstr>Section Summary</vt:lpstr>
      <vt:lpstr>Equivalence Relations</vt:lpstr>
      <vt:lpstr>Strings</vt:lpstr>
      <vt:lpstr>Congruence Modulo m</vt:lpstr>
      <vt:lpstr>Divides</vt:lpstr>
      <vt:lpstr>Equivalence Classes</vt:lpstr>
      <vt:lpstr>Equivalence Classes and Partitions</vt:lpstr>
      <vt:lpstr>Partition of a Set</vt:lpstr>
      <vt:lpstr>An Equivalence Relation Partitions a Set</vt:lpstr>
      <vt:lpstr>An Equivalence Relation Partitions a Set (continued)</vt:lpstr>
      <vt:lpstr>Partial Orderings</vt:lpstr>
      <vt:lpstr>Section Summary</vt:lpstr>
      <vt:lpstr>Partial Orderings</vt:lpstr>
      <vt:lpstr>Partial Orderings (continued)</vt:lpstr>
      <vt:lpstr>Partial Orderings (continued)</vt:lpstr>
      <vt:lpstr>Partial Orderings (continued)</vt:lpstr>
      <vt:lpstr>Comparability</vt:lpstr>
      <vt:lpstr>Lexicographic Order</vt:lpstr>
      <vt:lpstr>Hasse Diagrams</vt:lpstr>
      <vt:lpstr>Procedure for Constructing a   Hasse Diagram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Induction and recursion</dc:title>
  <dc:creator>Richard Scherl</dc:creator>
  <cp:lastModifiedBy>Dureshahwar Waseem</cp:lastModifiedBy>
  <cp:revision>543</cp:revision>
  <dcterms:created xsi:type="dcterms:W3CDTF">2011-12-08T02:09:54Z</dcterms:created>
  <dcterms:modified xsi:type="dcterms:W3CDTF">2026-03-29T15:13:15Z</dcterms:modified>
</cp:coreProperties>
</file>